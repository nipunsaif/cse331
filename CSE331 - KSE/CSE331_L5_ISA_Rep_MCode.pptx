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6858000" cx="9144000"/>
  <p:notesSz cx="9144000" cy="6858000"/>
  <p:embeddedFontLst>
    <p:embeddedFont>
      <p:font typeface="Noto Sans Symbols"/>
      <p:regular r:id="rId63"/>
      <p:bold r:id="rId64"/>
    </p:embeddedFont>
    <p:embeddedFont>
      <p:font typeface="Arial Black"/>
      <p:regular r:id="rId65"/>
    </p:embeddedFont>
    <p:embeddedFont>
      <p:font typeface="Carlito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70" roundtripDataSignature="AMtx7mhsXVD6CaqER1dzWfPwsFtFJbji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B4416B-37A2-4662-925A-5A529A2694A2}">
  <a:tblStyle styleId="{BEB4416B-37A2-4662-925A-5A529A2694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customschemas.google.com/relationships/presentationmetadata" Target="meta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NotoSansSymbols-bold.fntdata"/><Relationship Id="rId63" Type="http://schemas.openxmlformats.org/officeDocument/2006/relationships/font" Target="fonts/NotoSansSymbols-regular.fntdata"/><Relationship Id="rId22" Type="http://schemas.openxmlformats.org/officeDocument/2006/relationships/slide" Target="slides/slide16.xml"/><Relationship Id="rId66" Type="http://schemas.openxmlformats.org/officeDocument/2006/relationships/font" Target="fonts/Carlito-regular.fntdata"/><Relationship Id="rId21" Type="http://schemas.openxmlformats.org/officeDocument/2006/relationships/slide" Target="slides/slide15.xml"/><Relationship Id="rId65" Type="http://schemas.openxmlformats.org/officeDocument/2006/relationships/font" Target="fonts/ArialBlack-regular.fntdata"/><Relationship Id="rId24" Type="http://schemas.openxmlformats.org/officeDocument/2006/relationships/slide" Target="slides/slide18.xml"/><Relationship Id="rId68" Type="http://schemas.openxmlformats.org/officeDocument/2006/relationships/font" Target="fonts/Carlito-italic.fntdata"/><Relationship Id="rId23" Type="http://schemas.openxmlformats.org/officeDocument/2006/relationships/slide" Target="slides/slide17.xml"/><Relationship Id="rId67" Type="http://schemas.openxmlformats.org/officeDocument/2006/relationships/font" Target="fonts/Carlit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Carli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3d4b93188f_0_3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23d4b93188f_0_31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0fac7646aa_0_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0fac7646aa_0_2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c3c7927098_0_1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2c3c7927098_0_10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3c7927098_0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c3c7927098_0_11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b818a4b89_0_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26b818a4b89_0_2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b818a4b89_0_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26b818a4b89_0_1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b818a4b89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6b818a4b89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b818a4b89_0_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26b818a4b89_0_3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c3c7927098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2c3c7927098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6b818a4b89_0_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6b818a4b89_0_5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c61ee850b4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c61ee850b4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0cb6ef0deb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0cb6ef0deb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7cfd70706a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27cfd70706a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7cfd70706a_0_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7cfd70706a_0_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6"/>
          <p:cNvSpPr txBox="1"/>
          <p:nvPr>
            <p:ph type="title"/>
          </p:nvPr>
        </p:nvSpPr>
        <p:spPr>
          <a:xfrm>
            <a:off x="2382138" y="171958"/>
            <a:ext cx="4379722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00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1" type="body"/>
          </p:nvPr>
        </p:nvSpPr>
        <p:spPr>
          <a:xfrm>
            <a:off x="497840" y="1400835"/>
            <a:ext cx="5600700" cy="4636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7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" name="Google Shape;20;p47"/>
          <p:cNvSpPr/>
          <p:nvPr/>
        </p:nvSpPr>
        <p:spPr>
          <a:xfrm>
            <a:off x="0" y="6580188"/>
            <a:ext cx="9144000" cy="365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" name="Google Shape;21;p47"/>
          <p:cNvSpPr/>
          <p:nvPr/>
        </p:nvSpPr>
        <p:spPr>
          <a:xfrm>
            <a:off x="8302" y="6629398"/>
            <a:ext cx="1382347" cy="215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47"/>
          <p:cNvSpPr/>
          <p:nvPr/>
        </p:nvSpPr>
        <p:spPr>
          <a:xfrm>
            <a:off x="1028700" y="1004949"/>
            <a:ext cx="7086600" cy="577684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47"/>
          <p:cNvSpPr txBox="1"/>
          <p:nvPr>
            <p:ph type="title"/>
          </p:nvPr>
        </p:nvSpPr>
        <p:spPr>
          <a:xfrm>
            <a:off x="2382138" y="171958"/>
            <a:ext cx="4379722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00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7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8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" name="Google Shape;29;p48"/>
          <p:cNvSpPr/>
          <p:nvPr/>
        </p:nvSpPr>
        <p:spPr>
          <a:xfrm>
            <a:off x="0" y="6580189"/>
            <a:ext cx="9144000" cy="365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48"/>
          <p:cNvSpPr/>
          <p:nvPr/>
        </p:nvSpPr>
        <p:spPr>
          <a:xfrm>
            <a:off x="8302" y="6629399"/>
            <a:ext cx="1382347" cy="215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" name="Google Shape;31;p48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8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9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9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9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 txBox="1"/>
          <p:nvPr>
            <p:ph type="title"/>
          </p:nvPr>
        </p:nvSpPr>
        <p:spPr>
          <a:xfrm>
            <a:off x="2382138" y="171958"/>
            <a:ext cx="4379722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00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0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0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OBJECT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3d4b93188f_0_390"/>
          <p:cNvSpPr txBox="1"/>
          <p:nvPr>
            <p:ph type="ctrTitle"/>
          </p:nvPr>
        </p:nvSpPr>
        <p:spPr>
          <a:xfrm>
            <a:off x="1425194" y="2146554"/>
            <a:ext cx="6293700" cy="1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3d4b93188f_0_390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3d4b93188f_0_390"/>
          <p:cNvSpPr txBox="1"/>
          <p:nvPr>
            <p:ph idx="11" type="ftr"/>
          </p:nvPr>
        </p:nvSpPr>
        <p:spPr>
          <a:xfrm>
            <a:off x="3108960" y="6377940"/>
            <a:ext cx="292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23d4b93188f_0_390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3d4b93188f_0_390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6">
  <p:cSld name="OBJECT_6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6b818a4b89_0_131"/>
          <p:cNvSpPr txBox="1"/>
          <p:nvPr>
            <p:ph type="title"/>
          </p:nvPr>
        </p:nvSpPr>
        <p:spPr>
          <a:xfrm>
            <a:off x="2382138" y="171958"/>
            <a:ext cx="4379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00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26b818a4b89_0_131"/>
          <p:cNvSpPr txBox="1"/>
          <p:nvPr>
            <p:ph idx="1" type="body"/>
          </p:nvPr>
        </p:nvSpPr>
        <p:spPr>
          <a:xfrm>
            <a:off x="497840" y="1400835"/>
            <a:ext cx="5600700" cy="4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6b818a4b89_0_131"/>
          <p:cNvSpPr txBox="1"/>
          <p:nvPr>
            <p:ph idx="11" type="ftr"/>
          </p:nvPr>
        </p:nvSpPr>
        <p:spPr>
          <a:xfrm>
            <a:off x="3108960" y="6377940"/>
            <a:ext cx="292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26b818a4b89_0_131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26b818a4b89_0_131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45"/>
          <p:cNvSpPr txBox="1"/>
          <p:nvPr>
            <p:ph type="title"/>
          </p:nvPr>
        </p:nvSpPr>
        <p:spPr>
          <a:xfrm>
            <a:off x="2382138" y="171958"/>
            <a:ext cx="4379722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00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45"/>
          <p:cNvSpPr txBox="1"/>
          <p:nvPr>
            <p:ph idx="1" type="body"/>
          </p:nvPr>
        </p:nvSpPr>
        <p:spPr>
          <a:xfrm>
            <a:off x="497840" y="1400835"/>
            <a:ext cx="5600700" cy="4636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4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4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Relationship Id="rId4" Type="http://schemas.openxmlformats.org/officeDocument/2006/relationships/image" Target="../media/image31.png"/><Relationship Id="rId5" Type="http://schemas.openxmlformats.org/officeDocument/2006/relationships/image" Target="../media/image45.png"/><Relationship Id="rId6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5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Relationship Id="rId4" Type="http://schemas.openxmlformats.org/officeDocument/2006/relationships/image" Target="../media/image13.png"/><Relationship Id="rId5" Type="http://schemas.openxmlformats.org/officeDocument/2006/relationships/image" Target="../media/image5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Relationship Id="rId4" Type="http://schemas.openxmlformats.org/officeDocument/2006/relationships/image" Target="../media/image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docs.google.com/document/d/14h_NjrbxrZioHhU6ruQBmt_Xtl7a_xlm0WrbMigEQeA/edit?usp=sharing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Relationship Id="rId4" Type="http://schemas.openxmlformats.org/officeDocument/2006/relationships/image" Target="../media/image5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0.png"/><Relationship Id="rId4" Type="http://schemas.openxmlformats.org/officeDocument/2006/relationships/image" Target="../media/image5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5.png"/><Relationship Id="rId4" Type="http://schemas.openxmlformats.org/officeDocument/2006/relationships/image" Target="../media/image5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6.png"/><Relationship Id="rId4" Type="http://schemas.openxmlformats.org/officeDocument/2006/relationships/image" Target="../media/image54.png"/><Relationship Id="rId5" Type="http://schemas.openxmlformats.org/officeDocument/2006/relationships/image" Target="../media/image63.png"/><Relationship Id="rId6" Type="http://schemas.openxmlformats.org/officeDocument/2006/relationships/image" Target="../media/image7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youtube.com/watch?v=zgkxPdPkxa8&amp;ab_channel=EmbeddedSystemsandDeepLearning" TargetMode="External"/><Relationship Id="rId4" Type="http://schemas.openxmlformats.org/officeDocument/2006/relationships/image" Target="../media/image62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2.png"/><Relationship Id="rId4" Type="http://schemas.openxmlformats.org/officeDocument/2006/relationships/image" Target="../media/image7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2.png"/><Relationship Id="rId4" Type="http://schemas.openxmlformats.org/officeDocument/2006/relationships/image" Target="../media/image7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6.png"/><Relationship Id="rId4" Type="http://schemas.openxmlformats.org/officeDocument/2006/relationships/image" Target="../media/image7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4.png"/><Relationship Id="rId4" Type="http://schemas.openxmlformats.org/officeDocument/2006/relationships/image" Target="../media/image79.png"/><Relationship Id="rId5" Type="http://schemas.openxmlformats.org/officeDocument/2006/relationships/image" Target="../media/image3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4b93188f_0_316"/>
          <p:cNvSpPr txBox="1"/>
          <p:nvPr>
            <p:ph type="ctrTitle"/>
          </p:nvPr>
        </p:nvSpPr>
        <p:spPr>
          <a:xfrm>
            <a:off x="1425201" y="2146550"/>
            <a:ext cx="69669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012313" lvl="0" marL="202437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CSE 331: Microprocessor Interfacing and Embedded Systems</a:t>
            </a:r>
            <a:endParaRPr sz="3200"/>
          </a:p>
        </p:txBody>
      </p:sp>
      <p:sp>
        <p:nvSpPr>
          <p:cNvPr id="64" name="Google Shape;64;g23d4b93188f_0_316"/>
          <p:cNvSpPr txBox="1"/>
          <p:nvPr/>
        </p:nvSpPr>
        <p:spPr>
          <a:xfrm>
            <a:off x="1477775" y="3893825"/>
            <a:ext cx="71721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Lecture </a:t>
            </a:r>
            <a:r>
              <a:rPr lang="en-US" sz="3200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5</a:t>
            </a:r>
            <a:r>
              <a:rPr b="0" i="0" lang="en-US" sz="3200" u="none" cap="none" strike="noStrike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: </a:t>
            </a:r>
            <a:r>
              <a:rPr b="1" lang="en-US" sz="3200">
                <a:solidFill>
                  <a:srgbClr val="00007E"/>
                </a:solidFill>
              </a:rPr>
              <a:t>Instruction Representation</a:t>
            </a:r>
            <a:endParaRPr b="0" i="0" sz="3200" u="none" cap="none" strike="noStrike"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1862708" y="106756"/>
            <a:ext cx="557149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Stored-Program Concept</a:t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535940" y="989427"/>
            <a:ext cx="7631430" cy="4903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Computers built on 2 key principles: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27100" marR="1742439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Times New Roman"/>
              <a:buAutoNum type="arabicParenR"/>
            </a:pPr>
            <a:r>
              <a:rPr b="0" i="0" lang="en-US" sz="32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Instructions are represented as  numbers.</a:t>
            </a:r>
            <a:endParaRPr b="0" i="0" sz="3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9100" lvl="1" marL="927100" marR="116014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Times New Roman"/>
              <a:buAutoNum type="arabicParenR"/>
            </a:pPr>
            <a:r>
              <a:rPr b="0" i="0" lang="en-US" sz="32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Therefore, entire programs can be  stored in memory to be read or  written just like numbers (data).</a:t>
            </a:r>
            <a:endParaRPr b="0" i="0" sz="3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115" marR="0" rtl="0" algn="l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Simplifies SW/HW of computer systems: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698500" marR="508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FFCC00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Memory technology for data also used for  programs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1059586" y="150367"/>
            <a:ext cx="686308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Consequence #1: Everything Addressed</a:t>
            </a:r>
            <a:endParaRPr sz="2800"/>
          </a:p>
        </p:txBody>
      </p:sp>
      <p:sp>
        <p:nvSpPr>
          <p:cNvPr id="76" name="Google Shape;76;p3"/>
          <p:cNvSpPr txBox="1"/>
          <p:nvPr/>
        </p:nvSpPr>
        <p:spPr>
          <a:xfrm>
            <a:off x="383540" y="1011681"/>
            <a:ext cx="8376284" cy="52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03200" lvl="0" marL="215265" marR="628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Since all instructions and data are stored in memory as  numbers, everything has a memory address: instructions,  data words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1" marL="712470" marR="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both branches and jumps use these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240665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 pointers are just memory addresses: they can point to  anything in memory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283845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Unconstrained use of addresses can lead to nasty bugs; up to  you in C; limits in Java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0" marL="250825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One register keeps address of instruction being executed: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Counter</a:t>
            </a:r>
            <a:r>
              <a:rPr lang="en-US" sz="28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” </a:t>
            </a:r>
            <a:r>
              <a:rPr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(PC)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982344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Basically a pointer to memory: Intel calls it Instruction  Address Pointer, a better name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802030" y="156159"/>
            <a:ext cx="7550784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Consequence #2: Binary Compatibility</a:t>
            </a:r>
            <a:endParaRPr sz="3200"/>
          </a:p>
        </p:txBody>
      </p:sp>
      <p:sp>
        <p:nvSpPr>
          <p:cNvPr id="82" name="Google Shape;82;p4"/>
          <p:cNvSpPr txBox="1"/>
          <p:nvPr/>
        </p:nvSpPr>
        <p:spPr>
          <a:xfrm>
            <a:off x="-12750" y="926512"/>
            <a:ext cx="9169500" cy="57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-266065" lvl="0" marL="272415" marR="204025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200"/>
              <a:buFont typeface="Noto Sans Symbols"/>
              <a:buChar char="❖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Programs are distributed in binary form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2409" lvl="1" marL="238759" marR="2034539" rtl="0" algn="r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1900"/>
              <a:buFont typeface="Noto Sans Symbols"/>
              <a:buChar char="❖"/>
            </a:pPr>
            <a:r>
              <a:rPr b="0" i="0" lang="en-US" sz="27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Programs bound to specific instruction set</a:t>
            </a:r>
            <a:endParaRPr b="0" i="0" sz="27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2409" lvl="1" marL="114236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1900"/>
              <a:buFont typeface="Noto Sans Symbols"/>
              <a:buChar char="❖"/>
            </a:pPr>
            <a:r>
              <a:rPr b="0" i="0" lang="en-US" sz="27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Different version for Macintosh and IBM PC</a:t>
            </a:r>
            <a:endParaRPr b="0" i="0" sz="27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6850" lvl="0" marL="611505" marR="498475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00007E"/>
              </a:buClr>
              <a:buSzPts val="2200"/>
              <a:buFont typeface="Noto Sans Symbols"/>
              <a:buChar char="❖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New machines want to run old programs  (“binaries”) as well as programs compiled to new  instructions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064" lvl="0" marL="68072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200"/>
              <a:buFont typeface="Noto Sans Symbols"/>
              <a:buChar char="❖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Leads to instruction set evolving over time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6850" lvl="0" marL="611505" marR="44640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200"/>
              <a:buFont typeface="Noto Sans Symbols"/>
              <a:buChar char="❖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Selection of Intel 8086 in 1981 for 1st IBM PC is  major reason latest PCs still	use 80x86  instruction set (Pentium 4); could still run</a:t>
            </a:r>
            <a:r>
              <a:rPr lang="en-US" sz="3100" u="sng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program from 1981 PC today	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1905126" y="106756"/>
            <a:ext cx="544258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Instructions as Numbers</a:t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764540" y="1162557"/>
            <a:ext cx="7482840" cy="500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03200" lvl="0" marL="215265" marR="6940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Most of the data that we work with is in  words (32-bit blocks):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Each register is a word.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5080" rtl="0" algn="l">
              <a:lnSpc>
                <a:spcPct val="105100"/>
              </a:lnSpc>
              <a:spcBef>
                <a:spcPts val="33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LDR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STR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both access memory one word at  a time.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So how do we represent instructions?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45720" rtl="0" algn="l">
              <a:lnSpc>
                <a:spcPct val="113928"/>
              </a:lnSpc>
              <a:spcBef>
                <a:spcPts val="92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Remember: Computer only understands 1s and  0s, so “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ADD r0,r0,#0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” is meaningless.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“Regular” ARM instructions are 32 bits.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4" lvl="1" marL="74676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Thumb ARM instructions are 16 bits.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" name="Google Shape;94;p6"/>
          <p:cNvSpPr txBox="1"/>
          <p:nvPr>
            <p:ph type="title"/>
          </p:nvPr>
        </p:nvSpPr>
        <p:spPr>
          <a:xfrm>
            <a:off x="1790826" y="106756"/>
            <a:ext cx="544258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Instructions as Numbers</a:t>
            </a:r>
            <a:endParaRPr/>
          </a:p>
        </p:txBody>
      </p:sp>
      <p:sp>
        <p:nvSpPr>
          <p:cNvPr id="95" name="Google Shape;95;p6"/>
          <p:cNvSpPr txBox="1"/>
          <p:nvPr/>
        </p:nvSpPr>
        <p:spPr>
          <a:xfrm>
            <a:off x="688340" y="913227"/>
            <a:ext cx="7601700" cy="3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Divide instruction word into “</a:t>
            </a:r>
            <a:r>
              <a:rPr lang="en-US" sz="32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433069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Each field tells computer something about  instruction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508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There is an attempt to reuse fields across  instructions as much as possible.	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508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Simple =  less complex hardware which generally leads  to better performance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" name="Google Shape;101;p7"/>
          <p:cNvSpPr txBox="1"/>
          <p:nvPr>
            <p:ph type="title"/>
          </p:nvPr>
        </p:nvSpPr>
        <p:spPr>
          <a:xfrm>
            <a:off x="1321688" y="89408"/>
            <a:ext cx="63404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Instructions</a:t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612140" y="1070609"/>
            <a:ext cx="288544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Define “</a:t>
            </a:r>
            <a:r>
              <a:rPr lang="en-US" sz="32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”: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584403" y="3201669"/>
            <a:ext cx="7378065" cy="168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03200" lvl="0" marL="215265" marR="8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: Each field is viewed as an independent  unsigned integer, not as part of a 32-bit integer.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1135" lvl="1" marL="698500" marR="508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Consequence: 5-bit fields can represent any number 0-  31, while 6-bit fields can represent any number 0-63.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2351" y="1737455"/>
            <a:ext cx="9039297" cy="7683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fac7646aa_0_22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" name="Google Shape;110;g30fac7646aa_0_22"/>
          <p:cNvSpPr txBox="1"/>
          <p:nvPr>
            <p:ph type="title"/>
          </p:nvPr>
        </p:nvSpPr>
        <p:spPr>
          <a:xfrm>
            <a:off x="2578200" y="165300"/>
            <a:ext cx="4086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ARM Registers</a:t>
            </a:r>
            <a:endParaRPr/>
          </a:p>
        </p:txBody>
      </p:sp>
      <p:graphicFrame>
        <p:nvGraphicFramePr>
          <p:cNvPr id="111" name="Google Shape;111;g30fac7646aa_0_22"/>
          <p:cNvGraphicFramePr/>
          <p:nvPr/>
        </p:nvGraphicFramePr>
        <p:xfrm>
          <a:off x="-6350" y="1060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{BEB4416B-37A2-4662-925A-5A529A2694A2}</a:tableStyleId>
              </a:tblPr>
              <a:tblGrid>
                <a:gridCol w="1289675"/>
                <a:gridCol w="3038475"/>
                <a:gridCol w="48171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Synonym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Role in Procedure Call Standard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r0-r1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a1-a2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Argument/Result/Scratch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r2-r3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a3-a4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Argument/Scratch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r4-r8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v1-v5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r9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v6/sb/tr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Platform Register (s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tatic base/thread</a:t>
                      </a: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r10-r11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v7-v8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Intra-Procedure Call Scratch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Pointer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pc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 Counter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" name="Google Shape;117;p8"/>
          <p:cNvSpPr txBox="1"/>
          <p:nvPr>
            <p:ph type="title"/>
          </p:nvPr>
        </p:nvSpPr>
        <p:spPr>
          <a:xfrm>
            <a:off x="1397888" y="89408"/>
            <a:ext cx="63404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Instructions</a:t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78752" y="1697850"/>
            <a:ext cx="87387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What do these field integer values tell us?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5080" rtl="0" algn="l">
              <a:lnSpc>
                <a:spcPct val="105000"/>
              </a:lnSpc>
              <a:spcBef>
                <a:spcPts val="34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sng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OpCode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-US" sz="2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specifies the specific data processing  instruction</a:t>
            </a:r>
            <a:endParaRPr b="0" i="0" sz="2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0" y="990536"/>
            <a:ext cx="9144000" cy="8905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" name="Google Shape;120;p8"/>
          <p:cNvSpPr/>
          <p:nvPr/>
        </p:nvSpPr>
        <p:spPr>
          <a:xfrm>
            <a:off x="2793625" y="2765550"/>
            <a:ext cx="5032500" cy="3989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" name="Google Shape;126;p9"/>
          <p:cNvSpPr txBox="1"/>
          <p:nvPr>
            <p:ph type="title"/>
          </p:nvPr>
        </p:nvSpPr>
        <p:spPr>
          <a:xfrm>
            <a:off x="1397888" y="89408"/>
            <a:ext cx="63404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Instructions</a:t>
            </a:r>
            <a:endParaRPr/>
          </a:p>
        </p:txBody>
      </p:sp>
      <p:sp>
        <p:nvSpPr>
          <p:cNvPr id="127" name="Google Shape;127;p9"/>
          <p:cNvSpPr txBox="1"/>
          <p:nvPr/>
        </p:nvSpPr>
        <p:spPr>
          <a:xfrm>
            <a:off x="358140" y="1872476"/>
            <a:ext cx="8165465" cy="366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-273050" lvl="0" marL="3105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What do these field integer values tell us?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71525" marR="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sng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: Destination Register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7152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sng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Rn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: 1</a:t>
            </a:r>
            <a:r>
              <a:rPr b="0" baseline="30000" i="0" lang="en-US" sz="2775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st 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Operand Register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24485" marR="3048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Each register field is 4 bits, which means that it  can specify any unsigned integer in the range 0-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24485" marR="16700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15.	Each of these fields specifies one of the 16  registers by number.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2351" y="1051655"/>
            <a:ext cx="9039297" cy="7683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/>
        </p:nvSpPr>
        <p:spPr>
          <a:xfrm>
            <a:off x="78739" y="1774051"/>
            <a:ext cx="4297680" cy="154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More fields: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sng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n-US" sz="2800" u="none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2800" u="none" cap="none" strike="noStrik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2" marL="1113155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0: Operand 2 is a Register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975156" y="4242054"/>
            <a:ext cx="38366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04469" lvl="0" marL="21653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1: Operand 2 is an Immediate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52351" y="1051655"/>
            <a:ext cx="9039297" cy="7683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6" name="Google Shape;136;p10"/>
          <p:cNvSpPr/>
          <p:nvPr/>
        </p:nvSpPr>
        <p:spPr>
          <a:xfrm>
            <a:off x="4557936" y="2036323"/>
            <a:ext cx="4052663" cy="221001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" name="Google Shape;137;p10"/>
          <p:cNvSpPr/>
          <p:nvPr/>
        </p:nvSpPr>
        <p:spPr>
          <a:xfrm>
            <a:off x="4572000" y="4571998"/>
            <a:ext cx="4572000" cy="22542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" name="Google Shape;138;p10"/>
          <p:cNvSpPr txBox="1"/>
          <p:nvPr>
            <p:ph type="title"/>
          </p:nvPr>
        </p:nvSpPr>
        <p:spPr>
          <a:xfrm>
            <a:off x="1397888" y="89408"/>
            <a:ext cx="63404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Instructions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/>
        </p:nvSpPr>
        <p:spPr>
          <a:xfrm>
            <a:off x="78739" y="1848434"/>
            <a:ext cx="2112010" cy="212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Operand 2: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3500"/>
              <a:buFont typeface="Noto Sans Symbols"/>
              <a:buNone/>
            </a:pPr>
            <a:r>
              <a:t/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7E"/>
              </a:buClr>
              <a:buSzPts val="4150"/>
              <a:buFont typeface="Noto Sans Symbols"/>
              <a:buNone/>
            </a:pPr>
            <a:r>
              <a:t/>
            </a:r>
            <a:endParaRPr sz="4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Shift field: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52351" y="1051655"/>
            <a:ext cx="9039297" cy="7683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" name="Google Shape;145;p11"/>
          <p:cNvSpPr txBox="1"/>
          <p:nvPr>
            <p:ph type="title"/>
          </p:nvPr>
        </p:nvSpPr>
        <p:spPr>
          <a:xfrm>
            <a:off x="1397888" y="89408"/>
            <a:ext cx="63404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Instructions</a:t>
            </a:r>
            <a:endParaRPr/>
          </a:p>
        </p:txBody>
      </p:sp>
      <p:grpSp>
        <p:nvGrpSpPr>
          <p:cNvPr id="146" name="Google Shape;146;p11"/>
          <p:cNvGrpSpPr/>
          <p:nvPr/>
        </p:nvGrpSpPr>
        <p:grpSpPr>
          <a:xfrm>
            <a:off x="304800" y="1893381"/>
            <a:ext cx="8534400" cy="4964615"/>
            <a:chOff x="304800" y="1893381"/>
            <a:chExt cx="8534400" cy="4964615"/>
          </a:xfrm>
        </p:grpSpPr>
        <p:sp>
          <p:nvSpPr>
            <p:cNvPr id="147" name="Google Shape;147;p11"/>
            <p:cNvSpPr/>
            <p:nvPr/>
          </p:nvSpPr>
          <p:spPr>
            <a:xfrm>
              <a:off x="304800" y="3962398"/>
              <a:ext cx="8534400" cy="289559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2693136" y="1893381"/>
              <a:ext cx="4317264" cy="204478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3c7927098_0_107"/>
          <p:cNvSpPr txBox="1"/>
          <p:nvPr>
            <p:ph type="title"/>
          </p:nvPr>
        </p:nvSpPr>
        <p:spPr>
          <a:xfrm>
            <a:off x="2875026" y="165303"/>
            <a:ext cx="3392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Condition Field</a:t>
            </a:r>
            <a:endParaRPr/>
          </a:p>
        </p:txBody>
      </p:sp>
      <p:sp>
        <p:nvSpPr>
          <p:cNvPr id="154" name="Google Shape;154;g2c3c7927098_0_107"/>
          <p:cNvSpPr txBox="1"/>
          <p:nvPr/>
        </p:nvSpPr>
        <p:spPr>
          <a:xfrm>
            <a:off x="-64450" y="6213600"/>
            <a:ext cx="1327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jhjhjhjhjhjhjhjhjhjhjhjhjhjhjhjsasasasasasasassasasasasss</a:t>
            </a:r>
            <a:endParaRPr>
              <a:solidFill>
                <a:schemeClr val="lt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3c7927098_0_112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" name="Google Shape;160;g2c3c7927098_0_112"/>
          <p:cNvSpPr txBox="1"/>
          <p:nvPr>
            <p:ph type="title"/>
          </p:nvPr>
        </p:nvSpPr>
        <p:spPr>
          <a:xfrm>
            <a:off x="2578200" y="165300"/>
            <a:ext cx="4086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ARM Registers</a:t>
            </a:r>
            <a:endParaRPr/>
          </a:p>
        </p:txBody>
      </p:sp>
      <p:graphicFrame>
        <p:nvGraphicFramePr>
          <p:cNvPr id="161" name="Google Shape;161;g2c3c7927098_0_112"/>
          <p:cNvGraphicFramePr/>
          <p:nvPr/>
        </p:nvGraphicFramePr>
        <p:xfrm>
          <a:off x="-6350" y="1060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{BEB4416B-37A2-4662-925A-5A529A2694A2}</a:tableStyleId>
              </a:tblPr>
              <a:tblGrid>
                <a:gridCol w="1289675"/>
                <a:gridCol w="3038475"/>
                <a:gridCol w="48171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Synonym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Role in Procedure Call Standard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r0-r1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a1-a2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Argument/Result/Scratch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r2-r3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a3-a4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Argument/Scratch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r4-r8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v1-v5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r9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v6/sb/tr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Platform Register (s</a:t>
                      </a: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tatic base/thread</a:t>
                      </a: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r10-r11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v7-v8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Intra-Procedure Call Scratch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Stack Pointer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 Register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r15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pc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 Counter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type="title"/>
          </p:nvPr>
        </p:nvSpPr>
        <p:spPr>
          <a:xfrm>
            <a:off x="1359788" y="165303"/>
            <a:ext cx="634238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Instructions</a:t>
            </a:r>
            <a:endParaRPr/>
          </a:p>
        </p:txBody>
      </p:sp>
      <p:sp>
        <p:nvSpPr>
          <p:cNvPr id="167" name="Google Shape;167;p12"/>
          <p:cNvSpPr txBox="1"/>
          <p:nvPr/>
        </p:nvSpPr>
        <p:spPr>
          <a:xfrm>
            <a:off x="78739" y="1774051"/>
            <a:ext cx="6725920" cy="4176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More fields: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sng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0" i="0" lang="en-US" sz="2800" u="none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2800" u="none" cap="none" strike="noStrik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Condition Fields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2" marL="1113155" marR="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0: Do not alter condition fields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2" marL="1113155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1: Set condition fields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2" marL="1113155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These set the C, N, Z, V flags in the CPSR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sng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Cond</a:t>
            </a:r>
            <a:r>
              <a:rPr b="0" i="0" lang="en-US" sz="2800" u="none" cap="none" strike="noStrike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2800" u="none" cap="none" strike="noStrik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 Field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2" marL="1099185" marR="5080" rtl="0" algn="l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Determines whether the instruction resulted is  committed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2" marL="1113155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Used with ADDEQ, ADDNE, ADDGT, etc.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52351" y="1051655"/>
            <a:ext cx="9039297" cy="7683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6b818a4b89_0_26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4" name="Google Shape;174;g26b818a4b89_0_26"/>
          <p:cNvSpPr txBox="1"/>
          <p:nvPr>
            <p:ph type="title"/>
          </p:nvPr>
        </p:nvSpPr>
        <p:spPr>
          <a:xfrm>
            <a:off x="1321688" y="89408"/>
            <a:ext cx="6340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Instructions</a:t>
            </a:r>
            <a:endParaRPr/>
          </a:p>
        </p:txBody>
      </p:sp>
      <p:sp>
        <p:nvSpPr>
          <p:cNvPr id="175" name="Google Shape;175;g26b818a4b89_0_26"/>
          <p:cNvSpPr txBox="1"/>
          <p:nvPr/>
        </p:nvSpPr>
        <p:spPr>
          <a:xfrm>
            <a:off x="612140" y="1070609"/>
            <a:ext cx="28854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Define “</a:t>
            </a:r>
            <a:r>
              <a:rPr lang="en-US" sz="32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”: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g26b818a4b89_0_26"/>
          <p:cNvSpPr txBox="1"/>
          <p:nvPr/>
        </p:nvSpPr>
        <p:spPr>
          <a:xfrm>
            <a:off x="584403" y="3201669"/>
            <a:ext cx="73782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03200" lvl="0" marL="215265" marR="8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: Each field is viewed as an independent  unsigned integer, not as part of a 32-bit integer.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1134" lvl="1" marL="698500" marR="508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Consequence: 5-bit fields can represent any number 0-  31, while 6-bit fields can represent any number 0-63.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26b818a4b89_0_26"/>
          <p:cNvSpPr/>
          <p:nvPr/>
        </p:nvSpPr>
        <p:spPr>
          <a:xfrm>
            <a:off x="52351" y="1737455"/>
            <a:ext cx="9039300" cy="768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6b818a4b89_0_19"/>
          <p:cNvSpPr txBox="1"/>
          <p:nvPr>
            <p:ph type="title"/>
          </p:nvPr>
        </p:nvSpPr>
        <p:spPr>
          <a:xfrm>
            <a:off x="2382138" y="171958"/>
            <a:ext cx="4379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Loading Constants</a:t>
            </a:r>
            <a:endParaRPr/>
          </a:p>
        </p:txBody>
      </p:sp>
      <p:sp>
        <p:nvSpPr>
          <p:cNvPr id="183" name="Google Shape;183;g26b818a4b89_0_19"/>
          <p:cNvSpPr txBox="1"/>
          <p:nvPr/>
        </p:nvSpPr>
        <p:spPr>
          <a:xfrm>
            <a:off x="307340" y="1063709"/>
            <a:ext cx="80049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Constants can only be 8 bit numbers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252728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FFCC00"/>
              </a:buClr>
              <a:buSzPts val="21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Allows assignment of numbers between 0-255 or  [0x00 – 0xFF]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1" marL="756285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CC00"/>
              </a:buClr>
              <a:buSzPts val="21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Why? Constants stored in code and there is limited  space (only 32 bits).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Assignment in Assembly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4" name="Google Shape;184;g26b818a4b89_0_19"/>
          <p:cNvGraphicFramePr/>
          <p:nvPr/>
        </p:nvGraphicFramePr>
        <p:xfrm>
          <a:off x="745490" y="42306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{BEB4416B-37A2-4662-925A-5A529A2694A2}</a:tableStyleId>
              </a:tblPr>
              <a:tblGrid>
                <a:gridCol w="2875225"/>
                <a:gridCol w="1468125"/>
                <a:gridCol w="3755975"/>
              </a:tblGrid>
              <a:tr h="718875">
                <a:tc>
                  <a:txBody>
                    <a:bodyPr/>
                    <a:lstStyle/>
                    <a:p>
                      <a:pPr indent="-287019" lvl="0" marL="318135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2100"/>
                        <a:buFont typeface="Noto Sans Symbols"/>
                        <a:buChar char="❖"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97155" rtl="0" algn="r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69545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r0,#0xFF </a:t>
                      </a: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ARM)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37667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Equivalent to: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0" marR="1003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=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1047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255	</a:t>
                      </a: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C)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</a:tr>
            </a:tbl>
          </a:graphicData>
        </a:graphic>
      </p:graphicFrame>
      <p:sp>
        <p:nvSpPr>
          <p:cNvPr id="185" name="Google Shape;185;g26b818a4b89_0_19"/>
          <p:cNvSpPr txBox="1"/>
          <p:nvPr/>
        </p:nvSpPr>
        <p:spPr>
          <a:xfrm>
            <a:off x="919240" y="5770897"/>
            <a:ext cx="5580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where ARM registers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 variable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b818a4b89_0_0"/>
          <p:cNvSpPr txBox="1"/>
          <p:nvPr/>
        </p:nvSpPr>
        <p:spPr>
          <a:xfrm>
            <a:off x="4354829" y="958940"/>
            <a:ext cx="4440600" cy="56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Register, optionally with shift operation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756285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FFCC00"/>
              </a:buClr>
              <a:buSzPts val="1800"/>
              <a:buFont typeface="Noto Sans Symbols"/>
              <a:buChar char="❖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Shift value can be either be: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1" marL="121793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7E"/>
              </a:buClr>
              <a:buSzPts val="1500"/>
              <a:buFont typeface="Noto Sans Symbols"/>
              <a:buChar char="❖"/>
            </a:pP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5 bit unsigned integer</a:t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11557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7E"/>
              </a:buClr>
              <a:buSzPts val="1500"/>
              <a:buFont typeface="Noto Sans Symbols"/>
              <a:buChar char="❖"/>
            </a:pP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Specified in bottom byte of</a:t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55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another register.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756285" marR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CC00"/>
              </a:buClr>
              <a:buSzPts val="1800"/>
              <a:buFont typeface="Noto Sans Symbols"/>
              <a:buChar char="❖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Used for multiplication by  constant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value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756285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FFCC00"/>
              </a:buClr>
              <a:buSzPts val="1800"/>
              <a:buFont typeface="Noto Sans Symbols"/>
              <a:buChar char="❖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8 bit number, with a range of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0-255.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115570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7E"/>
              </a:buClr>
              <a:buSzPts val="1500"/>
              <a:buFont typeface="Noto Sans Symbols"/>
              <a:buChar char="❖"/>
            </a:pPr>
            <a:r>
              <a:rPr b="0" i="0" lang="en-US" sz="2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Rotated right through even</a:t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55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number of positions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019" lvl="0" marL="756285" marR="508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CC00"/>
              </a:buClr>
              <a:buSzPts val="1800"/>
              <a:buFont typeface="Noto Sans Symbols"/>
              <a:buChar char="❖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Allows increased range of 32-  bit constants to be loaded  directly into registers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g26b818a4b89_0_0"/>
          <p:cNvSpPr/>
          <p:nvPr/>
        </p:nvSpPr>
        <p:spPr>
          <a:xfrm>
            <a:off x="3657600" y="1562100"/>
            <a:ext cx="609600" cy="76200"/>
          </a:xfrm>
          <a:custGeom>
            <a:rect b="b" l="l" r="r" t="t"/>
            <a:pathLst>
              <a:path extrusionOk="0" h="76200" w="609600">
                <a:moveTo>
                  <a:pt x="127000" y="0"/>
                </a:moveTo>
                <a:lnTo>
                  <a:pt x="0" y="38100"/>
                </a:lnTo>
                <a:lnTo>
                  <a:pt x="127000" y="76200"/>
                </a:lnTo>
                <a:lnTo>
                  <a:pt x="93133" y="50800"/>
                </a:lnTo>
                <a:lnTo>
                  <a:pt x="76200" y="50800"/>
                </a:lnTo>
                <a:lnTo>
                  <a:pt x="76200" y="25400"/>
                </a:lnTo>
                <a:lnTo>
                  <a:pt x="93133" y="25400"/>
                </a:lnTo>
                <a:lnTo>
                  <a:pt x="127000" y="0"/>
                </a:lnTo>
                <a:close/>
              </a:path>
              <a:path extrusionOk="0" h="76200" w="609600">
                <a:moveTo>
                  <a:pt x="76200" y="38100"/>
                </a:moveTo>
                <a:lnTo>
                  <a:pt x="76200" y="50800"/>
                </a:lnTo>
                <a:lnTo>
                  <a:pt x="93133" y="50800"/>
                </a:lnTo>
                <a:lnTo>
                  <a:pt x="76200" y="38100"/>
                </a:lnTo>
                <a:close/>
              </a:path>
              <a:path extrusionOk="0" h="76200" w="609600">
                <a:moveTo>
                  <a:pt x="101600" y="25400"/>
                </a:moveTo>
                <a:lnTo>
                  <a:pt x="93133" y="25400"/>
                </a:lnTo>
                <a:lnTo>
                  <a:pt x="76200" y="38100"/>
                </a:lnTo>
                <a:lnTo>
                  <a:pt x="93133" y="50800"/>
                </a:lnTo>
                <a:lnTo>
                  <a:pt x="101600" y="50800"/>
                </a:lnTo>
                <a:lnTo>
                  <a:pt x="101600" y="25400"/>
                </a:lnTo>
                <a:close/>
              </a:path>
              <a:path extrusionOk="0" h="76200" w="609600">
                <a:moveTo>
                  <a:pt x="152400" y="25400"/>
                </a:moveTo>
                <a:lnTo>
                  <a:pt x="127000" y="25400"/>
                </a:lnTo>
                <a:lnTo>
                  <a:pt x="127000" y="50800"/>
                </a:lnTo>
                <a:lnTo>
                  <a:pt x="152400" y="50800"/>
                </a:lnTo>
                <a:lnTo>
                  <a:pt x="152400" y="25400"/>
                </a:lnTo>
                <a:close/>
              </a:path>
              <a:path extrusionOk="0" h="76200" w="609600">
                <a:moveTo>
                  <a:pt x="93133" y="25400"/>
                </a:moveTo>
                <a:lnTo>
                  <a:pt x="76200" y="25400"/>
                </a:lnTo>
                <a:lnTo>
                  <a:pt x="76200" y="38100"/>
                </a:lnTo>
                <a:lnTo>
                  <a:pt x="93133" y="25400"/>
                </a:lnTo>
                <a:close/>
              </a:path>
              <a:path extrusionOk="0" h="76200" w="609600">
                <a:moveTo>
                  <a:pt x="203200" y="25400"/>
                </a:moveTo>
                <a:lnTo>
                  <a:pt x="177800" y="25400"/>
                </a:lnTo>
                <a:lnTo>
                  <a:pt x="177800" y="50800"/>
                </a:lnTo>
                <a:lnTo>
                  <a:pt x="203200" y="50800"/>
                </a:lnTo>
                <a:lnTo>
                  <a:pt x="203200" y="25400"/>
                </a:lnTo>
                <a:close/>
              </a:path>
              <a:path extrusionOk="0" h="76200" w="609600">
                <a:moveTo>
                  <a:pt x="254000" y="25400"/>
                </a:moveTo>
                <a:lnTo>
                  <a:pt x="228600" y="25400"/>
                </a:lnTo>
                <a:lnTo>
                  <a:pt x="228600" y="50800"/>
                </a:lnTo>
                <a:lnTo>
                  <a:pt x="254000" y="50800"/>
                </a:lnTo>
                <a:lnTo>
                  <a:pt x="254000" y="25400"/>
                </a:lnTo>
                <a:close/>
              </a:path>
              <a:path extrusionOk="0" h="76200" w="609600">
                <a:moveTo>
                  <a:pt x="304800" y="25400"/>
                </a:moveTo>
                <a:lnTo>
                  <a:pt x="279400" y="25400"/>
                </a:lnTo>
                <a:lnTo>
                  <a:pt x="279400" y="50800"/>
                </a:lnTo>
                <a:lnTo>
                  <a:pt x="304800" y="50800"/>
                </a:lnTo>
                <a:lnTo>
                  <a:pt x="304800" y="25400"/>
                </a:lnTo>
                <a:close/>
              </a:path>
              <a:path extrusionOk="0" h="76200" w="609600">
                <a:moveTo>
                  <a:pt x="355600" y="25400"/>
                </a:moveTo>
                <a:lnTo>
                  <a:pt x="330200" y="25400"/>
                </a:lnTo>
                <a:lnTo>
                  <a:pt x="330200" y="50800"/>
                </a:lnTo>
                <a:lnTo>
                  <a:pt x="355600" y="50800"/>
                </a:lnTo>
                <a:lnTo>
                  <a:pt x="355600" y="25400"/>
                </a:lnTo>
                <a:close/>
              </a:path>
              <a:path extrusionOk="0" h="76200" w="609600">
                <a:moveTo>
                  <a:pt x="406400" y="25400"/>
                </a:moveTo>
                <a:lnTo>
                  <a:pt x="381000" y="25400"/>
                </a:lnTo>
                <a:lnTo>
                  <a:pt x="381000" y="50800"/>
                </a:lnTo>
                <a:lnTo>
                  <a:pt x="406400" y="50800"/>
                </a:lnTo>
                <a:lnTo>
                  <a:pt x="406400" y="25400"/>
                </a:lnTo>
                <a:close/>
              </a:path>
              <a:path extrusionOk="0" h="76200" w="609600">
                <a:moveTo>
                  <a:pt x="457200" y="25400"/>
                </a:moveTo>
                <a:lnTo>
                  <a:pt x="431800" y="25400"/>
                </a:lnTo>
                <a:lnTo>
                  <a:pt x="431800" y="50800"/>
                </a:lnTo>
                <a:lnTo>
                  <a:pt x="457200" y="50800"/>
                </a:lnTo>
                <a:lnTo>
                  <a:pt x="457200" y="25400"/>
                </a:lnTo>
                <a:close/>
              </a:path>
              <a:path extrusionOk="0" h="76200" w="609600">
                <a:moveTo>
                  <a:pt x="508000" y="25400"/>
                </a:moveTo>
                <a:lnTo>
                  <a:pt x="482600" y="25400"/>
                </a:lnTo>
                <a:lnTo>
                  <a:pt x="482600" y="50800"/>
                </a:lnTo>
                <a:lnTo>
                  <a:pt x="508000" y="50800"/>
                </a:lnTo>
                <a:lnTo>
                  <a:pt x="508000" y="25400"/>
                </a:lnTo>
                <a:close/>
              </a:path>
              <a:path extrusionOk="0" h="76200" w="609600">
                <a:moveTo>
                  <a:pt x="558800" y="25400"/>
                </a:moveTo>
                <a:lnTo>
                  <a:pt x="533400" y="25400"/>
                </a:lnTo>
                <a:lnTo>
                  <a:pt x="533400" y="50800"/>
                </a:lnTo>
                <a:lnTo>
                  <a:pt x="558800" y="50800"/>
                </a:lnTo>
                <a:lnTo>
                  <a:pt x="558800" y="25400"/>
                </a:lnTo>
                <a:close/>
              </a:path>
              <a:path extrusionOk="0" h="76200" w="609600">
                <a:moveTo>
                  <a:pt x="609600" y="25400"/>
                </a:moveTo>
                <a:lnTo>
                  <a:pt x="584200" y="25400"/>
                </a:lnTo>
                <a:lnTo>
                  <a:pt x="584200" y="50800"/>
                </a:lnTo>
                <a:lnTo>
                  <a:pt x="609600" y="50800"/>
                </a:lnTo>
                <a:lnTo>
                  <a:pt x="609600" y="254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2" name="Google Shape;192;g26b818a4b89_0_0"/>
          <p:cNvSpPr/>
          <p:nvPr/>
        </p:nvSpPr>
        <p:spPr>
          <a:xfrm>
            <a:off x="3505200" y="1752600"/>
            <a:ext cx="766445" cy="1891664"/>
          </a:xfrm>
          <a:custGeom>
            <a:rect b="b" l="l" r="r" t="t"/>
            <a:pathLst>
              <a:path extrusionOk="0" h="1891664" w="766445">
                <a:moveTo>
                  <a:pt x="58927" y="113157"/>
                </a:moveTo>
                <a:lnTo>
                  <a:pt x="35433" y="122682"/>
                </a:lnTo>
                <a:lnTo>
                  <a:pt x="44830" y="146176"/>
                </a:lnTo>
                <a:lnTo>
                  <a:pt x="68325" y="136778"/>
                </a:lnTo>
                <a:lnTo>
                  <a:pt x="58927" y="113157"/>
                </a:lnTo>
                <a:close/>
              </a:path>
              <a:path extrusionOk="0" h="1891664" w="766445">
                <a:moveTo>
                  <a:pt x="0" y="0"/>
                </a:moveTo>
                <a:lnTo>
                  <a:pt x="11811" y="132079"/>
                </a:lnTo>
                <a:lnTo>
                  <a:pt x="22800" y="91249"/>
                </a:lnTo>
                <a:lnTo>
                  <a:pt x="16510" y="75437"/>
                </a:lnTo>
                <a:lnTo>
                  <a:pt x="40132" y="66039"/>
                </a:lnTo>
                <a:lnTo>
                  <a:pt x="52541" y="66039"/>
                </a:lnTo>
                <a:lnTo>
                  <a:pt x="0" y="0"/>
                </a:lnTo>
                <a:close/>
              </a:path>
              <a:path extrusionOk="0" h="1891664" w="766445">
                <a:moveTo>
                  <a:pt x="52541" y="66039"/>
                </a:moveTo>
                <a:lnTo>
                  <a:pt x="40132" y="66039"/>
                </a:lnTo>
                <a:lnTo>
                  <a:pt x="46375" y="81732"/>
                </a:lnTo>
                <a:lnTo>
                  <a:pt x="82550" y="103759"/>
                </a:lnTo>
                <a:lnTo>
                  <a:pt x="52541" y="66039"/>
                </a:lnTo>
                <a:close/>
              </a:path>
              <a:path extrusionOk="0" h="1891664" w="766445">
                <a:moveTo>
                  <a:pt x="28321" y="70738"/>
                </a:moveTo>
                <a:lnTo>
                  <a:pt x="22800" y="91249"/>
                </a:lnTo>
                <a:lnTo>
                  <a:pt x="25908" y="99060"/>
                </a:lnTo>
                <a:lnTo>
                  <a:pt x="49529" y="89662"/>
                </a:lnTo>
                <a:lnTo>
                  <a:pt x="46375" y="81732"/>
                </a:lnTo>
                <a:lnTo>
                  <a:pt x="28321" y="70738"/>
                </a:lnTo>
                <a:close/>
              </a:path>
              <a:path extrusionOk="0" h="1891664" w="766445">
                <a:moveTo>
                  <a:pt x="28321" y="70738"/>
                </a:moveTo>
                <a:lnTo>
                  <a:pt x="16510" y="75437"/>
                </a:lnTo>
                <a:lnTo>
                  <a:pt x="22800" y="91249"/>
                </a:lnTo>
                <a:lnTo>
                  <a:pt x="28321" y="70738"/>
                </a:lnTo>
                <a:close/>
              </a:path>
              <a:path extrusionOk="0" h="1891664" w="766445">
                <a:moveTo>
                  <a:pt x="40132" y="66039"/>
                </a:moveTo>
                <a:lnTo>
                  <a:pt x="28321" y="70738"/>
                </a:lnTo>
                <a:lnTo>
                  <a:pt x="46375" y="81732"/>
                </a:lnTo>
                <a:lnTo>
                  <a:pt x="40132" y="66039"/>
                </a:lnTo>
                <a:close/>
              </a:path>
              <a:path extrusionOk="0" h="1891664" w="766445">
                <a:moveTo>
                  <a:pt x="77850" y="160400"/>
                </a:moveTo>
                <a:lnTo>
                  <a:pt x="54228" y="169799"/>
                </a:lnTo>
                <a:lnTo>
                  <a:pt x="63626" y="193421"/>
                </a:lnTo>
                <a:lnTo>
                  <a:pt x="87249" y="183896"/>
                </a:lnTo>
                <a:lnTo>
                  <a:pt x="77850" y="160400"/>
                </a:lnTo>
                <a:close/>
              </a:path>
              <a:path extrusionOk="0" h="1891664" w="766445">
                <a:moveTo>
                  <a:pt x="96647" y="207517"/>
                </a:moveTo>
                <a:lnTo>
                  <a:pt x="73151" y="216915"/>
                </a:lnTo>
                <a:lnTo>
                  <a:pt x="82550" y="240537"/>
                </a:lnTo>
                <a:lnTo>
                  <a:pt x="106172" y="231139"/>
                </a:lnTo>
                <a:lnTo>
                  <a:pt x="96647" y="207517"/>
                </a:lnTo>
                <a:close/>
              </a:path>
              <a:path extrusionOk="0" h="1891664" w="766445">
                <a:moveTo>
                  <a:pt x="115570" y="254635"/>
                </a:moveTo>
                <a:lnTo>
                  <a:pt x="91948" y="264160"/>
                </a:lnTo>
                <a:lnTo>
                  <a:pt x="101346" y="287654"/>
                </a:lnTo>
                <a:lnTo>
                  <a:pt x="124967" y="278257"/>
                </a:lnTo>
                <a:lnTo>
                  <a:pt x="115570" y="254635"/>
                </a:lnTo>
                <a:close/>
              </a:path>
              <a:path extrusionOk="0" h="1891664" w="766445">
                <a:moveTo>
                  <a:pt x="134365" y="301878"/>
                </a:moveTo>
                <a:lnTo>
                  <a:pt x="110871" y="311276"/>
                </a:lnTo>
                <a:lnTo>
                  <a:pt x="120269" y="334899"/>
                </a:lnTo>
                <a:lnTo>
                  <a:pt x="143890" y="325500"/>
                </a:lnTo>
                <a:lnTo>
                  <a:pt x="134365" y="301878"/>
                </a:lnTo>
                <a:close/>
              </a:path>
              <a:path extrusionOk="0" h="1891664" w="766445">
                <a:moveTo>
                  <a:pt x="153288" y="348996"/>
                </a:moveTo>
                <a:lnTo>
                  <a:pt x="129666" y="358521"/>
                </a:lnTo>
                <a:lnTo>
                  <a:pt x="139191" y="382015"/>
                </a:lnTo>
                <a:lnTo>
                  <a:pt x="162687" y="372617"/>
                </a:lnTo>
                <a:lnTo>
                  <a:pt x="153288" y="348996"/>
                </a:lnTo>
                <a:close/>
              </a:path>
              <a:path extrusionOk="0" h="1891664" w="766445">
                <a:moveTo>
                  <a:pt x="172212" y="396239"/>
                </a:moveTo>
                <a:lnTo>
                  <a:pt x="148589" y="405638"/>
                </a:lnTo>
                <a:lnTo>
                  <a:pt x="157987" y="429260"/>
                </a:lnTo>
                <a:lnTo>
                  <a:pt x="181610" y="419735"/>
                </a:lnTo>
                <a:lnTo>
                  <a:pt x="172212" y="396239"/>
                </a:lnTo>
                <a:close/>
              </a:path>
              <a:path extrusionOk="0" h="1891664" w="766445">
                <a:moveTo>
                  <a:pt x="191008" y="443357"/>
                </a:moveTo>
                <a:lnTo>
                  <a:pt x="167386" y="452754"/>
                </a:lnTo>
                <a:lnTo>
                  <a:pt x="176911" y="476376"/>
                </a:lnTo>
                <a:lnTo>
                  <a:pt x="200405" y="466978"/>
                </a:lnTo>
                <a:lnTo>
                  <a:pt x="191008" y="443357"/>
                </a:lnTo>
                <a:close/>
              </a:path>
              <a:path extrusionOk="0" h="1891664" w="766445">
                <a:moveTo>
                  <a:pt x="209930" y="490474"/>
                </a:moveTo>
                <a:lnTo>
                  <a:pt x="186309" y="499999"/>
                </a:lnTo>
                <a:lnTo>
                  <a:pt x="195707" y="523494"/>
                </a:lnTo>
                <a:lnTo>
                  <a:pt x="219328" y="514096"/>
                </a:lnTo>
                <a:lnTo>
                  <a:pt x="209930" y="490474"/>
                </a:lnTo>
                <a:close/>
              </a:path>
              <a:path extrusionOk="0" h="1891664" w="766445">
                <a:moveTo>
                  <a:pt x="228726" y="537717"/>
                </a:moveTo>
                <a:lnTo>
                  <a:pt x="205232" y="547115"/>
                </a:lnTo>
                <a:lnTo>
                  <a:pt x="214629" y="570738"/>
                </a:lnTo>
                <a:lnTo>
                  <a:pt x="238125" y="561339"/>
                </a:lnTo>
                <a:lnTo>
                  <a:pt x="228726" y="537717"/>
                </a:lnTo>
                <a:close/>
              </a:path>
              <a:path extrusionOk="0" h="1891664" w="766445">
                <a:moveTo>
                  <a:pt x="247650" y="584835"/>
                </a:moveTo>
                <a:lnTo>
                  <a:pt x="224027" y="594233"/>
                </a:lnTo>
                <a:lnTo>
                  <a:pt x="233425" y="617854"/>
                </a:lnTo>
                <a:lnTo>
                  <a:pt x="257048" y="608457"/>
                </a:lnTo>
                <a:lnTo>
                  <a:pt x="247650" y="584835"/>
                </a:lnTo>
                <a:close/>
              </a:path>
              <a:path extrusionOk="0" h="1891664" w="766445">
                <a:moveTo>
                  <a:pt x="266446" y="632078"/>
                </a:moveTo>
                <a:lnTo>
                  <a:pt x="242950" y="641476"/>
                </a:lnTo>
                <a:lnTo>
                  <a:pt x="252349" y="665099"/>
                </a:lnTo>
                <a:lnTo>
                  <a:pt x="275971" y="655574"/>
                </a:lnTo>
                <a:lnTo>
                  <a:pt x="266446" y="632078"/>
                </a:lnTo>
                <a:close/>
              </a:path>
              <a:path extrusionOk="0" h="1891664" w="766445">
                <a:moveTo>
                  <a:pt x="285369" y="679196"/>
                </a:moveTo>
                <a:lnTo>
                  <a:pt x="261747" y="688594"/>
                </a:lnTo>
                <a:lnTo>
                  <a:pt x="271145" y="712215"/>
                </a:lnTo>
                <a:lnTo>
                  <a:pt x="294766" y="702817"/>
                </a:lnTo>
                <a:lnTo>
                  <a:pt x="285369" y="679196"/>
                </a:lnTo>
                <a:close/>
              </a:path>
              <a:path extrusionOk="0" h="1891664" w="766445">
                <a:moveTo>
                  <a:pt x="304164" y="726313"/>
                </a:moveTo>
                <a:lnTo>
                  <a:pt x="280670" y="735838"/>
                </a:lnTo>
                <a:lnTo>
                  <a:pt x="290067" y="759333"/>
                </a:lnTo>
                <a:lnTo>
                  <a:pt x="313689" y="749935"/>
                </a:lnTo>
                <a:lnTo>
                  <a:pt x="304164" y="726313"/>
                </a:lnTo>
                <a:close/>
              </a:path>
              <a:path extrusionOk="0" h="1891664" w="766445">
                <a:moveTo>
                  <a:pt x="323088" y="773557"/>
                </a:moveTo>
                <a:lnTo>
                  <a:pt x="299465" y="782954"/>
                </a:lnTo>
                <a:lnTo>
                  <a:pt x="308990" y="806576"/>
                </a:lnTo>
                <a:lnTo>
                  <a:pt x="332486" y="797051"/>
                </a:lnTo>
                <a:lnTo>
                  <a:pt x="323088" y="773557"/>
                </a:lnTo>
                <a:close/>
              </a:path>
              <a:path extrusionOk="0" h="1891664" w="766445">
                <a:moveTo>
                  <a:pt x="342011" y="820674"/>
                </a:moveTo>
                <a:lnTo>
                  <a:pt x="318388" y="830072"/>
                </a:lnTo>
                <a:lnTo>
                  <a:pt x="327787" y="853694"/>
                </a:lnTo>
                <a:lnTo>
                  <a:pt x="351409" y="844296"/>
                </a:lnTo>
                <a:lnTo>
                  <a:pt x="342011" y="820674"/>
                </a:lnTo>
                <a:close/>
              </a:path>
              <a:path extrusionOk="0" h="1891664" w="766445">
                <a:moveTo>
                  <a:pt x="360807" y="867917"/>
                </a:moveTo>
                <a:lnTo>
                  <a:pt x="337185" y="877315"/>
                </a:lnTo>
                <a:lnTo>
                  <a:pt x="346710" y="900938"/>
                </a:lnTo>
                <a:lnTo>
                  <a:pt x="370204" y="891413"/>
                </a:lnTo>
                <a:lnTo>
                  <a:pt x="360807" y="867917"/>
                </a:lnTo>
                <a:close/>
              </a:path>
              <a:path extrusionOk="0" h="1891664" w="766445">
                <a:moveTo>
                  <a:pt x="379729" y="915035"/>
                </a:moveTo>
                <a:lnTo>
                  <a:pt x="356108" y="924433"/>
                </a:lnTo>
                <a:lnTo>
                  <a:pt x="365505" y="948054"/>
                </a:lnTo>
                <a:lnTo>
                  <a:pt x="389127" y="938657"/>
                </a:lnTo>
                <a:lnTo>
                  <a:pt x="379729" y="915035"/>
                </a:lnTo>
                <a:close/>
              </a:path>
              <a:path extrusionOk="0" h="1891664" w="766445">
                <a:moveTo>
                  <a:pt x="398525" y="962151"/>
                </a:moveTo>
                <a:lnTo>
                  <a:pt x="375030" y="971676"/>
                </a:lnTo>
                <a:lnTo>
                  <a:pt x="384428" y="995172"/>
                </a:lnTo>
                <a:lnTo>
                  <a:pt x="407924" y="985774"/>
                </a:lnTo>
                <a:lnTo>
                  <a:pt x="398525" y="962151"/>
                </a:lnTo>
                <a:close/>
              </a:path>
              <a:path extrusionOk="0" h="1891664" w="766445">
                <a:moveTo>
                  <a:pt x="417449" y="1009396"/>
                </a:moveTo>
                <a:lnTo>
                  <a:pt x="393826" y="1018794"/>
                </a:lnTo>
                <a:lnTo>
                  <a:pt x="403225" y="1042415"/>
                </a:lnTo>
                <a:lnTo>
                  <a:pt x="426847" y="1032890"/>
                </a:lnTo>
                <a:lnTo>
                  <a:pt x="417449" y="1009396"/>
                </a:lnTo>
                <a:close/>
              </a:path>
              <a:path extrusionOk="0" h="1891664" w="766445">
                <a:moveTo>
                  <a:pt x="436245" y="1056513"/>
                </a:moveTo>
                <a:lnTo>
                  <a:pt x="412750" y="1065911"/>
                </a:lnTo>
                <a:lnTo>
                  <a:pt x="422148" y="1089533"/>
                </a:lnTo>
                <a:lnTo>
                  <a:pt x="445770" y="1080135"/>
                </a:lnTo>
                <a:lnTo>
                  <a:pt x="436245" y="1056513"/>
                </a:lnTo>
                <a:close/>
              </a:path>
              <a:path extrusionOk="0" h="1891664" w="766445">
                <a:moveTo>
                  <a:pt x="455167" y="1103629"/>
                </a:moveTo>
                <a:lnTo>
                  <a:pt x="431546" y="1113154"/>
                </a:lnTo>
                <a:lnTo>
                  <a:pt x="440944" y="1136650"/>
                </a:lnTo>
                <a:lnTo>
                  <a:pt x="464565" y="1127252"/>
                </a:lnTo>
                <a:lnTo>
                  <a:pt x="455167" y="1103629"/>
                </a:lnTo>
                <a:close/>
              </a:path>
              <a:path extrusionOk="0" h="1891664" w="766445">
                <a:moveTo>
                  <a:pt x="473963" y="1150874"/>
                </a:moveTo>
                <a:lnTo>
                  <a:pt x="450469" y="1160272"/>
                </a:lnTo>
                <a:lnTo>
                  <a:pt x="459866" y="1183894"/>
                </a:lnTo>
                <a:lnTo>
                  <a:pt x="483488" y="1174496"/>
                </a:lnTo>
                <a:lnTo>
                  <a:pt x="473963" y="1150874"/>
                </a:lnTo>
                <a:close/>
              </a:path>
              <a:path extrusionOk="0" h="1891664" w="766445">
                <a:moveTo>
                  <a:pt x="492887" y="1197990"/>
                </a:moveTo>
                <a:lnTo>
                  <a:pt x="469264" y="1207515"/>
                </a:lnTo>
                <a:lnTo>
                  <a:pt x="478789" y="1231011"/>
                </a:lnTo>
                <a:lnTo>
                  <a:pt x="502285" y="1221613"/>
                </a:lnTo>
                <a:lnTo>
                  <a:pt x="492887" y="1197990"/>
                </a:lnTo>
                <a:close/>
              </a:path>
              <a:path extrusionOk="0" h="1891664" w="766445">
                <a:moveTo>
                  <a:pt x="511810" y="1245235"/>
                </a:moveTo>
                <a:lnTo>
                  <a:pt x="488188" y="1254633"/>
                </a:lnTo>
                <a:lnTo>
                  <a:pt x="497586" y="1278254"/>
                </a:lnTo>
                <a:lnTo>
                  <a:pt x="521208" y="1268729"/>
                </a:lnTo>
                <a:lnTo>
                  <a:pt x="511810" y="1245235"/>
                </a:lnTo>
                <a:close/>
              </a:path>
              <a:path extrusionOk="0" h="1891664" w="766445">
                <a:moveTo>
                  <a:pt x="530605" y="1292352"/>
                </a:moveTo>
                <a:lnTo>
                  <a:pt x="506984" y="1301750"/>
                </a:lnTo>
                <a:lnTo>
                  <a:pt x="516509" y="1325372"/>
                </a:lnTo>
                <a:lnTo>
                  <a:pt x="540003" y="1315974"/>
                </a:lnTo>
                <a:lnTo>
                  <a:pt x="530605" y="1292352"/>
                </a:lnTo>
                <a:close/>
              </a:path>
              <a:path extrusionOk="0" h="1891664" w="766445">
                <a:moveTo>
                  <a:pt x="549528" y="1339469"/>
                </a:moveTo>
                <a:lnTo>
                  <a:pt x="525907" y="1348994"/>
                </a:lnTo>
                <a:lnTo>
                  <a:pt x="535304" y="1372489"/>
                </a:lnTo>
                <a:lnTo>
                  <a:pt x="558926" y="1363090"/>
                </a:lnTo>
                <a:lnTo>
                  <a:pt x="549528" y="1339469"/>
                </a:lnTo>
                <a:close/>
              </a:path>
              <a:path extrusionOk="0" h="1891664" w="766445">
                <a:moveTo>
                  <a:pt x="568325" y="1386713"/>
                </a:moveTo>
                <a:lnTo>
                  <a:pt x="544829" y="1396111"/>
                </a:lnTo>
                <a:lnTo>
                  <a:pt x="554227" y="1419733"/>
                </a:lnTo>
                <a:lnTo>
                  <a:pt x="577723" y="1410335"/>
                </a:lnTo>
                <a:lnTo>
                  <a:pt x="568325" y="1386713"/>
                </a:lnTo>
                <a:close/>
              </a:path>
              <a:path extrusionOk="0" h="1891664" w="766445">
                <a:moveTo>
                  <a:pt x="587248" y="1433829"/>
                </a:moveTo>
                <a:lnTo>
                  <a:pt x="563626" y="1443227"/>
                </a:lnTo>
                <a:lnTo>
                  <a:pt x="573024" y="1466850"/>
                </a:lnTo>
                <a:lnTo>
                  <a:pt x="596646" y="1457452"/>
                </a:lnTo>
                <a:lnTo>
                  <a:pt x="587248" y="1433829"/>
                </a:lnTo>
                <a:close/>
              </a:path>
              <a:path extrusionOk="0" h="1891664" w="766445">
                <a:moveTo>
                  <a:pt x="606044" y="1481074"/>
                </a:moveTo>
                <a:lnTo>
                  <a:pt x="582549" y="1490472"/>
                </a:lnTo>
                <a:lnTo>
                  <a:pt x="591947" y="1514094"/>
                </a:lnTo>
                <a:lnTo>
                  <a:pt x="615569" y="1504569"/>
                </a:lnTo>
                <a:lnTo>
                  <a:pt x="606044" y="1481074"/>
                </a:lnTo>
                <a:close/>
              </a:path>
              <a:path extrusionOk="0" h="1891664" w="766445">
                <a:moveTo>
                  <a:pt x="624966" y="1528190"/>
                </a:moveTo>
                <a:lnTo>
                  <a:pt x="601345" y="1537589"/>
                </a:lnTo>
                <a:lnTo>
                  <a:pt x="610742" y="1561211"/>
                </a:lnTo>
                <a:lnTo>
                  <a:pt x="634364" y="1551813"/>
                </a:lnTo>
                <a:lnTo>
                  <a:pt x="624966" y="1528190"/>
                </a:lnTo>
                <a:close/>
              </a:path>
              <a:path extrusionOk="0" h="1891664" w="766445">
                <a:moveTo>
                  <a:pt x="643763" y="1575308"/>
                </a:moveTo>
                <a:lnTo>
                  <a:pt x="620267" y="1584833"/>
                </a:lnTo>
                <a:lnTo>
                  <a:pt x="629665" y="1608327"/>
                </a:lnTo>
                <a:lnTo>
                  <a:pt x="653288" y="1598929"/>
                </a:lnTo>
                <a:lnTo>
                  <a:pt x="643763" y="1575308"/>
                </a:lnTo>
                <a:close/>
              </a:path>
              <a:path extrusionOk="0" h="1891664" w="766445">
                <a:moveTo>
                  <a:pt x="662686" y="1622552"/>
                </a:moveTo>
                <a:lnTo>
                  <a:pt x="639063" y="1631950"/>
                </a:lnTo>
                <a:lnTo>
                  <a:pt x="648588" y="1655572"/>
                </a:lnTo>
                <a:lnTo>
                  <a:pt x="672084" y="1646047"/>
                </a:lnTo>
                <a:lnTo>
                  <a:pt x="662686" y="1622552"/>
                </a:lnTo>
                <a:close/>
              </a:path>
              <a:path extrusionOk="0" h="1891664" w="766445">
                <a:moveTo>
                  <a:pt x="681609" y="1669669"/>
                </a:moveTo>
                <a:lnTo>
                  <a:pt x="657987" y="1679066"/>
                </a:lnTo>
                <a:lnTo>
                  <a:pt x="667385" y="1702689"/>
                </a:lnTo>
                <a:lnTo>
                  <a:pt x="691007" y="1693290"/>
                </a:lnTo>
                <a:lnTo>
                  <a:pt x="681609" y="1669669"/>
                </a:lnTo>
                <a:close/>
              </a:path>
              <a:path extrusionOk="0" h="1891664" w="766445">
                <a:moveTo>
                  <a:pt x="700404" y="1716913"/>
                </a:moveTo>
                <a:lnTo>
                  <a:pt x="676783" y="1726311"/>
                </a:lnTo>
                <a:lnTo>
                  <a:pt x="686308" y="1749933"/>
                </a:lnTo>
                <a:lnTo>
                  <a:pt x="709802" y="1740408"/>
                </a:lnTo>
                <a:lnTo>
                  <a:pt x="700404" y="1716913"/>
                </a:lnTo>
                <a:close/>
              </a:path>
              <a:path extrusionOk="0" h="1891664" w="766445">
                <a:moveTo>
                  <a:pt x="719327" y="1764029"/>
                </a:moveTo>
                <a:lnTo>
                  <a:pt x="695705" y="1773427"/>
                </a:lnTo>
                <a:lnTo>
                  <a:pt x="705103" y="1797050"/>
                </a:lnTo>
                <a:lnTo>
                  <a:pt x="728726" y="1787652"/>
                </a:lnTo>
                <a:lnTo>
                  <a:pt x="719327" y="1764029"/>
                </a:lnTo>
                <a:close/>
              </a:path>
              <a:path extrusionOk="0" h="1891664" w="766445">
                <a:moveTo>
                  <a:pt x="738124" y="1811147"/>
                </a:moveTo>
                <a:lnTo>
                  <a:pt x="714628" y="1820672"/>
                </a:lnTo>
                <a:lnTo>
                  <a:pt x="724026" y="1844166"/>
                </a:lnTo>
                <a:lnTo>
                  <a:pt x="747649" y="1834769"/>
                </a:lnTo>
                <a:lnTo>
                  <a:pt x="738124" y="1811147"/>
                </a:lnTo>
                <a:close/>
              </a:path>
              <a:path extrusionOk="0" h="1891664" w="766445">
                <a:moveTo>
                  <a:pt x="757047" y="1858391"/>
                </a:moveTo>
                <a:lnTo>
                  <a:pt x="733425" y="1867789"/>
                </a:lnTo>
                <a:lnTo>
                  <a:pt x="742823" y="1891411"/>
                </a:lnTo>
                <a:lnTo>
                  <a:pt x="766445" y="1881886"/>
                </a:lnTo>
                <a:lnTo>
                  <a:pt x="757047" y="18583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3" name="Google Shape;193;g26b818a4b89_0_0"/>
          <p:cNvSpPr txBox="1"/>
          <p:nvPr/>
        </p:nvSpPr>
        <p:spPr>
          <a:xfrm>
            <a:off x="1474977" y="5684011"/>
            <a:ext cx="847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26b818a4b89_0_0"/>
          <p:cNvSpPr txBox="1"/>
          <p:nvPr/>
        </p:nvSpPr>
        <p:spPr>
          <a:xfrm>
            <a:off x="612750" y="1347350"/>
            <a:ext cx="3165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Operand 1   Operand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g26b818a4b89_0_0"/>
          <p:cNvSpPr/>
          <p:nvPr/>
        </p:nvSpPr>
        <p:spPr>
          <a:xfrm>
            <a:off x="1331849" y="2136775"/>
            <a:ext cx="76200" cy="1825625"/>
          </a:xfrm>
          <a:custGeom>
            <a:rect b="b" l="l" r="r" t="t"/>
            <a:pathLst>
              <a:path extrusionOk="0" h="1825625" w="76200">
                <a:moveTo>
                  <a:pt x="0" y="1698625"/>
                </a:moveTo>
                <a:lnTo>
                  <a:pt x="38100" y="1825625"/>
                </a:lnTo>
                <a:lnTo>
                  <a:pt x="60959" y="1749425"/>
                </a:lnTo>
                <a:lnTo>
                  <a:pt x="25526" y="1749425"/>
                </a:lnTo>
                <a:lnTo>
                  <a:pt x="25526" y="1732660"/>
                </a:lnTo>
                <a:lnTo>
                  <a:pt x="0" y="1698625"/>
                </a:lnTo>
                <a:close/>
              </a:path>
              <a:path extrusionOk="0" h="1825625" w="76200">
                <a:moveTo>
                  <a:pt x="25526" y="1732660"/>
                </a:moveTo>
                <a:lnTo>
                  <a:pt x="25526" y="1749425"/>
                </a:lnTo>
                <a:lnTo>
                  <a:pt x="38100" y="1749425"/>
                </a:lnTo>
                <a:lnTo>
                  <a:pt x="25526" y="1732660"/>
                </a:lnTo>
                <a:close/>
              </a:path>
              <a:path extrusionOk="0" h="1825625" w="76200">
                <a:moveTo>
                  <a:pt x="50926" y="0"/>
                </a:moveTo>
                <a:lnTo>
                  <a:pt x="25526" y="0"/>
                </a:lnTo>
                <a:lnTo>
                  <a:pt x="25526" y="1732660"/>
                </a:lnTo>
                <a:lnTo>
                  <a:pt x="38100" y="1749425"/>
                </a:lnTo>
                <a:lnTo>
                  <a:pt x="50926" y="1732322"/>
                </a:lnTo>
                <a:lnTo>
                  <a:pt x="50926" y="0"/>
                </a:lnTo>
                <a:close/>
              </a:path>
              <a:path extrusionOk="0" h="1825625" w="76200">
                <a:moveTo>
                  <a:pt x="50926" y="1732322"/>
                </a:moveTo>
                <a:lnTo>
                  <a:pt x="38100" y="1749425"/>
                </a:lnTo>
                <a:lnTo>
                  <a:pt x="50926" y="1749425"/>
                </a:lnTo>
                <a:lnTo>
                  <a:pt x="50926" y="1732322"/>
                </a:lnTo>
                <a:close/>
              </a:path>
              <a:path extrusionOk="0" h="1825625" w="76200">
                <a:moveTo>
                  <a:pt x="76200" y="1698625"/>
                </a:moveTo>
                <a:lnTo>
                  <a:pt x="50926" y="1732322"/>
                </a:lnTo>
                <a:lnTo>
                  <a:pt x="50926" y="1749425"/>
                </a:lnTo>
                <a:lnTo>
                  <a:pt x="60959" y="1749425"/>
                </a:lnTo>
                <a:lnTo>
                  <a:pt x="76200" y="16986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" name="Google Shape;196;g26b818a4b89_0_0"/>
          <p:cNvSpPr txBox="1"/>
          <p:nvPr/>
        </p:nvSpPr>
        <p:spPr>
          <a:xfrm>
            <a:off x="2244725" y="2725725"/>
            <a:ext cx="1413000" cy="60420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90800">
            <a:spAutoFit/>
          </a:bodyPr>
          <a:lstStyle/>
          <a:p>
            <a:pPr indent="0" lvl="0" marL="139700" marR="566420" rtl="0" algn="l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Barrel  Shifter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26b818a4b89_0_0"/>
          <p:cNvSpPr/>
          <p:nvPr/>
        </p:nvSpPr>
        <p:spPr>
          <a:xfrm>
            <a:off x="2900298" y="2119248"/>
            <a:ext cx="76200" cy="571500"/>
          </a:xfrm>
          <a:custGeom>
            <a:rect b="b" l="l" r="r" t="t"/>
            <a:pathLst>
              <a:path extrusionOk="0" h="571500" w="76200">
                <a:moveTo>
                  <a:pt x="0" y="444500"/>
                </a:moveTo>
                <a:lnTo>
                  <a:pt x="38100" y="571500"/>
                </a:lnTo>
                <a:lnTo>
                  <a:pt x="60960" y="495300"/>
                </a:lnTo>
                <a:lnTo>
                  <a:pt x="25400" y="495300"/>
                </a:lnTo>
                <a:lnTo>
                  <a:pt x="25400" y="478366"/>
                </a:lnTo>
                <a:lnTo>
                  <a:pt x="0" y="444500"/>
                </a:lnTo>
                <a:close/>
              </a:path>
              <a:path extrusionOk="0" h="571500" w="76200">
                <a:moveTo>
                  <a:pt x="25400" y="478366"/>
                </a:moveTo>
                <a:lnTo>
                  <a:pt x="25400" y="495300"/>
                </a:lnTo>
                <a:lnTo>
                  <a:pt x="38100" y="495300"/>
                </a:lnTo>
                <a:lnTo>
                  <a:pt x="25400" y="478366"/>
                </a:lnTo>
                <a:close/>
              </a:path>
              <a:path extrusionOk="0" h="571500" w="76200">
                <a:moveTo>
                  <a:pt x="50800" y="0"/>
                </a:moveTo>
                <a:lnTo>
                  <a:pt x="25400" y="0"/>
                </a:lnTo>
                <a:lnTo>
                  <a:pt x="25400" y="478366"/>
                </a:lnTo>
                <a:lnTo>
                  <a:pt x="38100" y="495300"/>
                </a:lnTo>
                <a:lnTo>
                  <a:pt x="50800" y="478366"/>
                </a:lnTo>
                <a:lnTo>
                  <a:pt x="50800" y="0"/>
                </a:lnTo>
                <a:close/>
              </a:path>
              <a:path extrusionOk="0" h="571500" w="76200">
                <a:moveTo>
                  <a:pt x="50800" y="478366"/>
                </a:moveTo>
                <a:lnTo>
                  <a:pt x="38100" y="495300"/>
                </a:lnTo>
                <a:lnTo>
                  <a:pt x="50800" y="495300"/>
                </a:lnTo>
                <a:lnTo>
                  <a:pt x="50800" y="478366"/>
                </a:lnTo>
                <a:close/>
              </a:path>
              <a:path extrusionOk="0" h="571500" w="76200">
                <a:moveTo>
                  <a:pt x="76200" y="444500"/>
                </a:moveTo>
                <a:lnTo>
                  <a:pt x="50800" y="478366"/>
                </a:lnTo>
                <a:lnTo>
                  <a:pt x="50800" y="495300"/>
                </a:lnTo>
                <a:lnTo>
                  <a:pt x="60960" y="495300"/>
                </a:lnTo>
                <a:lnTo>
                  <a:pt x="76200" y="444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98" name="Google Shape;198;g26b818a4b89_0_0"/>
          <p:cNvGrpSpPr/>
          <p:nvPr/>
        </p:nvGrpSpPr>
        <p:grpSpPr>
          <a:xfrm>
            <a:off x="920750" y="3441700"/>
            <a:ext cx="2362200" cy="1663700"/>
            <a:chOff x="920750" y="3441700"/>
            <a:chExt cx="2362200" cy="1663700"/>
          </a:xfrm>
        </p:grpSpPr>
        <p:sp>
          <p:nvSpPr>
            <p:cNvPr id="199" name="Google Shape;199;g26b818a4b89_0_0"/>
            <p:cNvSpPr/>
            <p:nvPr/>
          </p:nvSpPr>
          <p:spPr>
            <a:xfrm>
              <a:off x="2900298" y="3441700"/>
              <a:ext cx="76200" cy="532129"/>
            </a:xfrm>
            <a:custGeom>
              <a:rect b="b" l="l" r="r" t="t"/>
              <a:pathLst>
                <a:path extrusionOk="0" h="532129" w="76200">
                  <a:moveTo>
                    <a:pt x="0" y="404749"/>
                  </a:moveTo>
                  <a:lnTo>
                    <a:pt x="38100" y="531749"/>
                  </a:lnTo>
                  <a:lnTo>
                    <a:pt x="60960" y="455549"/>
                  </a:lnTo>
                  <a:lnTo>
                    <a:pt x="25400" y="455549"/>
                  </a:lnTo>
                  <a:lnTo>
                    <a:pt x="25400" y="438615"/>
                  </a:lnTo>
                  <a:lnTo>
                    <a:pt x="0" y="404749"/>
                  </a:lnTo>
                  <a:close/>
                </a:path>
                <a:path extrusionOk="0" h="532129" w="76200">
                  <a:moveTo>
                    <a:pt x="25400" y="438615"/>
                  </a:moveTo>
                  <a:lnTo>
                    <a:pt x="25400" y="455549"/>
                  </a:lnTo>
                  <a:lnTo>
                    <a:pt x="38100" y="455549"/>
                  </a:lnTo>
                  <a:lnTo>
                    <a:pt x="25400" y="438615"/>
                  </a:lnTo>
                  <a:close/>
                </a:path>
                <a:path extrusionOk="0" h="532129" w="76200">
                  <a:moveTo>
                    <a:pt x="50800" y="0"/>
                  </a:moveTo>
                  <a:lnTo>
                    <a:pt x="25400" y="0"/>
                  </a:lnTo>
                  <a:lnTo>
                    <a:pt x="25400" y="438615"/>
                  </a:lnTo>
                  <a:lnTo>
                    <a:pt x="38100" y="455549"/>
                  </a:lnTo>
                  <a:lnTo>
                    <a:pt x="50800" y="438615"/>
                  </a:lnTo>
                  <a:lnTo>
                    <a:pt x="50800" y="0"/>
                  </a:lnTo>
                  <a:close/>
                </a:path>
                <a:path extrusionOk="0" h="532129" w="76200">
                  <a:moveTo>
                    <a:pt x="50800" y="438615"/>
                  </a:moveTo>
                  <a:lnTo>
                    <a:pt x="38100" y="455549"/>
                  </a:lnTo>
                  <a:lnTo>
                    <a:pt x="50800" y="455549"/>
                  </a:lnTo>
                  <a:lnTo>
                    <a:pt x="50800" y="438615"/>
                  </a:lnTo>
                  <a:close/>
                </a:path>
                <a:path extrusionOk="0" h="532129" w="76200">
                  <a:moveTo>
                    <a:pt x="76200" y="404749"/>
                  </a:moveTo>
                  <a:lnTo>
                    <a:pt x="50800" y="438615"/>
                  </a:lnTo>
                  <a:lnTo>
                    <a:pt x="50800" y="455549"/>
                  </a:lnTo>
                  <a:lnTo>
                    <a:pt x="60960" y="455549"/>
                  </a:lnTo>
                  <a:lnTo>
                    <a:pt x="76200" y="4047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g26b818a4b89_0_0"/>
            <p:cNvSpPr/>
            <p:nvPr/>
          </p:nvSpPr>
          <p:spPr>
            <a:xfrm>
              <a:off x="920750" y="3962400"/>
              <a:ext cx="2362200" cy="1143000"/>
            </a:xfrm>
            <a:custGeom>
              <a:rect b="b" l="l" r="r" t="t"/>
              <a:pathLst>
                <a:path extrusionOk="0" h="1143000" w="2362200">
                  <a:moveTo>
                    <a:pt x="2362200" y="0"/>
                  </a:moveTo>
                  <a:lnTo>
                    <a:pt x="0" y="0"/>
                  </a:lnTo>
                  <a:lnTo>
                    <a:pt x="590422" y="1143000"/>
                  </a:lnTo>
                  <a:lnTo>
                    <a:pt x="1771777" y="114300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g26b818a4b89_0_0"/>
            <p:cNvSpPr/>
            <p:nvPr/>
          </p:nvSpPr>
          <p:spPr>
            <a:xfrm>
              <a:off x="1628775" y="3886200"/>
              <a:ext cx="944880" cy="533400"/>
            </a:xfrm>
            <a:custGeom>
              <a:rect b="b" l="l" r="r" t="t"/>
              <a:pathLst>
                <a:path extrusionOk="0" h="533400" w="944880">
                  <a:moveTo>
                    <a:pt x="944626" y="0"/>
                  </a:moveTo>
                  <a:lnTo>
                    <a:pt x="0" y="0"/>
                  </a:lnTo>
                  <a:lnTo>
                    <a:pt x="236093" y="533400"/>
                  </a:lnTo>
                  <a:lnTo>
                    <a:pt x="708406" y="533400"/>
                  </a:lnTo>
                  <a:lnTo>
                    <a:pt x="9446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g26b818a4b89_0_0"/>
            <p:cNvSpPr/>
            <p:nvPr/>
          </p:nvSpPr>
          <p:spPr>
            <a:xfrm>
              <a:off x="1678051" y="4611687"/>
              <a:ext cx="866775" cy="313054"/>
            </a:xfrm>
            <a:custGeom>
              <a:rect b="b" l="l" r="r" t="t"/>
              <a:pathLst>
                <a:path extrusionOk="0" h="313054" w="866775">
                  <a:moveTo>
                    <a:pt x="866775" y="0"/>
                  </a:moveTo>
                  <a:lnTo>
                    <a:pt x="0" y="0"/>
                  </a:lnTo>
                  <a:lnTo>
                    <a:pt x="0" y="312737"/>
                  </a:lnTo>
                  <a:lnTo>
                    <a:pt x="866775" y="312737"/>
                  </a:lnTo>
                  <a:lnTo>
                    <a:pt x="866775" y="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3" name="Google Shape;203;g26b818a4b89_0_0"/>
          <p:cNvSpPr/>
          <p:nvPr/>
        </p:nvSpPr>
        <p:spPr>
          <a:xfrm>
            <a:off x="2070100" y="5153025"/>
            <a:ext cx="76200" cy="532129"/>
          </a:xfrm>
          <a:custGeom>
            <a:rect b="b" l="l" r="r" t="t"/>
            <a:pathLst>
              <a:path extrusionOk="0" h="532129" w="76200">
                <a:moveTo>
                  <a:pt x="0" y="404749"/>
                </a:moveTo>
                <a:lnTo>
                  <a:pt x="38100" y="531812"/>
                </a:lnTo>
                <a:lnTo>
                  <a:pt x="60948" y="455612"/>
                </a:lnTo>
                <a:lnTo>
                  <a:pt x="25400" y="455612"/>
                </a:lnTo>
                <a:lnTo>
                  <a:pt x="25400" y="438658"/>
                </a:lnTo>
                <a:lnTo>
                  <a:pt x="0" y="404749"/>
                </a:lnTo>
                <a:close/>
              </a:path>
              <a:path extrusionOk="0" h="532129" w="76200">
                <a:moveTo>
                  <a:pt x="25400" y="438658"/>
                </a:moveTo>
                <a:lnTo>
                  <a:pt x="25400" y="455612"/>
                </a:lnTo>
                <a:lnTo>
                  <a:pt x="38100" y="455612"/>
                </a:lnTo>
                <a:lnTo>
                  <a:pt x="25400" y="438658"/>
                </a:lnTo>
                <a:close/>
              </a:path>
              <a:path extrusionOk="0" h="532129" w="76200">
                <a:moveTo>
                  <a:pt x="50800" y="0"/>
                </a:moveTo>
                <a:lnTo>
                  <a:pt x="25400" y="0"/>
                </a:lnTo>
                <a:lnTo>
                  <a:pt x="25400" y="438658"/>
                </a:lnTo>
                <a:lnTo>
                  <a:pt x="38100" y="455612"/>
                </a:lnTo>
                <a:lnTo>
                  <a:pt x="50800" y="438658"/>
                </a:lnTo>
                <a:lnTo>
                  <a:pt x="50800" y="0"/>
                </a:lnTo>
                <a:close/>
              </a:path>
              <a:path extrusionOk="0" h="532129" w="76200">
                <a:moveTo>
                  <a:pt x="50800" y="438658"/>
                </a:moveTo>
                <a:lnTo>
                  <a:pt x="38100" y="455612"/>
                </a:lnTo>
                <a:lnTo>
                  <a:pt x="50800" y="455612"/>
                </a:lnTo>
                <a:lnTo>
                  <a:pt x="50800" y="438658"/>
                </a:lnTo>
                <a:close/>
              </a:path>
              <a:path extrusionOk="0" h="532129" w="76200">
                <a:moveTo>
                  <a:pt x="76200" y="404749"/>
                </a:moveTo>
                <a:lnTo>
                  <a:pt x="50800" y="438658"/>
                </a:lnTo>
                <a:lnTo>
                  <a:pt x="50800" y="455612"/>
                </a:lnTo>
                <a:lnTo>
                  <a:pt x="60948" y="455612"/>
                </a:lnTo>
                <a:lnTo>
                  <a:pt x="76200" y="4047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4" name="Google Shape;204;g26b818a4b89_0_0"/>
          <p:cNvSpPr txBox="1"/>
          <p:nvPr/>
        </p:nvSpPr>
        <p:spPr>
          <a:xfrm>
            <a:off x="1757552" y="4608067"/>
            <a:ext cx="4407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26b818a4b89_0_0"/>
          <p:cNvSpPr txBox="1"/>
          <p:nvPr>
            <p:ph idx="4294967295" type="title"/>
          </p:nvPr>
        </p:nvSpPr>
        <p:spPr>
          <a:xfrm>
            <a:off x="2226951" y="165300"/>
            <a:ext cx="6023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a Barrel Shifter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6b818a4b89_0_34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" name="Google Shape;211;g26b818a4b89_0_34"/>
          <p:cNvSpPr txBox="1"/>
          <p:nvPr/>
        </p:nvSpPr>
        <p:spPr>
          <a:xfrm>
            <a:off x="308863" y="3721734"/>
            <a:ext cx="8007300" cy="21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3535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4 bit rotate value (0-15) is multiplied by two to  give range 0-30 in steps of 2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35560" rtl="0" algn="l">
              <a:lnSpc>
                <a:spcPct val="130000"/>
              </a:lnSpc>
              <a:spcBef>
                <a:spcPts val="27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Rule to remember is “</a:t>
            </a:r>
            <a:r>
              <a:rPr lang="en-US" sz="32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8-bits rotated right by an  even number of bit positions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2" name="Google Shape;212;g26b818a4b89_0_34"/>
          <p:cNvGrpSpPr/>
          <p:nvPr/>
        </p:nvGrpSpPr>
        <p:grpSpPr>
          <a:xfrm>
            <a:off x="841375" y="2286000"/>
            <a:ext cx="4267200" cy="876300"/>
            <a:chOff x="841375" y="2286000"/>
            <a:chExt cx="4267200" cy="876300"/>
          </a:xfrm>
        </p:grpSpPr>
        <p:sp>
          <p:nvSpPr>
            <p:cNvPr id="213" name="Google Shape;213;g26b818a4b89_0_34"/>
            <p:cNvSpPr/>
            <p:nvPr/>
          </p:nvSpPr>
          <p:spPr>
            <a:xfrm>
              <a:off x="841375" y="2286000"/>
              <a:ext cx="4267200" cy="304800"/>
            </a:xfrm>
            <a:custGeom>
              <a:rect b="b" l="l" r="r" t="t"/>
              <a:pathLst>
                <a:path extrusionOk="0" h="304800" w="4267200">
                  <a:moveTo>
                    <a:pt x="0" y="0"/>
                  </a:moveTo>
                  <a:lnTo>
                    <a:pt x="4267200" y="0"/>
                  </a:lnTo>
                </a:path>
                <a:path extrusionOk="0" h="304800" w="4267200">
                  <a:moveTo>
                    <a:pt x="4267200" y="0"/>
                  </a:moveTo>
                  <a:lnTo>
                    <a:pt x="4267200" y="304800"/>
                  </a:lnTo>
                </a:path>
                <a:path extrusionOk="0" h="304800" w="4267200">
                  <a:moveTo>
                    <a:pt x="0" y="304800"/>
                  </a:moveTo>
                  <a:lnTo>
                    <a:pt x="4267200" y="304800"/>
                  </a:lnTo>
                </a:path>
                <a:path extrusionOk="0" h="304800" w="4267200">
                  <a:moveTo>
                    <a:pt x="4114800" y="228600"/>
                  </a:moveTo>
                  <a:lnTo>
                    <a:pt x="4114800" y="304800"/>
                  </a:lnTo>
                </a:path>
                <a:path extrusionOk="0" h="304800" w="4267200">
                  <a:moveTo>
                    <a:pt x="3962400" y="228600"/>
                  </a:moveTo>
                  <a:lnTo>
                    <a:pt x="3962400" y="304800"/>
                  </a:lnTo>
                </a:path>
                <a:path extrusionOk="0" h="304800" w="4267200">
                  <a:moveTo>
                    <a:pt x="3810000" y="228600"/>
                  </a:moveTo>
                  <a:lnTo>
                    <a:pt x="3810000" y="304800"/>
                  </a:lnTo>
                </a:path>
                <a:path extrusionOk="0" h="304800" w="4267200">
                  <a:moveTo>
                    <a:pt x="3657600" y="228600"/>
                  </a:moveTo>
                  <a:lnTo>
                    <a:pt x="3657600" y="304800"/>
                  </a:lnTo>
                </a:path>
                <a:path extrusionOk="0" h="304800" w="4267200">
                  <a:moveTo>
                    <a:pt x="3505200" y="228600"/>
                  </a:moveTo>
                  <a:lnTo>
                    <a:pt x="3505200" y="304800"/>
                  </a:lnTo>
                </a:path>
                <a:path extrusionOk="0" h="304800" w="4267200">
                  <a:moveTo>
                    <a:pt x="3352800" y="228600"/>
                  </a:moveTo>
                  <a:lnTo>
                    <a:pt x="3352800" y="304800"/>
                  </a:lnTo>
                </a:path>
                <a:path extrusionOk="0" h="304800" w="4267200">
                  <a:moveTo>
                    <a:pt x="3200400" y="228600"/>
                  </a:moveTo>
                  <a:lnTo>
                    <a:pt x="3200400" y="304800"/>
                  </a:lnTo>
                </a:path>
                <a:path extrusionOk="0" h="304800" w="4267200">
                  <a:moveTo>
                    <a:pt x="3048000" y="0"/>
                  </a:moveTo>
                  <a:lnTo>
                    <a:pt x="3048000" y="304800"/>
                  </a:lnTo>
                </a:path>
                <a:path extrusionOk="0" h="304800" w="4267200">
                  <a:moveTo>
                    <a:pt x="2895600" y="228600"/>
                  </a:moveTo>
                  <a:lnTo>
                    <a:pt x="2895600" y="304800"/>
                  </a:lnTo>
                </a:path>
                <a:path extrusionOk="0" h="304800" w="4267200">
                  <a:moveTo>
                    <a:pt x="2743200" y="228600"/>
                  </a:moveTo>
                  <a:lnTo>
                    <a:pt x="2743200" y="304800"/>
                  </a:lnTo>
                </a:path>
                <a:path extrusionOk="0" h="304800" w="4267200">
                  <a:moveTo>
                    <a:pt x="2590800" y="228600"/>
                  </a:moveTo>
                  <a:lnTo>
                    <a:pt x="2590800" y="304800"/>
                  </a:lnTo>
                </a:path>
                <a:path extrusionOk="0" h="304800" w="4267200">
                  <a:moveTo>
                    <a:pt x="2438400" y="0"/>
                  </a:moveTo>
                  <a:lnTo>
                    <a:pt x="2438400" y="30480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" name="Google Shape;214;g26b818a4b89_0_34"/>
            <p:cNvSpPr/>
            <p:nvPr/>
          </p:nvSpPr>
          <p:spPr>
            <a:xfrm>
              <a:off x="3584575" y="3086100"/>
              <a:ext cx="457200" cy="76200"/>
            </a:xfrm>
            <a:custGeom>
              <a:rect b="b" l="l" r="r" t="t"/>
              <a:pathLst>
                <a:path extrusionOk="0" h="76200" w="457200">
                  <a:moveTo>
                    <a:pt x="381000" y="38100"/>
                  </a:moveTo>
                  <a:lnTo>
                    <a:pt x="330200" y="76200"/>
                  </a:lnTo>
                  <a:lnTo>
                    <a:pt x="414866" y="50800"/>
                  </a:lnTo>
                  <a:lnTo>
                    <a:pt x="381000" y="50800"/>
                  </a:lnTo>
                  <a:lnTo>
                    <a:pt x="381000" y="38100"/>
                  </a:lnTo>
                  <a:close/>
                </a:path>
                <a:path extrusionOk="0" h="76200" w="457200">
                  <a:moveTo>
                    <a:pt x="364066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364066" y="50800"/>
                  </a:lnTo>
                  <a:lnTo>
                    <a:pt x="381000" y="38100"/>
                  </a:lnTo>
                  <a:lnTo>
                    <a:pt x="364066" y="25400"/>
                  </a:lnTo>
                  <a:close/>
                </a:path>
                <a:path extrusionOk="0" h="76200" w="457200">
                  <a:moveTo>
                    <a:pt x="414866" y="25400"/>
                  </a:moveTo>
                  <a:lnTo>
                    <a:pt x="381000" y="25400"/>
                  </a:lnTo>
                  <a:lnTo>
                    <a:pt x="381000" y="50800"/>
                  </a:lnTo>
                  <a:lnTo>
                    <a:pt x="414866" y="50800"/>
                  </a:lnTo>
                  <a:lnTo>
                    <a:pt x="457200" y="38100"/>
                  </a:lnTo>
                  <a:lnTo>
                    <a:pt x="414866" y="25400"/>
                  </a:lnTo>
                  <a:close/>
                </a:path>
                <a:path extrusionOk="0" h="76200" w="457200">
                  <a:moveTo>
                    <a:pt x="330200" y="0"/>
                  </a:moveTo>
                  <a:lnTo>
                    <a:pt x="381000" y="38100"/>
                  </a:lnTo>
                  <a:lnTo>
                    <a:pt x="381000" y="25400"/>
                  </a:lnTo>
                  <a:lnTo>
                    <a:pt x="414866" y="25400"/>
                  </a:lnTo>
                  <a:lnTo>
                    <a:pt x="3302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" name="Google Shape;215;g26b818a4b89_0_34"/>
            <p:cNvSpPr/>
            <p:nvPr/>
          </p:nvSpPr>
          <p:spPr>
            <a:xfrm>
              <a:off x="3584575" y="2590800"/>
              <a:ext cx="0" cy="533400"/>
            </a:xfrm>
            <a:custGeom>
              <a:rect b="b" l="l" r="r" t="t"/>
              <a:pathLst>
                <a:path extrusionOk="0" h="533400" w="1200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" name="Google Shape;216;g26b818a4b89_0_34"/>
            <p:cNvSpPr/>
            <p:nvPr/>
          </p:nvSpPr>
          <p:spPr>
            <a:xfrm>
              <a:off x="4460875" y="2590800"/>
              <a:ext cx="76200" cy="228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7" name="Google Shape;217;g26b818a4b89_0_34"/>
          <p:cNvSpPr txBox="1"/>
          <p:nvPr/>
        </p:nvSpPr>
        <p:spPr>
          <a:xfrm>
            <a:off x="4041775" y="2819400"/>
            <a:ext cx="914400" cy="524700"/>
          </a:xfrm>
          <a:prstGeom prst="rect">
            <a:avLst/>
          </a:prstGeom>
          <a:solidFill>
            <a:srgbClr val="333399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Shifter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0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g26b818a4b89_0_34"/>
          <p:cNvSpPr txBox="1"/>
          <p:nvPr>
            <p:ph idx="4294967295" type="body"/>
          </p:nvPr>
        </p:nvSpPr>
        <p:spPr>
          <a:xfrm>
            <a:off x="308863" y="1038859"/>
            <a:ext cx="84861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56235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600"/>
              <a:buFont typeface="Noto Sans Symbols"/>
              <a:buChar char="❖"/>
            </a:pPr>
            <a:r>
              <a:rPr lang="en-US" sz="2000"/>
              <a:t>The data processing instruction format has 12 bits  available for operand2</a:t>
            </a:r>
            <a:endParaRPr sz="2000"/>
          </a:p>
          <a:p>
            <a:pPr indent="0" lvl="0" marL="0" marR="791845" rtl="0" algn="ctr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g26b818a4b89_0_34"/>
          <p:cNvSpPr/>
          <p:nvPr/>
        </p:nvSpPr>
        <p:spPr>
          <a:xfrm>
            <a:off x="4460875" y="3429000"/>
            <a:ext cx="76200" cy="381000"/>
          </a:xfrm>
          <a:custGeom>
            <a:rect b="b" l="l" r="r" t="t"/>
            <a:pathLst>
              <a:path extrusionOk="0" h="381000" w="76200">
                <a:moveTo>
                  <a:pt x="0" y="254000"/>
                </a:moveTo>
                <a:lnTo>
                  <a:pt x="38100" y="381000"/>
                </a:lnTo>
                <a:lnTo>
                  <a:pt x="60960" y="304800"/>
                </a:lnTo>
                <a:lnTo>
                  <a:pt x="25400" y="304800"/>
                </a:lnTo>
                <a:lnTo>
                  <a:pt x="25400" y="287866"/>
                </a:lnTo>
                <a:lnTo>
                  <a:pt x="0" y="254000"/>
                </a:lnTo>
                <a:close/>
              </a:path>
              <a:path extrusionOk="0" h="381000" w="76200">
                <a:moveTo>
                  <a:pt x="25400" y="287866"/>
                </a:moveTo>
                <a:lnTo>
                  <a:pt x="25400" y="304800"/>
                </a:lnTo>
                <a:lnTo>
                  <a:pt x="38100" y="304800"/>
                </a:lnTo>
                <a:lnTo>
                  <a:pt x="25400" y="287866"/>
                </a:lnTo>
                <a:close/>
              </a:path>
              <a:path extrusionOk="0" h="381000" w="76200">
                <a:moveTo>
                  <a:pt x="50800" y="0"/>
                </a:moveTo>
                <a:lnTo>
                  <a:pt x="25400" y="0"/>
                </a:lnTo>
                <a:lnTo>
                  <a:pt x="25400" y="287866"/>
                </a:lnTo>
                <a:lnTo>
                  <a:pt x="38100" y="304800"/>
                </a:lnTo>
                <a:lnTo>
                  <a:pt x="50800" y="287866"/>
                </a:lnTo>
                <a:lnTo>
                  <a:pt x="50800" y="0"/>
                </a:lnTo>
                <a:close/>
              </a:path>
              <a:path extrusionOk="0" h="381000" w="76200">
                <a:moveTo>
                  <a:pt x="50800" y="287866"/>
                </a:moveTo>
                <a:lnTo>
                  <a:pt x="38100" y="304800"/>
                </a:lnTo>
                <a:lnTo>
                  <a:pt x="50800" y="304800"/>
                </a:lnTo>
                <a:lnTo>
                  <a:pt x="50800" y="287866"/>
                </a:lnTo>
                <a:close/>
              </a:path>
              <a:path extrusionOk="0" h="381000" w="76200">
                <a:moveTo>
                  <a:pt x="76200" y="254000"/>
                </a:moveTo>
                <a:lnTo>
                  <a:pt x="50800" y="287866"/>
                </a:lnTo>
                <a:lnTo>
                  <a:pt x="50800" y="304800"/>
                </a:lnTo>
                <a:lnTo>
                  <a:pt x="60960" y="304800"/>
                </a:lnTo>
                <a:lnTo>
                  <a:pt x="76200" y="254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0" name="Google Shape;220;g26b818a4b89_0_34"/>
          <p:cNvSpPr txBox="1"/>
          <p:nvPr/>
        </p:nvSpPr>
        <p:spPr>
          <a:xfrm>
            <a:off x="3371850" y="2764916"/>
            <a:ext cx="1734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x2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g26b818a4b89_0_34"/>
          <p:cNvSpPr txBox="1"/>
          <p:nvPr/>
        </p:nvSpPr>
        <p:spPr>
          <a:xfrm>
            <a:off x="5452700" y="2512575"/>
            <a:ext cx="3250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0xFF000000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C1C1C"/>
                </a:solidFill>
                <a:latin typeface="Courier New"/>
                <a:ea typeface="Courier New"/>
                <a:cs typeface="Courier New"/>
                <a:sym typeface="Courier New"/>
              </a:rPr>
              <a:t>MOV r0, #0xFF, ROR #8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g26b818a4b89_0_34"/>
          <p:cNvSpPr txBox="1"/>
          <p:nvPr>
            <p:ph idx="4294967295" type="title"/>
          </p:nvPr>
        </p:nvSpPr>
        <p:spPr>
          <a:xfrm>
            <a:off x="2201023" y="165300"/>
            <a:ext cx="54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Immediate Constants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c3c7927098_0_0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8" name="Google Shape;228;g2c3c7927098_0_0"/>
          <p:cNvSpPr txBox="1"/>
          <p:nvPr>
            <p:ph idx="4294967295" type="title"/>
          </p:nvPr>
        </p:nvSpPr>
        <p:spPr>
          <a:xfrm>
            <a:off x="2556498" y="165300"/>
            <a:ext cx="5023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Shifts and Rotates</a:t>
            </a:r>
            <a:endParaRPr/>
          </a:p>
        </p:txBody>
      </p:sp>
      <p:sp>
        <p:nvSpPr>
          <p:cNvPr id="229" name="Google Shape;229;g2c3c7927098_0_0"/>
          <p:cNvSpPr txBox="1"/>
          <p:nvPr/>
        </p:nvSpPr>
        <p:spPr>
          <a:xfrm>
            <a:off x="281950" y="1142750"/>
            <a:ext cx="8397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LSL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– logical shift left by n bits – multiplication by 2</a:t>
            </a:r>
            <a:r>
              <a:rPr baseline="30000" lang="en-US" sz="2775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30000" sz="27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g2c3c7927098_0_0"/>
          <p:cNvSpPr txBox="1"/>
          <p:nvPr/>
        </p:nvSpPr>
        <p:spPr>
          <a:xfrm>
            <a:off x="281940" y="2386711"/>
            <a:ext cx="8519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LSR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–logical shift right by n bits–unsigned division by 2</a:t>
            </a:r>
            <a:r>
              <a:rPr baseline="30000" lang="en-US" sz="2775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30000" sz="27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g2c3c7927098_0_0"/>
          <p:cNvSpPr txBox="1"/>
          <p:nvPr/>
        </p:nvSpPr>
        <p:spPr>
          <a:xfrm>
            <a:off x="288390" y="3422448"/>
            <a:ext cx="81381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68300" marR="1778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ASR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– arithmetic shift right by n bits – signed division  by 2</a:t>
            </a:r>
            <a:r>
              <a:rPr baseline="30000" lang="en-US" sz="2775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30000" sz="27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g2c3c7927098_0_0"/>
          <p:cNvSpPr txBox="1"/>
          <p:nvPr/>
        </p:nvSpPr>
        <p:spPr>
          <a:xfrm>
            <a:off x="307340" y="4959858"/>
            <a:ext cx="63156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ROR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– rotate right by n bits – 32 bit rotate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3" name="Google Shape;233;g2c3c7927098_0_0"/>
          <p:cNvGraphicFramePr/>
          <p:nvPr/>
        </p:nvGraphicFramePr>
        <p:xfrm>
          <a:off x="2408301" y="1822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{BEB4416B-37A2-4662-925A-5A529A2694A2}</a:tableStyleId>
              </a:tblPr>
              <a:tblGrid>
                <a:gridCol w="381000"/>
                <a:gridCol w="381000"/>
                <a:gridCol w="381000"/>
                <a:gridCol w="1143000"/>
                <a:gridCol w="381000"/>
                <a:gridCol w="381000"/>
                <a:gridCol w="381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…</a:t>
                      </a:r>
                      <a:endParaRPr sz="18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g2c3c7927098_0_0"/>
          <p:cNvSpPr txBox="1"/>
          <p:nvPr/>
        </p:nvSpPr>
        <p:spPr>
          <a:xfrm>
            <a:off x="6380734" y="1785620"/>
            <a:ext cx="168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Google Shape;235;g2c3c7927098_0_0"/>
          <p:cNvSpPr/>
          <p:nvPr/>
        </p:nvSpPr>
        <p:spPr>
          <a:xfrm>
            <a:off x="5843523" y="1965198"/>
            <a:ext cx="457835" cy="103505"/>
          </a:xfrm>
          <a:custGeom>
            <a:rect b="b" l="l" r="r" t="t"/>
            <a:pathLst>
              <a:path extrusionOk="0" h="103505" w="457835">
                <a:moveTo>
                  <a:pt x="87249" y="0"/>
                </a:moveTo>
                <a:lnTo>
                  <a:pt x="84200" y="1777"/>
                </a:lnTo>
                <a:lnTo>
                  <a:pt x="0" y="54101"/>
                </a:lnTo>
                <a:lnTo>
                  <a:pt x="86995" y="101600"/>
                </a:lnTo>
                <a:lnTo>
                  <a:pt x="90042" y="103377"/>
                </a:lnTo>
                <a:lnTo>
                  <a:pt x="93979" y="102235"/>
                </a:lnTo>
                <a:lnTo>
                  <a:pt x="95630" y="99060"/>
                </a:lnTo>
                <a:lnTo>
                  <a:pt x="97281" y="96012"/>
                </a:lnTo>
                <a:lnTo>
                  <a:pt x="96138" y="92201"/>
                </a:lnTo>
                <a:lnTo>
                  <a:pt x="37423" y="60071"/>
                </a:lnTo>
                <a:lnTo>
                  <a:pt x="12826" y="60071"/>
                </a:lnTo>
                <a:lnTo>
                  <a:pt x="12446" y="47371"/>
                </a:lnTo>
                <a:lnTo>
                  <a:pt x="36040" y="46717"/>
                </a:lnTo>
                <a:lnTo>
                  <a:pt x="90931" y="12573"/>
                </a:lnTo>
                <a:lnTo>
                  <a:pt x="93852" y="10794"/>
                </a:lnTo>
                <a:lnTo>
                  <a:pt x="94868" y="6857"/>
                </a:lnTo>
                <a:lnTo>
                  <a:pt x="92963" y="3810"/>
                </a:lnTo>
                <a:lnTo>
                  <a:pt x="91059" y="888"/>
                </a:lnTo>
                <a:lnTo>
                  <a:pt x="87249" y="0"/>
                </a:lnTo>
                <a:close/>
              </a:path>
              <a:path extrusionOk="0" h="103505" w="457835">
                <a:moveTo>
                  <a:pt x="36040" y="46717"/>
                </a:moveTo>
                <a:lnTo>
                  <a:pt x="12446" y="47371"/>
                </a:lnTo>
                <a:lnTo>
                  <a:pt x="12826" y="60071"/>
                </a:lnTo>
                <a:lnTo>
                  <a:pt x="36239" y="59422"/>
                </a:lnTo>
                <a:lnTo>
                  <a:pt x="35800" y="59181"/>
                </a:lnTo>
                <a:lnTo>
                  <a:pt x="16001" y="59181"/>
                </a:lnTo>
                <a:lnTo>
                  <a:pt x="15621" y="48132"/>
                </a:lnTo>
                <a:lnTo>
                  <a:pt x="33764" y="48132"/>
                </a:lnTo>
                <a:lnTo>
                  <a:pt x="36040" y="46717"/>
                </a:lnTo>
                <a:close/>
              </a:path>
              <a:path extrusionOk="0" h="103505" w="457835">
                <a:moveTo>
                  <a:pt x="36239" y="59422"/>
                </a:moveTo>
                <a:lnTo>
                  <a:pt x="12826" y="60071"/>
                </a:lnTo>
                <a:lnTo>
                  <a:pt x="37423" y="60071"/>
                </a:lnTo>
                <a:lnTo>
                  <a:pt x="36239" y="59422"/>
                </a:lnTo>
                <a:close/>
              </a:path>
              <a:path extrusionOk="0" h="103505" w="457835">
                <a:moveTo>
                  <a:pt x="457073" y="35051"/>
                </a:moveTo>
                <a:lnTo>
                  <a:pt x="36040" y="46717"/>
                </a:lnTo>
                <a:lnTo>
                  <a:pt x="25270" y="53416"/>
                </a:lnTo>
                <a:lnTo>
                  <a:pt x="36239" y="59422"/>
                </a:lnTo>
                <a:lnTo>
                  <a:pt x="457453" y="47751"/>
                </a:lnTo>
                <a:lnTo>
                  <a:pt x="457073" y="35051"/>
                </a:lnTo>
                <a:close/>
              </a:path>
              <a:path extrusionOk="0" h="103505" w="457835">
                <a:moveTo>
                  <a:pt x="15621" y="48132"/>
                </a:moveTo>
                <a:lnTo>
                  <a:pt x="16001" y="59181"/>
                </a:lnTo>
                <a:lnTo>
                  <a:pt x="25270" y="53416"/>
                </a:lnTo>
                <a:lnTo>
                  <a:pt x="15621" y="48132"/>
                </a:lnTo>
                <a:close/>
              </a:path>
              <a:path extrusionOk="0" h="103505" w="457835">
                <a:moveTo>
                  <a:pt x="25270" y="53416"/>
                </a:moveTo>
                <a:lnTo>
                  <a:pt x="16001" y="59181"/>
                </a:lnTo>
                <a:lnTo>
                  <a:pt x="35800" y="59181"/>
                </a:lnTo>
                <a:lnTo>
                  <a:pt x="25270" y="53416"/>
                </a:lnTo>
                <a:close/>
              </a:path>
              <a:path extrusionOk="0" h="103505" w="457835">
                <a:moveTo>
                  <a:pt x="33764" y="48132"/>
                </a:moveTo>
                <a:lnTo>
                  <a:pt x="15621" y="48132"/>
                </a:lnTo>
                <a:lnTo>
                  <a:pt x="25270" y="53416"/>
                </a:lnTo>
                <a:lnTo>
                  <a:pt x="33764" y="481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6" name="Google Shape;236;g2c3c7927098_0_0"/>
          <p:cNvSpPr/>
          <p:nvPr/>
        </p:nvSpPr>
        <p:spPr>
          <a:xfrm>
            <a:off x="1576450" y="1828800"/>
            <a:ext cx="381000" cy="381000"/>
          </a:xfrm>
          <a:custGeom>
            <a:rect b="b" l="l" r="r" t="t"/>
            <a:pathLst>
              <a:path extrusionOk="0" h="381000" w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7" name="Google Shape;237;g2c3c7927098_0_0"/>
          <p:cNvSpPr txBox="1"/>
          <p:nvPr/>
        </p:nvSpPr>
        <p:spPr>
          <a:xfrm>
            <a:off x="1655445" y="1851482"/>
            <a:ext cx="17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8" name="Google Shape;238;g2c3c7927098_0_0"/>
          <p:cNvSpPr/>
          <p:nvPr/>
        </p:nvSpPr>
        <p:spPr>
          <a:xfrm>
            <a:off x="1957323" y="1967610"/>
            <a:ext cx="457200" cy="103505"/>
          </a:xfrm>
          <a:custGeom>
            <a:rect b="b" l="l" r="r" t="t"/>
            <a:pathLst>
              <a:path extrusionOk="0" h="103505" w="457200">
                <a:moveTo>
                  <a:pt x="88645" y="0"/>
                </a:moveTo>
                <a:lnTo>
                  <a:pt x="0" y="51688"/>
                </a:lnTo>
                <a:lnTo>
                  <a:pt x="88645" y="103377"/>
                </a:lnTo>
                <a:lnTo>
                  <a:pt x="92582" y="102362"/>
                </a:lnTo>
                <a:lnTo>
                  <a:pt x="96138" y="96265"/>
                </a:lnTo>
                <a:lnTo>
                  <a:pt x="95123" y="92455"/>
                </a:lnTo>
                <a:lnTo>
                  <a:pt x="36122" y="58038"/>
                </a:lnTo>
                <a:lnTo>
                  <a:pt x="12573" y="58038"/>
                </a:lnTo>
                <a:lnTo>
                  <a:pt x="12573" y="45338"/>
                </a:lnTo>
                <a:lnTo>
                  <a:pt x="36122" y="45338"/>
                </a:lnTo>
                <a:lnTo>
                  <a:pt x="95123" y="10922"/>
                </a:lnTo>
                <a:lnTo>
                  <a:pt x="96138" y="7112"/>
                </a:lnTo>
                <a:lnTo>
                  <a:pt x="92582" y="1015"/>
                </a:lnTo>
                <a:lnTo>
                  <a:pt x="88645" y="0"/>
                </a:lnTo>
                <a:close/>
              </a:path>
              <a:path extrusionOk="0" h="103505" w="457200">
                <a:moveTo>
                  <a:pt x="36122" y="45338"/>
                </a:moveTo>
                <a:lnTo>
                  <a:pt x="12573" y="45338"/>
                </a:lnTo>
                <a:lnTo>
                  <a:pt x="12573" y="58038"/>
                </a:lnTo>
                <a:lnTo>
                  <a:pt x="36122" y="58038"/>
                </a:lnTo>
                <a:lnTo>
                  <a:pt x="34598" y="57150"/>
                </a:lnTo>
                <a:lnTo>
                  <a:pt x="15875" y="57150"/>
                </a:lnTo>
                <a:lnTo>
                  <a:pt x="15875" y="46227"/>
                </a:lnTo>
                <a:lnTo>
                  <a:pt x="34598" y="46227"/>
                </a:lnTo>
                <a:lnTo>
                  <a:pt x="36122" y="45338"/>
                </a:lnTo>
                <a:close/>
              </a:path>
              <a:path extrusionOk="0" h="103505" w="457200">
                <a:moveTo>
                  <a:pt x="457200" y="45338"/>
                </a:moveTo>
                <a:lnTo>
                  <a:pt x="36122" y="45338"/>
                </a:lnTo>
                <a:lnTo>
                  <a:pt x="25236" y="51688"/>
                </a:lnTo>
                <a:lnTo>
                  <a:pt x="36122" y="58038"/>
                </a:lnTo>
                <a:lnTo>
                  <a:pt x="457200" y="58038"/>
                </a:lnTo>
                <a:lnTo>
                  <a:pt x="457200" y="45338"/>
                </a:lnTo>
                <a:close/>
              </a:path>
              <a:path extrusionOk="0" h="103505" w="457200">
                <a:moveTo>
                  <a:pt x="15875" y="46227"/>
                </a:moveTo>
                <a:lnTo>
                  <a:pt x="15875" y="57150"/>
                </a:lnTo>
                <a:lnTo>
                  <a:pt x="25236" y="51688"/>
                </a:lnTo>
                <a:lnTo>
                  <a:pt x="15875" y="46227"/>
                </a:lnTo>
                <a:close/>
              </a:path>
              <a:path extrusionOk="0" h="103505" w="457200">
                <a:moveTo>
                  <a:pt x="25236" y="51688"/>
                </a:moveTo>
                <a:lnTo>
                  <a:pt x="15875" y="57150"/>
                </a:lnTo>
                <a:lnTo>
                  <a:pt x="34598" y="57150"/>
                </a:lnTo>
                <a:lnTo>
                  <a:pt x="25236" y="51688"/>
                </a:lnTo>
                <a:close/>
              </a:path>
              <a:path extrusionOk="0" h="103505" w="457200">
                <a:moveTo>
                  <a:pt x="34598" y="46227"/>
                </a:moveTo>
                <a:lnTo>
                  <a:pt x="15875" y="46227"/>
                </a:lnTo>
                <a:lnTo>
                  <a:pt x="25236" y="51688"/>
                </a:lnTo>
                <a:lnTo>
                  <a:pt x="34598" y="462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39" name="Google Shape;239;g2c3c7927098_0_0"/>
          <p:cNvGraphicFramePr/>
          <p:nvPr/>
        </p:nvGraphicFramePr>
        <p:xfrm>
          <a:off x="2362200" y="30780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{BEB4416B-37A2-4662-925A-5A529A2694A2}</a:tableStyleId>
              </a:tblPr>
              <a:tblGrid>
                <a:gridCol w="381000"/>
                <a:gridCol w="381000"/>
                <a:gridCol w="381000"/>
                <a:gridCol w="1143000"/>
                <a:gridCol w="381000"/>
                <a:gridCol w="381000"/>
                <a:gridCol w="381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…</a:t>
                      </a:r>
                      <a:endParaRPr sz="18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" name="Google Shape;240;g2c3c7927098_0_0"/>
          <p:cNvSpPr txBox="1"/>
          <p:nvPr/>
        </p:nvSpPr>
        <p:spPr>
          <a:xfrm>
            <a:off x="1602994" y="3052698"/>
            <a:ext cx="168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1" name="Google Shape;241;g2c3c7927098_0_0"/>
          <p:cNvSpPr/>
          <p:nvPr/>
        </p:nvSpPr>
        <p:spPr>
          <a:xfrm>
            <a:off x="1852548" y="3223260"/>
            <a:ext cx="516255" cy="103504"/>
          </a:xfrm>
          <a:custGeom>
            <a:rect b="b" l="l" r="r" t="t"/>
            <a:pathLst>
              <a:path extrusionOk="0" h="103504" w="516255">
                <a:moveTo>
                  <a:pt x="490782" y="51752"/>
                </a:moveTo>
                <a:lnTo>
                  <a:pt x="421005" y="92455"/>
                </a:lnTo>
                <a:lnTo>
                  <a:pt x="419988" y="96392"/>
                </a:lnTo>
                <a:lnTo>
                  <a:pt x="423544" y="102488"/>
                </a:lnTo>
                <a:lnTo>
                  <a:pt x="427355" y="103504"/>
                </a:lnTo>
                <a:lnTo>
                  <a:pt x="505137" y="58038"/>
                </a:lnTo>
                <a:lnTo>
                  <a:pt x="503427" y="58038"/>
                </a:lnTo>
                <a:lnTo>
                  <a:pt x="503427" y="57276"/>
                </a:lnTo>
                <a:lnTo>
                  <a:pt x="500252" y="57276"/>
                </a:lnTo>
                <a:lnTo>
                  <a:pt x="490782" y="51752"/>
                </a:lnTo>
                <a:close/>
              </a:path>
              <a:path extrusionOk="0" h="103504" w="516255">
                <a:moveTo>
                  <a:pt x="479787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480005" y="58038"/>
                </a:lnTo>
                <a:lnTo>
                  <a:pt x="490782" y="51752"/>
                </a:lnTo>
                <a:lnTo>
                  <a:pt x="479787" y="45338"/>
                </a:lnTo>
                <a:close/>
              </a:path>
              <a:path extrusionOk="0" h="103504" w="516255">
                <a:moveTo>
                  <a:pt x="505110" y="45338"/>
                </a:moveTo>
                <a:lnTo>
                  <a:pt x="503427" y="45338"/>
                </a:lnTo>
                <a:lnTo>
                  <a:pt x="503427" y="58038"/>
                </a:lnTo>
                <a:lnTo>
                  <a:pt x="505137" y="58038"/>
                </a:lnTo>
                <a:lnTo>
                  <a:pt x="516000" y="51688"/>
                </a:lnTo>
                <a:lnTo>
                  <a:pt x="505110" y="45338"/>
                </a:lnTo>
                <a:close/>
              </a:path>
              <a:path extrusionOk="0" h="103504" w="516255">
                <a:moveTo>
                  <a:pt x="500252" y="46227"/>
                </a:moveTo>
                <a:lnTo>
                  <a:pt x="490782" y="51752"/>
                </a:lnTo>
                <a:lnTo>
                  <a:pt x="500252" y="57276"/>
                </a:lnTo>
                <a:lnTo>
                  <a:pt x="500252" y="46227"/>
                </a:lnTo>
                <a:close/>
              </a:path>
              <a:path extrusionOk="0" h="103504" w="516255">
                <a:moveTo>
                  <a:pt x="503427" y="46227"/>
                </a:moveTo>
                <a:lnTo>
                  <a:pt x="500252" y="46227"/>
                </a:lnTo>
                <a:lnTo>
                  <a:pt x="500252" y="57276"/>
                </a:lnTo>
                <a:lnTo>
                  <a:pt x="503427" y="57276"/>
                </a:lnTo>
                <a:lnTo>
                  <a:pt x="503427" y="46227"/>
                </a:lnTo>
                <a:close/>
              </a:path>
              <a:path extrusionOk="0" h="103504" w="516255">
                <a:moveTo>
                  <a:pt x="427355" y="0"/>
                </a:moveTo>
                <a:lnTo>
                  <a:pt x="423544" y="1015"/>
                </a:lnTo>
                <a:lnTo>
                  <a:pt x="419988" y="7112"/>
                </a:lnTo>
                <a:lnTo>
                  <a:pt x="421005" y="11049"/>
                </a:lnTo>
                <a:lnTo>
                  <a:pt x="490782" y="51752"/>
                </a:lnTo>
                <a:lnTo>
                  <a:pt x="500252" y="46227"/>
                </a:lnTo>
                <a:lnTo>
                  <a:pt x="503427" y="46227"/>
                </a:lnTo>
                <a:lnTo>
                  <a:pt x="503427" y="45338"/>
                </a:lnTo>
                <a:lnTo>
                  <a:pt x="505110" y="45338"/>
                </a:lnTo>
                <a:lnTo>
                  <a:pt x="42735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2" name="Google Shape;242;g2c3c7927098_0_0"/>
          <p:cNvSpPr/>
          <p:nvPr/>
        </p:nvSpPr>
        <p:spPr>
          <a:xfrm>
            <a:off x="6259576" y="3078098"/>
            <a:ext cx="381000" cy="381000"/>
          </a:xfrm>
          <a:custGeom>
            <a:rect b="b" l="l" r="r" t="t"/>
            <a:pathLst>
              <a:path extrusionOk="0" h="381000" w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3" name="Google Shape;243;g2c3c7927098_0_0"/>
          <p:cNvSpPr txBox="1"/>
          <p:nvPr/>
        </p:nvSpPr>
        <p:spPr>
          <a:xfrm>
            <a:off x="6339332" y="3101162"/>
            <a:ext cx="17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4" name="Google Shape;244;g2c3c7927098_0_0"/>
          <p:cNvSpPr/>
          <p:nvPr/>
        </p:nvSpPr>
        <p:spPr>
          <a:xfrm>
            <a:off x="5797422" y="3218179"/>
            <a:ext cx="462279" cy="103504"/>
          </a:xfrm>
          <a:custGeom>
            <a:rect b="b" l="l" r="r" t="t"/>
            <a:pathLst>
              <a:path extrusionOk="0" h="103504" w="462279">
                <a:moveTo>
                  <a:pt x="451329" y="44323"/>
                </a:moveTo>
                <a:lnTo>
                  <a:pt x="449452" y="44323"/>
                </a:lnTo>
                <a:lnTo>
                  <a:pt x="449579" y="57023"/>
                </a:lnTo>
                <a:lnTo>
                  <a:pt x="426118" y="57341"/>
                </a:lnTo>
                <a:lnTo>
                  <a:pt x="370713" y="90678"/>
                </a:lnTo>
                <a:lnTo>
                  <a:pt x="367664" y="92456"/>
                </a:lnTo>
                <a:lnTo>
                  <a:pt x="366649" y="96393"/>
                </a:lnTo>
                <a:lnTo>
                  <a:pt x="368553" y="99441"/>
                </a:lnTo>
                <a:lnTo>
                  <a:pt x="370331" y="102489"/>
                </a:lnTo>
                <a:lnTo>
                  <a:pt x="374141" y="103378"/>
                </a:lnTo>
                <a:lnTo>
                  <a:pt x="377189" y="101600"/>
                </a:lnTo>
                <a:lnTo>
                  <a:pt x="462152" y="50419"/>
                </a:lnTo>
                <a:lnTo>
                  <a:pt x="451329" y="44323"/>
                </a:lnTo>
                <a:close/>
              </a:path>
              <a:path extrusionOk="0" h="103504" w="462279">
                <a:moveTo>
                  <a:pt x="426014" y="44640"/>
                </a:moveTo>
                <a:lnTo>
                  <a:pt x="0" y="50419"/>
                </a:lnTo>
                <a:lnTo>
                  <a:pt x="253" y="63119"/>
                </a:lnTo>
                <a:lnTo>
                  <a:pt x="426118" y="57341"/>
                </a:lnTo>
                <a:lnTo>
                  <a:pt x="436966" y="50814"/>
                </a:lnTo>
                <a:lnTo>
                  <a:pt x="426014" y="44640"/>
                </a:lnTo>
                <a:close/>
              </a:path>
              <a:path extrusionOk="0" h="103504" w="462279">
                <a:moveTo>
                  <a:pt x="436966" y="50814"/>
                </a:moveTo>
                <a:lnTo>
                  <a:pt x="426118" y="57341"/>
                </a:lnTo>
                <a:lnTo>
                  <a:pt x="449579" y="57023"/>
                </a:lnTo>
                <a:lnTo>
                  <a:pt x="449571" y="56134"/>
                </a:lnTo>
                <a:lnTo>
                  <a:pt x="446404" y="56134"/>
                </a:lnTo>
                <a:lnTo>
                  <a:pt x="436966" y="50814"/>
                </a:lnTo>
                <a:close/>
              </a:path>
              <a:path extrusionOk="0" h="103504" w="462279">
                <a:moveTo>
                  <a:pt x="446277" y="45212"/>
                </a:moveTo>
                <a:lnTo>
                  <a:pt x="436966" y="50814"/>
                </a:lnTo>
                <a:lnTo>
                  <a:pt x="446404" y="56134"/>
                </a:lnTo>
                <a:lnTo>
                  <a:pt x="446277" y="45212"/>
                </a:lnTo>
                <a:close/>
              </a:path>
              <a:path extrusionOk="0" h="103504" w="462279">
                <a:moveTo>
                  <a:pt x="449461" y="45212"/>
                </a:moveTo>
                <a:lnTo>
                  <a:pt x="446277" y="45212"/>
                </a:lnTo>
                <a:lnTo>
                  <a:pt x="446404" y="56134"/>
                </a:lnTo>
                <a:lnTo>
                  <a:pt x="449571" y="56134"/>
                </a:lnTo>
                <a:lnTo>
                  <a:pt x="449461" y="45212"/>
                </a:lnTo>
                <a:close/>
              </a:path>
              <a:path extrusionOk="0" h="103504" w="462279">
                <a:moveTo>
                  <a:pt x="449452" y="44323"/>
                </a:moveTo>
                <a:lnTo>
                  <a:pt x="426014" y="44640"/>
                </a:lnTo>
                <a:lnTo>
                  <a:pt x="436966" y="50814"/>
                </a:lnTo>
                <a:lnTo>
                  <a:pt x="446277" y="45212"/>
                </a:lnTo>
                <a:lnTo>
                  <a:pt x="449461" y="45212"/>
                </a:lnTo>
                <a:lnTo>
                  <a:pt x="449452" y="44323"/>
                </a:lnTo>
                <a:close/>
              </a:path>
              <a:path extrusionOk="0" h="103504" w="462279">
                <a:moveTo>
                  <a:pt x="372744" y="0"/>
                </a:moveTo>
                <a:lnTo>
                  <a:pt x="368935" y="1016"/>
                </a:lnTo>
                <a:lnTo>
                  <a:pt x="367156" y="4191"/>
                </a:lnTo>
                <a:lnTo>
                  <a:pt x="365505" y="7239"/>
                </a:lnTo>
                <a:lnTo>
                  <a:pt x="366522" y="11049"/>
                </a:lnTo>
                <a:lnTo>
                  <a:pt x="369569" y="12827"/>
                </a:lnTo>
                <a:lnTo>
                  <a:pt x="426014" y="44640"/>
                </a:lnTo>
                <a:lnTo>
                  <a:pt x="449452" y="44323"/>
                </a:lnTo>
                <a:lnTo>
                  <a:pt x="451329" y="44323"/>
                </a:lnTo>
                <a:lnTo>
                  <a:pt x="375792" y="1778"/>
                </a:lnTo>
                <a:lnTo>
                  <a:pt x="37274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45" name="Google Shape;245;g2c3c7927098_0_0"/>
          <p:cNvGraphicFramePr/>
          <p:nvPr/>
        </p:nvGraphicFramePr>
        <p:xfrm>
          <a:off x="2357425" y="45175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{BEB4416B-37A2-4662-925A-5A529A2694A2}</a:tableStyleId>
              </a:tblPr>
              <a:tblGrid>
                <a:gridCol w="381000"/>
                <a:gridCol w="381000"/>
                <a:gridCol w="381000"/>
                <a:gridCol w="1143000"/>
                <a:gridCol w="381000"/>
                <a:gridCol w="381000"/>
                <a:gridCol w="381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…</a:t>
                      </a:r>
                      <a:endParaRPr sz="18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g2c3c7927098_0_0"/>
          <p:cNvSpPr/>
          <p:nvPr/>
        </p:nvSpPr>
        <p:spPr>
          <a:xfrm>
            <a:off x="6253226" y="4419600"/>
            <a:ext cx="381000" cy="381000"/>
          </a:xfrm>
          <a:custGeom>
            <a:rect b="b" l="l" r="r" t="t"/>
            <a:pathLst>
              <a:path extrusionOk="0" h="381000" w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" name="Google Shape;247;g2c3c7927098_0_0"/>
          <p:cNvSpPr txBox="1"/>
          <p:nvPr/>
        </p:nvSpPr>
        <p:spPr>
          <a:xfrm>
            <a:off x="6332982" y="4443221"/>
            <a:ext cx="17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Google Shape;248;g2c3c7927098_0_0"/>
          <p:cNvSpPr/>
          <p:nvPr/>
        </p:nvSpPr>
        <p:spPr>
          <a:xfrm>
            <a:off x="5791072" y="4559553"/>
            <a:ext cx="462279" cy="103504"/>
          </a:xfrm>
          <a:custGeom>
            <a:rect b="b" l="l" r="r" t="t"/>
            <a:pathLst>
              <a:path extrusionOk="0" h="103504" w="462279">
                <a:moveTo>
                  <a:pt x="451133" y="44323"/>
                </a:moveTo>
                <a:lnTo>
                  <a:pt x="449452" y="44323"/>
                </a:lnTo>
                <a:lnTo>
                  <a:pt x="449579" y="57023"/>
                </a:lnTo>
                <a:lnTo>
                  <a:pt x="426323" y="57345"/>
                </a:lnTo>
                <a:lnTo>
                  <a:pt x="370713" y="90805"/>
                </a:lnTo>
                <a:lnTo>
                  <a:pt x="367664" y="92583"/>
                </a:lnTo>
                <a:lnTo>
                  <a:pt x="366649" y="96520"/>
                </a:lnTo>
                <a:lnTo>
                  <a:pt x="368553" y="99441"/>
                </a:lnTo>
                <a:lnTo>
                  <a:pt x="370331" y="102489"/>
                </a:lnTo>
                <a:lnTo>
                  <a:pt x="374141" y="103505"/>
                </a:lnTo>
                <a:lnTo>
                  <a:pt x="377189" y="101600"/>
                </a:lnTo>
                <a:lnTo>
                  <a:pt x="462152" y="50546"/>
                </a:lnTo>
                <a:lnTo>
                  <a:pt x="451133" y="44323"/>
                </a:lnTo>
                <a:close/>
              </a:path>
              <a:path extrusionOk="0" h="103504" w="462279">
                <a:moveTo>
                  <a:pt x="425864" y="44649"/>
                </a:moveTo>
                <a:lnTo>
                  <a:pt x="0" y="50546"/>
                </a:lnTo>
                <a:lnTo>
                  <a:pt x="253" y="63246"/>
                </a:lnTo>
                <a:lnTo>
                  <a:pt x="426323" y="57345"/>
                </a:lnTo>
                <a:lnTo>
                  <a:pt x="436980" y="50933"/>
                </a:lnTo>
                <a:lnTo>
                  <a:pt x="425864" y="44649"/>
                </a:lnTo>
                <a:close/>
              </a:path>
              <a:path extrusionOk="0" h="103504" w="462279">
                <a:moveTo>
                  <a:pt x="436980" y="50933"/>
                </a:moveTo>
                <a:lnTo>
                  <a:pt x="426323" y="57345"/>
                </a:lnTo>
                <a:lnTo>
                  <a:pt x="449579" y="57023"/>
                </a:lnTo>
                <a:lnTo>
                  <a:pt x="449572" y="56261"/>
                </a:lnTo>
                <a:lnTo>
                  <a:pt x="446404" y="56261"/>
                </a:lnTo>
                <a:lnTo>
                  <a:pt x="436980" y="50933"/>
                </a:lnTo>
                <a:close/>
              </a:path>
              <a:path extrusionOk="0" h="103504" w="462279">
                <a:moveTo>
                  <a:pt x="446277" y="45339"/>
                </a:moveTo>
                <a:lnTo>
                  <a:pt x="436980" y="50933"/>
                </a:lnTo>
                <a:lnTo>
                  <a:pt x="446404" y="56261"/>
                </a:lnTo>
                <a:lnTo>
                  <a:pt x="446277" y="45339"/>
                </a:lnTo>
                <a:close/>
              </a:path>
              <a:path extrusionOk="0" h="103504" w="462279">
                <a:moveTo>
                  <a:pt x="449463" y="45339"/>
                </a:moveTo>
                <a:lnTo>
                  <a:pt x="446277" y="45339"/>
                </a:lnTo>
                <a:lnTo>
                  <a:pt x="446404" y="56261"/>
                </a:lnTo>
                <a:lnTo>
                  <a:pt x="449572" y="56261"/>
                </a:lnTo>
                <a:lnTo>
                  <a:pt x="449463" y="45339"/>
                </a:lnTo>
                <a:close/>
              </a:path>
              <a:path extrusionOk="0" h="103504" w="462279">
                <a:moveTo>
                  <a:pt x="449452" y="44323"/>
                </a:moveTo>
                <a:lnTo>
                  <a:pt x="425864" y="44649"/>
                </a:lnTo>
                <a:lnTo>
                  <a:pt x="436980" y="50933"/>
                </a:lnTo>
                <a:lnTo>
                  <a:pt x="446277" y="45339"/>
                </a:lnTo>
                <a:lnTo>
                  <a:pt x="449463" y="45339"/>
                </a:lnTo>
                <a:lnTo>
                  <a:pt x="449452" y="44323"/>
                </a:lnTo>
                <a:close/>
              </a:path>
              <a:path extrusionOk="0" h="103504" w="462279">
                <a:moveTo>
                  <a:pt x="372744" y="0"/>
                </a:moveTo>
                <a:lnTo>
                  <a:pt x="368935" y="1143"/>
                </a:lnTo>
                <a:lnTo>
                  <a:pt x="367156" y="4191"/>
                </a:lnTo>
                <a:lnTo>
                  <a:pt x="365505" y="7239"/>
                </a:lnTo>
                <a:lnTo>
                  <a:pt x="366522" y="11176"/>
                </a:lnTo>
                <a:lnTo>
                  <a:pt x="369569" y="12827"/>
                </a:lnTo>
                <a:lnTo>
                  <a:pt x="425864" y="44649"/>
                </a:lnTo>
                <a:lnTo>
                  <a:pt x="449452" y="44323"/>
                </a:lnTo>
                <a:lnTo>
                  <a:pt x="451133" y="44323"/>
                </a:lnTo>
                <a:lnTo>
                  <a:pt x="375792" y="1778"/>
                </a:lnTo>
                <a:lnTo>
                  <a:pt x="37274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9" name="Google Shape;249;g2c3c7927098_0_0"/>
          <p:cNvSpPr/>
          <p:nvPr/>
        </p:nvSpPr>
        <p:spPr>
          <a:xfrm>
            <a:off x="2122550" y="4277225"/>
            <a:ext cx="431800" cy="477520"/>
          </a:xfrm>
          <a:custGeom>
            <a:rect b="b" l="l" r="r" t="t"/>
            <a:pathLst>
              <a:path extrusionOk="0" h="477520" w="431800">
                <a:moveTo>
                  <a:pt x="209840" y="425450"/>
                </a:moveTo>
                <a:lnTo>
                  <a:pt x="139954" y="466217"/>
                </a:lnTo>
                <a:lnTo>
                  <a:pt x="138937" y="470026"/>
                </a:lnTo>
                <a:lnTo>
                  <a:pt x="142494" y="476123"/>
                </a:lnTo>
                <a:lnTo>
                  <a:pt x="146304" y="477138"/>
                </a:lnTo>
                <a:lnTo>
                  <a:pt x="224059" y="431800"/>
                </a:lnTo>
                <a:lnTo>
                  <a:pt x="222376" y="431800"/>
                </a:lnTo>
                <a:lnTo>
                  <a:pt x="222376" y="430911"/>
                </a:lnTo>
                <a:lnTo>
                  <a:pt x="219201" y="430911"/>
                </a:lnTo>
                <a:lnTo>
                  <a:pt x="209840" y="425450"/>
                </a:lnTo>
                <a:close/>
              </a:path>
              <a:path extrusionOk="0" h="477520" w="431800">
                <a:moveTo>
                  <a:pt x="429006" y="0"/>
                </a:moveTo>
                <a:lnTo>
                  <a:pt x="2793" y="0"/>
                </a:lnTo>
                <a:lnTo>
                  <a:pt x="0" y="2793"/>
                </a:lnTo>
                <a:lnTo>
                  <a:pt x="0" y="429006"/>
                </a:lnTo>
                <a:lnTo>
                  <a:pt x="2793" y="431800"/>
                </a:lnTo>
                <a:lnTo>
                  <a:pt x="198954" y="431800"/>
                </a:lnTo>
                <a:lnTo>
                  <a:pt x="209840" y="425450"/>
                </a:lnTo>
                <a:lnTo>
                  <a:pt x="12700" y="425450"/>
                </a:lnTo>
                <a:lnTo>
                  <a:pt x="6350" y="419100"/>
                </a:lnTo>
                <a:lnTo>
                  <a:pt x="12700" y="419100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431800" y="6350"/>
                </a:lnTo>
                <a:lnTo>
                  <a:pt x="431800" y="2793"/>
                </a:lnTo>
                <a:lnTo>
                  <a:pt x="429006" y="0"/>
                </a:lnTo>
                <a:close/>
              </a:path>
              <a:path extrusionOk="0" h="477520" w="431800">
                <a:moveTo>
                  <a:pt x="224059" y="419100"/>
                </a:moveTo>
                <a:lnTo>
                  <a:pt x="222376" y="419100"/>
                </a:lnTo>
                <a:lnTo>
                  <a:pt x="222376" y="431800"/>
                </a:lnTo>
                <a:lnTo>
                  <a:pt x="224059" y="431800"/>
                </a:lnTo>
                <a:lnTo>
                  <a:pt x="234950" y="425450"/>
                </a:lnTo>
                <a:lnTo>
                  <a:pt x="224059" y="419100"/>
                </a:lnTo>
                <a:close/>
              </a:path>
              <a:path extrusionOk="0" h="477520" w="431800">
                <a:moveTo>
                  <a:pt x="219201" y="419988"/>
                </a:moveTo>
                <a:lnTo>
                  <a:pt x="209840" y="425450"/>
                </a:lnTo>
                <a:lnTo>
                  <a:pt x="219201" y="430911"/>
                </a:lnTo>
                <a:lnTo>
                  <a:pt x="219201" y="419988"/>
                </a:lnTo>
                <a:close/>
              </a:path>
              <a:path extrusionOk="0" h="477520" w="431800">
                <a:moveTo>
                  <a:pt x="222376" y="419988"/>
                </a:moveTo>
                <a:lnTo>
                  <a:pt x="219201" y="419988"/>
                </a:lnTo>
                <a:lnTo>
                  <a:pt x="219201" y="430911"/>
                </a:lnTo>
                <a:lnTo>
                  <a:pt x="222376" y="430911"/>
                </a:lnTo>
                <a:lnTo>
                  <a:pt x="222376" y="419988"/>
                </a:lnTo>
                <a:close/>
              </a:path>
              <a:path extrusionOk="0" h="477520" w="431800">
                <a:moveTo>
                  <a:pt x="12700" y="419100"/>
                </a:moveTo>
                <a:lnTo>
                  <a:pt x="6350" y="419100"/>
                </a:lnTo>
                <a:lnTo>
                  <a:pt x="12700" y="425450"/>
                </a:lnTo>
                <a:lnTo>
                  <a:pt x="12700" y="419100"/>
                </a:lnTo>
                <a:close/>
              </a:path>
              <a:path extrusionOk="0" h="477520" w="431800">
                <a:moveTo>
                  <a:pt x="198954" y="419100"/>
                </a:moveTo>
                <a:lnTo>
                  <a:pt x="12700" y="419100"/>
                </a:lnTo>
                <a:lnTo>
                  <a:pt x="12700" y="425450"/>
                </a:lnTo>
                <a:lnTo>
                  <a:pt x="209840" y="425450"/>
                </a:lnTo>
                <a:lnTo>
                  <a:pt x="198954" y="419100"/>
                </a:lnTo>
                <a:close/>
              </a:path>
              <a:path extrusionOk="0" h="477520" w="431800">
                <a:moveTo>
                  <a:pt x="146304" y="373761"/>
                </a:moveTo>
                <a:lnTo>
                  <a:pt x="142494" y="374776"/>
                </a:lnTo>
                <a:lnTo>
                  <a:pt x="138937" y="380873"/>
                </a:lnTo>
                <a:lnTo>
                  <a:pt x="139954" y="384682"/>
                </a:lnTo>
                <a:lnTo>
                  <a:pt x="209840" y="425450"/>
                </a:lnTo>
                <a:lnTo>
                  <a:pt x="219201" y="419988"/>
                </a:lnTo>
                <a:lnTo>
                  <a:pt x="222376" y="419988"/>
                </a:lnTo>
                <a:lnTo>
                  <a:pt x="222376" y="419100"/>
                </a:lnTo>
                <a:lnTo>
                  <a:pt x="224059" y="419100"/>
                </a:lnTo>
                <a:lnTo>
                  <a:pt x="146304" y="373761"/>
                </a:lnTo>
                <a:close/>
              </a:path>
              <a:path extrusionOk="0" h="477520" w="431800">
                <a:moveTo>
                  <a:pt x="419100" y="6350"/>
                </a:moveTo>
                <a:lnTo>
                  <a:pt x="419100" y="234950"/>
                </a:lnTo>
                <a:lnTo>
                  <a:pt x="431800" y="234950"/>
                </a:lnTo>
                <a:lnTo>
                  <a:pt x="431800" y="12700"/>
                </a:lnTo>
                <a:lnTo>
                  <a:pt x="425450" y="12700"/>
                </a:lnTo>
                <a:lnTo>
                  <a:pt x="419100" y="6350"/>
                </a:lnTo>
                <a:close/>
              </a:path>
              <a:path extrusionOk="0" h="477520" w="431800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extrusionOk="0" h="477520" w="431800">
                <a:moveTo>
                  <a:pt x="419100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419100" y="12700"/>
                </a:lnTo>
                <a:lnTo>
                  <a:pt x="419100" y="6350"/>
                </a:lnTo>
                <a:close/>
              </a:path>
              <a:path extrusionOk="0" h="477520" w="431800">
                <a:moveTo>
                  <a:pt x="431800" y="6350"/>
                </a:moveTo>
                <a:lnTo>
                  <a:pt x="419100" y="6350"/>
                </a:lnTo>
                <a:lnTo>
                  <a:pt x="425450" y="12700"/>
                </a:lnTo>
                <a:lnTo>
                  <a:pt x="431800" y="12700"/>
                </a:lnTo>
                <a:lnTo>
                  <a:pt x="431800" y="63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0" name="Google Shape;250;g2c3c7927098_0_0"/>
          <p:cNvSpPr/>
          <p:nvPr/>
        </p:nvSpPr>
        <p:spPr>
          <a:xfrm>
            <a:off x="2357501" y="5949950"/>
            <a:ext cx="2286000" cy="381000"/>
          </a:xfrm>
          <a:custGeom>
            <a:rect b="b" l="l" r="r" t="t"/>
            <a:pathLst>
              <a:path extrusionOk="0" h="381000" w="2286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  <a:path extrusionOk="0" h="381000" w="2286000">
                <a:moveTo>
                  <a:pt x="38100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381000" y="0"/>
                </a:lnTo>
                <a:lnTo>
                  <a:pt x="381000" y="381000"/>
                </a:lnTo>
                <a:close/>
              </a:path>
              <a:path extrusionOk="0" h="381000" w="2286000">
                <a:moveTo>
                  <a:pt x="762000" y="381000"/>
                </a:moveTo>
                <a:lnTo>
                  <a:pt x="1143000" y="381000"/>
                </a:lnTo>
                <a:lnTo>
                  <a:pt x="1143000" y="0"/>
                </a:lnTo>
                <a:lnTo>
                  <a:pt x="762000" y="0"/>
                </a:lnTo>
                <a:lnTo>
                  <a:pt x="762000" y="381000"/>
                </a:lnTo>
                <a:close/>
              </a:path>
              <a:path extrusionOk="0" h="381000" w="2286000">
                <a:moveTo>
                  <a:pt x="1143000" y="381000"/>
                </a:moveTo>
                <a:lnTo>
                  <a:pt x="2286000" y="381000"/>
                </a:lnTo>
                <a:lnTo>
                  <a:pt x="2286000" y="0"/>
                </a:lnTo>
                <a:lnTo>
                  <a:pt x="1143000" y="0"/>
                </a:lnTo>
                <a:lnTo>
                  <a:pt x="1143000" y="381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1" name="Google Shape;251;g2c3c7927098_0_0"/>
          <p:cNvSpPr txBox="1"/>
          <p:nvPr/>
        </p:nvSpPr>
        <p:spPr>
          <a:xfrm>
            <a:off x="3944873" y="5973876"/>
            <a:ext cx="254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 Black"/>
                <a:ea typeface="Arial Black"/>
                <a:cs typeface="Arial Black"/>
                <a:sym typeface="Arial Black"/>
              </a:rPr>
              <a:t>…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2" name="Google Shape;252;g2c3c7927098_0_0"/>
          <p:cNvSpPr/>
          <p:nvPr/>
        </p:nvSpPr>
        <p:spPr>
          <a:xfrm>
            <a:off x="4643501" y="5949950"/>
            <a:ext cx="1143000" cy="381000"/>
          </a:xfrm>
          <a:custGeom>
            <a:rect b="b" l="l" r="r" t="t"/>
            <a:pathLst>
              <a:path extrusionOk="0" h="381000" w="1143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  <a:path extrusionOk="0" h="381000" w="1143000">
                <a:moveTo>
                  <a:pt x="38100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381000" y="0"/>
                </a:lnTo>
                <a:lnTo>
                  <a:pt x="381000" y="381000"/>
                </a:lnTo>
                <a:close/>
              </a:path>
              <a:path extrusionOk="0" h="381000" w="1143000">
                <a:moveTo>
                  <a:pt x="762000" y="381000"/>
                </a:moveTo>
                <a:lnTo>
                  <a:pt x="1143000" y="381000"/>
                </a:lnTo>
                <a:lnTo>
                  <a:pt x="1143000" y="0"/>
                </a:lnTo>
                <a:lnTo>
                  <a:pt x="762000" y="0"/>
                </a:lnTo>
                <a:lnTo>
                  <a:pt x="762000" y="381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3" name="Google Shape;253;g2c3c7927098_0_0"/>
          <p:cNvSpPr/>
          <p:nvPr/>
        </p:nvSpPr>
        <p:spPr>
          <a:xfrm>
            <a:off x="2122551" y="5572886"/>
            <a:ext cx="4126229" cy="619760"/>
          </a:xfrm>
          <a:custGeom>
            <a:rect b="b" l="l" r="r" t="t"/>
            <a:pathLst>
              <a:path extrusionOk="0" h="619760" w="4126229">
                <a:moveTo>
                  <a:pt x="4125849" y="561213"/>
                </a:moveTo>
                <a:lnTo>
                  <a:pt x="4114901" y="555028"/>
                </a:lnTo>
                <a:lnTo>
                  <a:pt x="4036568" y="510730"/>
                </a:lnTo>
                <a:lnTo>
                  <a:pt x="4032631" y="511810"/>
                </a:lnTo>
                <a:lnTo>
                  <a:pt x="4030980" y="514858"/>
                </a:lnTo>
                <a:lnTo>
                  <a:pt x="4029202" y="517918"/>
                </a:lnTo>
                <a:lnTo>
                  <a:pt x="4030345" y="521792"/>
                </a:lnTo>
                <a:lnTo>
                  <a:pt x="4089654" y="555358"/>
                </a:lnTo>
                <a:lnTo>
                  <a:pt x="3897249" y="558012"/>
                </a:lnTo>
                <a:lnTo>
                  <a:pt x="3897249" y="554863"/>
                </a:lnTo>
                <a:lnTo>
                  <a:pt x="3886962" y="554863"/>
                </a:lnTo>
                <a:lnTo>
                  <a:pt x="3886962" y="12700"/>
                </a:lnTo>
                <a:lnTo>
                  <a:pt x="3886962" y="6350"/>
                </a:lnTo>
                <a:lnTo>
                  <a:pt x="3886962" y="2921"/>
                </a:lnTo>
                <a:lnTo>
                  <a:pt x="3884168" y="0"/>
                </a:lnTo>
                <a:lnTo>
                  <a:pt x="2794" y="0"/>
                </a:lnTo>
                <a:lnTo>
                  <a:pt x="0" y="2921"/>
                </a:lnTo>
                <a:lnTo>
                  <a:pt x="0" y="571068"/>
                </a:lnTo>
                <a:lnTo>
                  <a:pt x="2794" y="573913"/>
                </a:lnTo>
                <a:lnTo>
                  <a:pt x="198767" y="573913"/>
                </a:lnTo>
                <a:lnTo>
                  <a:pt x="139827" y="608291"/>
                </a:lnTo>
                <a:lnTo>
                  <a:pt x="138811" y="612178"/>
                </a:lnTo>
                <a:lnTo>
                  <a:pt x="142367" y="618236"/>
                </a:lnTo>
                <a:lnTo>
                  <a:pt x="146304" y="619264"/>
                </a:lnTo>
                <a:lnTo>
                  <a:pt x="224053" y="573913"/>
                </a:lnTo>
                <a:lnTo>
                  <a:pt x="234950" y="567563"/>
                </a:lnTo>
                <a:lnTo>
                  <a:pt x="224053" y="561213"/>
                </a:lnTo>
                <a:lnTo>
                  <a:pt x="146304" y="515861"/>
                </a:lnTo>
                <a:lnTo>
                  <a:pt x="142367" y="516877"/>
                </a:lnTo>
                <a:lnTo>
                  <a:pt x="138811" y="522935"/>
                </a:lnTo>
                <a:lnTo>
                  <a:pt x="139827" y="526834"/>
                </a:lnTo>
                <a:lnTo>
                  <a:pt x="198767" y="561213"/>
                </a:lnTo>
                <a:lnTo>
                  <a:pt x="12700" y="561213"/>
                </a:lnTo>
                <a:lnTo>
                  <a:pt x="12700" y="12700"/>
                </a:lnTo>
                <a:lnTo>
                  <a:pt x="3874262" y="12700"/>
                </a:lnTo>
                <a:lnTo>
                  <a:pt x="3874262" y="558330"/>
                </a:lnTo>
                <a:lnTo>
                  <a:pt x="3663823" y="561213"/>
                </a:lnTo>
                <a:lnTo>
                  <a:pt x="3663950" y="573913"/>
                </a:lnTo>
                <a:lnTo>
                  <a:pt x="4089857" y="568058"/>
                </a:lnTo>
                <a:lnTo>
                  <a:pt x="4034409" y="601433"/>
                </a:lnTo>
                <a:lnTo>
                  <a:pt x="4031361" y="603237"/>
                </a:lnTo>
                <a:lnTo>
                  <a:pt x="4030472" y="607148"/>
                </a:lnTo>
                <a:lnTo>
                  <a:pt x="4034028" y="613156"/>
                </a:lnTo>
                <a:lnTo>
                  <a:pt x="4037965" y="614121"/>
                </a:lnTo>
                <a:lnTo>
                  <a:pt x="4041013" y="612317"/>
                </a:lnTo>
                <a:lnTo>
                  <a:pt x="4125849" y="5612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g26b818a4b89_0_50"/>
          <p:cNvGraphicFramePr/>
          <p:nvPr/>
        </p:nvGraphicFramePr>
        <p:xfrm>
          <a:off x="0" y="914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{BEB4416B-37A2-4662-925A-5A529A2694A2}</a:tableStyleId>
              </a:tblPr>
              <a:tblGrid>
                <a:gridCol w="1662425"/>
                <a:gridCol w="3992250"/>
                <a:gridCol w="1448425"/>
                <a:gridCol w="2040900"/>
              </a:tblGrid>
              <a:tr h="413725">
                <a:tc>
                  <a:txBody>
                    <a:bodyPr/>
                    <a:lstStyle/>
                    <a:p>
                      <a:pPr indent="0" lvl="0" marL="3200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Rotate Value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0" marR="0" marL="0"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0" marR="0" marL="0"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Decimal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0" marR="0" marL="0"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227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Hexadecimal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6200" marB="0" marR="0" marL="0">
                    <a:lnT cap="flat" cmpd="sng" w="7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1600">
                <a:tc>
                  <a:txBody>
                    <a:bodyPr/>
                    <a:lstStyle/>
                    <a:p>
                      <a:pPr indent="0" lvl="0" marL="3200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000000000000000000000000xxxxxxxx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0-255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7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0-0xFF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</a:tr>
              <a:tr h="371550">
                <a:tc>
                  <a:txBody>
                    <a:bodyPr/>
                    <a:lstStyle/>
                    <a:p>
                      <a:pPr indent="0" lvl="0" marL="3200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Right, 30 bits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0000000000000000000000xxxxxxxx00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4-1020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7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0x4-0x3FC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</a:tr>
              <a:tr h="371550">
                <a:tc>
                  <a:txBody>
                    <a:bodyPr/>
                    <a:lstStyle/>
                    <a:p>
                      <a:pPr indent="0" lvl="0" marL="3200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Right, 28 bits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00000000000000000000xxxxxxxx0000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16-4080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7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0x10-0xFF0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</a:tr>
              <a:tr h="371550">
                <a:tc>
                  <a:txBody>
                    <a:bodyPr/>
                    <a:lstStyle/>
                    <a:p>
                      <a:pPr indent="0" lvl="0" marL="3200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Right, 26 bits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000000000000000000xxxxxxxx000000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128-16320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7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0x40-0x3FC0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</a:tr>
              <a:tr h="371550">
                <a:tc>
                  <a:txBody>
                    <a:bodyPr/>
                    <a:lstStyle/>
                    <a:p>
                      <a:pPr indent="0" lvl="0" marL="3200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7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</a:tr>
              <a:tr h="643125">
                <a:tc>
                  <a:txBody>
                    <a:bodyPr/>
                    <a:lstStyle/>
                    <a:p>
                      <a:pPr indent="0" lvl="0" marL="3200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Right, 8 bits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xxxxxxxx000000000000000000000000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16777216-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255x2</a:t>
                      </a:r>
                      <a:r>
                        <a:rPr baseline="30000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baseline="30000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7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0x1000000-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227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0xFF000000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</a:tr>
              <a:tr h="368800">
                <a:tc>
                  <a:txBody>
                    <a:bodyPr/>
                    <a:lstStyle/>
                    <a:p>
                      <a:pPr indent="0" lvl="0" marL="3200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Right, 6 bits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1125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xxxxxx0000000000000000000000xx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1125" marB="0" marR="0" marL="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1125" marB="0" marR="0" marL="0"/>
                </a:tc>
                <a:tc>
                  <a:txBody>
                    <a:bodyPr/>
                    <a:lstStyle/>
                    <a:p>
                      <a:pPr indent="0" lvl="0" marL="227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1125" marB="0" marR="0" marL="0"/>
                </a:tc>
              </a:tr>
              <a:tr h="371600">
                <a:tc>
                  <a:txBody>
                    <a:bodyPr/>
                    <a:lstStyle/>
                    <a:p>
                      <a:pPr indent="0" lvl="0" marL="3200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Right, 4 bits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xxxx0000000000000000000000xxxx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7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</a:tr>
              <a:tr h="312375">
                <a:tc>
                  <a:txBody>
                    <a:bodyPr/>
                    <a:lstStyle/>
                    <a:p>
                      <a:pPr indent="0" lvl="0" marL="320040" marR="0" rtl="0" algn="l">
                        <a:lnSpc>
                          <a:spcPct val="116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Right, 2 bits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16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xx0000000000000000000000xxxxxx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8600" marR="0" rtl="0" algn="l">
                        <a:lnSpc>
                          <a:spcPct val="116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  <a:tc>
                  <a:txBody>
                    <a:bodyPr/>
                    <a:lstStyle/>
                    <a:p>
                      <a:pPr indent="0" lvl="0" marL="227965" marR="0" rtl="0" algn="l">
                        <a:lnSpc>
                          <a:spcPct val="1161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/>
                </a:tc>
              </a:tr>
            </a:tbl>
          </a:graphicData>
        </a:graphic>
      </p:graphicFrame>
      <p:sp>
        <p:nvSpPr>
          <p:cNvPr id="259" name="Google Shape;259;g26b818a4b89_0_50"/>
          <p:cNvSpPr txBox="1"/>
          <p:nvPr>
            <p:ph idx="4294967295" type="title"/>
          </p:nvPr>
        </p:nvSpPr>
        <p:spPr>
          <a:xfrm>
            <a:off x="2487929" y="165303"/>
            <a:ext cx="4168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Loading Constants</a:t>
            </a:r>
            <a:endParaRPr/>
          </a:p>
        </p:txBody>
      </p:sp>
      <p:sp>
        <p:nvSpPr>
          <p:cNvPr id="260" name="Google Shape;260;g26b818a4b89_0_50"/>
          <p:cNvSpPr txBox="1"/>
          <p:nvPr/>
        </p:nvSpPr>
        <p:spPr>
          <a:xfrm>
            <a:off x="325" y="4940925"/>
            <a:ext cx="9144000" cy="15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-317500" lvl="0" marL="44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1700"/>
              <a:buFont typeface="Noto Sans Symbols"/>
              <a:buChar char="❖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scheme can generate a lot, but not all, constants.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8134" lvl="1" marL="904239" marR="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00007E"/>
              </a:buClr>
              <a:buSzPts val="1100"/>
              <a:buFont typeface="Noto Sans Symbols"/>
              <a:buChar char="❖"/>
            </a:pPr>
            <a:r>
              <a:rPr b="0" i="0" lang="en-US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~50% of constants between [-15,150, 15,150];</a:t>
            </a:r>
            <a:endParaRPr b="0" i="0" sz="1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8134" lvl="1" marL="904239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7E"/>
              </a:buClr>
              <a:buSzPts val="1100"/>
              <a:buFont typeface="Noto Sans Symbols"/>
              <a:buChar char="❖"/>
            </a:pPr>
            <a:r>
              <a:rPr b="0" i="0" lang="en-US" sz="1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~90% between [-512,512]</a:t>
            </a:r>
            <a:endParaRPr b="0" i="0" sz="1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rgbClr val="0000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700" u="sng">
                <a:solidFill>
                  <a:srgbClr val="00007E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❖</a:t>
            </a:r>
            <a:r>
              <a:rPr lang="en-US" sz="1700" u="sng">
                <a:solidFill>
                  <a:srgbClr val="0000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Others must be done using literal pools (more on that later)	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/>
          <p:nvPr>
            <p:ph type="title"/>
          </p:nvPr>
        </p:nvSpPr>
        <p:spPr>
          <a:xfrm>
            <a:off x="1733175" y="165300"/>
            <a:ext cx="5949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Example</a:t>
            </a: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221700" y="803975"/>
            <a:ext cx="8647200" cy="4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825">
            <a:spAutoFit/>
          </a:bodyPr>
          <a:lstStyle/>
          <a:p>
            <a:pPr indent="-284480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ADD	r0,r1,r2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" marR="0" rtl="0" algn="ctr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cond = 1110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(always – unconditional)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 = 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(not ADDS)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 = 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(second operand not a constant)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2444750" rtl="0" algn="l">
              <a:lnSpc>
                <a:spcPct val="1194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opcode = 0100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(look up) 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2444750" rtl="0" algn="l">
              <a:lnSpc>
                <a:spcPct val="1194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rd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= 0 (destination </a:t>
            </a:r>
            <a:r>
              <a:rPr i="1"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) 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2444750" rtl="0" algn="l">
              <a:lnSpc>
                <a:spcPct val="1194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rn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= 1 (first </a:t>
            </a:r>
            <a:r>
              <a:rPr i="1"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) 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operand 2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985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shift = 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698500" marR="0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Rm = 2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3657600" y="4697476"/>
            <a:ext cx="4419600" cy="216052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 txBox="1"/>
          <p:nvPr>
            <p:ph type="title"/>
          </p:nvPr>
        </p:nvSpPr>
        <p:spPr>
          <a:xfrm>
            <a:off x="1771276" y="89400"/>
            <a:ext cx="623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Example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612140" y="1023874"/>
            <a:ext cx="72054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ADD	r1,r0,r1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546303" y="3637305"/>
            <a:ext cx="6236970" cy="1998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8600" lvl="0" marL="6223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Binary number per field representation:  hex representation:	0xE0810002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3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0" marL="250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Called a</a:t>
            </a:r>
            <a:r>
              <a:rPr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Language Instruction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52351" y="1661255"/>
            <a:ext cx="9039297" cy="7683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6" name="Google Shape;276;p15"/>
          <p:cNvSpPr/>
          <p:nvPr/>
        </p:nvSpPr>
        <p:spPr>
          <a:xfrm>
            <a:off x="0" y="2895536"/>
            <a:ext cx="9144000" cy="8905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" name="Google Shape;277;p15"/>
          <p:cNvSpPr txBox="1"/>
          <p:nvPr/>
        </p:nvSpPr>
        <p:spPr>
          <a:xfrm>
            <a:off x="152400" y="3209925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1830451" y="3273425"/>
            <a:ext cx="1598930" cy="311150"/>
          </a:xfrm>
          <a:custGeom>
            <a:rect b="b" l="l" r="r" t="t"/>
            <a:pathLst>
              <a:path extrusionOk="0" h="311150" w="1598929">
                <a:moveTo>
                  <a:pt x="188912" y="0"/>
                </a:moveTo>
                <a:lnTo>
                  <a:pt x="0" y="0"/>
                </a:lnTo>
                <a:lnTo>
                  <a:pt x="0" y="307975"/>
                </a:lnTo>
                <a:lnTo>
                  <a:pt x="188912" y="307975"/>
                </a:lnTo>
                <a:lnTo>
                  <a:pt x="188912" y="0"/>
                </a:lnTo>
                <a:close/>
              </a:path>
              <a:path extrusionOk="0" h="311150" w="1598929">
                <a:moveTo>
                  <a:pt x="1598549" y="3175"/>
                </a:moveTo>
                <a:lnTo>
                  <a:pt x="1369949" y="3175"/>
                </a:lnTo>
                <a:lnTo>
                  <a:pt x="1369949" y="311150"/>
                </a:lnTo>
                <a:lnTo>
                  <a:pt x="1598549" y="311150"/>
                </a:lnTo>
                <a:lnTo>
                  <a:pt x="1598549" y="31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9" name="Google Shape;279;p15"/>
          <p:cNvSpPr txBox="1"/>
          <p:nvPr/>
        </p:nvSpPr>
        <p:spPr>
          <a:xfrm>
            <a:off x="1835657" y="3240405"/>
            <a:ext cx="156908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3000">
                <a:latin typeface="Courier New"/>
                <a:ea typeface="Courier New"/>
                <a:cs typeface="Courier New"/>
                <a:sym typeface="Courier New"/>
              </a:rPr>
              <a:t>0	0100	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3524250" y="325755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151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4648200" y="325755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0001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5715000" y="3257550"/>
            <a:ext cx="31877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6051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00000000 0001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 txBox="1"/>
          <p:nvPr>
            <p:ph type="title"/>
          </p:nvPr>
        </p:nvSpPr>
        <p:spPr>
          <a:xfrm>
            <a:off x="1733176" y="165300"/>
            <a:ext cx="6272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Example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2540" y="918718"/>
            <a:ext cx="320230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16"/>
          <p:cNvSpPr txBox="1"/>
          <p:nvPr/>
        </p:nvSpPr>
        <p:spPr>
          <a:xfrm>
            <a:off x="3660775" y="970534"/>
            <a:ext cx="470344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SUBEQ	a1,v7,r2,LSL #3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90" name="Google Shape;290;p16"/>
          <p:cNvGrpSpPr/>
          <p:nvPr/>
        </p:nvGrpSpPr>
        <p:grpSpPr>
          <a:xfrm>
            <a:off x="6722303" y="4571953"/>
            <a:ext cx="2270676" cy="2176417"/>
            <a:chOff x="5943600" y="4058871"/>
            <a:chExt cx="3049524" cy="2689591"/>
          </a:xfrm>
        </p:grpSpPr>
        <p:sp>
          <p:nvSpPr>
            <p:cNvPr id="291" name="Google Shape;291;p16"/>
            <p:cNvSpPr/>
            <p:nvPr/>
          </p:nvSpPr>
          <p:spPr>
            <a:xfrm>
              <a:off x="5943600" y="4724336"/>
              <a:ext cx="3049524" cy="202412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5990143" y="4058871"/>
              <a:ext cx="2706181" cy="63890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3" name="Google Shape;293;p16"/>
          <p:cNvSpPr txBox="1"/>
          <p:nvPr/>
        </p:nvSpPr>
        <p:spPr>
          <a:xfrm>
            <a:off x="-12700" y="1400825"/>
            <a:ext cx="8556300" cy="50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523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cond = 0000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(equal)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 = 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(not SUBEQS)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 = 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(second operand not a constant)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opcode = 0010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(look up)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2473960" rtl="0" algn="l">
              <a:lnSpc>
                <a:spcPct val="1192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rd = 0000 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(destination </a:t>
            </a:r>
            <a:r>
              <a:rPr i="1" lang="en-US" sz="23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operand: 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a1 = r0)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rn = 1010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(1st </a:t>
            </a:r>
            <a:r>
              <a:rPr i="1" lang="en-US" sz="26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</a:t>
            </a:r>
            <a:r>
              <a:rPr i="1" lang="en-US" sz="2600">
                <a:latin typeface="Times New Roman"/>
                <a:ea typeface="Times New Roman"/>
                <a:cs typeface="Times New Roman"/>
                <a:sym typeface="Times New Roman"/>
              </a:rPr>
              <a:t>: v7 = r10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) 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operand 2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13740" marR="0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rm = 0010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(2nd </a:t>
            </a:r>
            <a:r>
              <a:rPr i="1"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: r2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13740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shift amount = 00011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lang="en-US" sz="2800" u="sng"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Shift Type = 00	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/>
          <p:nvPr>
            <p:ph type="title"/>
          </p:nvPr>
        </p:nvSpPr>
        <p:spPr>
          <a:xfrm>
            <a:off x="1771276" y="89400"/>
            <a:ext cx="6479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Example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154939" y="1023874"/>
            <a:ext cx="8422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SUBEQ	a1,v7,r2,LSL #3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370331" y="1583386"/>
            <a:ext cx="487680" cy="46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#3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164998" y="3735146"/>
            <a:ext cx="281813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Hex representation: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2" name="Google Shape;302;p17"/>
          <p:cNvGrpSpPr/>
          <p:nvPr/>
        </p:nvGrpSpPr>
        <p:grpSpPr>
          <a:xfrm>
            <a:off x="0" y="3479954"/>
            <a:ext cx="9144000" cy="3241545"/>
            <a:chOff x="0" y="3479954"/>
            <a:chExt cx="9144000" cy="3241545"/>
          </a:xfrm>
        </p:grpSpPr>
        <p:sp>
          <p:nvSpPr>
            <p:cNvPr id="303" name="Google Shape;303;p17"/>
            <p:cNvSpPr/>
            <p:nvPr/>
          </p:nvSpPr>
          <p:spPr>
            <a:xfrm>
              <a:off x="0" y="6580188"/>
              <a:ext cx="9144000" cy="366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5669370" y="3479954"/>
              <a:ext cx="3398400" cy="16101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5562600" y="4343399"/>
              <a:ext cx="3581400" cy="23781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6" name="Google Shape;306;p17"/>
          <p:cNvSpPr txBox="1"/>
          <p:nvPr/>
        </p:nvSpPr>
        <p:spPr>
          <a:xfrm>
            <a:off x="3593084" y="3735146"/>
            <a:ext cx="188404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0x004A0182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52351" y="1661255"/>
            <a:ext cx="9039297" cy="7683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8" name="Google Shape;308;p17"/>
          <p:cNvSpPr/>
          <p:nvPr/>
        </p:nvSpPr>
        <p:spPr>
          <a:xfrm>
            <a:off x="52351" y="2651855"/>
            <a:ext cx="9039297" cy="7683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9" name="Google Shape;309;p17"/>
          <p:cNvSpPr txBox="1"/>
          <p:nvPr/>
        </p:nvSpPr>
        <p:spPr>
          <a:xfrm>
            <a:off x="152400" y="2905125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1830451" y="2968625"/>
            <a:ext cx="189230" cy="307975"/>
          </a:xfrm>
          <a:custGeom>
            <a:rect b="b" l="l" r="r" t="t"/>
            <a:pathLst>
              <a:path extrusionOk="0" h="307975" w="189230">
                <a:moveTo>
                  <a:pt x="188912" y="0"/>
                </a:moveTo>
                <a:lnTo>
                  <a:pt x="0" y="0"/>
                </a:lnTo>
                <a:lnTo>
                  <a:pt x="0" y="307975"/>
                </a:lnTo>
                <a:lnTo>
                  <a:pt x="188912" y="307975"/>
                </a:lnTo>
                <a:lnTo>
                  <a:pt x="18891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1" name="Google Shape;311;p17"/>
          <p:cNvSpPr txBox="1"/>
          <p:nvPr/>
        </p:nvSpPr>
        <p:spPr>
          <a:xfrm>
            <a:off x="1835657" y="2932302"/>
            <a:ext cx="12319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	</a:t>
            </a:r>
            <a:r>
              <a:rPr b="1" baseline="30000" lang="en-US" sz="3000">
                <a:latin typeface="Courier New"/>
                <a:ea typeface="Courier New"/>
                <a:cs typeface="Courier New"/>
                <a:sym typeface="Courier New"/>
              </a:rPr>
              <a:t>0010</a:t>
            </a:r>
            <a:endParaRPr baseline="30000"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3200400" y="2971800"/>
            <a:ext cx="228600" cy="307975"/>
          </a:xfrm>
          <a:custGeom>
            <a:rect b="b" l="l" r="r" t="t"/>
            <a:pathLst>
              <a:path extrusionOk="0" h="307975" w="228600">
                <a:moveTo>
                  <a:pt x="228600" y="0"/>
                </a:moveTo>
                <a:lnTo>
                  <a:pt x="0" y="0"/>
                </a:lnTo>
                <a:lnTo>
                  <a:pt x="0" y="307975"/>
                </a:lnTo>
                <a:lnTo>
                  <a:pt x="228600" y="307975"/>
                </a:lnTo>
                <a:lnTo>
                  <a:pt x="2286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3" name="Google Shape;313;p17"/>
          <p:cNvSpPr txBox="1"/>
          <p:nvPr/>
        </p:nvSpPr>
        <p:spPr>
          <a:xfrm>
            <a:off x="3226435" y="2935046"/>
            <a:ext cx="17843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3524250" y="295275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151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1010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5" name="Google Shape;315;p17"/>
          <p:cNvSpPr txBox="1"/>
          <p:nvPr/>
        </p:nvSpPr>
        <p:spPr>
          <a:xfrm>
            <a:off x="4648200" y="295275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17"/>
          <p:cNvSpPr txBox="1"/>
          <p:nvPr/>
        </p:nvSpPr>
        <p:spPr>
          <a:xfrm>
            <a:off x="5715000" y="2952750"/>
            <a:ext cx="31877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4527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00011 00 0 0010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 txBox="1"/>
          <p:nvPr>
            <p:ph type="title"/>
          </p:nvPr>
        </p:nvSpPr>
        <p:spPr>
          <a:xfrm>
            <a:off x="1733176" y="165300"/>
            <a:ext cx="6272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Example</a:t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2540" y="918718"/>
            <a:ext cx="320230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3660775" y="970534"/>
            <a:ext cx="406590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BIC v6,a1,a2,ROR v2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-12700" y="1400835"/>
            <a:ext cx="9169500" cy="51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523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cond = 1110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(always)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 = 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(not BICS)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I = 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(second operand not a constant)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opcode = 1110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(look up)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2454275" rtl="0" algn="l">
              <a:lnSpc>
                <a:spcPct val="1192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600">
                <a:latin typeface="Courier New"/>
                <a:ea typeface="Courier New"/>
                <a:cs typeface="Courier New"/>
                <a:sym typeface="Courier New"/>
              </a:rPr>
              <a:t>rd = 1001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(destination </a:t>
            </a:r>
            <a:r>
              <a:rPr i="1" lang="en-US" sz="26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operand: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v6 =  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9)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rn = 0000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(1st </a:t>
            </a:r>
            <a:r>
              <a:rPr i="1"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: a1 = r0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) 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operand 2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13740" marR="0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rm = 0001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(2nd </a:t>
            </a:r>
            <a:r>
              <a:rPr i="1"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: a2 = r1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1374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rs =	0101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(shift operand: v2 =r5)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 u="sng"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Shift Type = 11 (ROR)	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25" name="Google Shape;325;p18"/>
          <p:cNvGrpSpPr/>
          <p:nvPr/>
        </p:nvGrpSpPr>
        <p:grpSpPr>
          <a:xfrm>
            <a:off x="6381155" y="4653650"/>
            <a:ext cx="2763042" cy="2128150"/>
            <a:chOff x="6019800" y="4032250"/>
            <a:chExt cx="3124200" cy="2749548"/>
          </a:xfrm>
        </p:grpSpPr>
        <p:sp>
          <p:nvSpPr>
            <p:cNvPr id="326" name="Google Shape;326;p18"/>
            <p:cNvSpPr/>
            <p:nvPr/>
          </p:nvSpPr>
          <p:spPr>
            <a:xfrm>
              <a:off x="6086475" y="4648198"/>
              <a:ext cx="3057525" cy="21336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18"/>
            <p:cNvSpPr/>
            <p:nvPr/>
          </p:nvSpPr>
          <p:spPr>
            <a:xfrm>
              <a:off x="6019800" y="4032250"/>
              <a:ext cx="2752725" cy="69215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19"/>
          <p:cNvGrpSpPr/>
          <p:nvPr/>
        </p:nvGrpSpPr>
        <p:grpSpPr>
          <a:xfrm>
            <a:off x="0" y="3479954"/>
            <a:ext cx="9144000" cy="3378042"/>
            <a:chOff x="0" y="3479954"/>
            <a:chExt cx="9144000" cy="3378042"/>
          </a:xfrm>
        </p:grpSpPr>
        <p:sp>
          <p:nvSpPr>
            <p:cNvPr id="333" name="Google Shape;333;p19"/>
            <p:cNvSpPr/>
            <p:nvPr/>
          </p:nvSpPr>
          <p:spPr>
            <a:xfrm>
              <a:off x="0" y="6580188"/>
              <a:ext cx="9144000" cy="3651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5516970" y="3479954"/>
              <a:ext cx="3398429" cy="161015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5486400" y="4292599"/>
              <a:ext cx="3657599" cy="256539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6" name="Google Shape;336;p19"/>
          <p:cNvSpPr txBox="1"/>
          <p:nvPr>
            <p:ph type="title"/>
          </p:nvPr>
        </p:nvSpPr>
        <p:spPr>
          <a:xfrm>
            <a:off x="1771276" y="89400"/>
            <a:ext cx="6298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Example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154939" y="1023874"/>
            <a:ext cx="842772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BIC v6,a1,a2,ROR v2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167639" y="1680922"/>
            <a:ext cx="759460" cy="46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7E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❖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#3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164998" y="3735146"/>
            <a:ext cx="281813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Hex representation: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3504691" y="3735146"/>
            <a:ext cx="19030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0xE1C09571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52351" y="1661255"/>
            <a:ext cx="9039297" cy="7683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2" name="Google Shape;342;p19"/>
          <p:cNvSpPr/>
          <p:nvPr/>
        </p:nvSpPr>
        <p:spPr>
          <a:xfrm>
            <a:off x="52351" y="2651855"/>
            <a:ext cx="9039297" cy="7683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" name="Google Shape;343;p19"/>
          <p:cNvSpPr txBox="1"/>
          <p:nvPr/>
        </p:nvSpPr>
        <p:spPr>
          <a:xfrm>
            <a:off x="152400" y="2905125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1830451" y="2968625"/>
            <a:ext cx="189230" cy="307975"/>
          </a:xfrm>
          <a:custGeom>
            <a:rect b="b" l="l" r="r" t="t"/>
            <a:pathLst>
              <a:path extrusionOk="0" h="307975" w="189230">
                <a:moveTo>
                  <a:pt x="188912" y="0"/>
                </a:moveTo>
                <a:lnTo>
                  <a:pt x="0" y="0"/>
                </a:lnTo>
                <a:lnTo>
                  <a:pt x="0" y="307975"/>
                </a:lnTo>
                <a:lnTo>
                  <a:pt x="188912" y="307975"/>
                </a:lnTo>
                <a:lnTo>
                  <a:pt x="18891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" name="Google Shape;345;p19"/>
          <p:cNvSpPr txBox="1"/>
          <p:nvPr/>
        </p:nvSpPr>
        <p:spPr>
          <a:xfrm>
            <a:off x="1835657" y="2932302"/>
            <a:ext cx="12319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	</a:t>
            </a:r>
            <a:r>
              <a:rPr b="1" baseline="30000" lang="en-US" sz="3000">
                <a:latin typeface="Courier New"/>
                <a:ea typeface="Courier New"/>
                <a:cs typeface="Courier New"/>
                <a:sym typeface="Courier New"/>
              </a:rPr>
              <a:t>1110</a:t>
            </a:r>
            <a:endParaRPr baseline="30000"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3200400" y="2971800"/>
            <a:ext cx="228600" cy="307975"/>
          </a:xfrm>
          <a:custGeom>
            <a:rect b="b" l="l" r="r" t="t"/>
            <a:pathLst>
              <a:path extrusionOk="0" h="307975" w="228600">
                <a:moveTo>
                  <a:pt x="228600" y="0"/>
                </a:moveTo>
                <a:lnTo>
                  <a:pt x="0" y="0"/>
                </a:lnTo>
                <a:lnTo>
                  <a:pt x="0" y="307975"/>
                </a:lnTo>
                <a:lnTo>
                  <a:pt x="228600" y="307975"/>
                </a:lnTo>
                <a:lnTo>
                  <a:pt x="2286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7" name="Google Shape;347;p19"/>
          <p:cNvSpPr txBox="1"/>
          <p:nvPr/>
        </p:nvSpPr>
        <p:spPr>
          <a:xfrm>
            <a:off x="3226435" y="2935046"/>
            <a:ext cx="17843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3524250" y="295275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151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4648200" y="295275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1001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5715000" y="2952750"/>
            <a:ext cx="31877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3765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0101 0 11 1 0001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6" name="Google Shape;356;p20"/>
          <p:cNvSpPr txBox="1"/>
          <p:nvPr>
            <p:ph type="title"/>
          </p:nvPr>
        </p:nvSpPr>
        <p:spPr>
          <a:xfrm>
            <a:off x="1733176" y="165300"/>
            <a:ext cx="614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Example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2540" y="918718"/>
            <a:ext cx="320230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20"/>
          <p:cNvSpPr txBox="1"/>
          <p:nvPr/>
        </p:nvSpPr>
        <p:spPr>
          <a:xfrm>
            <a:off x="3660775" y="970534"/>
            <a:ext cx="343154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EORGTS r6,r2,#10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9" name="Google Shape;359;p20"/>
          <p:cNvSpPr txBox="1"/>
          <p:nvPr>
            <p:ph idx="1" type="body"/>
          </p:nvPr>
        </p:nvSpPr>
        <p:spPr>
          <a:xfrm>
            <a:off x="497850" y="1400825"/>
            <a:ext cx="8010300" cy="47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cond = 1100 </a:t>
            </a:r>
            <a:r>
              <a:rPr lang="en-US"/>
              <a:t>(greater than)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 = 1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 = 1 </a:t>
            </a:r>
            <a:r>
              <a:rPr lang="en-US"/>
              <a:t>(second operand is a constant)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opcode = 0001 </a:t>
            </a:r>
            <a:r>
              <a:rPr lang="en-US"/>
              <a:t>(look up)</a:t>
            </a:r>
            <a:endParaRPr/>
          </a:p>
          <a:p>
            <a:pPr indent="0" lvl="0" marL="12700" marR="128270" rtl="0" algn="l">
              <a:lnSpc>
                <a:spcPct val="1192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rd = 0110 </a:t>
            </a:r>
            <a:r>
              <a:rPr lang="en-US"/>
              <a:t>(destination </a:t>
            </a:r>
            <a:r>
              <a:rPr i="1" lang="en-US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operand: </a:t>
            </a:r>
            <a:r>
              <a:rPr lang="en-US"/>
              <a:t>r6)  </a:t>
            </a:r>
            <a:endParaRPr/>
          </a:p>
          <a:p>
            <a:pPr indent="0" lvl="0" marL="12700" marR="128270" rtl="0" algn="l">
              <a:lnSpc>
                <a:spcPct val="1192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rn = 0010 </a:t>
            </a:r>
            <a:r>
              <a:rPr lang="en-US"/>
              <a:t>(1st </a:t>
            </a:r>
            <a:r>
              <a:rPr i="1" lang="en-US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: r2</a:t>
            </a:r>
            <a:r>
              <a:rPr lang="en-US"/>
              <a:t>)  </a:t>
            </a:r>
            <a:endParaRPr/>
          </a:p>
          <a:p>
            <a:pPr indent="0" lvl="0" marL="12700" marR="128270" rtl="0" algn="l">
              <a:lnSpc>
                <a:spcPct val="1192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operand 2</a:t>
            </a:r>
            <a:endParaRPr/>
          </a:p>
          <a:p>
            <a:pPr indent="0" lvl="0" marL="203200" marR="2623185" rtl="0" algn="l">
              <a:lnSpc>
                <a:spcPct val="14607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rotate = 0000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03200" marR="2623185" rtl="0" algn="l">
              <a:lnSpc>
                <a:spcPct val="14607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imm = 0x0A</a:t>
            </a: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4926118" y="4571996"/>
            <a:ext cx="3792600" cy="1917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6" name="Google Shape;366;p21"/>
          <p:cNvSpPr txBox="1"/>
          <p:nvPr>
            <p:ph type="title"/>
          </p:nvPr>
        </p:nvSpPr>
        <p:spPr>
          <a:xfrm>
            <a:off x="1771276" y="89400"/>
            <a:ext cx="6556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Processing Example</a:t>
            </a:r>
            <a:endParaRPr/>
          </a:p>
        </p:txBody>
      </p:sp>
      <p:sp>
        <p:nvSpPr>
          <p:cNvPr id="367" name="Google Shape;367;p21"/>
          <p:cNvSpPr txBox="1"/>
          <p:nvPr/>
        </p:nvSpPr>
        <p:spPr>
          <a:xfrm>
            <a:off x="154939" y="1023874"/>
            <a:ext cx="769112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EORGTS r6,r2,#10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167639" y="1680922"/>
            <a:ext cx="759460" cy="46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4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7E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❖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#3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164998" y="3735146"/>
            <a:ext cx="281813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Hex representation: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3504691" y="3735146"/>
            <a:ext cx="194373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0xC232600A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52351" y="1661255"/>
            <a:ext cx="9039297" cy="7683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2" name="Google Shape;372;p21"/>
          <p:cNvSpPr/>
          <p:nvPr/>
        </p:nvSpPr>
        <p:spPr>
          <a:xfrm>
            <a:off x="52351" y="2651855"/>
            <a:ext cx="9039297" cy="7683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3" name="Google Shape;373;p21"/>
          <p:cNvSpPr txBox="1"/>
          <p:nvPr/>
        </p:nvSpPr>
        <p:spPr>
          <a:xfrm>
            <a:off x="152400" y="2905125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1100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1830451" y="2968625"/>
            <a:ext cx="189230" cy="307975"/>
          </a:xfrm>
          <a:custGeom>
            <a:rect b="b" l="l" r="r" t="t"/>
            <a:pathLst>
              <a:path extrusionOk="0" h="307975" w="189230">
                <a:moveTo>
                  <a:pt x="188912" y="0"/>
                </a:moveTo>
                <a:lnTo>
                  <a:pt x="0" y="0"/>
                </a:lnTo>
                <a:lnTo>
                  <a:pt x="0" y="307975"/>
                </a:lnTo>
                <a:lnTo>
                  <a:pt x="188912" y="307975"/>
                </a:lnTo>
                <a:lnTo>
                  <a:pt x="18891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5" name="Google Shape;375;p21"/>
          <p:cNvSpPr txBox="1"/>
          <p:nvPr/>
        </p:nvSpPr>
        <p:spPr>
          <a:xfrm>
            <a:off x="1835657" y="2932302"/>
            <a:ext cx="12319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	</a:t>
            </a:r>
            <a:r>
              <a:rPr b="1" baseline="30000" lang="en-US" sz="3000">
                <a:latin typeface="Courier New"/>
                <a:ea typeface="Courier New"/>
                <a:cs typeface="Courier New"/>
                <a:sym typeface="Courier New"/>
              </a:rPr>
              <a:t>0001</a:t>
            </a:r>
            <a:endParaRPr baseline="30000"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3200400" y="2971800"/>
            <a:ext cx="228600" cy="307975"/>
          </a:xfrm>
          <a:custGeom>
            <a:rect b="b" l="l" r="r" t="t"/>
            <a:pathLst>
              <a:path extrusionOk="0" h="307975" w="228600">
                <a:moveTo>
                  <a:pt x="228600" y="0"/>
                </a:moveTo>
                <a:lnTo>
                  <a:pt x="0" y="0"/>
                </a:lnTo>
                <a:lnTo>
                  <a:pt x="0" y="307975"/>
                </a:lnTo>
                <a:lnTo>
                  <a:pt x="228600" y="307975"/>
                </a:lnTo>
                <a:lnTo>
                  <a:pt x="2286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7" name="Google Shape;377;p21"/>
          <p:cNvSpPr txBox="1"/>
          <p:nvPr/>
        </p:nvSpPr>
        <p:spPr>
          <a:xfrm>
            <a:off x="3226435" y="2935046"/>
            <a:ext cx="17843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3524250" y="295275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151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4648200" y="295275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0110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5715000" y="2952750"/>
            <a:ext cx="31877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5289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0000 0000 1010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5648967" y="3525866"/>
            <a:ext cx="3495031" cy="176782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7" name="Google Shape;387;p22"/>
          <p:cNvSpPr txBox="1"/>
          <p:nvPr>
            <p:ph type="title"/>
          </p:nvPr>
        </p:nvSpPr>
        <p:spPr>
          <a:xfrm>
            <a:off x="2382152" y="171950"/>
            <a:ext cx="4952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Branch Instructions</a:t>
            </a:r>
            <a:endParaRPr/>
          </a:p>
        </p:txBody>
      </p:sp>
      <p:sp>
        <p:nvSpPr>
          <p:cNvPr id="388" name="Google Shape;388;p22"/>
          <p:cNvSpPr txBox="1"/>
          <p:nvPr/>
        </p:nvSpPr>
        <p:spPr>
          <a:xfrm>
            <a:off x="383540" y="993989"/>
            <a:ext cx="8190230" cy="2149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What fields do we need for Branch Instructions?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Opcode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Label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Condition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34077" y="3363800"/>
            <a:ext cx="9064486" cy="22944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 txBox="1"/>
          <p:nvPr>
            <p:ph type="title"/>
          </p:nvPr>
        </p:nvSpPr>
        <p:spPr>
          <a:xfrm>
            <a:off x="2382152" y="171950"/>
            <a:ext cx="522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Branch Instructions</a:t>
            </a:r>
            <a:endParaRPr/>
          </a:p>
        </p:txBody>
      </p:sp>
      <p:sp>
        <p:nvSpPr>
          <p:cNvPr id="395" name="Google Shape;395;p23"/>
          <p:cNvSpPr txBox="1"/>
          <p:nvPr/>
        </p:nvSpPr>
        <p:spPr>
          <a:xfrm>
            <a:off x="383540" y="3350347"/>
            <a:ext cx="7669530" cy="2710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Opcode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65151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101 for Branch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65151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Link bit is set if BL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Condition – same as before (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EQ, LT, GT,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15265" marR="0" rtl="0" algn="l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etc.)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34077" y="1060274"/>
            <a:ext cx="9064486" cy="22944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"/>
          <p:cNvSpPr txBox="1"/>
          <p:nvPr>
            <p:ph type="title"/>
          </p:nvPr>
        </p:nvSpPr>
        <p:spPr>
          <a:xfrm>
            <a:off x="2382152" y="171950"/>
            <a:ext cx="5055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Branch Instructions</a:t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228600" y="980947"/>
            <a:ext cx="8542401" cy="225907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3" name="Google Shape;403;p24"/>
          <p:cNvSpPr txBox="1"/>
          <p:nvPr/>
        </p:nvSpPr>
        <p:spPr>
          <a:xfrm>
            <a:off x="-12700" y="3058209"/>
            <a:ext cx="9169500" cy="3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675">
            <a:spAutoFit/>
          </a:bodyPr>
          <a:lstStyle/>
          <a:p>
            <a:pPr indent="-238759" lvl="0" marL="6470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Label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1" marL="1108710" marR="0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Uses offset, i.e., how far to branch. PC = nextPC + offset.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1" marL="110871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As opposed to absolute address of the instruction.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1" marL="110871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24 bits allows us to branch +/- 8 Mbytes.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1094740" marR="55435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Instructions 32 bits = 4 bytes, so add implicit 00 at end.	Now  can branch +/- 32 Mbytes.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5104" lvl="1" marL="110871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Equivalent to +/- 8 Minstructions.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FF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sz="1800" u="sng">
                <a:solidFill>
                  <a:srgbClr val="FFCC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❖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Start counting 2 instructions later (due to pipelining).	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"/>
          <p:cNvSpPr txBox="1"/>
          <p:nvPr/>
        </p:nvSpPr>
        <p:spPr>
          <a:xfrm>
            <a:off x="650240" y="156159"/>
            <a:ext cx="7575600" cy="56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5111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7E"/>
                </a:solidFill>
                <a:latin typeface="Arial"/>
                <a:ea typeface="Arial"/>
                <a:cs typeface="Arial"/>
                <a:sym typeface="Arial"/>
              </a:rPr>
              <a:t>Branches: PC-Relative Addressing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203200" lvl="0" marL="253365" marR="175260" rtl="0" algn="l">
              <a:lnSpc>
                <a:spcPct val="100000"/>
              </a:lnSpc>
              <a:spcBef>
                <a:spcPts val="3479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Solution to branches in a 32-bit instruction: </a:t>
            </a:r>
            <a:r>
              <a:rPr lang="en-US" sz="32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PC-Relative Addressing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53365" marR="52705" rtl="0" algn="l">
              <a:lnSpc>
                <a:spcPct val="102699"/>
              </a:lnSpc>
              <a:spcBef>
                <a:spcPts val="46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Let the 24-bit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field be a signed  two’s complement integer to be </a:t>
            </a:r>
            <a:r>
              <a:rPr i="1" lang="en-US" sz="32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to the  PC if we take the branch.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53365" marR="4318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Now we can branch +/- 2</a:t>
            </a:r>
            <a:r>
              <a:rPr baseline="30000" lang="en-US" sz="3150">
                <a:latin typeface="Times New Roman"/>
                <a:ea typeface="Times New Roman"/>
                <a:cs typeface="Times New Roman"/>
                <a:sym typeface="Times New Roman"/>
              </a:rPr>
              <a:t>23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bytes from the  PC, which should be enough to cover almost  any loop.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32258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Any ideas to further optimize this?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25"/>
          <p:cNvSpPr txBox="1"/>
          <p:nvPr/>
        </p:nvSpPr>
        <p:spPr>
          <a:xfrm>
            <a:off x="0" y="6355250"/>
            <a:ext cx="17145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sdsdssssssssssssssssssssssssssssssssssssss</a:t>
            </a:r>
            <a:endParaRPr>
              <a:solidFill>
                <a:schemeClr val="lt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"/>
          <p:cNvSpPr txBox="1"/>
          <p:nvPr>
            <p:ph type="title"/>
          </p:nvPr>
        </p:nvSpPr>
        <p:spPr>
          <a:xfrm>
            <a:off x="1149200" y="156150"/>
            <a:ext cx="73134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Branches: PC-Relative Addressing</a:t>
            </a:r>
            <a:endParaRPr sz="3200"/>
          </a:p>
        </p:txBody>
      </p:sp>
      <p:sp>
        <p:nvSpPr>
          <p:cNvPr id="415" name="Google Shape;415;p26"/>
          <p:cNvSpPr txBox="1"/>
          <p:nvPr/>
        </p:nvSpPr>
        <p:spPr>
          <a:xfrm>
            <a:off x="739140" y="1162557"/>
            <a:ext cx="7723505" cy="4501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03200" lvl="0" marL="240665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Note: Instructions are words, so they’re word  aligned (byte address is always a multiple of  4, which means it ends with 00 in binary).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723900" marR="62420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So the number of bytes to add to the PC will  always be a multiple of 4.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71525" marR="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So specify the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 words.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40665" marR="174625" rtl="0" algn="l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Now, we can branch +/- 2</a:t>
            </a:r>
            <a:r>
              <a:rPr baseline="30000" lang="en-US" sz="3150"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r>
              <a:rPr lang="en-US" sz="21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words</a:t>
            </a:r>
            <a:r>
              <a:rPr lang="en-US" sz="32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from the  PC (or +/- 2</a:t>
            </a:r>
            <a:r>
              <a:rPr baseline="30000" lang="en-US" sz="3150">
                <a:latin typeface="Times New Roman"/>
                <a:ea typeface="Times New Roman"/>
                <a:cs typeface="Times New Roman"/>
                <a:sym typeface="Times New Roman"/>
              </a:rPr>
              <a:t>25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bytes), so we can handle loops  4 times as large.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"/>
          <p:cNvSpPr txBox="1"/>
          <p:nvPr>
            <p:ph type="title"/>
          </p:nvPr>
        </p:nvSpPr>
        <p:spPr>
          <a:xfrm>
            <a:off x="1149200" y="156150"/>
            <a:ext cx="72171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Branches: PC-Relative Addressing</a:t>
            </a:r>
            <a:endParaRPr sz="3200"/>
          </a:p>
        </p:txBody>
      </p:sp>
      <p:sp>
        <p:nvSpPr>
          <p:cNvPr id="421" name="Google Shape;421;p27"/>
          <p:cNvSpPr txBox="1"/>
          <p:nvPr/>
        </p:nvSpPr>
        <p:spPr>
          <a:xfrm>
            <a:off x="459740" y="847630"/>
            <a:ext cx="7447800" cy="5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Branch Calculation: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If we don’t take the branch: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PC = PC+4 +Offset* 4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4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If we do take the branch: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PC = (PC + 8) + (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* 4)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98500" marR="508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Why two?	Pipelining starts next two following  instructions before current one is finished.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98500" marR="508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Further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explanation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https://docs.google.com/document/d/14h_NjrbxrZioHhU6ruQBmt_Xtl7a_xlm0WrbMigEQeA/edit?usp=sharing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8"/>
          <p:cNvSpPr txBox="1"/>
          <p:nvPr>
            <p:ph type="title"/>
          </p:nvPr>
        </p:nvSpPr>
        <p:spPr>
          <a:xfrm>
            <a:off x="1149200" y="156150"/>
            <a:ext cx="7590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Branches: PC-Relative Addressing</a:t>
            </a:r>
            <a:endParaRPr sz="3200"/>
          </a:p>
        </p:txBody>
      </p:sp>
      <p:sp>
        <p:nvSpPr>
          <p:cNvPr id="427" name="Google Shape;427;p28"/>
          <p:cNvSpPr txBox="1"/>
          <p:nvPr/>
        </p:nvSpPr>
        <p:spPr>
          <a:xfrm>
            <a:off x="459740" y="847630"/>
            <a:ext cx="8215630" cy="279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Branch Calculation: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Observations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270000" marR="373380" rtl="0" algn="l">
              <a:lnSpc>
                <a:spcPct val="105100"/>
              </a:lnSpc>
              <a:spcBef>
                <a:spcPts val="300"/>
              </a:spcBef>
              <a:spcAft>
                <a:spcPts val="0"/>
              </a:spcAft>
              <a:buClr>
                <a:srgbClr val="00007E"/>
              </a:buClr>
              <a:buSzPts val="1800"/>
              <a:buFont typeface="Noto Sans Symbols"/>
              <a:buChar char="❖"/>
            </a:pPr>
            <a:r>
              <a:rPr b="0" i="0" lang="en-US" sz="2400" u="none" cap="none" strike="noStrike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field specifies the number of words to jump,  which is simply the number of instructions to jump.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2" marL="1270000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00007E"/>
              </a:buClr>
              <a:buSzPts val="1800"/>
              <a:buFont typeface="Noto Sans Symbols"/>
              <a:buChar char="❖"/>
            </a:pPr>
            <a:r>
              <a:rPr b="0" i="0" lang="en-US" sz="2400" u="none" cap="none" strike="noStrike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field can be positive or negative.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2" marL="12700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7E"/>
              </a:buClr>
              <a:buSzPts val="18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Due to hardware, add </a:t>
            </a:r>
            <a:r>
              <a:rPr b="0" i="0" lang="en-US" sz="2400" u="none" cap="none" strike="noStrike">
                <a:latin typeface="Courier New"/>
                <a:ea typeface="Courier New"/>
                <a:cs typeface="Courier New"/>
                <a:sym typeface="Courier New"/>
              </a:rPr>
              <a:t>immediate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 (PC+8), not to PC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9"/>
          <p:cNvSpPr txBox="1"/>
          <p:nvPr>
            <p:ph type="title"/>
          </p:nvPr>
        </p:nvSpPr>
        <p:spPr>
          <a:xfrm>
            <a:off x="2789674" y="165300"/>
            <a:ext cx="4313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Branch Example</a:t>
            </a:r>
            <a:endParaRPr/>
          </a:p>
        </p:txBody>
      </p:sp>
      <p:sp>
        <p:nvSpPr>
          <p:cNvPr id="433" name="Google Shape;433;p29"/>
          <p:cNvSpPr txBox="1"/>
          <p:nvPr/>
        </p:nvSpPr>
        <p:spPr>
          <a:xfrm>
            <a:off x="535940" y="956367"/>
            <a:ext cx="8139430" cy="3461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8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here BEQ here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cond = 0000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(equal)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L = 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(not a BL instruction)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698500" marR="5080" rtl="0" algn="l">
              <a:lnSpc>
                <a:spcPct val="101699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Offset = -2 = 0xFFFFFE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Number of  </a:t>
            </a:r>
            <a:r>
              <a:rPr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instructions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to add to (or subtract from) the PC,  starting at two instructions </a:t>
            </a:r>
            <a:r>
              <a:rPr i="1"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following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branch (PC  is two instructions ahead due to pipelining)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29"/>
          <p:cNvSpPr/>
          <p:nvPr/>
        </p:nvSpPr>
        <p:spPr>
          <a:xfrm>
            <a:off x="46146" y="4551164"/>
            <a:ext cx="8758548" cy="75664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5" name="Google Shape;435;p29"/>
          <p:cNvSpPr txBox="1"/>
          <p:nvPr/>
        </p:nvSpPr>
        <p:spPr>
          <a:xfrm>
            <a:off x="152400" y="480060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6" name="Google Shape;436;p29"/>
          <p:cNvSpPr/>
          <p:nvPr/>
        </p:nvSpPr>
        <p:spPr>
          <a:xfrm>
            <a:off x="2057400" y="4873625"/>
            <a:ext cx="46355" cy="307975"/>
          </a:xfrm>
          <a:custGeom>
            <a:rect b="b" l="l" r="r" t="t"/>
            <a:pathLst>
              <a:path extrusionOk="0" h="307975" w="46355">
                <a:moveTo>
                  <a:pt x="46037" y="0"/>
                </a:moveTo>
                <a:lnTo>
                  <a:pt x="0" y="0"/>
                </a:lnTo>
                <a:lnTo>
                  <a:pt x="0" y="307975"/>
                </a:lnTo>
                <a:lnTo>
                  <a:pt x="46037" y="307975"/>
                </a:lnTo>
                <a:lnTo>
                  <a:pt x="4603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7" name="Google Shape;437;p29"/>
          <p:cNvSpPr txBox="1"/>
          <p:nvPr/>
        </p:nvSpPr>
        <p:spPr>
          <a:xfrm>
            <a:off x="1991995" y="4837633"/>
            <a:ext cx="17843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8" name="Google Shape;438;p29"/>
          <p:cNvSpPr txBox="1"/>
          <p:nvPr/>
        </p:nvSpPr>
        <p:spPr>
          <a:xfrm>
            <a:off x="2341626" y="4800600"/>
            <a:ext cx="61722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1111 1111 1111 1111 1111 1110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9" name="Google Shape;439;p29"/>
          <p:cNvSpPr txBox="1"/>
          <p:nvPr/>
        </p:nvSpPr>
        <p:spPr>
          <a:xfrm>
            <a:off x="717600" y="5538927"/>
            <a:ext cx="545084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Hex representation:	0x0AFFFFFE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0"/>
          <p:cNvSpPr txBox="1"/>
          <p:nvPr>
            <p:ph type="title"/>
          </p:nvPr>
        </p:nvSpPr>
        <p:spPr>
          <a:xfrm>
            <a:off x="2789674" y="165300"/>
            <a:ext cx="4197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Branch Example</a:t>
            </a:r>
            <a:endParaRPr/>
          </a:p>
        </p:txBody>
      </p:sp>
      <p:sp>
        <p:nvSpPr>
          <p:cNvPr id="445" name="Google Shape;445;p30"/>
          <p:cNvSpPr txBox="1"/>
          <p:nvPr/>
        </p:nvSpPr>
        <p:spPr>
          <a:xfrm>
            <a:off x="535940" y="933957"/>
            <a:ext cx="320230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30"/>
          <p:cNvSpPr txBox="1"/>
          <p:nvPr/>
        </p:nvSpPr>
        <p:spPr>
          <a:xfrm>
            <a:off x="535940" y="1471929"/>
            <a:ext cx="9398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there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7" name="Google Shape;447;p30"/>
          <p:cNvSpPr txBox="1"/>
          <p:nvPr/>
        </p:nvSpPr>
        <p:spPr>
          <a:xfrm>
            <a:off x="2365001" y="1398400"/>
            <a:ext cx="49056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ADD r0, r1, r2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5080" rtl="0" algn="l">
              <a:lnSpc>
                <a:spcPct val="12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SUBEQ a1, v7, r2, LSL #3  BIC v6, a1, a2, ROR v2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8" name="Google Shape;448;p30"/>
          <p:cNvSpPr txBox="1"/>
          <p:nvPr/>
        </p:nvSpPr>
        <p:spPr>
          <a:xfrm>
            <a:off x="2364994" y="2715640"/>
            <a:ext cx="2948305" cy="90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EORGTS	r6,r2,#1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BL there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9" name="Google Shape;449;p30"/>
          <p:cNvSpPr txBox="1"/>
          <p:nvPr/>
        </p:nvSpPr>
        <p:spPr>
          <a:xfrm>
            <a:off x="535940" y="3228213"/>
            <a:ext cx="75692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here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0" name="Google Shape;450;p30"/>
          <p:cNvSpPr txBox="1"/>
          <p:nvPr/>
        </p:nvSpPr>
        <p:spPr>
          <a:xfrm>
            <a:off x="698703" y="4547768"/>
            <a:ext cx="5893435" cy="2078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345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cond = 1110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(always)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544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L = 1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(BL instruction)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544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Offset = -6 110 = 0xFFFFFA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Hex representation:	0xEBFFFFFA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46146" y="3712964"/>
            <a:ext cx="8758548" cy="75664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2" name="Google Shape;452;p30"/>
          <p:cNvSpPr txBox="1"/>
          <p:nvPr/>
        </p:nvSpPr>
        <p:spPr>
          <a:xfrm>
            <a:off x="152400" y="396240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3" name="Google Shape;453;p30"/>
          <p:cNvSpPr/>
          <p:nvPr/>
        </p:nvSpPr>
        <p:spPr>
          <a:xfrm>
            <a:off x="2057400" y="4035425"/>
            <a:ext cx="46355" cy="307975"/>
          </a:xfrm>
          <a:custGeom>
            <a:rect b="b" l="l" r="r" t="t"/>
            <a:pathLst>
              <a:path extrusionOk="0" h="307975" w="46355">
                <a:moveTo>
                  <a:pt x="46037" y="0"/>
                </a:moveTo>
                <a:lnTo>
                  <a:pt x="0" y="0"/>
                </a:lnTo>
                <a:lnTo>
                  <a:pt x="0" y="307975"/>
                </a:lnTo>
                <a:lnTo>
                  <a:pt x="46037" y="307975"/>
                </a:lnTo>
                <a:lnTo>
                  <a:pt x="4603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4" name="Google Shape;454;p30"/>
          <p:cNvSpPr txBox="1"/>
          <p:nvPr/>
        </p:nvSpPr>
        <p:spPr>
          <a:xfrm>
            <a:off x="1991995" y="3999357"/>
            <a:ext cx="1784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5" name="Google Shape;455;p30"/>
          <p:cNvSpPr txBox="1"/>
          <p:nvPr/>
        </p:nvSpPr>
        <p:spPr>
          <a:xfrm>
            <a:off x="2341626" y="3962400"/>
            <a:ext cx="61722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1111 1111 1111 1111 1111 1010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1"/>
          <p:cNvSpPr txBox="1"/>
          <p:nvPr>
            <p:ph type="title"/>
          </p:nvPr>
        </p:nvSpPr>
        <p:spPr>
          <a:xfrm>
            <a:off x="3079242" y="106756"/>
            <a:ext cx="298323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Large Offsets</a:t>
            </a:r>
            <a:endParaRPr/>
          </a:p>
        </p:txBody>
      </p:sp>
      <p:sp>
        <p:nvSpPr>
          <p:cNvPr id="461" name="Google Shape;461;p31"/>
          <p:cNvSpPr txBox="1"/>
          <p:nvPr/>
        </p:nvSpPr>
        <p:spPr>
          <a:xfrm>
            <a:off x="-12700" y="933957"/>
            <a:ext cx="91695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77800" lvl="0" marL="847725" marR="9817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Chances are that offset is small enough to fit  in the immediate field.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9715" lvl="0" marL="833119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How do we usually use branches?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6059" lvl="1" marL="129476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FFCC00"/>
              </a:buClr>
              <a:buSzPts val="1800"/>
              <a:buFont typeface="Noto Sans Symbols"/>
              <a:buChar char="❖"/>
            </a:pPr>
            <a:r>
              <a:rPr b="0" i="0" lang="en-US" sz="2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Answer: </a:t>
            </a:r>
            <a:r>
              <a:rPr b="0" i="0" lang="en-US" sz="2600" u="none" cap="none" strike="noStrike">
                <a:latin typeface="Courier New"/>
                <a:ea typeface="Courier New"/>
                <a:cs typeface="Courier New"/>
                <a:sym typeface="Courier New"/>
              </a:rPr>
              <a:t>if-else</a:t>
            </a:r>
            <a:r>
              <a:rPr b="0" i="0" lang="en-US" sz="2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600" u="none" cap="none" strike="noStrike"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0" i="0" lang="en-US" sz="2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600" u="none" cap="none" strike="noStrike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endParaRPr b="0" i="0" sz="2600" u="none" cap="none" strike="noStrike">
              <a:latin typeface="Courier New"/>
              <a:ea typeface="Courier New"/>
              <a:cs typeface="Courier New"/>
              <a:sym typeface="Courier New"/>
            </a:endParaRPr>
          </a:p>
          <a:p>
            <a:pPr indent="-177799" lvl="1" marL="1247140" marR="1509395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>
                <a:srgbClr val="FFCC00"/>
              </a:buClr>
              <a:buSzPts val="1800"/>
              <a:buFont typeface="Noto Sans Symbols"/>
              <a:buChar char="❖"/>
            </a:pPr>
            <a:r>
              <a:rPr b="0" i="0" lang="en-US" sz="26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Loops are generally small: typically up to 50  instructions</a:t>
            </a:r>
            <a:endParaRPr b="0" i="0" sz="26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763905" marR="675005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Conclusion: may want to branch to anywhere  in memory, but a branch often changes </a:t>
            </a:r>
            <a:r>
              <a:rPr lang="en-US" sz="30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 </a:t>
            </a: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by a  small amount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49" lvl="1" marL="929639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b="0" i="0" lang="en-US" sz="30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What if too big?</a:t>
            </a:r>
            <a:endParaRPr b="0" i="0" sz="3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1900" u="sng">
                <a:solidFill>
                  <a:srgbClr val="FF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sz="1900" u="sng">
                <a:solidFill>
                  <a:srgbClr val="FFCC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❖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Load branch target into a register (IP) and BX	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2"/>
          <p:cNvSpPr txBox="1"/>
          <p:nvPr>
            <p:ph type="title"/>
          </p:nvPr>
        </p:nvSpPr>
        <p:spPr>
          <a:xfrm>
            <a:off x="1362836" y="241757"/>
            <a:ext cx="638683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on PC-addressing</a:t>
            </a: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764540" y="1162557"/>
            <a:ext cx="7369809" cy="363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03200" lvl="0" marL="2152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Does the value in branch field change if we  move the code?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75755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What do we do if destination is &gt; 2^23  instructions away from branch?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54356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Since its limited to +- 2^23 instructions,  doesn’t this generate lots of extra ARM  instructions?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3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3" name="Google Shape;473;p33"/>
          <p:cNvSpPr txBox="1"/>
          <p:nvPr>
            <p:ph type="title"/>
          </p:nvPr>
        </p:nvSpPr>
        <p:spPr>
          <a:xfrm>
            <a:off x="1660017" y="89408"/>
            <a:ext cx="58216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Instructions</a:t>
            </a:r>
            <a:endParaRPr/>
          </a:p>
        </p:txBody>
      </p:sp>
      <p:sp>
        <p:nvSpPr>
          <p:cNvPr id="474" name="Google Shape;474;p33"/>
          <p:cNvSpPr txBox="1"/>
          <p:nvPr/>
        </p:nvSpPr>
        <p:spPr>
          <a:xfrm>
            <a:off x="174752" y="1819494"/>
            <a:ext cx="83058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90500" lvl="0" marL="203200" marR="5080" rtl="0" algn="l">
              <a:lnSpc>
                <a:spcPct val="1053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Cond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condition field.	Execute instruction when  condition is met.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immediate field.	Determines type of offset.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5" lvl="1" marL="650240" marR="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0: if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is an immediate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5" lvl="1" marL="65024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1: if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is a register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115" marR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pre/post indexing bit.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5" lvl="1" marL="650240" marR="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0: post - add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after transfer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5" lvl="1" marL="65024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1: pre - add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before transfer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33"/>
          <p:cNvSpPr/>
          <p:nvPr/>
        </p:nvSpPr>
        <p:spPr>
          <a:xfrm>
            <a:off x="0" y="1009650"/>
            <a:ext cx="9144000" cy="9715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1" name="Google Shape;481;p34"/>
          <p:cNvSpPr txBox="1"/>
          <p:nvPr>
            <p:ph type="title"/>
          </p:nvPr>
        </p:nvSpPr>
        <p:spPr>
          <a:xfrm>
            <a:off x="1660017" y="89408"/>
            <a:ext cx="58216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Instructions</a:t>
            </a:r>
            <a:endParaRPr/>
          </a:p>
        </p:txBody>
      </p:sp>
      <p:sp>
        <p:nvSpPr>
          <p:cNvPr id="482" name="Google Shape;482;p34"/>
          <p:cNvSpPr txBox="1"/>
          <p:nvPr/>
        </p:nvSpPr>
        <p:spPr>
          <a:xfrm>
            <a:off x="187625" y="1883600"/>
            <a:ext cx="5821800" cy="4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475">
            <a:spAutoFit/>
          </a:bodyPr>
          <a:lstStyle/>
          <a:p>
            <a:pPr indent="-25400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9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: up/down bit.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344" lvl="1" marL="650240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0: down - subtract </a:t>
            </a:r>
            <a:r>
              <a:rPr b="0" i="0" lang="en-US" sz="2500" u="none" cap="none" strike="noStrike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b="0" i="0" lang="en-US" sz="2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from base</a:t>
            </a:r>
            <a:endParaRPr b="0" i="0" sz="2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344" lvl="1" marL="65024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1: up - add </a:t>
            </a:r>
            <a:r>
              <a:rPr b="0" i="0" lang="en-US" sz="2500" u="none" cap="none" strike="noStrike">
                <a:latin typeface="Courier New"/>
                <a:ea typeface="Courier New"/>
                <a:cs typeface="Courier New"/>
                <a:sym typeface="Courier New"/>
              </a:rPr>
              <a:t>offset </a:t>
            </a:r>
            <a:r>
              <a:rPr b="0" i="0" lang="en-US" sz="2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 base</a:t>
            </a:r>
            <a:endParaRPr b="0" i="0" sz="2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3365" lvl="0" marL="284480" marR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9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: byte/word bit.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344" lvl="1" marL="65024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0: transfer word quantity</a:t>
            </a:r>
            <a:endParaRPr b="0" i="0" sz="2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344" lvl="1" marL="65024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1: transfer byte quantity</a:t>
            </a:r>
            <a:endParaRPr b="0" i="0" sz="2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3365" lvl="0" marL="28448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9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: write-back bit.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344" lvl="1" marL="65024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0: no write-back</a:t>
            </a:r>
            <a:endParaRPr b="0" i="0" sz="2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344" lvl="1" marL="65024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5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1: write address into base</a:t>
            </a:r>
            <a:endParaRPr b="0" i="0" sz="25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34"/>
          <p:cNvSpPr/>
          <p:nvPr/>
        </p:nvSpPr>
        <p:spPr>
          <a:xfrm>
            <a:off x="0" y="1009650"/>
            <a:ext cx="9144000" cy="97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5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9" name="Google Shape;489;p35"/>
          <p:cNvSpPr txBox="1"/>
          <p:nvPr>
            <p:ph type="title"/>
          </p:nvPr>
        </p:nvSpPr>
        <p:spPr>
          <a:xfrm>
            <a:off x="1660017" y="89408"/>
            <a:ext cx="58216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Instructions</a:t>
            </a:r>
            <a:endParaRPr/>
          </a:p>
        </p:txBody>
      </p:sp>
      <p:sp>
        <p:nvSpPr>
          <p:cNvPr id="490" name="Google Shape;490;p35"/>
          <p:cNvSpPr txBox="1"/>
          <p:nvPr/>
        </p:nvSpPr>
        <p:spPr>
          <a:xfrm>
            <a:off x="174752" y="1792391"/>
            <a:ext cx="5280025" cy="2837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600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load/store bit.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5" lvl="1" marL="65024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0: store into memory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5" lvl="1" marL="65024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1: load from memory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Rn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base register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Rd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source/destination register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35"/>
          <p:cNvSpPr/>
          <p:nvPr/>
        </p:nvSpPr>
        <p:spPr>
          <a:xfrm>
            <a:off x="0" y="1009650"/>
            <a:ext cx="9144000" cy="9715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6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7" name="Google Shape;497;p36"/>
          <p:cNvSpPr txBox="1"/>
          <p:nvPr>
            <p:ph type="title"/>
          </p:nvPr>
        </p:nvSpPr>
        <p:spPr>
          <a:xfrm>
            <a:off x="1660017" y="89408"/>
            <a:ext cx="58216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Instructions</a:t>
            </a:r>
            <a:endParaRPr/>
          </a:p>
        </p:txBody>
      </p:sp>
      <p:sp>
        <p:nvSpPr>
          <p:cNvPr id="498" name="Google Shape;498;p36"/>
          <p:cNvSpPr txBox="1"/>
          <p:nvPr/>
        </p:nvSpPr>
        <p:spPr>
          <a:xfrm>
            <a:off x="174752" y="1639991"/>
            <a:ext cx="6256655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1600">
            <a:spAutoFit/>
          </a:bodyPr>
          <a:lstStyle/>
          <a:p>
            <a:pPr indent="-27305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 u="sng">
                <a:solidFill>
                  <a:srgbClr val="3333CC"/>
                </a:solidFill>
                <a:latin typeface="Courier New"/>
                <a:ea typeface="Courier New"/>
                <a:cs typeface="Courier New"/>
                <a:sym typeface="Courier New"/>
              </a:rPr>
              <a:t>Offset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: source/destination register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5" lvl="1" marL="650240" marR="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 bit = 0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36"/>
          <p:cNvSpPr txBox="1"/>
          <p:nvPr/>
        </p:nvSpPr>
        <p:spPr>
          <a:xfrm>
            <a:off x="574040" y="4417898"/>
            <a:ext cx="139954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38759" lvl="0" marL="250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 bit = 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36"/>
          <p:cNvSpPr/>
          <p:nvPr/>
        </p:nvSpPr>
        <p:spPr>
          <a:xfrm>
            <a:off x="0" y="853088"/>
            <a:ext cx="9144000" cy="97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1" name="Google Shape;501;p36"/>
          <p:cNvSpPr/>
          <p:nvPr/>
        </p:nvSpPr>
        <p:spPr>
          <a:xfrm>
            <a:off x="3152310" y="2409035"/>
            <a:ext cx="4010489" cy="181720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2" name="Google Shape;502;p36"/>
          <p:cNvSpPr/>
          <p:nvPr/>
        </p:nvSpPr>
        <p:spPr>
          <a:xfrm>
            <a:off x="3170748" y="4428366"/>
            <a:ext cx="4031802" cy="201087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c61ee850b4_0_0"/>
          <p:cNvSpPr txBox="1"/>
          <p:nvPr>
            <p:ph type="title"/>
          </p:nvPr>
        </p:nvSpPr>
        <p:spPr>
          <a:xfrm>
            <a:off x="2382138" y="171958"/>
            <a:ext cx="4379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Addressing Mode</a:t>
            </a:r>
            <a:endParaRPr/>
          </a:p>
        </p:txBody>
      </p:sp>
      <p:sp>
        <p:nvSpPr>
          <p:cNvPr id="508" name="Google Shape;508;g2c61ee850b4_0_0"/>
          <p:cNvSpPr txBox="1"/>
          <p:nvPr>
            <p:ph idx="1" type="body"/>
          </p:nvPr>
        </p:nvSpPr>
        <p:spPr>
          <a:xfrm>
            <a:off x="484978" y="1194575"/>
            <a:ext cx="74430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https://www.youtube.com/watch?v=zgkxPdPkxa8&amp;ab_channel=EmbeddedSystemsandDeepLearning</a:t>
            </a:r>
            <a:r>
              <a:rPr lang="en-US"/>
              <a:t> </a:t>
            </a:r>
            <a:endParaRPr/>
          </a:p>
        </p:txBody>
      </p:sp>
      <p:pic>
        <p:nvPicPr>
          <p:cNvPr id="509" name="Google Shape;509;g2c61ee850b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575" y="2128402"/>
            <a:ext cx="7443000" cy="445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5" name="Google Shape;515;p37"/>
          <p:cNvSpPr/>
          <p:nvPr/>
        </p:nvSpPr>
        <p:spPr>
          <a:xfrm>
            <a:off x="21849" y="1426181"/>
            <a:ext cx="9089376" cy="8296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6" name="Google Shape;516;p37"/>
          <p:cNvSpPr txBox="1"/>
          <p:nvPr>
            <p:ph type="title"/>
          </p:nvPr>
        </p:nvSpPr>
        <p:spPr>
          <a:xfrm>
            <a:off x="1993773" y="165303"/>
            <a:ext cx="507555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Example</a:t>
            </a:r>
            <a:endParaRPr/>
          </a:p>
        </p:txBody>
      </p:sp>
      <p:sp>
        <p:nvSpPr>
          <p:cNvPr id="517" name="Google Shape;517;p37"/>
          <p:cNvSpPr txBox="1"/>
          <p:nvPr/>
        </p:nvSpPr>
        <p:spPr>
          <a:xfrm>
            <a:off x="-12700" y="908050"/>
            <a:ext cx="9169500" cy="57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99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LDR	r8,[sp]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254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cond = 1110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(always – unconditional)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 = 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(immediate: there is no offset, or offset = 0)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 = 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(pre-increment: there is no offset)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U = 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(add offset to base; there is no offset)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B = 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(transfer word)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W = 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(no writeback)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L = 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(load)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rd = 8 = 1000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(destination </a:t>
            </a:r>
            <a:r>
              <a:rPr i="1" lang="en-US" sz="24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rn = 13 = 1101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(base </a:t>
            </a:r>
            <a:r>
              <a:rPr i="1" lang="en-US" sz="24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 u="sng"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Offset = 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(there is no offset)	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3" name="Google Shape;523;p38"/>
          <p:cNvSpPr/>
          <p:nvPr/>
        </p:nvSpPr>
        <p:spPr>
          <a:xfrm>
            <a:off x="21849" y="2893031"/>
            <a:ext cx="9089376" cy="8296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4" name="Google Shape;524;p38"/>
          <p:cNvSpPr txBox="1"/>
          <p:nvPr>
            <p:ph type="title"/>
          </p:nvPr>
        </p:nvSpPr>
        <p:spPr>
          <a:xfrm>
            <a:off x="2031873" y="89408"/>
            <a:ext cx="50761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Example</a:t>
            </a:r>
            <a:endParaRPr/>
          </a:p>
        </p:txBody>
      </p:sp>
      <p:sp>
        <p:nvSpPr>
          <p:cNvPr id="525" name="Google Shape;525;p38"/>
          <p:cNvSpPr txBox="1"/>
          <p:nvPr/>
        </p:nvSpPr>
        <p:spPr>
          <a:xfrm>
            <a:off x="612140" y="1023874"/>
            <a:ext cx="6858634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LDR	r8,[sp]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6" name="Google Shape;526;p38"/>
          <p:cNvSpPr txBox="1"/>
          <p:nvPr/>
        </p:nvSpPr>
        <p:spPr>
          <a:xfrm>
            <a:off x="927303" y="3637305"/>
            <a:ext cx="5934710" cy="100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8600" lvl="0" marL="2413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Binary number per field representation:  hex representation:	0xE59D8000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38"/>
          <p:cNvSpPr txBox="1"/>
          <p:nvPr/>
        </p:nvSpPr>
        <p:spPr>
          <a:xfrm>
            <a:off x="152400" y="3209925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8" name="Google Shape;528;p38"/>
          <p:cNvSpPr/>
          <p:nvPr/>
        </p:nvSpPr>
        <p:spPr>
          <a:xfrm>
            <a:off x="1792351" y="3255962"/>
            <a:ext cx="1600200" cy="311785"/>
          </a:xfrm>
          <a:custGeom>
            <a:rect b="b" l="l" r="r" t="t"/>
            <a:pathLst>
              <a:path extrusionOk="0" h="311785" w="1600200">
                <a:moveTo>
                  <a:pt x="188912" y="63"/>
                </a:moveTo>
                <a:lnTo>
                  <a:pt x="0" y="63"/>
                </a:lnTo>
                <a:lnTo>
                  <a:pt x="0" y="308038"/>
                </a:lnTo>
                <a:lnTo>
                  <a:pt x="188912" y="308038"/>
                </a:lnTo>
                <a:lnTo>
                  <a:pt x="188912" y="63"/>
                </a:lnTo>
                <a:close/>
              </a:path>
              <a:path extrusionOk="0" h="311785" w="1600200">
                <a:moveTo>
                  <a:pt x="453961" y="0"/>
                </a:moveTo>
                <a:lnTo>
                  <a:pt x="265049" y="0"/>
                </a:lnTo>
                <a:lnTo>
                  <a:pt x="265049" y="306387"/>
                </a:lnTo>
                <a:lnTo>
                  <a:pt x="453961" y="306387"/>
                </a:lnTo>
                <a:lnTo>
                  <a:pt x="453961" y="0"/>
                </a:lnTo>
                <a:close/>
              </a:path>
              <a:path extrusionOk="0" h="311785" w="1600200">
                <a:moveTo>
                  <a:pt x="761936" y="3175"/>
                </a:moveTo>
                <a:lnTo>
                  <a:pt x="573024" y="3175"/>
                </a:lnTo>
                <a:lnTo>
                  <a:pt x="573024" y="309562"/>
                </a:lnTo>
                <a:lnTo>
                  <a:pt x="761936" y="309562"/>
                </a:lnTo>
                <a:lnTo>
                  <a:pt x="761936" y="3175"/>
                </a:lnTo>
                <a:close/>
              </a:path>
              <a:path extrusionOk="0" h="311785" w="1600200">
                <a:moveTo>
                  <a:pt x="1027112" y="3238"/>
                </a:moveTo>
                <a:lnTo>
                  <a:pt x="838200" y="3238"/>
                </a:lnTo>
                <a:lnTo>
                  <a:pt x="838200" y="311213"/>
                </a:lnTo>
                <a:lnTo>
                  <a:pt x="1027112" y="311213"/>
                </a:lnTo>
                <a:lnTo>
                  <a:pt x="1027112" y="3238"/>
                </a:lnTo>
                <a:close/>
              </a:path>
              <a:path extrusionOk="0" h="311785" w="1600200">
                <a:moveTo>
                  <a:pt x="1314386" y="3238"/>
                </a:moveTo>
                <a:lnTo>
                  <a:pt x="1125474" y="3238"/>
                </a:lnTo>
                <a:lnTo>
                  <a:pt x="1125474" y="311213"/>
                </a:lnTo>
                <a:lnTo>
                  <a:pt x="1314386" y="311213"/>
                </a:lnTo>
                <a:lnTo>
                  <a:pt x="1314386" y="3238"/>
                </a:lnTo>
                <a:close/>
              </a:path>
              <a:path extrusionOk="0" h="311785" w="1600200">
                <a:moveTo>
                  <a:pt x="1600136" y="3175"/>
                </a:moveTo>
                <a:lnTo>
                  <a:pt x="1411224" y="3175"/>
                </a:lnTo>
                <a:lnTo>
                  <a:pt x="1411224" y="309562"/>
                </a:lnTo>
                <a:lnTo>
                  <a:pt x="1600136" y="309562"/>
                </a:lnTo>
                <a:lnTo>
                  <a:pt x="1600136" y="31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9" name="Google Shape;529;p38"/>
          <p:cNvSpPr txBox="1"/>
          <p:nvPr/>
        </p:nvSpPr>
        <p:spPr>
          <a:xfrm>
            <a:off x="4648200" y="320040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0" name="Google Shape;530;p38"/>
          <p:cNvSpPr txBox="1"/>
          <p:nvPr/>
        </p:nvSpPr>
        <p:spPr>
          <a:xfrm>
            <a:off x="5715000" y="3200400"/>
            <a:ext cx="31877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5289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0000 0000 0000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1" name="Google Shape;531;p38"/>
          <p:cNvSpPr txBox="1"/>
          <p:nvPr/>
        </p:nvSpPr>
        <p:spPr>
          <a:xfrm>
            <a:off x="1797557" y="3227324"/>
            <a:ext cx="26416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3000">
                <a:latin typeface="Courier New"/>
                <a:ea typeface="Courier New"/>
                <a:cs typeface="Courier New"/>
                <a:sym typeface="Courier New"/>
              </a:rPr>
              <a:t>0 1 1 0 0 1	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1101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2" name="Google Shape;532;p38"/>
          <p:cNvSpPr/>
          <p:nvPr/>
        </p:nvSpPr>
        <p:spPr>
          <a:xfrm>
            <a:off x="21849" y="1807181"/>
            <a:ext cx="9089376" cy="8296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9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8" name="Google Shape;538;p39"/>
          <p:cNvSpPr/>
          <p:nvPr/>
        </p:nvSpPr>
        <p:spPr>
          <a:xfrm>
            <a:off x="21849" y="1426181"/>
            <a:ext cx="9089376" cy="8296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9" name="Google Shape;539;p39"/>
          <p:cNvSpPr txBox="1"/>
          <p:nvPr>
            <p:ph type="title"/>
          </p:nvPr>
        </p:nvSpPr>
        <p:spPr>
          <a:xfrm>
            <a:off x="1993773" y="165303"/>
            <a:ext cx="507555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Example</a:t>
            </a:r>
            <a:endParaRPr/>
          </a:p>
        </p:txBody>
      </p:sp>
      <p:sp>
        <p:nvSpPr>
          <p:cNvPr id="540" name="Google Shape;540;p39"/>
          <p:cNvSpPr txBox="1"/>
          <p:nvPr/>
        </p:nvSpPr>
        <p:spPr>
          <a:xfrm>
            <a:off x="-12700" y="908050"/>
            <a:ext cx="9169500" cy="56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99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STRB	r10,[sp,#-4]!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254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cond = 1110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(always – unconditional)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 = 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(offset is an immediate value)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 = 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(pre-index – add immediate before transfer)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U = 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(subtract offset from base)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B = 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(transfer byte)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W = 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(write address into base)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L = 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(store)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rd = 10 = 1010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(destination </a:t>
            </a:r>
            <a:r>
              <a:rPr i="1" lang="en-US" sz="24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2324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rn = sp = r13 = 1101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(base </a:t>
            </a:r>
            <a:r>
              <a:rPr i="1" lang="en-US" sz="24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400" u="sng">
                <a:latin typeface="Courier New"/>
                <a:ea typeface="Courier New"/>
                <a:cs typeface="Courier New"/>
                <a:sym typeface="Courier New"/>
              </a:rPr>
              <a:t> 	Offset = 0x004	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0"/>
          <p:cNvSpPr/>
          <p:nvPr/>
        </p:nvSpPr>
        <p:spPr>
          <a:xfrm>
            <a:off x="21849" y="2893031"/>
            <a:ext cx="9089400" cy="829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6" name="Google Shape;546;p40"/>
          <p:cNvSpPr txBox="1"/>
          <p:nvPr>
            <p:ph type="title"/>
          </p:nvPr>
        </p:nvSpPr>
        <p:spPr>
          <a:xfrm>
            <a:off x="2031873" y="89408"/>
            <a:ext cx="50763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Example</a:t>
            </a:r>
            <a:endParaRPr/>
          </a:p>
        </p:txBody>
      </p:sp>
      <p:sp>
        <p:nvSpPr>
          <p:cNvPr id="547" name="Google Shape;547;p40"/>
          <p:cNvSpPr txBox="1"/>
          <p:nvPr/>
        </p:nvSpPr>
        <p:spPr>
          <a:xfrm>
            <a:off x="612153" y="1023875"/>
            <a:ext cx="91440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STRB	r10,[sp,#-4]!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956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ourier New"/>
              <a:buChar char="❖"/>
            </a:pPr>
            <a:r>
              <a:t/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8" name="Google Shape;548;p40"/>
          <p:cNvSpPr txBox="1"/>
          <p:nvPr/>
        </p:nvSpPr>
        <p:spPr>
          <a:xfrm>
            <a:off x="927303" y="3637305"/>
            <a:ext cx="60129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8600" lvl="0" marL="2413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Binary number per field representation:  hex representation:	0xE56DA004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40"/>
          <p:cNvSpPr txBox="1"/>
          <p:nvPr/>
        </p:nvSpPr>
        <p:spPr>
          <a:xfrm>
            <a:off x="152400" y="3209925"/>
            <a:ext cx="9144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0" name="Google Shape;550;p40"/>
          <p:cNvSpPr/>
          <p:nvPr/>
        </p:nvSpPr>
        <p:spPr>
          <a:xfrm>
            <a:off x="1792351" y="3255962"/>
            <a:ext cx="1600200" cy="309879"/>
          </a:xfrm>
          <a:custGeom>
            <a:rect b="b" l="l" r="r" t="t"/>
            <a:pathLst>
              <a:path extrusionOk="0" h="309879" w="1600200">
                <a:moveTo>
                  <a:pt x="188912" y="63"/>
                </a:moveTo>
                <a:lnTo>
                  <a:pt x="0" y="63"/>
                </a:lnTo>
                <a:lnTo>
                  <a:pt x="0" y="308038"/>
                </a:lnTo>
                <a:lnTo>
                  <a:pt x="188912" y="308038"/>
                </a:lnTo>
                <a:lnTo>
                  <a:pt x="188912" y="63"/>
                </a:lnTo>
                <a:close/>
              </a:path>
              <a:path extrusionOk="0" h="309879" w="1600200">
                <a:moveTo>
                  <a:pt x="453961" y="0"/>
                </a:moveTo>
                <a:lnTo>
                  <a:pt x="265049" y="0"/>
                </a:lnTo>
                <a:lnTo>
                  <a:pt x="265049" y="306387"/>
                </a:lnTo>
                <a:lnTo>
                  <a:pt x="453961" y="306387"/>
                </a:lnTo>
                <a:lnTo>
                  <a:pt x="453961" y="0"/>
                </a:lnTo>
                <a:close/>
              </a:path>
              <a:path extrusionOk="0" h="309879" w="1600200">
                <a:moveTo>
                  <a:pt x="761936" y="3175"/>
                </a:moveTo>
                <a:lnTo>
                  <a:pt x="573024" y="3175"/>
                </a:lnTo>
                <a:lnTo>
                  <a:pt x="573024" y="309562"/>
                </a:lnTo>
                <a:lnTo>
                  <a:pt x="761936" y="309562"/>
                </a:lnTo>
                <a:lnTo>
                  <a:pt x="761936" y="3175"/>
                </a:lnTo>
                <a:close/>
              </a:path>
              <a:path extrusionOk="0" h="309879" w="1600200">
                <a:moveTo>
                  <a:pt x="1027112" y="3175"/>
                </a:moveTo>
                <a:lnTo>
                  <a:pt x="838200" y="3175"/>
                </a:lnTo>
                <a:lnTo>
                  <a:pt x="838200" y="309562"/>
                </a:lnTo>
                <a:lnTo>
                  <a:pt x="1027112" y="309562"/>
                </a:lnTo>
                <a:lnTo>
                  <a:pt x="1027112" y="3175"/>
                </a:lnTo>
                <a:close/>
              </a:path>
              <a:path extrusionOk="0" h="309879" w="1600200">
                <a:moveTo>
                  <a:pt x="1314386" y="3175"/>
                </a:moveTo>
                <a:lnTo>
                  <a:pt x="1125474" y="3175"/>
                </a:lnTo>
                <a:lnTo>
                  <a:pt x="1125474" y="309562"/>
                </a:lnTo>
                <a:lnTo>
                  <a:pt x="1314386" y="309562"/>
                </a:lnTo>
                <a:lnTo>
                  <a:pt x="1314386" y="3175"/>
                </a:lnTo>
                <a:close/>
              </a:path>
              <a:path extrusionOk="0" h="309879" w="1600200">
                <a:moveTo>
                  <a:pt x="1600136" y="3175"/>
                </a:moveTo>
                <a:lnTo>
                  <a:pt x="1411224" y="3175"/>
                </a:lnTo>
                <a:lnTo>
                  <a:pt x="1411224" y="309562"/>
                </a:lnTo>
                <a:lnTo>
                  <a:pt x="1600136" y="309562"/>
                </a:lnTo>
                <a:lnTo>
                  <a:pt x="1600136" y="31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1" name="Google Shape;551;p40"/>
          <p:cNvSpPr txBox="1"/>
          <p:nvPr/>
        </p:nvSpPr>
        <p:spPr>
          <a:xfrm>
            <a:off x="4648200" y="3200400"/>
            <a:ext cx="9144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1010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2" name="Google Shape;552;p40"/>
          <p:cNvSpPr txBox="1"/>
          <p:nvPr/>
        </p:nvSpPr>
        <p:spPr>
          <a:xfrm>
            <a:off x="5715000" y="3200400"/>
            <a:ext cx="31878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5289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0000 0000 0100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3" name="Google Shape;553;p40"/>
          <p:cNvSpPr txBox="1"/>
          <p:nvPr/>
        </p:nvSpPr>
        <p:spPr>
          <a:xfrm>
            <a:off x="1797557" y="3227324"/>
            <a:ext cx="2641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3000">
                <a:latin typeface="Courier New"/>
                <a:ea typeface="Courier New"/>
                <a:cs typeface="Courier New"/>
                <a:sym typeface="Courier New"/>
              </a:rPr>
              <a:t>0 1 0 1 1 0	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1101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4" name="Google Shape;554;p40"/>
          <p:cNvSpPr/>
          <p:nvPr/>
        </p:nvSpPr>
        <p:spPr>
          <a:xfrm>
            <a:off x="21849" y="1807181"/>
            <a:ext cx="9089400" cy="829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1"/>
          <p:cNvSpPr/>
          <p:nvPr/>
        </p:nvSpPr>
        <p:spPr>
          <a:xfrm>
            <a:off x="21849" y="1426181"/>
            <a:ext cx="9089376" cy="8296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0" name="Google Shape;560;p41"/>
          <p:cNvSpPr txBox="1"/>
          <p:nvPr>
            <p:ph type="title"/>
          </p:nvPr>
        </p:nvSpPr>
        <p:spPr>
          <a:xfrm>
            <a:off x="1993773" y="165303"/>
            <a:ext cx="507555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Example</a:t>
            </a:r>
            <a:endParaRPr/>
          </a:p>
        </p:txBody>
      </p:sp>
      <p:sp>
        <p:nvSpPr>
          <p:cNvPr id="561" name="Google Shape;561;p41"/>
          <p:cNvSpPr txBox="1"/>
          <p:nvPr/>
        </p:nvSpPr>
        <p:spPr>
          <a:xfrm>
            <a:off x="2540" y="918718"/>
            <a:ext cx="8406900" cy="5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ARM Instruction: </a:t>
            </a:r>
            <a:r>
              <a:rPr lang="en-US" sz="2700">
                <a:latin typeface="Courier New"/>
                <a:ea typeface="Courier New"/>
                <a:cs typeface="Courier New"/>
                <a:sym typeface="Courier New"/>
              </a:rPr>
              <a:t>LDRB r2,[r1],-r3, LSR #4</a:t>
            </a:r>
            <a:endParaRPr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2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cond = 1110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(always – unconditional)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 = 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(offset is a register)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 = 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(post-index – add immediate after transfer)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U = 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(subtract offset from base)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B = 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(transfer byte)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W = 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(write address into base)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L = 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(load)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rd = 2 = 0010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(destination </a:t>
            </a:r>
            <a:r>
              <a:rPr i="1" lang="en-US" sz="24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rn = 1 = 0001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(base </a:t>
            </a:r>
            <a:r>
              <a:rPr i="1" lang="en-US" sz="24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2"/>
          <p:cNvSpPr/>
          <p:nvPr/>
        </p:nvSpPr>
        <p:spPr>
          <a:xfrm>
            <a:off x="21849" y="1426181"/>
            <a:ext cx="9089376" cy="8296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7" name="Google Shape;567;p42"/>
          <p:cNvSpPr txBox="1"/>
          <p:nvPr>
            <p:ph type="title"/>
          </p:nvPr>
        </p:nvSpPr>
        <p:spPr>
          <a:xfrm>
            <a:off x="1993773" y="165303"/>
            <a:ext cx="507555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Example</a:t>
            </a:r>
            <a:endParaRPr/>
          </a:p>
        </p:txBody>
      </p:sp>
      <p:sp>
        <p:nvSpPr>
          <p:cNvPr id="568" name="Google Shape;568;p42"/>
          <p:cNvSpPr txBox="1"/>
          <p:nvPr/>
        </p:nvSpPr>
        <p:spPr>
          <a:xfrm>
            <a:off x="2550" y="918725"/>
            <a:ext cx="8711700" cy="3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LDRB r2,[r1],-r3, LSR #4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Courier New"/>
              <a:ea typeface="Courier New"/>
              <a:cs typeface="Courier New"/>
              <a:sym typeface="Courier New"/>
            </a:endParaRPr>
          </a:p>
          <a:p>
            <a:pPr indent="-190500" lvl="0" marL="698500" marR="660273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Offset:  shift: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shift amount = 4 = 00100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228600" lvl="0" marL="698500" marR="473456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shift type = 01  rm = 3 = 0011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69" name="Google Shape;569;p42"/>
          <p:cNvGrpSpPr/>
          <p:nvPr/>
        </p:nvGrpSpPr>
        <p:grpSpPr>
          <a:xfrm>
            <a:off x="5562600" y="2552700"/>
            <a:ext cx="3581399" cy="4105275"/>
            <a:chOff x="5562600" y="2552700"/>
            <a:chExt cx="3581399" cy="4105275"/>
          </a:xfrm>
        </p:grpSpPr>
        <p:sp>
          <p:nvSpPr>
            <p:cNvPr id="570" name="Google Shape;570;p42"/>
            <p:cNvSpPr/>
            <p:nvPr/>
          </p:nvSpPr>
          <p:spPr>
            <a:xfrm>
              <a:off x="5676900" y="2552700"/>
              <a:ext cx="3403600" cy="1701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42"/>
            <p:cNvSpPr/>
            <p:nvPr/>
          </p:nvSpPr>
          <p:spPr>
            <a:xfrm>
              <a:off x="5562600" y="4279900"/>
              <a:ext cx="3581399" cy="237807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3"/>
          <p:cNvSpPr/>
          <p:nvPr/>
        </p:nvSpPr>
        <p:spPr>
          <a:xfrm>
            <a:off x="21849" y="2893031"/>
            <a:ext cx="9089400" cy="829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7" name="Google Shape;577;p43"/>
          <p:cNvSpPr txBox="1"/>
          <p:nvPr>
            <p:ph type="title"/>
          </p:nvPr>
        </p:nvSpPr>
        <p:spPr>
          <a:xfrm>
            <a:off x="2031873" y="89408"/>
            <a:ext cx="50761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Transfer Example</a:t>
            </a:r>
            <a:endParaRPr/>
          </a:p>
        </p:txBody>
      </p:sp>
      <p:sp>
        <p:nvSpPr>
          <p:cNvPr id="578" name="Google Shape;578;p43"/>
          <p:cNvSpPr txBox="1"/>
          <p:nvPr/>
        </p:nvSpPr>
        <p:spPr>
          <a:xfrm>
            <a:off x="612150" y="1023875"/>
            <a:ext cx="8532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LDRB r2,[r1],-r3, LSR #4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9" name="Google Shape;579;p43"/>
          <p:cNvSpPr txBox="1"/>
          <p:nvPr/>
        </p:nvSpPr>
        <p:spPr>
          <a:xfrm>
            <a:off x="927303" y="3637305"/>
            <a:ext cx="56484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8600" lvl="0" marL="2413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Binary number per field representation:  hex representation:	0xE651223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p43"/>
          <p:cNvSpPr txBox="1"/>
          <p:nvPr/>
        </p:nvSpPr>
        <p:spPr>
          <a:xfrm>
            <a:off x="152400" y="3209925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1110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1" name="Google Shape;581;p43"/>
          <p:cNvSpPr/>
          <p:nvPr/>
        </p:nvSpPr>
        <p:spPr>
          <a:xfrm>
            <a:off x="1792351" y="3255962"/>
            <a:ext cx="1597025" cy="309880"/>
          </a:xfrm>
          <a:custGeom>
            <a:rect b="b" l="l" r="r" t="t"/>
            <a:pathLst>
              <a:path extrusionOk="0" h="309879" w="1597025">
                <a:moveTo>
                  <a:pt x="188912" y="0"/>
                </a:moveTo>
                <a:lnTo>
                  <a:pt x="0" y="0"/>
                </a:lnTo>
                <a:lnTo>
                  <a:pt x="0" y="306387"/>
                </a:lnTo>
                <a:lnTo>
                  <a:pt x="188912" y="306387"/>
                </a:lnTo>
                <a:lnTo>
                  <a:pt x="188912" y="0"/>
                </a:lnTo>
                <a:close/>
              </a:path>
              <a:path extrusionOk="0" h="309879" w="1597025">
                <a:moveTo>
                  <a:pt x="453961" y="0"/>
                </a:moveTo>
                <a:lnTo>
                  <a:pt x="265049" y="0"/>
                </a:lnTo>
                <a:lnTo>
                  <a:pt x="265049" y="306387"/>
                </a:lnTo>
                <a:lnTo>
                  <a:pt x="453961" y="306387"/>
                </a:lnTo>
                <a:lnTo>
                  <a:pt x="453961" y="0"/>
                </a:lnTo>
                <a:close/>
              </a:path>
              <a:path extrusionOk="0" h="309879" w="1597025">
                <a:moveTo>
                  <a:pt x="761936" y="3175"/>
                </a:moveTo>
                <a:lnTo>
                  <a:pt x="573024" y="3175"/>
                </a:lnTo>
                <a:lnTo>
                  <a:pt x="573024" y="309562"/>
                </a:lnTo>
                <a:lnTo>
                  <a:pt x="761936" y="309562"/>
                </a:lnTo>
                <a:lnTo>
                  <a:pt x="761936" y="3175"/>
                </a:lnTo>
                <a:close/>
              </a:path>
              <a:path extrusionOk="0" h="309879" w="1597025">
                <a:moveTo>
                  <a:pt x="1027112" y="3175"/>
                </a:moveTo>
                <a:lnTo>
                  <a:pt x="838200" y="3175"/>
                </a:lnTo>
                <a:lnTo>
                  <a:pt x="838200" y="309562"/>
                </a:lnTo>
                <a:lnTo>
                  <a:pt x="1027112" y="309562"/>
                </a:lnTo>
                <a:lnTo>
                  <a:pt x="1027112" y="3175"/>
                </a:lnTo>
                <a:close/>
              </a:path>
              <a:path extrusionOk="0" h="309879" w="1597025">
                <a:moveTo>
                  <a:pt x="1314386" y="3175"/>
                </a:moveTo>
                <a:lnTo>
                  <a:pt x="1125474" y="3175"/>
                </a:lnTo>
                <a:lnTo>
                  <a:pt x="1125474" y="309562"/>
                </a:lnTo>
                <a:lnTo>
                  <a:pt x="1314386" y="309562"/>
                </a:lnTo>
                <a:lnTo>
                  <a:pt x="1314386" y="3175"/>
                </a:lnTo>
                <a:close/>
              </a:path>
              <a:path extrusionOk="0" h="309879" w="1597025">
                <a:moveTo>
                  <a:pt x="1596961" y="3175"/>
                </a:moveTo>
                <a:lnTo>
                  <a:pt x="1408049" y="3175"/>
                </a:lnTo>
                <a:lnTo>
                  <a:pt x="1408049" y="309562"/>
                </a:lnTo>
                <a:lnTo>
                  <a:pt x="1596961" y="309562"/>
                </a:lnTo>
                <a:lnTo>
                  <a:pt x="1596961" y="31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2" name="Google Shape;582;p43"/>
          <p:cNvSpPr txBox="1"/>
          <p:nvPr/>
        </p:nvSpPr>
        <p:spPr>
          <a:xfrm>
            <a:off x="4648200" y="3200400"/>
            <a:ext cx="9144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0010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3" name="Google Shape;583;p43"/>
          <p:cNvSpPr txBox="1"/>
          <p:nvPr/>
        </p:nvSpPr>
        <p:spPr>
          <a:xfrm>
            <a:off x="5715000" y="3200400"/>
            <a:ext cx="3187800" cy="33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5289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00100 01 0 0011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4" name="Google Shape;584;p43"/>
          <p:cNvSpPr txBox="1"/>
          <p:nvPr/>
        </p:nvSpPr>
        <p:spPr>
          <a:xfrm>
            <a:off x="1854307" y="3191399"/>
            <a:ext cx="26415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3000">
                <a:latin typeface="Courier New"/>
                <a:ea typeface="Courier New"/>
                <a:cs typeface="Courier New"/>
                <a:sym typeface="Courier New"/>
              </a:rPr>
              <a:t>1 0 0 1 0 1	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00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5" name="Google Shape;585;p43"/>
          <p:cNvSpPr/>
          <p:nvPr/>
        </p:nvSpPr>
        <p:spPr>
          <a:xfrm>
            <a:off x="21849" y="1807181"/>
            <a:ext cx="9089376" cy="8296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6" name="Google Shape;586;p43"/>
          <p:cNvSpPr txBox="1"/>
          <p:nvPr/>
        </p:nvSpPr>
        <p:spPr>
          <a:xfrm>
            <a:off x="3640200" y="3091750"/>
            <a:ext cx="8556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0cb6ef0deb_0_0"/>
          <p:cNvSpPr txBox="1"/>
          <p:nvPr>
            <p:ph type="title"/>
          </p:nvPr>
        </p:nvSpPr>
        <p:spPr>
          <a:xfrm>
            <a:off x="2382138" y="171958"/>
            <a:ext cx="4379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0cb6ef0deb_0_0"/>
          <p:cNvSpPr txBox="1"/>
          <p:nvPr>
            <p:ph idx="1" type="body"/>
          </p:nvPr>
        </p:nvSpPr>
        <p:spPr>
          <a:xfrm>
            <a:off x="497840" y="1400835"/>
            <a:ext cx="5600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0cb6ef0deb_0_0"/>
          <p:cNvSpPr txBox="1"/>
          <p:nvPr/>
        </p:nvSpPr>
        <p:spPr>
          <a:xfrm>
            <a:off x="612150" y="1023875"/>
            <a:ext cx="8532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Instruction:	</a:t>
            </a: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LDRB r2,[r1],-r3, LSR #4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4" name="Google Shape;594;g30cb6ef0deb_0_0"/>
          <p:cNvSpPr/>
          <p:nvPr/>
        </p:nvSpPr>
        <p:spPr>
          <a:xfrm>
            <a:off x="21849" y="1807181"/>
            <a:ext cx="9089400" cy="829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7cfd70706a_0_0"/>
          <p:cNvSpPr txBox="1"/>
          <p:nvPr>
            <p:ph type="title"/>
          </p:nvPr>
        </p:nvSpPr>
        <p:spPr>
          <a:xfrm>
            <a:off x="2382138" y="171958"/>
            <a:ext cx="4379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Addressing Mode</a:t>
            </a:r>
            <a:endParaRPr/>
          </a:p>
        </p:txBody>
      </p:sp>
      <p:sp>
        <p:nvSpPr>
          <p:cNvPr id="600" name="Google Shape;600;g27cfd70706a_0_0"/>
          <p:cNvSpPr txBox="1"/>
          <p:nvPr>
            <p:ph idx="1" type="body"/>
          </p:nvPr>
        </p:nvSpPr>
        <p:spPr>
          <a:xfrm>
            <a:off x="497840" y="1400835"/>
            <a:ext cx="5600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1" name="Google Shape;601;g27cfd70706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400" y="1326885"/>
            <a:ext cx="8244240" cy="4721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27cfd70706a_0_6"/>
          <p:cNvSpPr txBox="1"/>
          <p:nvPr>
            <p:ph type="title"/>
          </p:nvPr>
        </p:nvSpPr>
        <p:spPr>
          <a:xfrm>
            <a:off x="1161150" y="171950"/>
            <a:ext cx="6328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Format Summary</a:t>
            </a:r>
            <a:endParaRPr/>
          </a:p>
        </p:txBody>
      </p:sp>
      <p:pic>
        <p:nvPicPr>
          <p:cNvPr id="607" name="Google Shape;607;g27cfd70706a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975" y="1282300"/>
            <a:ext cx="7608400" cy="48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"/>
          <p:cNvSpPr txBox="1"/>
          <p:nvPr>
            <p:ph type="title"/>
          </p:nvPr>
        </p:nvSpPr>
        <p:spPr>
          <a:xfrm>
            <a:off x="3288024" y="13200"/>
            <a:ext cx="2861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613" name="Google Shape;613;p44"/>
          <p:cNvSpPr txBox="1"/>
          <p:nvPr/>
        </p:nvSpPr>
        <p:spPr>
          <a:xfrm>
            <a:off x="612150" y="1087874"/>
            <a:ext cx="8244000" cy="27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03200" lvl="0" marL="2152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Computer actually stores programs as a series of these  32-bit numbers.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46672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Each instruction has different number of fields that  define it (opcode, registers, immediates, etc.)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21583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 Machine Language Instruction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:  32 bits representing a single instruction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2023-08-21T08:47:10Z</dcterms:created>
  <dc:creator>Ryan Kastner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2011-08-31T00:00:00Z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2023-08-21T00:00:00Z</vt:filetime>
  </property>
</Properties>
</file>