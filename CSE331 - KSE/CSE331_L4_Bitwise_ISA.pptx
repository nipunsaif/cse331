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9144000"/>
  <p:notesSz cx="9144000" cy="6858000"/>
  <p:embeddedFontLst>
    <p:embeddedFont>
      <p:font typeface="Arial Black"/>
      <p:regular r:id="rId26"/>
    </p:embeddedFont>
    <p:embeddedFont>
      <p:font typeface="Carli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gsoOG4MZyp1NIsEpQVk0WhKZp5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2177E2-DB5D-4F04-B57C-D3C27F7BF55F}">
  <a:tblStyle styleId="{D02177E2-DB5D-4F04-B57C-D3C27F7BF55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rialBlack-regular.fntdata"/><Relationship Id="rId25" Type="http://schemas.openxmlformats.org/officeDocument/2006/relationships/slide" Target="slides/slide19.xml"/><Relationship Id="rId28" Type="http://schemas.openxmlformats.org/officeDocument/2006/relationships/font" Target="fonts/Carlito-bold.fntdata"/><Relationship Id="rId27" Type="http://schemas.openxmlformats.org/officeDocument/2006/relationships/font" Target="fonts/Carli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Carli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Carli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3d4a897f4b_0_22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23d4a897f4b_0_225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3d4a897f4b_0_22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23d4a897f4b_0_2258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3d4a897f4b_0_226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23d4a897f4b_0_2266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3d4a897f4b_0_229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23d4a897f4b_0_2294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3d4a897f4b_0_23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23d4a897f4b_0_2307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3d4a897f4b_0_23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23d4a897f4b_0_2315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3d4a897f4b_0_23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23d4a897f4b_0_2323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3d4a897f4b_0_23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23d4a897f4b_0_2332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3d4a897f4b_0_23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23d4a897f4b_0_234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3d4a897f4b_0_23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23d4a897f4b_0_235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3d4a897f4b_0_23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23d4a897f4b_0_236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3d4a897f4b_0_23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23d4a897f4b_0_2372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3d4a897f4b_0_23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23d4a897f4b_0_2384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3d4a897f4b_0_24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23d4a897f4b_0_2419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3d4a897f4b_0_24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23d4a897f4b_0_2429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3d4a897f4b_0_24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23d4a897f4b_0_2437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3d4a897f4b_0_24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23d4a897f4b_0_2447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3d4a897f4b_0_25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23d4a897f4b_0_2511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7"/>
          <p:cNvSpPr txBox="1"/>
          <p:nvPr>
            <p:ph type="ctrTitle"/>
          </p:nvPr>
        </p:nvSpPr>
        <p:spPr>
          <a:xfrm>
            <a:off x="1425194" y="2146554"/>
            <a:ext cx="6293611" cy="136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7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7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7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7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8"/>
          <p:cNvSpPr txBox="1"/>
          <p:nvPr>
            <p:ph type="title"/>
          </p:nvPr>
        </p:nvSpPr>
        <p:spPr>
          <a:xfrm>
            <a:off x="3234562" y="462279"/>
            <a:ext cx="2674874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8"/>
          <p:cNvSpPr txBox="1"/>
          <p:nvPr>
            <p:ph idx="1" type="body"/>
          </p:nvPr>
        </p:nvSpPr>
        <p:spPr>
          <a:xfrm>
            <a:off x="450850" y="1593850"/>
            <a:ext cx="8310880" cy="44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8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8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8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9"/>
          <p:cNvSpPr txBox="1"/>
          <p:nvPr>
            <p:ph type="title"/>
          </p:nvPr>
        </p:nvSpPr>
        <p:spPr>
          <a:xfrm>
            <a:off x="3234562" y="462279"/>
            <a:ext cx="2674874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9"/>
          <p:cNvSpPr txBox="1"/>
          <p:nvPr>
            <p:ph idx="1" type="body"/>
          </p:nvPr>
        </p:nvSpPr>
        <p:spPr>
          <a:xfrm>
            <a:off x="535940" y="1524507"/>
            <a:ext cx="2034539" cy="3536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9"/>
          <p:cNvSpPr txBox="1"/>
          <p:nvPr>
            <p:ph idx="2" type="body"/>
          </p:nvPr>
        </p:nvSpPr>
        <p:spPr>
          <a:xfrm>
            <a:off x="5083302" y="1537004"/>
            <a:ext cx="2958465" cy="409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9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9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9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0"/>
          <p:cNvSpPr txBox="1"/>
          <p:nvPr>
            <p:ph type="title"/>
          </p:nvPr>
        </p:nvSpPr>
        <p:spPr>
          <a:xfrm>
            <a:off x="3234562" y="462279"/>
            <a:ext cx="2674874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0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0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0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1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1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5e051f3650_0_341"/>
          <p:cNvSpPr txBox="1"/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5e051f3650_0_341"/>
          <p:cNvSpPr txBox="1"/>
          <p:nvPr>
            <p:ph idx="1" type="body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228600" lvl="1" marL="914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228600" lvl="5" marL="2743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indent="-228600" lvl="6" marL="3200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indent="-228600" lvl="7" marL="3657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indent="-228600" lvl="8" marL="41148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g25e051f3650_0_341"/>
          <p:cNvSpPr txBox="1"/>
          <p:nvPr>
            <p:ph idx="10" type="dt"/>
          </p:nvPr>
        </p:nvSpPr>
        <p:spPr>
          <a:xfrm>
            <a:off x="1042988" y="6453386"/>
            <a:ext cx="903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25e051f3650_0_341"/>
          <p:cNvSpPr txBox="1"/>
          <p:nvPr>
            <p:ph idx="11" type="ftr"/>
          </p:nvPr>
        </p:nvSpPr>
        <p:spPr>
          <a:xfrm>
            <a:off x="2170173" y="6453386"/>
            <a:ext cx="4710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25e051f3650_0_341"/>
          <p:cNvSpPr txBox="1"/>
          <p:nvPr>
            <p:ph idx="12" type="sldNum"/>
          </p:nvPr>
        </p:nvSpPr>
        <p:spPr>
          <a:xfrm>
            <a:off x="7104552" y="6453386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5e051f3650_0_347"/>
          <p:cNvSpPr txBox="1"/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25e051f3650_0_347"/>
          <p:cNvSpPr txBox="1"/>
          <p:nvPr>
            <p:ph idx="10" type="dt"/>
          </p:nvPr>
        </p:nvSpPr>
        <p:spPr>
          <a:xfrm>
            <a:off x="1042988" y="6453386"/>
            <a:ext cx="903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25e051f3650_0_347"/>
          <p:cNvSpPr txBox="1"/>
          <p:nvPr>
            <p:ph idx="11" type="ftr"/>
          </p:nvPr>
        </p:nvSpPr>
        <p:spPr>
          <a:xfrm>
            <a:off x="2170173" y="6453386"/>
            <a:ext cx="4710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25e051f3650_0_347"/>
          <p:cNvSpPr txBox="1"/>
          <p:nvPr>
            <p:ph idx="12" type="sldNum"/>
          </p:nvPr>
        </p:nvSpPr>
        <p:spPr>
          <a:xfrm>
            <a:off x="7104552" y="6453386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3d4a897f4b_0_178"/>
          <p:cNvSpPr txBox="1"/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23d4a897f4b_0_178"/>
          <p:cNvSpPr txBox="1"/>
          <p:nvPr>
            <p:ph idx="1" type="body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228600" lvl="1" marL="914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228600" lvl="5" marL="2743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indent="-228600" lvl="6" marL="3200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indent="-228600" lvl="7" marL="3657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indent="-228600" lvl="8" marL="41148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53" name="Google Shape;53;g23d4a897f4b_0_178"/>
          <p:cNvSpPr txBox="1"/>
          <p:nvPr>
            <p:ph idx="10" type="dt"/>
          </p:nvPr>
        </p:nvSpPr>
        <p:spPr>
          <a:xfrm>
            <a:off x="1042988" y="6453386"/>
            <a:ext cx="903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23d4a897f4b_0_178"/>
          <p:cNvSpPr txBox="1"/>
          <p:nvPr>
            <p:ph idx="11" type="ftr"/>
          </p:nvPr>
        </p:nvSpPr>
        <p:spPr>
          <a:xfrm>
            <a:off x="2170173" y="6453386"/>
            <a:ext cx="4710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23d4a897f4b_0_178"/>
          <p:cNvSpPr txBox="1"/>
          <p:nvPr>
            <p:ph idx="12" type="sldNum"/>
          </p:nvPr>
        </p:nvSpPr>
        <p:spPr>
          <a:xfrm>
            <a:off x="7104552" y="6453386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3d4a897f4b_0_282"/>
          <p:cNvSpPr txBox="1"/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23d4a897f4b_0_282"/>
          <p:cNvSpPr txBox="1"/>
          <p:nvPr>
            <p:ph idx="1" type="body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228600" lvl="1" marL="914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228600" lvl="5" marL="2743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indent="-228600" lvl="6" marL="3200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indent="-228600" lvl="7" marL="3657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indent="-228600" lvl="8" marL="41148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g23d4a897f4b_0_282"/>
          <p:cNvSpPr txBox="1"/>
          <p:nvPr>
            <p:ph idx="10" type="dt"/>
          </p:nvPr>
        </p:nvSpPr>
        <p:spPr>
          <a:xfrm>
            <a:off x="1042988" y="6453386"/>
            <a:ext cx="903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23d4a897f4b_0_282"/>
          <p:cNvSpPr txBox="1"/>
          <p:nvPr>
            <p:ph idx="11" type="ftr"/>
          </p:nvPr>
        </p:nvSpPr>
        <p:spPr>
          <a:xfrm>
            <a:off x="2170173" y="6453386"/>
            <a:ext cx="4710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23d4a897f4b_0_282"/>
          <p:cNvSpPr txBox="1"/>
          <p:nvPr>
            <p:ph idx="12" type="sldNum"/>
          </p:nvPr>
        </p:nvSpPr>
        <p:spPr>
          <a:xfrm>
            <a:off x="7104552" y="6453386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">
  <p:cSld name="OBJECT_4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3d4a897f4b_0_2121"/>
          <p:cNvSpPr txBox="1"/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23d4a897f4b_0_2121"/>
          <p:cNvSpPr txBox="1"/>
          <p:nvPr>
            <p:ph idx="1" type="body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228600" lvl="1" marL="914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228600" lvl="5" marL="2743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indent="-228600" lvl="6" marL="3200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indent="-228600" lvl="7" marL="3657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indent="-228600" lvl="8" marL="41148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65" name="Google Shape;65;g23d4a897f4b_0_2121"/>
          <p:cNvSpPr txBox="1"/>
          <p:nvPr>
            <p:ph idx="10" type="dt"/>
          </p:nvPr>
        </p:nvSpPr>
        <p:spPr>
          <a:xfrm>
            <a:off x="1042988" y="6453386"/>
            <a:ext cx="903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23d4a897f4b_0_2121"/>
          <p:cNvSpPr txBox="1"/>
          <p:nvPr>
            <p:ph idx="11" type="ftr"/>
          </p:nvPr>
        </p:nvSpPr>
        <p:spPr>
          <a:xfrm>
            <a:off x="2170173" y="6453386"/>
            <a:ext cx="4710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23d4a897f4b_0_2121"/>
          <p:cNvSpPr txBox="1"/>
          <p:nvPr>
            <p:ph idx="12" type="sldNum"/>
          </p:nvPr>
        </p:nvSpPr>
        <p:spPr>
          <a:xfrm>
            <a:off x="7104552" y="6453386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5">
  <p:cSld name="OBJECT_5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3d4a897f4b_0_2235"/>
          <p:cNvSpPr txBox="1"/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23d4a897f4b_0_2235"/>
          <p:cNvSpPr txBox="1"/>
          <p:nvPr>
            <p:ph idx="1" type="body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indent="-228600" lvl="1" marL="914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2pPr>
            <a:lvl3pPr indent="-228600" lvl="2" marL="1371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3pPr>
            <a:lvl4pPr indent="-228600" lvl="3" marL="18288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4pPr>
            <a:lvl5pPr indent="-228600" lvl="4" marL="22860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5pPr>
            <a:lvl6pPr indent="-228600" lvl="5" marL="27432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6pPr>
            <a:lvl7pPr indent="-228600" lvl="6" marL="3200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7pPr>
            <a:lvl8pPr indent="-228600" lvl="7" marL="36576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8pPr>
            <a:lvl9pPr indent="-228600" lvl="8" marL="411480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g23d4a897f4b_0_2235"/>
          <p:cNvSpPr txBox="1"/>
          <p:nvPr>
            <p:ph idx="10" type="dt"/>
          </p:nvPr>
        </p:nvSpPr>
        <p:spPr>
          <a:xfrm>
            <a:off x="1042988" y="6453386"/>
            <a:ext cx="903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23d4a897f4b_0_2235"/>
          <p:cNvSpPr txBox="1"/>
          <p:nvPr>
            <p:ph idx="11" type="ftr"/>
          </p:nvPr>
        </p:nvSpPr>
        <p:spPr>
          <a:xfrm>
            <a:off x="2170173" y="6453386"/>
            <a:ext cx="4710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23d4a897f4b_0_2235"/>
          <p:cNvSpPr txBox="1"/>
          <p:nvPr>
            <p:ph idx="12" type="sldNum"/>
          </p:nvPr>
        </p:nvSpPr>
        <p:spPr>
          <a:xfrm>
            <a:off x="7104552" y="6453386"/>
            <a:ext cx="119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6">
  <p:cSld name="OBJECT_6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3f1180119c_0_62"/>
          <p:cNvSpPr txBox="1"/>
          <p:nvPr>
            <p:ph type="title"/>
          </p:nvPr>
        </p:nvSpPr>
        <p:spPr>
          <a:xfrm>
            <a:off x="2382138" y="171958"/>
            <a:ext cx="43797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0007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23f1180119c_0_62"/>
          <p:cNvSpPr txBox="1"/>
          <p:nvPr>
            <p:ph idx="1" type="body"/>
          </p:nvPr>
        </p:nvSpPr>
        <p:spPr>
          <a:xfrm>
            <a:off x="497840" y="1400835"/>
            <a:ext cx="5600700" cy="46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23f1180119c_0_62"/>
          <p:cNvSpPr txBox="1"/>
          <p:nvPr>
            <p:ph idx="11" type="ftr"/>
          </p:nvPr>
        </p:nvSpPr>
        <p:spPr>
          <a:xfrm>
            <a:off x="3108960" y="6377940"/>
            <a:ext cx="2926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3f1180119c_0_62"/>
          <p:cNvSpPr txBox="1"/>
          <p:nvPr>
            <p:ph idx="10" type="dt"/>
          </p:nvPr>
        </p:nvSpPr>
        <p:spPr>
          <a:xfrm>
            <a:off x="45720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23f1180119c_0_62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6"/>
          <p:cNvSpPr txBox="1"/>
          <p:nvPr>
            <p:ph type="title"/>
          </p:nvPr>
        </p:nvSpPr>
        <p:spPr>
          <a:xfrm>
            <a:off x="3234562" y="462279"/>
            <a:ext cx="2674874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6"/>
          <p:cNvSpPr txBox="1"/>
          <p:nvPr>
            <p:ph idx="1" type="body"/>
          </p:nvPr>
        </p:nvSpPr>
        <p:spPr>
          <a:xfrm>
            <a:off x="450850" y="1593850"/>
            <a:ext cx="8310880" cy="44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5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56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25201" y="2146550"/>
            <a:ext cx="69669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012314" lvl="0" marL="2024379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CSE 331: Microprocessor</a:t>
            </a:r>
            <a:r>
              <a:rPr lang="en-US" sz="3200"/>
              <a:t> </a:t>
            </a:r>
            <a:r>
              <a:rPr lang="en-US" sz="3200"/>
              <a:t>Interfacing and Embedded Systems</a:t>
            </a:r>
            <a:endParaRPr sz="3200"/>
          </a:p>
        </p:txBody>
      </p:sp>
      <p:sp>
        <p:nvSpPr>
          <p:cNvPr id="85" name="Google Shape;85;p1"/>
          <p:cNvSpPr txBox="1"/>
          <p:nvPr/>
        </p:nvSpPr>
        <p:spPr>
          <a:xfrm>
            <a:off x="1477775" y="3893825"/>
            <a:ext cx="67983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888888"/>
                </a:solidFill>
                <a:latin typeface="Carlito"/>
                <a:ea typeface="Carlito"/>
                <a:cs typeface="Carlito"/>
                <a:sym typeface="Carlito"/>
              </a:rPr>
              <a:t>Lecture </a:t>
            </a:r>
            <a:r>
              <a:rPr lang="en-US" sz="3200">
                <a:solidFill>
                  <a:srgbClr val="888888"/>
                </a:solidFill>
                <a:latin typeface="Carlito"/>
                <a:ea typeface="Carlito"/>
                <a:cs typeface="Carlito"/>
                <a:sym typeface="Carlito"/>
              </a:rPr>
              <a:t>4</a:t>
            </a:r>
            <a:r>
              <a:rPr b="0" i="0" lang="en-US" sz="3200" u="none" cap="none" strike="noStrike">
                <a:solidFill>
                  <a:srgbClr val="888888"/>
                </a:solidFill>
                <a:latin typeface="Carlito"/>
                <a:ea typeface="Carlito"/>
                <a:cs typeface="Carlito"/>
                <a:sym typeface="Carlito"/>
              </a:rPr>
              <a:t>: </a:t>
            </a:r>
            <a:r>
              <a:rPr lang="en-US" sz="3200">
                <a:solidFill>
                  <a:srgbClr val="888888"/>
                </a:solidFill>
                <a:latin typeface="Carlito"/>
                <a:ea typeface="Carlito"/>
                <a:cs typeface="Carlito"/>
                <a:sym typeface="Carlito"/>
              </a:rPr>
              <a:t>Bitwise Operation Instructions</a:t>
            </a:r>
            <a:endParaRPr b="0" i="0" sz="3200" u="none" cap="none" strike="noStrike"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3d4a897f4b_0_2250"/>
          <p:cNvSpPr txBox="1"/>
          <p:nvPr>
            <p:ph idx="4294967295" type="title"/>
          </p:nvPr>
        </p:nvSpPr>
        <p:spPr>
          <a:xfrm>
            <a:off x="555152" y="176025"/>
            <a:ext cx="24741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91" name="Google Shape;91;g23d4a897f4b_0_2250"/>
          <p:cNvSpPr txBox="1"/>
          <p:nvPr/>
        </p:nvSpPr>
        <p:spPr>
          <a:xfrm>
            <a:off x="508203" y="968541"/>
            <a:ext cx="4656600" cy="17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Logic Instructions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Shifts and Rotates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ARM Arithmetic Datapath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3d4a897f4b_0_2258"/>
          <p:cNvSpPr txBox="1"/>
          <p:nvPr>
            <p:ph idx="4294967295" type="title"/>
          </p:nvPr>
        </p:nvSpPr>
        <p:spPr>
          <a:xfrm>
            <a:off x="2597649" y="106750"/>
            <a:ext cx="47244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Logical Operators</a:t>
            </a:r>
            <a:endParaRPr/>
          </a:p>
        </p:txBody>
      </p:sp>
      <p:sp>
        <p:nvSpPr>
          <p:cNvPr id="97" name="Google Shape;97;g23d4a897f4b_0_2258"/>
          <p:cNvSpPr txBox="1"/>
          <p:nvPr/>
        </p:nvSpPr>
        <p:spPr>
          <a:xfrm>
            <a:off x="764540" y="1063709"/>
            <a:ext cx="8031600" cy="47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Basic logical operators: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9394" lvl="1" marL="746760" marR="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AND: outputs 1 only if both inputs are 1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OR: outputs 1 if at least one input is 1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XOR: outputs 1 if exactly one input is 1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FFCC00"/>
              </a:buClr>
              <a:buSzPts val="4150"/>
              <a:buFont typeface="Noto Sans Symbols"/>
              <a:buNone/>
            </a:pPr>
            <a:r>
              <a:t/>
            </a:r>
            <a:endParaRPr b="0" i="0" sz="415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 general, can define them to accept &gt;2 inputs,  but in the case of ARM assembly, both of these  accept exactly 2 inputs and produce 1 output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746125" marR="0" rtl="0" algn="just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Again, rigid syntax, simpler hardware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3d4a897f4b_0_2266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" name="Google Shape;103;g23d4a897f4b_0_2266"/>
          <p:cNvSpPr txBox="1"/>
          <p:nvPr>
            <p:ph idx="4294967295" type="title"/>
          </p:nvPr>
        </p:nvSpPr>
        <p:spPr>
          <a:xfrm>
            <a:off x="2635748" y="165300"/>
            <a:ext cx="49314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Logical Operators</a:t>
            </a:r>
            <a:endParaRPr/>
          </a:p>
        </p:txBody>
      </p:sp>
      <p:sp>
        <p:nvSpPr>
          <p:cNvPr id="104" name="Google Shape;104;g23d4a897f4b_0_2266"/>
          <p:cNvSpPr txBox="1"/>
          <p:nvPr/>
        </p:nvSpPr>
        <p:spPr>
          <a:xfrm>
            <a:off x="154950" y="1010150"/>
            <a:ext cx="89892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03200" lvl="0" marL="2152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Truth Table: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standard table listing all possible  combinations of inputs and resultant output for each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Truth Table for AND, OR and XOR, BIC (Bit Clear)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g23d4a897f4b_0_2266"/>
          <p:cNvSpPr txBox="1"/>
          <p:nvPr/>
        </p:nvSpPr>
        <p:spPr>
          <a:xfrm>
            <a:off x="827328" y="3243452"/>
            <a:ext cx="2852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	B	A </a:t>
            </a:r>
            <a:r>
              <a:rPr lang="en-US" sz="2800">
                <a:solidFill>
                  <a:srgbClr val="33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g23d4a897f4b_0_2266"/>
          <p:cNvSpPr txBox="1"/>
          <p:nvPr/>
        </p:nvSpPr>
        <p:spPr>
          <a:xfrm>
            <a:off x="3837009" y="3202940"/>
            <a:ext cx="11913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800">
                <a:solidFill>
                  <a:srgbClr val="33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g23d4a897f4b_0_2266"/>
          <p:cNvSpPr txBox="1"/>
          <p:nvPr/>
        </p:nvSpPr>
        <p:spPr>
          <a:xfrm>
            <a:off x="5529700" y="3243450"/>
            <a:ext cx="31458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800">
                <a:solidFill>
                  <a:srgbClr val="33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XOR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	A </a:t>
            </a:r>
            <a:r>
              <a:rPr lang="en-US" sz="2800">
                <a:solidFill>
                  <a:srgbClr val="33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BIC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8" name="Google Shape;108;g23d4a897f4b_0_2266"/>
          <p:cNvGrpSpPr/>
          <p:nvPr/>
        </p:nvGrpSpPr>
        <p:grpSpPr>
          <a:xfrm>
            <a:off x="662940" y="3645408"/>
            <a:ext cx="7742173" cy="18414"/>
            <a:chOff x="662940" y="3645408"/>
            <a:chExt cx="7742173" cy="18414"/>
          </a:xfrm>
        </p:grpSpPr>
        <p:sp>
          <p:nvSpPr>
            <p:cNvPr id="109" name="Google Shape;109;g23d4a897f4b_0_2266"/>
            <p:cNvSpPr/>
            <p:nvPr/>
          </p:nvSpPr>
          <p:spPr>
            <a:xfrm>
              <a:off x="662940" y="3645408"/>
              <a:ext cx="1905000" cy="18414"/>
            </a:xfrm>
            <a:custGeom>
              <a:rect b="b" l="l" r="r" t="t"/>
              <a:pathLst>
                <a:path extrusionOk="0" h="18414" w="1905000">
                  <a:moveTo>
                    <a:pt x="190500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905000" y="18288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" name="Google Shape;110;g23d4a897f4b_0_2266"/>
            <p:cNvSpPr/>
            <p:nvPr/>
          </p:nvSpPr>
          <p:spPr>
            <a:xfrm>
              <a:off x="2567940" y="3645408"/>
              <a:ext cx="768350" cy="18414"/>
            </a:xfrm>
            <a:custGeom>
              <a:rect b="b" l="l" r="r" t="t"/>
              <a:pathLst>
                <a:path extrusionOk="0" h="18414" w="768350">
                  <a:moveTo>
                    <a:pt x="768096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768096" y="18288"/>
                  </a:lnTo>
                  <a:lnTo>
                    <a:pt x="768096" y="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" name="Google Shape;111;g23d4a897f4b_0_2266"/>
            <p:cNvSpPr/>
            <p:nvPr/>
          </p:nvSpPr>
          <p:spPr>
            <a:xfrm>
              <a:off x="3336035" y="3645408"/>
              <a:ext cx="1120139" cy="18414"/>
            </a:xfrm>
            <a:custGeom>
              <a:rect b="b" l="l" r="r" t="t"/>
              <a:pathLst>
                <a:path extrusionOk="0" h="18414" w="1120139">
                  <a:moveTo>
                    <a:pt x="1120139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120139" y="18288"/>
                  </a:lnTo>
                  <a:lnTo>
                    <a:pt x="11201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" name="Google Shape;112;g23d4a897f4b_0_2266"/>
            <p:cNvSpPr/>
            <p:nvPr/>
          </p:nvSpPr>
          <p:spPr>
            <a:xfrm>
              <a:off x="4456175" y="3645408"/>
              <a:ext cx="492760" cy="18414"/>
            </a:xfrm>
            <a:custGeom>
              <a:rect b="b" l="l" r="r" t="t"/>
              <a:pathLst>
                <a:path extrusionOk="0" h="18414" w="492760">
                  <a:moveTo>
                    <a:pt x="492251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492251" y="18288"/>
                  </a:lnTo>
                  <a:lnTo>
                    <a:pt x="492251" y="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" name="Google Shape;113;g23d4a897f4b_0_2266"/>
            <p:cNvSpPr/>
            <p:nvPr/>
          </p:nvSpPr>
          <p:spPr>
            <a:xfrm>
              <a:off x="4948428" y="3645408"/>
              <a:ext cx="939164" cy="18414"/>
            </a:xfrm>
            <a:custGeom>
              <a:rect b="b" l="l" r="r" t="t"/>
              <a:pathLst>
                <a:path extrusionOk="0" h="18414" w="939164">
                  <a:moveTo>
                    <a:pt x="938784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938784" y="18288"/>
                  </a:lnTo>
                  <a:lnTo>
                    <a:pt x="9387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" name="Google Shape;114;g23d4a897f4b_0_2266"/>
            <p:cNvSpPr/>
            <p:nvPr/>
          </p:nvSpPr>
          <p:spPr>
            <a:xfrm>
              <a:off x="5887211" y="3645408"/>
              <a:ext cx="748665" cy="18414"/>
            </a:xfrm>
            <a:custGeom>
              <a:rect b="b" l="l" r="r" t="t"/>
              <a:pathLst>
                <a:path extrusionOk="0" h="18414" w="748665">
                  <a:moveTo>
                    <a:pt x="748284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748284" y="18288"/>
                  </a:lnTo>
                  <a:lnTo>
                    <a:pt x="748284" y="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" name="Google Shape;115;g23d4a897f4b_0_2266"/>
            <p:cNvSpPr/>
            <p:nvPr/>
          </p:nvSpPr>
          <p:spPr>
            <a:xfrm>
              <a:off x="6635495" y="3645408"/>
              <a:ext cx="852170" cy="18414"/>
            </a:xfrm>
            <a:custGeom>
              <a:rect b="b" l="l" r="r" t="t"/>
              <a:pathLst>
                <a:path extrusionOk="0" h="18414" w="852170">
                  <a:moveTo>
                    <a:pt x="851916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851916" y="18288"/>
                  </a:lnTo>
                  <a:lnTo>
                    <a:pt x="85191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" name="Google Shape;116;g23d4a897f4b_0_2266"/>
            <p:cNvSpPr/>
            <p:nvPr/>
          </p:nvSpPr>
          <p:spPr>
            <a:xfrm>
              <a:off x="7487411" y="3645408"/>
              <a:ext cx="591820" cy="18414"/>
            </a:xfrm>
            <a:custGeom>
              <a:rect b="b" l="l" r="r" t="t"/>
              <a:pathLst>
                <a:path extrusionOk="0" h="18414" w="591820">
                  <a:moveTo>
                    <a:pt x="591311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591311" y="18288"/>
                  </a:lnTo>
                  <a:lnTo>
                    <a:pt x="591311" y="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" name="Google Shape;117;g23d4a897f4b_0_2266"/>
            <p:cNvSpPr/>
            <p:nvPr/>
          </p:nvSpPr>
          <p:spPr>
            <a:xfrm>
              <a:off x="8078723" y="3645408"/>
              <a:ext cx="326390" cy="18414"/>
            </a:xfrm>
            <a:custGeom>
              <a:rect b="b" l="l" r="r" t="t"/>
              <a:pathLst>
                <a:path extrusionOk="0" h="18414" w="326390">
                  <a:moveTo>
                    <a:pt x="326135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326135" y="18288"/>
                  </a:lnTo>
                  <a:lnTo>
                    <a:pt x="3261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8" name="Google Shape;118;g23d4a897f4b_0_2266"/>
          <p:cNvSpPr txBox="1"/>
          <p:nvPr/>
        </p:nvSpPr>
        <p:spPr>
          <a:xfrm>
            <a:off x="841044" y="3669560"/>
            <a:ext cx="892800" cy="20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0	0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0	1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1	0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1	1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" name="Google Shape;119;g23d4a897f4b_0_2266"/>
          <p:cNvSpPr txBox="1"/>
          <p:nvPr/>
        </p:nvSpPr>
        <p:spPr>
          <a:xfrm>
            <a:off x="4499228" y="3603580"/>
            <a:ext cx="2400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54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" marR="0" rtl="0" algn="l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0" name="Google Shape;120;g23d4a897f4b_0_2266"/>
          <p:cNvSpPr txBox="1"/>
          <p:nvPr/>
        </p:nvSpPr>
        <p:spPr>
          <a:xfrm>
            <a:off x="2822575" y="3570503"/>
            <a:ext cx="238800" cy="21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3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1" name="Google Shape;121;g23d4a897f4b_0_2266"/>
          <p:cNvSpPr/>
          <p:nvPr/>
        </p:nvSpPr>
        <p:spPr>
          <a:xfrm>
            <a:off x="1628000" y="3020525"/>
            <a:ext cx="5609273" cy="2846070"/>
          </a:xfrm>
          <a:custGeom>
            <a:rect b="b" l="l" r="r" t="t"/>
            <a:pathLst>
              <a:path extrusionOk="0" h="2743200" w="4953000">
                <a:moveTo>
                  <a:pt x="1600200" y="0"/>
                </a:moveTo>
                <a:lnTo>
                  <a:pt x="1600200" y="2743200"/>
                </a:lnTo>
              </a:path>
              <a:path extrusionOk="0" h="2743200" w="4953000">
                <a:moveTo>
                  <a:pt x="0" y="0"/>
                </a:moveTo>
                <a:lnTo>
                  <a:pt x="0" y="2743200"/>
                </a:lnTo>
              </a:path>
              <a:path extrusionOk="0" h="2743200" w="4953000">
                <a:moveTo>
                  <a:pt x="3276600" y="0"/>
                </a:moveTo>
                <a:lnTo>
                  <a:pt x="3276600" y="2743200"/>
                </a:lnTo>
              </a:path>
              <a:path extrusionOk="0" h="2743200" w="4953000">
                <a:moveTo>
                  <a:pt x="4953000" y="0"/>
                </a:moveTo>
                <a:lnTo>
                  <a:pt x="4953000" y="274320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" name="Google Shape;122;g23d4a897f4b_0_2266"/>
          <p:cNvSpPr txBox="1"/>
          <p:nvPr/>
        </p:nvSpPr>
        <p:spPr>
          <a:xfrm>
            <a:off x="6064758" y="3618059"/>
            <a:ext cx="240000" cy="21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54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" marR="0" rtl="0" algn="l">
              <a:lnSpc>
                <a:spcPct val="100000"/>
              </a:lnSpc>
              <a:spcBef>
                <a:spcPts val="95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g23d4a897f4b_0_2266"/>
          <p:cNvSpPr txBox="1"/>
          <p:nvPr/>
        </p:nvSpPr>
        <p:spPr>
          <a:xfrm>
            <a:off x="7700009" y="3584857"/>
            <a:ext cx="240600" cy="21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7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970" marR="0" rtl="0" algn="l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3d4a897f4b_0_2294"/>
          <p:cNvSpPr txBox="1"/>
          <p:nvPr/>
        </p:nvSpPr>
        <p:spPr>
          <a:xfrm>
            <a:off x="535940" y="894334"/>
            <a:ext cx="83343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Note that </a:t>
            </a:r>
            <a:r>
              <a:rPr lang="en-US" sz="3600"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ing a bit with 0 produces a 0 at the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15265" marR="514350" rtl="0" algn="l">
              <a:lnSpc>
                <a:spcPct val="117777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output while </a:t>
            </a:r>
            <a:r>
              <a:rPr lang="en-US" sz="3600"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ing a bit with 1 produces the  original bit.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This can be used to create a </a:t>
            </a:r>
            <a:r>
              <a:rPr lang="en-US" sz="32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mask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9394" lvl="1" marL="746760" marR="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g23d4a897f4b_0_2294"/>
          <p:cNvSpPr txBox="1"/>
          <p:nvPr/>
        </p:nvSpPr>
        <p:spPr>
          <a:xfrm>
            <a:off x="2364994" y="3617744"/>
            <a:ext cx="39327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1011 0110 1010 0100 0011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0000 0000 0000 0000 0000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g23d4a897f4b_0_2294"/>
          <p:cNvSpPr txBox="1"/>
          <p:nvPr/>
        </p:nvSpPr>
        <p:spPr>
          <a:xfrm>
            <a:off x="6324600" y="3657600"/>
            <a:ext cx="2667000" cy="2144700"/>
          </a:xfrm>
          <a:prstGeom prst="rect">
            <a:avLst/>
          </a:prstGeom>
          <a:noFill/>
          <a:ln cap="flat" cmpd="sng" w="381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7775">
            <a:spAutoFit/>
          </a:bodyPr>
          <a:lstStyle/>
          <a:p>
            <a:pPr indent="0" lvl="0" marL="47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1101 1001 1010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" marR="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1111 1111 1111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4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7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1101 1001 1010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g23d4a897f4b_0_2294"/>
          <p:cNvSpPr txBox="1"/>
          <p:nvPr/>
        </p:nvSpPr>
        <p:spPr>
          <a:xfrm>
            <a:off x="1031544" y="4564871"/>
            <a:ext cx="5266200" cy="11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1750">
            <a:spAutoFit/>
          </a:bodyPr>
          <a:lstStyle/>
          <a:p>
            <a:pPr indent="-238759" lvl="0" marL="2508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result of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ing these: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45565" marR="0" rtl="0" algn="l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0000 0000 0000 0000 0000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g23d4a897f4b_0_2294"/>
          <p:cNvSpPr txBox="1"/>
          <p:nvPr>
            <p:ph idx="4294967295" type="title"/>
          </p:nvPr>
        </p:nvSpPr>
        <p:spPr>
          <a:xfrm>
            <a:off x="1615825" y="89400"/>
            <a:ext cx="65055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Uses for Logical Operators</a:t>
            </a:r>
            <a:endParaRPr/>
          </a:p>
        </p:txBody>
      </p:sp>
      <p:sp>
        <p:nvSpPr>
          <p:cNvPr id="133" name="Google Shape;133;g23d4a897f4b_0_2294"/>
          <p:cNvSpPr txBox="1"/>
          <p:nvPr/>
        </p:nvSpPr>
        <p:spPr>
          <a:xfrm>
            <a:off x="383540" y="4203319"/>
            <a:ext cx="1052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mask: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23d4a897f4b_0_2294"/>
          <p:cNvSpPr txBox="1"/>
          <p:nvPr/>
        </p:nvSpPr>
        <p:spPr>
          <a:xfrm>
            <a:off x="5337428" y="5907125"/>
            <a:ext cx="2871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mask last 12 bits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d4a897f4b_0_2307"/>
          <p:cNvSpPr txBox="1"/>
          <p:nvPr>
            <p:ph idx="4294967295" type="title"/>
          </p:nvPr>
        </p:nvSpPr>
        <p:spPr>
          <a:xfrm>
            <a:off x="1583951" y="89400"/>
            <a:ext cx="6846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2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Uses for Logical Operators</a:t>
            </a:r>
            <a:endParaRPr/>
          </a:p>
        </p:txBody>
      </p:sp>
      <p:sp>
        <p:nvSpPr>
          <p:cNvPr id="140" name="Google Shape;140;g23d4a897f4b_0_2307"/>
          <p:cNvSpPr txBox="1"/>
          <p:nvPr/>
        </p:nvSpPr>
        <p:spPr>
          <a:xfrm>
            <a:off x="764540" y="894334"/>
            <a:ext cx="7407300" cy="46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Similarly, note that </a:t>
            </a:r>
            <a:r>
              <a:rPr lang="en-US" sz="3600">
                <a:latin typeface="Courier New"/>
                <a:ea typeface="Courier New"/>
                <a:cs typeface="Courier New"/>
                <a:sym typeface="Courier New"/>
              </a:rPr>
              <a:t>OR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ing a bit with 1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15265" marR="5080" rtl="0" algn="l">
              <a:lnSpc>
                <a:spcPct val="117777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produces a 1 at the output while </a:t>
            </a:r>
            <a:r>
              <a:rPr lang="en-US" sz="3600">
                <a:latin typeface="Courier New"/>
                <a:ea typeface="Courier New"/>
                <a:cs typeface="Courier New"/>
                <a:sym typeface="Courier New"/>
              </a:rPr>
              <a:t>OR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ing a bit  with 0 produces the original bit.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413383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This can be used to force certain bits of a  string to 1s.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66675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For example, 0x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12345678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OR 0x0000FFFF  results in 0x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1234</a:t>
            </a:r>
            <a:r>
              <a:rPr b="0" i="0" lang="en-US" sz="2800" u="none" cap="none" strike="noStrik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FFFF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(e.g. the high-order 16  bits are untouched, while the low-order 16 bits  are forced to 1s).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3d4a897f4b_0_2315"/>
          <p:cNvSpPr txBox="1"/>
          <p:nvPr>
            <p:ph idx="4294967295" type="title"/>
          </p:nvPr>
        </p:nvSpPr>
        <p:spPr>
          <a:xfrm>
            <a:off x="1583951" y="89400"/>
            <a:ext cx="65352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2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Uses for Logical Operators</a:t>
            </a:r>
            <a:endParaRPr/>
          </a:p>
        </p:txBody>
      </p:sp>
      <p:sp>
        <p:nvSpPr>
          <p:cNvPr id="146" name="Google Shape;146;g23d4a897f4b_0_2315"/>
          <p:cNvSpPr txBox="1"/>
          <p:nvPr/>
        </p:nvSpPr>
        <p:spPr>
          <a:xfrm>
            <a:off x="764540" y="850188"/>
            <a:ext cx="7354500" cy="48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050">
            <a:spAutoFit/>
          </a:bodyPr>
          <a:lstStyle/>
          <a:p>
            <a:pPr indent="-203200" lvl="0" marL="215265" marR="508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Additionally, note that </a:t>
            </a:r>
            <a:r>
              <a:rPr lang="en-US" sz="3600">
                <a:latin typeface="Courier New"/>
                <a:ea typeface="Courier New"/>
                <a:cs typeface="Courier New"/>
                <a:sym typeface="Courier New"/>
              </a:rPr>
              <a:t>XOR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ing a bit with 1  produces flips the bit (0 -&gt; 1, 1 -&gt; 0) at the  output while </a:t>
            </a:r>
            <a:r>
              <a:rPr lang="en-US" sz="3600">
                <a:latin typeface="Courier New"/>
                <a:ea typeface="Courier New"/>
                <a:cs typeface="Courier New"/>
                <a:sym typeface="Courier New"/>
              </a:rPr>
              <a:t>XOR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ing a bit with 0 produces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15265" marR="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the original bit.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4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7E"/>
              </a:buClr>
              <a:buSzPts val="21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It tells whether two bits are unequal.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SzPts val="4050"/>
              <a:buFont typeface="Arial"/>
              <a:buNone/>
            </a:pPr>
            <a:r>
              <a:t/>
            </a:r>
            <a:endParaRPr sz="4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535" lvl="0" marL="355600" marR="46672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7E"/>
              </a:buClr>
              <a:buSzPts val="21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It is an optional bit-flipper (the deciding input  chooses whether to invert the data input).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3d4a897f4b_0_2323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2" name="Google Shape;152;g23d4a897f4b_0_2323"/>
          <p:cNvSpPr txBox="1"/>
          <p:nvPr>
            <p:ph idx="4294967295" type="title"/>
          </p:nvPr>
        </p:nvSpPr>
        <p:spPr>
          <a:xfrm>
            <a:off x="1583951" y="89400"/>
            <a:ext cx="66276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2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Uses for Logical Operators</a:t>
            </a:r>
            <a:endParaRPr/>
          </a:p>
        </p:txBody>
      </p:sp>
      <p:sp>
        <p:nvSpPr>
          <p:cNvPr id="153" name="Google Shape;153;g23d4a897f4b_0_2323"/>
          <p:cNvSpPr txBox="1"/>
          <p:nvPr/>
        </p:nvSpPr>
        <p:spPr>
          <a:xfrm>
            <a:off x="764540" y="894334"/>
            <a:ext cx="7543800" cy="46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03200" lvl="0" marL="2152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Finally, note that </a:t>
            </a:r>
            <a:r>
              <a:rPr lang="en-US" sz="3600">
                <a:latin typeface="Courier New"/>
                <a:ea typeface="Courier New"/>
                <a:cs typeface="Courier New"/>
                <a:sym typeface="Courier New"/>
              </a:rPr>
              <a:t>BIC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ing a bit with 1 resets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15265" marR="5080" rtl="0" algn="l">
              <a:lnSpc>
                <a:spcPct val="117777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the bit (sets to 0) at the output while </a:t>
            </a:r>
            <a:r>
              <a:rPr lang="en-US" sz="3600">
                <a:latin typeface="Courier New"/>
                <a:ea typeface="Courier New"/>
                <a:cs typeface="Courier New"/>
                <a:sym typeface="Courier New"/>
              </a:rPr>
              <a:t>BIC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ing  a bit with 0 produces the original bit.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550545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This can be used to force certain bits of a  string to 0s.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203834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For example, 0x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12345678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BIC 0x0000FFFF  results in 0x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1234</a:t>
            </a:r>
            <a:r>
              <a:rPr b="0" i="0" lang="en-US" sz="2800" u="none" cap="none" strike="noStrik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0000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(e.g. the high-order 16  bits are untouched, while the low-order 16 bits  are forced to 0s).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3d4a897f4b_0_2332"/>
          <p:cNvSpPr txBox="1"/>
          <p:nvPr>
            <p:ph idx="4294967295" type="title"/>
          </p:nvPr>
        </p:nvSpPr>
        <p:spPr>
          <a:xfrm>
            <a:off x="1160175" y="89400"/>
            <a:ext cx="76314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Bitwise Logic Instruction Syntax</a:t>
            </a:r>
            <a:endParaRPr/>
          </a:p>
        </p:txBody>
      </p:sp>
      <p:sp>
        <p:nvSpPr>
          <p:cNvPr id="159" name="Google Shape;159;g23d4a897f4b_0_2332"/>
          <p:cNvSpPr txBox="1"/>
          <p:nvPr/>
        </p:nvSpPr>
        <p:spPr>
          <a:xfrm>
            <a:off x="612140" y="910875"/>
            <a:ext cx="6963300" cy="53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237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Syntax of Instructions: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1	2, 3, 4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where: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4174" lvl="1" marL="891539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Times New Roman"/>
              <a:buAutoNum type="arabicParenR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instruction by name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4174" lvl="1" marL="891539" marR="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SzPts val="2800"/>
              <a:buFont typeface="Times New Roman"/>
              <a:buAutoNum type="arabicParenR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operand getting result (</a:t>
            </a:r>
            <a:r>
              <a:rPr b="0" i="0" lang="en-US" sz="2800" u="none" cap="none" strike="noStrike">
                <a:latin typeface="Arial Black"/>
                <a:ea typeface="Arial Black"/>
                <a:cs typeface="Arial Black"/>
                <a:sym typeface="Arial Black"/>
              </a:rPr>
              <a:t>“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destination</a:t>
            </a:r>
            <a:r>
              <a:rPr b="0" i="0" lang="en-US" sz="2800" u="none" cap="none" strike="noStrike">
                <a:latin typeface="Arial Black"/>
                <a:ea typeface="Arial Black"/>
                <a:cs typeface="Arial Black"/>
                <a:sym typeface="Arial Black"/>
              </a:rPr>
              <a:t>”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4174" lvl="1" marL="891539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Times New Roman"/>
              <a:buAutoNum type="arabicParenR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1st operand for operation (</a:t>
            </a:r>
            <a:r>
              <a:rPr b="0" i="0" lang="en-US" sz="2800" u="none" cap="none" strike="noStrike">
                <a:latin typeface="Arial Black"/>
                <a:ea typeface="Arial Black"/>
                <a:cs typeface="Arial Black"/>
                <a:sym typeface="Arial Black"/>
              </a:rPr>
              <a:t>“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source1</a:t>
            </a:r>
            <a:r>
              <a:rPr b="0" i="0" lang="en-US" sz="2800" u="none" cap="none" strike="noStrike">
                <a:latin typeface="Arial Black"/>
                <a:ea typeface="Arial Black"/>
                <a:cs typeface="Arial Black"/>
                <a:sym typeface="Arial Black"/>
              </a:rPr>
              <a:t>”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4174" lvl="1" marL="891539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Times New Roman"/>
              <a:buAutoNum type="arabicParenR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2nd operand for operation (</a:t>
            </a:r>
            <a:r>
              <a:rPr b="0" i="0" lang="en-US" sz="2800" u="none" cap="none" strike="noStrike">
                <a:latin typeface="Arial Black"/>
                <a:ea typeface="Arial Black"/>
                <a:cs typeface="Arial Black"/>
                <a:sym typeface="Arial Black"/>
              </a:rPr>
              <a:t>“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source2</a:t>
            </a:r>
            <a:r>
              <a:rPr b="0" i="0" lang="en-US" sz="2800" u="none" cap="none" strike="noStrike">
                <a:latin typeface="Arial Black"/>
                <a:ea typeface="Arial Black"/>
                <a:cs typeface="Arial Black"/>
                <a:sym typeface="Arial Black"/>
              </a:rPr>
              <a:t>”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Syntax is rigid (for the most part):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0" marL="746125" marR="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1 operator, 3 operands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9394" lvl="0" marL="74676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Why? </a:t>
            </a:r>
            <a:r>
              <a:rPr lang="en-US" sz="28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Hardware simple via regularity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3d4a897f4b_0_2340"/>
          <p:cNvSpPr txBox="1"/>
          <p:nvPr>
            <p:ph idx="4294967295" type="title"/>
          </p:nvPr>
        </p:nvSpPr>
        <p:spPr>
          <a:xfrm>
            <a:off x="1833750" y="165300"/>
            <a:ext cx="59562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Bitwise Logic Operations</a:t>
            </a:r>
            <a:endParaRPr/>
          </a:p>
        </p:txBody>
      </p:sp>
      <p:sp>
        <p:nvSpPr>
          <p:cNvPr id="165" name="Google Shape;165;g23d4a897f4b_0_2340"/>
          <p:cNvSpPr txBox="1"/>
          <p:nvPr/>
        </p:nvSpPr>
        <p:spPr>
          <a:xfrm>
            <a:off x="459740" y="1088138"/>
            <a:ext cx="7439700" cy="3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76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Bitwise AND in Assembly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560070" rtl="0" algn="l">
              <a:lnSpc>
                <a:spcPct val="143892"/>
              </a:lnSpc>
              <a:spcBef>
                <a:spcPts val="8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Example:	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AND r0,r1,r2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(in ARM)  Equivalent to: 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a = b &amp; c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(in C)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698500" marR="508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where ARM registers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r0,r1,r2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are associated  with C variables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a, b, c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Bitwise OR in Assembly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6" name="Google Shape;166;g23d4a897f4b_0_2340"/>
          <p:cNvGraphicFramePr/>
          <p:nvPr/>
        </p:nvGraphicFramePr>
        <p:xfrm>
          <a:off x="936294" y="43160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{D02177E2-DB5D-4F04-B57C-D3C27F7BF55F}</a:tableStyleId>
              </a:tblPr>
              <a:tblGrid>
                <a:gridCol w="3283875"/>
                <a:gridCol w="958125"/>
                <a:gridCol w="981575"/>
                <a:gridCol w="2216125"/>
              </a:tblGrid>
              <a:tr h="892300">
                <a:tc>
                  <a:txBody>
                    <a:bodyPr/>
                    <a:lstStyle/>
                    <a:p>
                      <a:pPr indent="-238759" lvl="0" marL="238759" marR="97155" rtl="0" algn="r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2000"/>
                        <a:buFont typeface="Noto Sans Symbols"/>
                        <a:buChar char="❖"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Example:	</a:t>
                      </a: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ORR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68910" marR="0" rtl="0" algn="l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r3,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8255" marR="0" rtl="0" algn="ctr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r4,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85090" marR="0" rtl="0" algn="l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r5 </a:t>
                      </a: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(in ARM)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467525">
                <a:tc>
                  <a:txBody>
                    <a:bodyPr/>
                    <a:lstStyle/>
                    <a:p>
                      <a:pPr indent="0" lvl="0" marL="0" marR="10033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Equivalent to: </a:t>
                      </a: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 =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1047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 |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273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 </a:t>
                      </a: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(in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450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C)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75" marB="0" marR="0" marL="0"/>
                </a:tc>
              </a:tr>
            </a:tbl>
          </a:graphicData>
        </a:graphic>
      </p:graphicFrame>
      <p:sp>
        <p:nvSpPr>
          <p:cNvPr id="167" name="Google Shape;167;g23d4a897f4b_0_2340"/>
          <p:cNvSpPr txBox="1"/>
          <p:nvPr/>
        </p:nvSpPr>
        <p:spPr>
          <a:xfrm>
            <a:off x="794400" y="5675825"/>
            <a:ext cx="74397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90500" lvl="0" marL="203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where ARM registers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r3,r4,r5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are associated  with C variables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d, e, f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3d4a897f4b_0_2350"/>
          <p:cNvSpPr txBox="1"/>
          <p:nvPr>
            <p:ph idx="4294967295" type="title"/>
          </p:nvPr>
        </p:nvSpPr>
        <p:spPr>
          <a:xfrm>
            <a:off x="1833750" y="165300"/>
            <a:ext cx="59007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Bitwise Logic Operations</a:t>
            </a:r>
            <a:endParaRPr/>
          </a:p>
        </p:txBody>
      </p:sp>
      <p:sp>
        <p:nvSpPr>
          <p:cNvPr id="173" name="Google Shape;173;g23d4a897f4b_0_2350"/>
          <p:cNvSpPr txBox="1"/>
          <p:nvPr/>
        </p:nvSpPr>
        <p:spPr>
          <a:xfrm>
            <a:off x="459440" y="905038"/>
            <a:ext cx="7439700" cy="3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7625">
            <a:spAutoFit/>
          </a:bodyPr>
          <a:lstStyle/>
          <a:p>
            <a:pPr indent="-272415" lvl="0" marL="2844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Bitwise XOR in Assembly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1" marL="698500" marR="560070" rtl="0" algn="l">
              <a:lnSpc>
                <a:spcPct val="143892"/>
              </a:lnSpc>
              <a:spcBef>
                <a:spcPts val="85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Example:	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EOR r0,r1,r2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(in ARM)  Equivalent to: </a:t>
            </a:r>
            <a:r>
              <a:rPr b="0" i="0" lang="en-US" sz="2800" u="none" cap="none" strike="noStrike">
                <a:latin typeface="Courier New"/>
                <a:ea typeface="Courier New"/>
                <a:cs typeface="Courier New"/>
                <a:sym typeface="Courier New"/>
              </a:rPr>
              <a:t>a = b ^ c 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(in C)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698500" marR="508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where ARM registers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r0,r1,r2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are associated  with C variables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a, b, c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2415" lvl="0" marL="284480" marR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rgbClr val="00007E"/>
              </a:buClr>
              <a:buSzPts val="23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Bitwise Clear in Assembly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4" name="Google Shape;174;g23d4a897f4b_0_2350"/>
          <p:cNvGraphicFramePr/>
          <p:nvPr/>
        </p:nvGraphicFramePr>
        <p:xfrm>
          <a:off x="1000144" y="42000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{D02177E2-DB5D-4F04-B57C-D3C27F7BF55F}</a:tableStyleId>
              </a:tblPr>
              <a:tblGrid>
                <a:gridCol w="3392125"/>
                <a:gridCol w="989700"/>
                <a:gridCol w="1074450"/>
                <a:gridCol w="2229375"/>
              </a:tblGrid>
              <a:tr h="603975">
                <a:tc>
                  <a:txBody>
                    <a:bodyPr/>
                    <a:lstStyle/>
                    <a:p>
                      <a:pPr indent="-238759" lvl="0" marL="238759" marR="97155" rtl="0" algn="r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2000"/>
                        <a:buFont typeface="Noto Sans Symbols"/>
                        <a:buChar char="❖"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Example:	</a:t>
                      </a: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BIC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68910" marR="0" rtl="0" algn="l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r3,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35890" marR="0" rtl="0" algn="l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r4,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31115" marR="0" rtl="0" algn="l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r5 </a:t>
                      </a: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(in ARM)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384200">
                <a:tc>
                  <a:txBody>
                    <a:bodyPr/>
                    <a:lstStyle/>
                    <a:p>
                      <a:pPr indent="0" lvl="0" marL="0" marR="10033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Equivalent to: </a:t>
                      </a: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 =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1047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 &amp;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(!f)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1447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(in C)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75" marB="0" marR="0" marL="0"/>
                </a:tc>
              </a:tr>
            </a:tbl>
          </a:graphicData>
        </a:graphic>
      </p:graphicFrame>
      <p:sp>
        <p:nvSpPr>
          <p:cNvPr id="175" name="Google Shape;175;g23d4a897f4b_0_2350"/>
          <p:cNvSpPr txBox="1"/>
          <p:nvPr/>
        </p:nvSpPr>
        <p:spPr>
          <a:xfrm>
            <a:off x="955344" y="5288991"/>
            <a:ext cx="69438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90500" lvl="0" marL="203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where ARM registers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r3,r4,r5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are associated  with C variables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d, e, f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3d4a897f4b_0_2360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1" name="Google Shape;181;g23d4a897f4b_0_2360"/>
          <p:cNvSpPr txBox="1"/>
          <p:nvPr>
            <p:ph idx="4294967295" type="title"/>
          </p:nvPr>
        </p:nvSpPr>
        <p:spPr>
          <a:xfrm>
            <a:off x="1858124" y="165300"/>
            <a:ext cx="60570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Assignment Instructions</a:t>
            </a:r>
            <a:endParaRPr/>
          </a:p>
        </p:txBody>
      </p:sp>
      <p:sp>
        <p:nvSpPr>
          <p:cNvPr id="182" name="Google Shape;182;g23d4a897f4b_0_2360"/>
          <p:cNvSpPr txBox="1"/>
          <p:nvPr/>
        </p:nvSpPr>
        <p:spPr>
          <a:xfrm>
            <a:off x="307340" y="1162557"/>
            <a:ext cx="44589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4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Assignment in Assembly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3" name="Google Shape;183;g23d4a897f4b_0_2360"/>
          <p:cNvGraphicFramePr/>
          <p:nvPr/>
        </p:nvGraphicFramePr>
        <p:xfrm>
          <a:off x="783590" y="1767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{D02177E2-DB5D-4F04-B57C-D3C27F7BF55F}</a:tableStyleId>
              </a:tblPr>
              <a:tblGrid>
                <a:gridCol w="2709550"/>
                <a:gridCol w="1230625"/>
                <a:gridCol w="1617975"/>
                <a:gridCol w="1822450"/>
              </a:tblGrid>
              <a:tr h="467875">
                <a:tc>
                  <a:txBody>
                    <a:bodyPr/>
                    <a:lstStyle/>
                    <a:p>
                      <a:pPr indent="-238759" lvl="0" marL="269875" marR="0" rtl="0" algn="l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2000"/>
                        <a:buFont typeface="Noto Sans Symbols"/>
                        <a:buChar char="❖"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Example: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97155" rtl="0" algn="r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MOV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69545" marR="0" rtl="0" algn="l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r0,r1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381000" marR="0" rtl="0" algn="l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(in ARM)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467525">
                <a:tc>
                  <a:txBody>
                    <a:bodyPr/>
                    <a:lstStyle/>
                    <a:p>
                      <a:pPr indent="0" lvl="0" marL="2222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Equivalent to: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0" marR="10033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=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1047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381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(in C)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75" marB="0" marR="0" marL="0"/>
                </a:tc>
              </a:tr>
            </a:tbl>
          </a:graphicData>
        </a:graphic>
      </p:graphicFrame>
      <p:sp>
        <p:nvSpPr>
          <p:cNvPr id="184" name="Google Shape;184;g23d4a897f4b_0_2360"/>
          <p:cNvSpPr txBox="1"/>
          <p:nvPr/>
        </p:nvSpPr>
        <p:spPr>
          <a:xfrm>
            <a:off x="802640" y="2740279"/>
            <a:ext cx="67119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91135" lvl="0" marL="203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where ARM registers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are associated with C  variables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85" name="Google Shape;185;g23d4a897f4b_0_2360"/>
          <p:cNvGraphicFramePr/>
          <p:nvPr/>
        </p:nvGraphicFramePr>
        <p:xfrm>
          <a:off x="783590" y="42428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{D02177E2-DB5D-4F04-B57C-D3C27F7BF55F}</a:tableStyleId>
              </a:tblPr>
              <a:tblGrid>
                <a:gridCol w="3023225"/>
                <a:gridCol w="948050"/>
                <a:gridCol w="1691650"/>
                <a:gridCol w="1715125"/>
              </a:tblGrid>
              <a:tr h="467875">
                <a:tc>
                  <a:txBody>
                    <a:bodyPr/>
                    <a:lstStyle/>
                    <a:p>
                      <a:pPr indent="-238759" lvl="0" marL="269875" marR="0" rtl="0" algn="l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CC00"/>
                        </a:buClr>
                        <a:buSzPts val="2000"/>
                        <a:buFont typeface="Noto Sans Symbols"/>
                        <a:buChar char="❖"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Example: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70815" marR="0" rtl="0" algn="l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MOV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37160" marR="0" rtl="0" algn="l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r0,#10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9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(in ARM)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467525">
                <a:tc>
                  <a:txBody>
                    <a:bodyPr/>
                    <a:lstStyle/>
                    <a:p>
                      <a:pPr indent="0" lvl="0" marL="2222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Equivalent to: </a:t>
                      </a: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 =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sz="2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74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(in C)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75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3d4a897f4b_0_2372"/>
          <p:cNvSpPr txBox="1"/>
          <p:nvPr>
            <p:ph idx="4294967295" type="title"/>
          </p:nvPr>
        </p:nvSpPr>
        <p:spPr>
          <a:xfrm>
            <a:off x="1858123" y="165300"/>
            <a:ext cx="65211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Assignment Instructions</a:t>
            </a:r>
            <a:endParaRPr/>
          </a:p>
        </p:txBody>
      </p:sp>
      <p:sp>
        <p:nvSpPr>
          <p:cNvPr id="191" name="Google Shape;191;g23d4a897f4b_0_2372"/>
          <p:cNvSpPr txBox="1"/>
          <p:nvPr/>
        </p:nvSpPr>
        <p:spPr>
          <a:xfrm>
            <a:off x="307340" y="1162557"/>
            <a:ext cx="75825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4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MVN – Move Negative – moves one  complement of the operand into the register.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4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Assignment in Assembly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g23d4a897f4b_0_2372"/>
          <p:cNvSpPr txBox="1"/>
          <p:nvPr/>
        </p:nvSpPr>
        <p:spPr>
          <a:xfrm>
            <a:off x="802640" y="2702839"/>
            <a:ext cx="22182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238759" lvl="0" marL="2508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0320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Equivalent to: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g23d4a897f4b_0_2372"/>
          <p:cNvSpPr txBox="1"/>
          <p:nvPr/>
        </p:nvSpPr>
        <p:spPr>
          <a:xfrm>
            <a:off x="3965575" y="2702839"/>
            <a:ext cx="2007300" cy="9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MVN r0,#0   a = -1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4" name="Google Shape;194;g23d4a897f4b_0_2372"/>
          <p:cNvSpPr txBox="1"/>
          <p:nvPr/>
        </p:nvSpPr>
        <p:spPr>
          <a:xfrm>
            <a:off x="6709409" y="2702839"/>
            <a:ext cx="14346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(in ARM)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(in C)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g23d4a897f4b_0_2372"/>
          <p:cNvSpPr txBox="1"/>
          <p:nvPr/>
        </p:nvSpPr>
        <p:spPr>
          <a:xfrm>
            <a:off x="802640" y="3813428"/>
            <a:ext cx="6711900" cy="13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91135" lvl="0" marL="203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where ARM registers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r0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are associated with C  variables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Since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~0x00000000 == 0xFFFFFFFF</a:t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3d4a897f4b_0_2384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1" name="Google Shape;201;g23d4a897f4b_0_2384"/>
          <p:cNvSpPr txBox="1"/>
          <p:nvPr>
            <p:ph idx="4294967295" type="title"/>
          </p:nvPr>
        </p:nvSpPr>
        <p:spPr>
          <a:xfrm>
            <a:off x="2556498" y="165300"/>
            <a:ext cx="50235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Shifts and Rotates</a:t>
            </a:r>
            <a:endParaRPr/>
          </a:p>
        </p:txBody>
      </p:sp>
      <p:sp>
        <p:nvSpPr>
          <p:cNvPr id="202" name="Google Shape;202;g23d4a897f4b_0_2384"/>
          <p:cNvSpPr txBox="1"/>
          <p:nvPr/>
        </p:nvSpPr>
        <p:spPr>
          <a:xfrm>
            <a:off x="281950" y="1142750"/>
            <a:ext cx="8397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81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100"/>
              <a:buFont typeface="Noto Sans Symbols"/>
              <a:buChar char="❖"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LSL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– logical shift left by n bits – multiplication by 2</a:t>
            </a:r>
            <a:r>
              <a:rPr baseline="30000" lang="en-US" sz="2775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baseline="30000" sz="277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g23d4a897f4b_0_2384"/>
          <p:cNvSpPr txBox="1"/>
          <p:nvPr/>
        </p:nvSpPr>
        <p:spPr>
          <a:xfrm>
            <a:off x="281940" y="2386711"/>
            <a:ext cx="8519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81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100"/>
              <a:buFont typeface="Noto Sans Symbols"/>
              <a:buChar char="❖"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LSR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–logical shift right by n bits–unsigned division by 2</a:t>
            </a:r>
            <a:r>
              <a:rPr baseline="30000" lang="en-US" sz="2775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baseline="30000" sz="277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g23d4a897f4b_0_2384"/>
          <p:cNvSpPr txBox="1"/>
          <p:nvPr/>
        </p:nvSpPr>
        <p:spPr>
          <a:xfrm>
            <a:off x="288390" y="3422448"/>
            <a:ext cx="8138100" cy="8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68300" marR="1778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100"/>
              <a:buFont typeface="Noto Sans Symbols"/>
              <a:buChar char="❖"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ASR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– arithmetic shift right by n bits – signed division  by 2</a:t>
            </a:r>
            <a:r>
              <a:rPr baseline="30000" lang="en-US" sz="2775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baseline="30000" sz="277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g23d4a897f4b_0_2384"/>
          <p:cNvSpPr txBox="1"/>
          <p:nvPr/>
        </p:nvSpPr>
        <p:spPr>
          <a:xfrm>
            <a:off x="307340" y="4959858"/>
            <a:ext cx="63156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100"/>
              <a:buFont typeface="Noto Sans Symbols"/>
              <a:buChar char="❖"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ROR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– rotate right by n bits – 32 bit rotate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6" name="Google Shape;206;g23d4a897f4b_0_2384"/>
          <p:cNvGraphicFramePr/>
          <p:nvPr/>
        </p:nvGraphicFramePr>
        <p:xfrm>
          <a:off x="2408301" y="1822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{D02177E2-DB5D-4F04-B57C-D3C27F7BF55F}</a:tableStyleId>
              </a:tblPr>
              <a:tblGrid>
                <a:gridCol w="381000"/>
                <a:gridCol w="381000"/>
                <a:gridCol w="381000"/>
                <a:gridCol w="1143000"/>
                <a:gridCol w="381000"/>
                <a:gridCol w="381000"/>
                <a:gridCol w="381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…</a:t>
                      </a:r>
                      <a:endParaRPr sz="18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7" name="Google Shape;207;g23d4a897f4b_0_2384"/>
          <p:cNvSpPr txBox="1"/>
          <p:nvPr/>
        </p:nvSpPr>
        <p:spPr>
          <a:xfrm>
            <a:off x="6380734" y="1785620"/>
            <a:ext cx="168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8" name="Google Shape;208;g23d4a897f4b_0_2384"/>
          <p:cNvSpPr/>
          <p:nvPr/>
        </p:nvSpPr>
        <p:spPr>
          <a:xfrm>
            <a:off x="5843523" y="1965198"/>
            <a:ext cx="457835" cy="103505"/>
          </a:xfrm>
          <a:custGeom>
            <a:rect b="b" l="l" r="r" t="t"/>
            <a:pathLst>
              <a:path extrusionOk="0" h="103505" w="457835">
                <a:moveTo>
                  <a:pt x="87249" y="0"/>
                </a:moveTo>
                <a:lnTo>
                  <a:pt x="84200" y="1777"/>
                </a:lnTo>
                <a:lnTo>
                  <a:pt x="0" y="54101"/>
                </a:lnTo>
                <a:lnTo>
                  <a:pt x="86995" y="101600"/>
                </a:lnTo>
                <a:lnTo>
                  <a:pt x="90042" y="103377"/>
                </a:lnTo>
                <a:lnTo>
                  <a:pt x="93979" y="102235"/>
                </a:lnTo>
                <a:lnTo>
                  <a:pt x="95630" y="99060"/>
                </a:lnTo>
                <a:lnTo>
                  <a:pt x="97281" y="96012"/>
                </a:lnTo>
                <a:lnTo>
                  <a:pt x="96138" y="92201"/>
                </a:lnTo>
                <a:lnTo>
                  <a:pt x="37423" y="60071"/>
                </a:lnTo>
                <a:lnTo>
                  <a:pt x="12826" y="60071"/>
                </a:lnTo>
                <a:lnTo>
                  <a:pt x="12446" y="47371"/>
                </a:lnTo>
                <a:lnTo>
                  <a:pt x="36040" y="46717"/>
                </a:lnTo>
                <a:lnTo>
                  <a:pt x="90931" y="12573"/>
                </a:lnTo>
                <a:lnTo>
                  <a:pt x="93852" y="10794"/>
                </a:lnTo>
                <a:lnTo>
                  <a:pt x="94868" y="6857"/>
                </a:lnTo>
                <a:lnTo>
                  <a:pt x="92963" y="3810"/>
                </a:lnTo>
                <a:lnTo>
                  <a:pt x="91059" y="888"/>
                </a:lnTo>
                <a:lnTo>
                  <a:pt x="87249" y="0"/>
                </a:lnTo>
                <a:close/>
              </a:path>
              <a:path extrusionOk="0" h="103505" w="457835">
                <a:moveTo>
                  <a:pt x="36040" y="46717"/>
                </a:moveTo>
                <a:lnTo>
                  <a:pt x="12446" y="47371"/>
                </a:lnTo>
                <a:lnTo>
                  <a:pt x="12826" y="60071"/>
                </a:lnTo>
                <a:lnTo>
                  <a:pt x="36239" y="59422"/>
                </a:lnTo>
                <a:lnTo>
                  <a:pt x="35800" y="59181"/>
                </a:lnTo>
                <a:lnTo>
                  <a:pt x="16001" y="59181"/>
                </a:lnTo>
                <a:lnTo>
                  <a:pt x="15621" y="48132"/>
                </a:lnTo>
                <a:lnTo>
                  <a:pt x="33764" y="48132"/>
                </a:lnTo>
                <a:lnTo>
                  <a:pt x="36040" y="46717"/>
                </a:lnTo>
                <a:close/>
              </a:path>
              <a:path extrusionOk="0" h="103505" w="457835">
                <a:moveTo>
                  <a:pt x="36239" y="59422"/>
                </a:moveTo>
                <a:lnTo>
                  <a:pt x="12826" y="60071"/>
                </a:lnTo>
                <a:lnTo>
                  <a:pt x="37423" y="60071"/>
                </a:lnTo>
                <a:lnTo>
                  <a:pt x="36239" y="59422"/>
                </a:lnTo>
                <a:close/>
              </a:path>
              <a:path extrusionOk="0" h="103505" w="457835">
                <a:moveTo>
                  <a:pt x="457073" y="35051"/>
                </a:moveTo>
                <a:lnTo>
                  <a:pt x="36040" y="46717"/>
                </a:lnTo>
                <a:lnTo>
                  <a:pt x="25270" y="53416"/>
                </a:lnTo>
                <a:lnTo>
                  <a:pt x="36239" y="59422"/>
                </a:lnTo>
                <a:lnTo>
                  <a:pt x="457453" y="47751"/>
                </a:lnTo>
                <a:lnTo>
                  <a:pt x="457073" y="35051"/>
                </a:lnTo>
                <a:close/>
              </a:path>
              <a:path extrusionOk="0" h="103505" w="457835">
                <a:moveTo>
                  <a:pt x="15621" y="48132"/>
                </a:moveTo>
                <a:lnTo>
                  <a:pt x="16001" y="59181"/>
                </a:lnTo>
                <a:lnTo>
                  <a:pt x="25270" y="53416"/>
                </a:lnTo>
                <a:lnTo>
                  <a:pt x="15621" y="48132"/>
                </a:lnTo>
                <a:close/>
              </a:path>
              <a:path extrusionOk="0" h="103505" w="457835">
                <a:moveTo>
                  <a:pt x="25270" y="53416"/>
                </a:moveTo>
                <a:lnTo>
                  <a:pt x="16001" y="59181"/>
                </a:lnTo>
                <a:lnTo>
                  <a:pt x="35800" y="59181"/>
                </a:lnTo>
                <a:lnTo>
                  <a:pt x="25270" y="53416"/>
                </a:lnTo>
                <a:close/>
              </a:path>
              <a:path extrusionOk="0" h="103505" w="457835">
                <a:moveTo>
                  <a:pt x="33764" y="48132"/>
                </a:moveTo>
                <a:lnTo>
                  <a:pt x="15621" y="48132"/>
                </a:lnTo>
                <a:lnTo>
                  <a:pt x="25270" y="53416"/>
                </a:lnTo>
                <a:lnTo>
                  <a:pt x="33764" y="481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9" name="Google Shape;209;g23d4a897f4b_0_2384"/>
          <p:cNvSpPr/>
          <p:nvPr/>
        </p:nvSpPr>
        <p:spPr>
          <a:xfrm>
            <a:off x="1576450" y="1828800"/>
            <a:ext cx="381000" cy="381000"/>
          </a:xfrm>
          <a:custGeom>
            <a:rect b="b" l="l" r="r" t="t"/>
            <a:pathLst>
              <a:path extrusionOk="0" h="381000" w="381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0" name="Google Shape;210;g23d4a897f4b_0_2384"/>
          <p:cNvSpPr txBox="1"/>
          <p:nvPr/>
        </p:nvSpPr>
        <p:spPr>
          <a:xfrm>
            <a:off x="1655445" y="1851482"/>
            <a:ext cx="170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C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1" name="Google Shape;211;g23d4a897f4b_0_2384"/>
          <p:cNvSpPr/>
          <p:nvPr/>
        </p:nvSpPr>
        <p:spPr>
          <a:xfrm>
            <a:off x="1957323" y="1967610"/>
            <a:ext cx="457200" cy="103505"/>
          </a:xfrm>
          <a:custGeom>
            <a:rect b="b" l="l" r="r" t="t"/>
            <a:pathLst>
              <a:path extrusionOk="0" h="103505" w="457200">
                <a:moveTo>
                  <a:pt x="88645" y="0"/>
                </a:moveTo>
                <a:lnTo>
                  <a:pt x="0" y="51688"/>
                </a:lnTo>
                <a:lnTo>
                  <a:pt x="88645" y="103377"/>
                </a:lnTo>
                <a:lnTo>
                  <a:pt x="92582" y="102362"/>
                </a:lnTo>
                <a:lnTo>
                  <a:pt x="96138" y="96265"/>
                </a:lnTo>
                <a:lnTo>
                  <a:pt x="95123" y="92455"/>
                </a:lnTo>
                <a:lnTo>
                  <a:pt x="36122" y="58038"/>
                </a:lnTo>
                <a:lnTo>
                  <a:pt x="12573" y="58038"/>
                </a:lnTo>
                <a:lnTo>
                  <a:pt x="12573" y="45338"/>
                </a:lnTo>
                <a:lnTo>
                  <a:pt x="36122" y="45338"/>
                </a:lnTo>
                <a:lnTo>
                  <a:pt x="95123" y="10922"/>
                </a:lnTo>
                <a:lnTo>
                  <a:pt x="96138" y="7112"/>
                </a:lnTo>
                <a:lnTo>
                  <a:pt x="92582" y="1015"/>
                </a:lnTo>
                <a:lnTo>
                  <a:pt x="88645" y="0"/>
                </a:lnTo>
                <a:close/>
              </a:path>
              <a:path extrusionOk="0" h="103505" w="457200">
                <a:moveTo>
                  <a:pt x="36122" y="45338"/>
                </a:moveTo>
                <a:lnTo>
                  <a:pt x="12573" y="45338"/>
                </a:lnTo>
                <a:lnTo>
                  <a:pt x="12573" y="58038"/>
                </a:lnTo>
                <a:lnTo>
                  <a:pt x="36122" y="58038"/>
                </a:lnTo>
                <a:lnTo>
                  <a:pt x="34598" y="57150"/>
                </a:lnTo>
                <a:lnTo>
                  <a:pt x="15875" y="57150"/>
                </a:lnTo>
                <a:lnTo>
                  <a:pt x="15875" y="46227"/>
                </a:lnTo>
                <a:lnTo>
                  <a:pt x="34598" y="46227"/>
                </a:lnTo>
                <a:lnTo>
                  <a:pt x="36122" y="45338"/>
                </a:lnTo>
                <a:close/>
              </a:path>
              <a:path extrusionOk="0" h="103505" w="457200">
                <a:moveTo>
                  <a:pt x="457200" y="45338"/>
                </a:moveTo>
                <a:lnTo>
                  <a:pt x="36122" y="45338"/>
                </a:lnTo>
                <a:lnTo>
                  <a:pt x="25236" y="51688"/>
                </a:lnTo>
                <a:lnTo>
                  <a:pt x="36122" y="58038"/>
                </a:lnTo>
                <a:lnTo>
                  <a:pt x="457200" y="58038"/>
                </a:lnTo>
                <a:lnTo>
                  <a:pt x="457200" y="45338"/>
                </a:lnTo>
                <a:close/>
              </a:path>
              <a:path extrusionOk="0" h="103505" w="457200">
                <a:moveTo>
                  <a:pt x="15875" y="46227"/>
                </a:moveTo>
                <a:lnTo>
                  <a:pt x="15875" y="57150"/>
                </a:lnTo>
                <a:lnTo>
                  <a:pt x="25236" y="51688"/>
                </a:lnTo>
                <a:lnTo>
                  <a:pt x="15875" y="46227"/>
                </a:lnTo>
                <a:close/>
              </a:path>
              <a:path extrusionOk="0" h="103505" w="457200">
                <a:moveTo>
                  <a:pt x="25236" y="51688"/>
                </a:moveTo>
                <a:lnTo>
                  <a:pt x="15875" y="57150"/>
                </a:lnTo>
                <a:lnTo>
                  <a:pt x="34598" y="57150"/>
                </a:lnTo>
                <a:lnTo>
                  <a:pt x="25236" y="51688"/>
                </a:lnTo>
                <a:close/>
              </a:path>
              <a:path extrusionOk="0" h="103505" w="457200">
                <a:moveTo>
                  <a:pt x="34598" y="46227"/>
                </a:moveTo>
                <a:lnTo>
                  <a:pt x="15875" y="46227"/>
                </a:lnTo>
                <a:lnTo>
                  <a:pt x="25236" y="51688"/>
                </a:lnTo>
                <a:lnTo>
                  <a:pt x="34598" y="462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212" name="Google Shape;212;g23d4a897f4b_0_2384"/>
          <p:cNvGraphicFramePr/>
          <p:nvPr/>
        </p:nvGraphicFramePr>
        <p:xfrm>
          <a:off x="2362200" y="30780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{D02177E2-DB5D-4F04-B57C-D3C27F7BF55F}</a:tableStyleId>
              </a:tblPr>
              <a:tblGrid>
                <a:gridCol w="381000"/>
                <a:gridCol w="381000"/>
                <a:gridCol w="381000"/>
                <a:gridCol w="1143000"/>
                <a:gridCol w="381000"/>
                <a:gridCol w="381000"/>
                <a:gridCol w="381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…</a:t>
                      </a:r>
                      <a:endParaRPr sz="18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3" name="Google Shape;213;g23d4a897f4b_0_2384"/>
          <p:cNvSpPr txBox="1"/>
          <p:nvPr/>
        </p:nvSpPr>
        <p:spPr>
          <a:xfrm>
            <a:off x="1602994" y="3052698"/>
            <a:ext cx="168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4" name="Google Shape;214;g23d4a897f4b_0_2384"/>
          <p:cNvSpPr/>
          <p:nvPr/>
        </p:nvSpPr>
        <p:spPr>
          <a:xfrm>
            <a:off x="1852548" y="3223260"/>
            <a:ext cx="516255" cy="103504"/>
          </a:xfrm>
          <a:custGeom>
            <a:rect b="b" l="l" r="r" t="t"/>
            <a:pathLst>
              <a:path extrusionOk="0" h="103504" w="516255">
                <a:moveTo>
                  <a:pt x="490782" y="51752"/>
                </a:moveTo>
                <a:lnTo>
                  <a:pt x="421005" y="92455"/>
                </a:lnTo>
                <a:lnTo>
                  <a:pt x="419988" y="96392"/>
                </a:lnTo>
                <a:lnTo>
                  <a:pt x="423544" y="102488"/>
                </a:lnTo>
                <a:lnTo>
                  <a:pt x="427355" y="103504"/>
                </a:lnTo>
                <a:lnTo>
                  <a:pt x="505137" y="58038"/>
                </a:lnTo>
                <a:lnTo>
                  <a:pt x="503427" y="58038"/>
                </a:lnTo>
                <a:lnTo>
                  <a:pt x="503427" y="57276"/>
                </a:lnTo>
                <a:lnTo>
                  <a:pt x="500252" y="57276"/>
                </a:lnTo>
                <a:lnTo>
                  <a:pt x="490782" y="51752"/>
                </a:lnTo>
                <a:close/>
              </a:path>
              <a:path extrusionOk="0" h="103504" w="516255">
                <a:moveTo>
                  <a:pt x="479787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480005" y="58038"/>
                </a:lnTo>
                <a:lnTo>
                  <a:pt x="490782" y="51752"/>
                </a:lnTo>
                <a:lnTo>
                  <a:pt x="479787" y="45338"/>
                </a:lnTo>
                <a:close/>
              </a:path>
              <a:path extrusionOk="0" h="103504" w="516255">
                <a:moveTo>
                  <a:pt x="505110" y="45338"/>
                </a:moveTo>
                <a:lnTo>
                  <a:pt x="503427" y="45338"/>
                </a:lnTo>
                <a:lnTo>
                  <a:pt x="503427" y="58038"/>
                </a:lnTo>
                <a:lnTo>
                  <a:pt x="505137" y="58038"/>
                </a:lnTo>
                <a:lnTo>
                  <a:pt x="516000" y="51688"/>
                </a:lnTo>
                <a:lnTo>
                  <a:pt x="505110" y="45338"/>
                </a:lnTo>
                <a:close/>
              </a:path>
              <a:path extrusionOk="0" h="103504" w="516255">
                <a:moveTo>
                  <a:pt x="500252" y="46227"/>
                </a:moveTo>
                <a:lnTo>
                  <a:pt x="490782" y="51752"/>
                </a:lnTo>
                <a:lnTo>
                  <a:pt x="500252" y="57276"/>
                </a:lnTo>
                <a:lnTo>
                  <a:pt x="500252" y="46227"/>
                </a:lnTo>
                <a:close/>
              </a:path>
              <a:path extrusionOk="0" h="103504" w="516255">
                <a:moveTo>
                  <a:pt x="503427" y="46227"/>
                </a:moveTo>
                <a:lnTo>
                  <a:pt x="500252" y="46227"/>
                </a:lnTo>
                <a:lnTo>
                  <a:pt x="500252" y="57276"/>
                </a:lnTo>
                <a:lnTo>
                  <a:pt x="503427" y="57276"/>
                </a:lnTo>
                <a:lnTo>
                  <a:pt x="503427" y="46227"/>
                </a:lnTo>
                <a:close/>
              </a:path>
              <a:path extrusionOk="0" h="103504" w="516255">
                <a:moveTo>
                  <a:pt x="427355" y="0"/>
                </a:moveTo>
                <a:lnTo>
                  <a:pt x="423544" y="1015"/>
                </a:lnTo>
                <a:lnTo>
                  <a:pt x="419988" y="7112"/>
                </a:lnTo>
                <a:lnTo>
                  <a:pt x="421005" y="11049"/>
                </a:lnTo>
                <a:lnTo>
                  <a:pt x="490782" y="51752"/>
                </a:lnTo>
                <a:lnTo>
                  <a:pt x="500252" y="46227"/>
                </a:lnTo>
                <a:lnTo>
                  <a:pt x="503427" y="46227"/>
                </a:lnTo>
                <a:lnTo>
                  <a:pt x="503427" y="45338"/>
                </a:lnTo>
                <a:lnTo>
                  <a:pt x="505110" y="45338"/>
                </a:lnTo>
                <a:lnTo>
                  <a:pt x="42735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5" name="Google Shape;215;g23d4a897f4b_0_2384"/>
          <p:cNvSpPr/>
          <p:nvPr/>
        </p:nvSpPr>
        <p:spPr>
          <a:xfrm>
            <a:off x="6259576" y="3078098"/>
            <a:ext cx="381000" cy="381000"/>
          </a:xfrm>
          <a:custGeom>
            <a:rect b="b" l="l" r="r" t="t"/>
            <a:pathLst>
              <a:path extrusionOk="0" h="381000" w="381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6" name="Google Shape;216;g23d4a897f4b_0_2384"/>
          <p:cNvSpPr txBox="1"/>
          <p:nvPr/>
        </p:nvSpPr>
        <p:spPr>
          <a:xfrm>
            <a:off x="6339332" y="3101162"/>
            <a:ext cx="170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C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7" name="Google Shape;217;g23d4a897f4b_0_2384"/>
          <p:cNvSpPr/>
          <p:nvPr/>
        </p:nvSpPr>
        <p:spPr>
          <a:xfrm>
            <a:off x="5797422" y="3218179"/>
            <a:ext cx="462279" cy="103504"/>
          </a:xfrm>
          <a:custGeom>
            <a:rect b="b" l="l" r="r" t="t"/>
            <a:pathLst>
              <a:path extrusionOk="0" h="103504" w="462279">
                <a:moveTo>
                  <a:pt x="451329" y="44323"/>
                </a:moveTo>
                <a:lnTo>
                  <a:pt x="449452" y="44323"/>
                </a:lnTo>
                <a:lnTo>
                  <a:pt x="449579" y="57023"/>
                </a:lnTo>
                <a:lnTo>
                  <a:pt x="426118" y="57341"/>
                </a:lnTo>
                <a:lnTo>
                  <a:pt x="370713" y="90678"/>
                </a:lnTo>
                <a:lnTo>
                  <a:pt x="367664" y="92456"/>
                </a:lnTo>
                <a:lnTo>
                  <a:pt x="366649" y="96393"/>
                </a:lnTo>
                <a:lnTo>
                  <a:pt x="368553" y="99441"/>
                </a:lnTo>
                <a:lnTo>
                  <a:pt x="370331" y="102489"/>
                </a:lnTo>
                <a:lnTo>
                  <a:pt x="374141" y="103378"/>
                </a:lnTo>
                <a:lnTo>
                  <a:pt x="377189" y="101600"/>
                </a:lnTo>
                <a:lnTo>
                  <a:pt x="462152" y="50419"/>
                </a:lnTo>
                <a:lnTo>
                  <a:pt x="451329" y="44323"/>
                </a:lnTo>
                <a:close/>
              </a:path>
              <a:path extrusionOk="0" h="103504" w="462279">
                <a:moveTo>
                  <a:pt x="426014" y="44640"/>
                </a:moveTo>
                <a:lnTo>
                  <a:pt x="0" y="50419"/>
                </a:lnTo>
                <a:lnTo>
                  <a:pt x="253" y="63119"/>
                </a:lnTo>
                <a:lnTo>
                  <a:pt x="426118" y="57341"/>
                </a:lnTo>
                <a:lnTo>
                  <a:pt x="436966" y="50814"/>
                </a:lnTo>
                <a:lnTo>
                  <a:pt x="426014" y="44640"/>
                </a:lnTo>
                <a:close/>
              </a:path>
              <a:path extrusionOk="0" h="103504" w="462279">
                <a:moveTo>
                  <a:pt x="436966" y="50814"/>
                </a:moveTo>
                <a:lnTo>
                  <a:pt x="426118" y="57341"/>
                </a:lnTo>
                <a:lnTo>
                  <a:pt x="449579" y="57023"/>
                </a:lnTo>
                <a:lnTo>
                  <a:pt x="449571" y="56134"/>
                </a:lnTo>
                <a:lnTo>
                  <a:pt x="446404" y="56134"/>
                </a:lnTo>
                <a:lnTo>
                  <a:pt x="436966" y="50814"/>
                </a:lnTo>
                <a:close/>
              </a:path>
              <a:path extrusionOk="0" h="103504" w="462279">
                <a:moveTo>
                  <a:pt x="446277" y="45212"/>
                </a:moveTo>
                <a:lnTo>
                  <a:pt x="436966" y="50814"/>
                </a:lnTo>
                <a:lnTo>
                  <a:pt x="446404" y="56134"/>
                </a:lnTo>
                <a:lnTo>
                  <a:pt x="446277" y="45212"/>
                </a:lnTo>
                <a:close/>
              </a:path>
              <a:path extrusionOk="0" h="103504" w="462279">
                <a:moveTo>
                  <a:pt x="449461" y="45212"/>
                </a:moveTo>
                <a:lnTo>
                  <a:pt x="446277" y="45212"/>
                </a:lnTo>
                <a:lnTo>
                  <a:pt x="446404" y="56134"/>
                </a:lnTo>
                <a:lnTo>
                  <a:pt x="449571" y="56134"/>
                </a:lnTo>
                <a:lnTo>
                  <a:pt x="449461" y="45212"/>
                </a:lnTo>
                <a:close/>
              </a:path>
              <a:path extrusionOk="0" h="103504" w="462279">
                <a:moveTo>
                  <a:pt x="449452" y="44323"/>
                </a:moveTo>
                <a:lnTo>
                  <a:pt x="426014" y="44640"/>
                </a:lnTo>
                <a:lnTo>
                  <a:pt x="436966" y="50814"/>
                </a:lnTo>
                <a:lnTo>
                  <a:pt x="446277" y="45212"/>
                </a:lnTo>
                <a:lnTo>
                  <a:pt x="449461" y="45212"/>
                </a:lnTo>
                <a:lnTo>
                  <a:pt x="449452" y="44323"/>
                </a:lnTo>
                <a:close/>
              </a:path>
              <a:path extrusionOk="0" h="103504" w="462279">
                <a:moveTo>
                  <a:pt x="372744" y="0"/>
                </a:moveTo>
                <a:lnTo>
                  <a:pt x="368935" y="1016"/>
                </a:lnTo>
                <a:lnTo>
                  <a:pt x="367156" y="4191"/>
                </a:lnTo>
                <a:lnTo>
                  <a:pt x="365505" y="7239"/>
                </a:lnTo>
                <a:lnTo>
                  <a:pt x="366522" y="11049"/>
                </a:lnTo>
                <a:lnTo>
                  <a:pt x="369569" y="12827"/>
                </a:lnTo>
                <a:lnTo>
                  <a:pt x="426014" y="44640"/>
                </a:lnTo>
                <a:lnTo>
                  <a:pt x="449452" y="44323"/>
                </a:lnTo>
                <a:lnTo>
                  <a:pt x="451329" y="44323"/>
                </a:lnTo>
                <a:lnTo>
                  <a:pt x="375792" y="1778"/>
                </a:lnTo>
                <a:lnTo>
                  <a:pt x="37274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218" name="Google Shape;218;g23d4a897f4b_0_2384"/>
          <p:cNvGraphicFramePr/>
          <p:nvPr/>
        </p:nvGraphicFramePr>
        <p:xfrm>
          <a:off x="2357425" y="45175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{D02177E2-DB5D-4F04-B57C-D3C27F7BF55F}</a:tableStyleId>
              </a:tblPr>
              <a:tblGrid>
                <a:gridCol w="381000"/>
                <a:gridCol w="381000"/>
                <a:gridCol w="381000"/>
                <a:gridCol w="1143000"/>
                <a:gridCol w="381000"/>
                <a:gridCol w="381000"/>
                <a:gridCol w="381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…</a:t>
                      </a:r>
                      <a:endParaRPr sz="18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" name="Google Shape;219;g23d4a897f4b_0_2384"/>
          <p:cNvSpPr/>
          <p:nvPr/>
        </p:nvSpPr>
        <p:spPr>
          <a:xfrm>
            <a:off x="6253226" y="4419600"/>
            <a:ext cx="381000" cy="381000"/>
          </a:xfrm>
          <a:custGeom>
            <a:rect b="b" l="l" r="r" t="t"/>
            <a:pathLst>
              <a:path extrusionOk="0" h="381000" w="381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0" name="Google Shape;220;g23d4a897f4b_0_2384"/>
          <p:cNvSpPr txBox="1"/>
          <p:nvPr/>
        </p:nvSpPr>
        <p:spPr>
          <a:xfrm>
            <a:off x="6332982" y="4443221"/>
            <a:ext cx="170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C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1" name="Google Shape;221;g23d4a897f4b_0_2384"/>
          <p:cNvSpPr/>
          <p:nvPr/>
        </p:nvSpPr>
        <p:spPr>
          <a:xfrm>
            <a:off x="5791072" y="4559553"/>
            <a:ext cx="462279" cy="103504"/>
          </a:xfrm>
          <a:custGeom>
            <a:rect b="b" l="l" r="r" t="t"/>
            <a:pathLst>
              <a:path extrusionOk="0" h="103504" w="462279">
                <a:moveTo>
                  <a:pt x="451133" y="44323"/>
                </a:moveTo>
                <a:lnTo>
                  <a:pt x="449452" y="44323"/>
                </a:lnTo>
                <a:lnTo>
                  <a:pt x="449579" y="57023"/>
                </a:lnTo>
                <a:lnTo>
                  <a:pt x="426323" y="57345"/>
                </a:lnTo>
                <a:lnTo>
                  <a:pt x="370713" y="90805"/>
                </a:lnTo>
                <a:lnTo>
                  <a:pt x="367664" y="92583"/>
                </a:lnTo>
                <a:lnTo>
                  <a:pt x="366649" y="96520"/>
                </a:lnTo>
                <a:lnTo>
                  <a:pt x="368553" y="99441"/>
                </a:lnTo>
                <a:lnTo>
                  <a:pt x="370331" y="102489"/>
                </a:lnTo>
                <a:lnTo>
                  <a:pt x="374141" y="103505"/>
                </a:lnTo>
                <a:lnTo>
                  <a:pt x="377189" y="101600"/>
                </a:lnTo>
                <a:lnTo>
                  <a:pt x="462152" y="50546"/>
                </a:lnTo>
                <a:lnTo>
                  <a:pt x="451133" y="44323"/>
                </a:lnTo>
                <a:close/>
              </a:path>
              <a:path extrusionOk="0" h="103504" w="462279">
                <a:moveTo>
                  <a:pt x="425864" y="44649"/>
                </a:moveTo>
                <a:lnTo>
                  <a:pt x="0" y="50546"/>
                </a:lnTo>
                <a:lnTo>
                  <a:pt x="253" y="63246"/>
                </a:lnTo>
                <a:lnTo>
                  <a:pt x="426323" y="57345"/>
                </a:lnTo>
                <a:lnTo>
                  <a:pt x="436980" y="50933"/>
                </a:lnTo>
                <a:lnTo>
                  <a:pt x="425864" y="44649"/>
                </a:lnTo>
                <a:close/>
              </a:path>
              <a:path extrusionOk="0" h="103504" w="462279">
                <a:moveTo>
                  <a:pt x="436980" y="50933"/>
                </a:moveTo>
                <a:lnTo>
                  <a:pt x="426323" y="57345"/>
                </a:lnTo>
                <a:lnTo>
                  <a:pt x="449579" y="57023"/>
                </a:lnTo>
                <a:lnTo>
                  <a:pt x="449572" y="56261"/>
                </a:lnTo>
                <a:lnTo>
                  <a:pt x="446404" y="56261"/>
                </a:lnTo>
                <a:lnTo>
                  <a:pt x="436980" y="50933"/>
                </a:lnTo>
                <a:close/>
              </a:path>
              <a:path extrusionOk="0" h="103504" w="462279">
                <a:moveTo>
                  <a:pt x="446277" y="45339"/>
                </a:moveTo>
                <a:lnTo>
                  <a:pt x="436980" y="50933"/>
                </a:lnTo>
                <a:lnTo>
                  <a:pt x="446404" y="56261"/>
                </a:lnTo>
                <a:lnTo>
                  <a:pt x="446277" y="45339"/>
                </a:lnTo>
                <a:close/>
              </a:path>
              <a:path extrusionOk="0" h="103504" w="462279">
                <a:moveTo>
                  <a:pt x="449463" y="45339"/>
                </a:moveTo>
                <a:lnTo>
                  <a:pt x="446277" y="45339"/>
                </a:lnTo>
                <a:lnTo>
                  <a:pt x="446404" y="56261"/>
                </a:lnTo>
                <a:lnTo>
                  <a:pt x="449572" y="56261"/>
                </a:lnTo>
                <a:lnTo>
                  <a:pt x="449463" y="45339"/>
                </a:lnTo>
                <a:close/>
              </a:path>
              <a:path extrusionOk="0" h="103504" w="462279">
                <a:moveTo>
                  <a:pt x="449452" y="44323"/>
                </a:moveTo>
                <a:lnTo>
                  <a:pt x="425864" y="44649"/>
                </a:lnTo>
                <a:lnTo>
                  <a:pt x="436980" y="50933"/>
                </a:lnTo>
                <a:lnTo>
                  <a:pt x="446277" y="45339"/>
                </a:lnTo>
                <a:lnTo>
                  <a:pt x="449463" y="45339"/>
                </a:lnTo>
                <a:lnTo>
                  <a:pt x="449452" y="44323"/>
                </a:lnTo>
                <a:close/>
              </a:path>
              <a:path extrusionOk="0" h="103504" w="462279">
                <a:moveTo>
                  <a:pt x="372744" y="0"/>
                </a:moveTo>
                <a:lnTo>
                  <a:pt x="368935" y="1143"/>
                </a:lnTo>
                <a:lnTo>
                  <a:pt x="367156" y="4191"/>
                </a:lnTo>
                <a:lnTo>
                  <a:pt x="365505" y="7239"/>
                </a:lnTo>
                <a:lnTo>
                  <a:pt x="366522" y="11176"/>
                </a:lnTo>
                <a:lnTo>
                  <a:pt x="369569" y="12827"/>
                </a:lnTo>
                <a:lnTo>
                  <a:pt x="425864" y="44649"/>
                </a:lnTo>
                <a:lnTo>
                  <a:pt x="449452" y="44323"/>
                </a:lnTo>
                <a:lnTo>
                  <a:pt x="451133" y="44323"/>
                </a:lnTo>
                <a:lnTo>
                  <a:pt x="375792" y="1778"/>
                </a:lnTo>
                <a:lnTo>
                  <a:pt x="37274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2" name="Google Shape;222;g23d4a897f4b_0_2384"/>
          <p:cNvSpPr/>
          <p:nvPr/>
        </p:nvSpPr>
        <p:spPr>
          <a:xfrm>
            <a:off x="2122550" y="4277225"/>
            <a:ext cx="431800" cy="477520"/>
          </a:xfrm>
          <a:custGeom>
            <a:rect b="b" l="l" r="r" t="t"/>
            <a:pathLst>
              <a:path extrusionOk="0" h="477520" w="431800">
                <a:moveTo>
                  <a:pt x="209840" y="425450"/>
                </a:moveTo>
                <a:lnTo>
                  <a:pt x="139954" y="466217"/>
                </a:lnTo>
                <a:lnTo>
                  <a:pt x="138937" y="470026"/>
                </a:lnTo>
                <a:lnTo>
                  <a:pt x="142494" y="476123"/>
                </a:lnTo>
                <a:lnTo>
                  <a:pt x="146304" y="477138"/>
                </a:lnTo>
                <a:lnTo>
                  <a:pt x="224059" y="431800"/>
                </a:lnTo>
                <a:lnTo>
                  <a:pt x="222376" y="431800"/>
                </a:lnTo>
                <a:lnTo>
                  <a:pt x="222376" y="430911"/>
                </a:lnTo>
                <a:lnTo>
                  <a:pt x="219201" y="430911"/>
                </a:lnTo>
                <a:lnTo>
                  <a:pt x="209840" y="425450"/>
                </a:lnTo>
                <a:close/>
              </a:path>
              <a:path extrusionOk="0" h="477520" w="431800">
                <a:moveTo>
                  <a:pt x="429006" y="0"/>
                </a:moveTo>
                <a:lnTo>
                  <a:pt x="2793" y="0"/>
                </a:lnTo>
                <a:lnTo>
                  <a:pt x="0" y="2793"/>
                </a:lnTo>
                <a:lnTo>
                  <a:pt x="0" y="429006"/>
                </a:lnTo>
                <a:lnTo>
                  <a:pt x="2793" y="431800"/>
                </a:lnTo>
                <a:lnTo>
                  <a:pt x="198954" y="431800"/>
                </a:lnTo>
                <a:lnTo>
                  <a:pt x="209840" y="425450"/>
                </a:lnTo>
                <a:lnTo>
                  <a:pt x="12700" y="425450"/>
                </a:lnTo>
                <a:lnTo>
                  <a:pt x="6350" y="419100"/>
                </a:lnTo>
                <a:lnTo>
                  <a:pt x="12700" y="419100"/>
                </a:lnTo>
                <a:lnTo>
                  <a:pt x="12700" y="12700"/>
                </a:lnTo>
                <a:lnTo>
                  <a:pt x="6350" y="12700"/>
                </a:lnTo>
                <a:lnTo>
                  <a:pt x="12700" y="6350"/>
                </a:lnTo>
                <a:lnTo>
                  <a:pt x="431800" y="6350"/>
                </a:lnTo>
                <a:lnTo>
                  <a:pt x="431800" y="2793"/>
                </a:lnTo>
                <a:lnTo>
                  <a:pt x="429006" y="0"/>
                </a:lnTo>
                <a:close/>
              </a:path>
              <a:path extrusionOk="0" h="477520" w="431800">
                <a:moveTo>
                  <a:pt x="224059" y="419100"/>
                </a:moveTo>
                <a:lnTo>
                  <a:pt x="222376" y="419100"/>
                </a:lnTo>
                <a:lnTo>
                  <a:pt x="222376" y="431800"/>
                </a:lnTo>
                <a:lnTo>
                  <a:pt x="224059" y="431800"/>
                </a:lnTo>
                <a:lnTo>
                  <a:pt x="234950" y="425450"/>
                </a:lnTo>
                <a:lnTo>
                  <a:pt x="224059" y="419100"/>
                </a:lnTo>
                <a:close/>
              </a:path>
              <a:path extrusionOk="0" h="477520" w="431800">
                <a:moveTo>
                  <a:pt x="219201" y="419988"/>
                </a:moveTo>
                <a:lnTo>
                  <a:pt x="209840" y="425450"/>
                </a:lnTo>
                <a:lnTo>
                  <a:pt x="219201" y="430911"/>
                </a:lnTo>
                <a:lnTo>
                  <a:pt x="219201" y="419988"/>
                </a:lnTo>
                <a:close/>
              </a:path>
              <a:path extrusionOk="0" h="477520" w="431800">
                <a:moveTo>
                  <a:pt x="222376" y="419988"/>
                </a:moveTo>
                <a:lnTo>
                  <a:pt x="219201" y="419988"/>
                </a:lnTo>
                <a:lnTo>
                  <a:pt x="219201" y="430911"/>
                </a:lnTo>
                <a:lnTo>
                  <a:pt x="222376" y="430911"/>
                </a:lnTo>
                <a:lnTo>
                  <a:pt x="222376" y="419988"/>
                </a:lnTo>
                <a:close/>
              </a:path>
              <a:path extrusionOk="0" h="477520" w="431800">
                <a:moveTo>
                  <a:pt x="12700" y="419100"/>
                </a:moveTo>
                <a:lnTo>
                  <a:pt x="6350" y="419100"/>
                </a:lnTo>
                <a:lnTo>
                  <a:pt x="12700" y="425450"/>
                </a:lnTo>
                <a:lnTo>
                  <a:pt x="12700" y="419100"/>
                </a:lnTo>
                <a:close/>
              </a:path>
              <a:path extrusionOk="0" h="477520" w="431800">
                <a:moveTo>
                  <a:pt x="198954" y="419100"/>
                </a:moveTo>
                <a:lnTo>
                  <a:pt x="12700" y="419100"/>
                </a:lnTo>
                <a:lnTo>
                  <a:pt x="12700" y="425450"/>
                </a:lnTo>
                <a:lnTo>
                  <a:pt x="209840" y="425450"/>
                </a:lnTo>
                <a:lnTo>
                  <a:pt x="198954" y="419100"/>
                </a:lnTo>
                <a:close/>
              </a:path>
              <a:path extrusionOk="0" h="477520" w="431800">
                <a:moveTo>
                  <a:pt x="146304" y="373761"/>
                </a:moveTo>
                <a:lnTo>
                  <a:pt x="142494" y="374776"/>
                </a:lnTo>
                <a:lnTo>
                  <a:pt x="138937" y="380873"/>
                </a:lnTo>
                <a:lnTo>
                  <a:pt x="139954" y="384682"/>
                </a:lnTo>
                <a:lnTo>
                  <a:pt x="209840" y="425450"/>
                </a:lnTo>
                <a:lnTo>
                  <a:pt x="219201" y="419988"/>
                </a:lnTo>
                <a:lnTo>
                  <a:pt x="222376" y="419988"/>
                </a:lnTo>
                <a:lnTo>
                  <a:pt x="222376" y="419100"/>
                </a:lnTo>
                <a:lnTo>
                  <a:pt x="224059" y="419100"/>
                </a:lnTo>
                <a:lnTo>
                  <a:pt x="146304" y="373761"/>
                </a:lnTo>
                <a:close/>
              </a:path>
              <a:path extrusionOk="0" h="477520" w="431800">
                <a:moveTo>
                  <a:pt x="419100" y="6350"/>
                </a:moveTo>
                <a:lnTo>
                  <a:pt x="419100" y="234950"/>
                </a:lnTo>
                <a:lnTo>
                  <a:pt x="431800" y="234950"/>
                </a:lnTo>
                <a:lnTo>
                  <a:pt x="431800" y="12700"/>
                </a:lnTo>
                <a:lnTo>
                  <a:pt x="425450" y="12700"/>
                </a:lnTo>
                <a:lnTo>
                  <a:pt x="419100" y="6350"/>
                </a:lnTo>
                <a:close/>
              </a:path>
              <a:path extrusionOk="0" h="477520" w="431800">
                <a:moveTo>
                  <a:pt x="12700" y="6350"/>
                </a:moveTo>
                <a:lnTo>
                  <a:pt x="6350" y="12700"/>
                </a:lnTo>
                <a:lnTo>
                  <a:pt x="12700" y="12700"/>
                </a:lnTo>
                <a:lnTo>
                  <a:pt x="12700" y="6350"/>
                </a:lnTo>
                <a:close/>
              </a:path>
              <a:path extrusionOk="0" h="477520" w="431800">
                <a:moveTo>
                  <a:pt x="419100" y="6350"/>
                </a:moveTo>
                <a:lnTo>
                  <a:pt x="12700" y="6350"/>
                </a:lnTo>
                <a:lnTo>
                  <a:pt x="12700" y="12700"/>
                </a:lnTo>
                <a:lnTo>
                  <a:pt x="419100" y="12700"/>
                </a:lnTo>
                <a:lnTo>
                  <a:pt x="419100" y="6350"/>
                </a:lnTo>
                <a:close/>
              </a:path>
              <a:path extrusionOk="0" h="477520" w="431800">
                <a:moveTo>
                  <a:pt x="431800" y="6350"/>
                </a:moveTo>
                <a:lnTo>
                  <a:pt x="419100" y="6350"/>
                </a:lnTo>
                <a:lnTo>
                  <a:pt x="425450" y="12700"/>
                </a:lnTo>
                <a:lnTo>
                  <a:pt x="431800" y="12700"/>
                </a:lnTo>
                <a:lnTo>
                  <a:pt x="431800" y="63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3" name="Google Shape;223;g23d4a897f4b_0_2384"/>
          <p:cNvSpPr/>
          <p:nvPr/>
        </p:nvSpPr>
        <p:spPr>
          <a:xfrm>
            <a:off x="2357501" y="5949950"/>
            <a:ext cx="2286000" cy="381000"/>
          </a:xfrm>
          <a:custGeom>
            <a:rect b="b" l="l" r="r" t="t"/>
            <a:pathLst>
              <a:path extrusionOk="0" h="381000" w="2286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  <a:path extrusionOk="0" h="381000" w="2286000">
                <a:moveTo>
                  <a:pt x="38100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381000" y="0"/>
                </a:lnTo>
                <a:lnTo>
                  <a:pt x="381000" y="381000"/>
                </a:lnTo>
                <a:close/>
              </a:path>
              <a:path extrusionOk="0" h="381000" w="2286000">
                <a:moveTo>
                  <a:pt x="762000" y="381000"/>
                </a:moveTo>
                <a:lnTo>
                  <a:pt x="1143000" y="381000"/>
                </a:lnTo>
                <a:lnTo>
                  <a:pt x="1143000" y="0"/>
                </a:lnTo>
                <a:lnTo>
                  <a:pt x="762000" y="0"/>
                </a:lnTo>
                <a:lnTo>
                  <a:pt x="762000" y="381000"/>
                </a:lnTo>
                <a:close/>
              </a:path>
              <a:path extrusionOk="0" h="381000" w="2286000">
                <a:moveTo>
                  <a:pt x="1143000" y="381000"/>
                </a:moveTo>
                <a:lnTo>
                  <a:pt x="2286000" y="381000"/>
                </a:lnTo>
                <a:lnTo>
                  <a:pt x="2286000" y="0"/>
                </a:lnTo>
                <a:lnTo>
                  <a:pt x="1143000" y="0"/>
                </a:lnTo>
                <a:lnTo>
                  <a:pt x="1143000" y="381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4" name="Google Shape;224;g23d4a897f4b_0_2384"/>
          <p:cNvSpPr txBox="1"/>
          <p:nvPr/>
        </p:nvSpPr>
        <p:spPr>
          <a:xfrm>
            <a:off x="3944873" y="5973876"/>
            <a:ext cx="2541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 Black"/>
                <a:ea typeface="Arial Black"/>
                <a:cs typeface="Arial Black"/>
                <a:sym typeface="Arial Black"/>
              </a:rPr>
              <a:t>…</a:t>
            </a:r>
            <a:endParaRPr sz="18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5" name="Google Shape;225;g23d4a897f4b_0_2384"/>
          <p:cNvSpPr/>
          <p:nvPr/>
        </p:nvSpPr>
        <p:spPr>
          <a:xfrm>
            <a:off x="4643501" y="5949950"/>
            <a:ext cx="1143000" cy="381000"/>
          </a:xfrm>
          <a:custGeom>
            <a:rect b="b" l="l" r="r" t="t"/>
            <a:pathLst>
              <a:path extrusionOk="0" h="381000" w="1143000">
                <a:moveTo>
                  <a:pt x="0" y="381000"/>
                </a:moveTo>
                <a:lnTo>
                  <a:pt x="381000" y="381000"/>
                </a:lnTo>
                <a:lnTo>
                  <a:pt x="381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  <a:path extrusionOk="0" h="381000" w="1143000">
                <a:moveTo>
                  <a:pt x="381000" y="381000"/>
                </a:moveTo>
                <a:lnTo>
                  <a:pt x="762000" y="381000"/>
                </a:lnTo>
                <a:lnTo>
                  <a:pt x="762000" y="0"/>
                </a:lnTo>
                <a:lnTo>
                  <a:pt x="381000" y="0"/>
                </a:lnTo>
                <a:lnTo>
                  <a:pt x="381000" y="381000"/>
                </a:lnTo>
                <a:close/>
              </a:path>
              <a:path extrusionOk="0" h="381000" w="1143000">
                <a:moveTo>
                  <a:pt x="762000" y="381000"/>
                </a:moveTo>
                <a:lnTo>
                  <a:pt x="1143000" y="381000"/>
                </a:lnTo>
                <a:lnTo>
                  <a:pt x="1143000" y="0"/>
                </a:lnTo>
                <a:lnTo>
                  <a:pt x="762000" y="0"/>
                </a:lnTo>
                <a:lnTo>
                  <a:pt x="762000" y="381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6" name="Google Shape;226;g23d4a897f4b_0_2384"/>
          <p:cNvSpPr txBox="1"/>
          <p:nvPr/>
        </p:nvSpPr>
        <p:spPr>
          <a:xfrm>
            <a:off x="6328409" y="5967476"/>
            <a:ext cx="170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7" name="Google Shape;227;g23d4a897f4b_0_2384"/>
          <p:cNvSpPr/>
          <p:nvPr/>
        </p:nvSpPr>
        <p:spPr>
          <a:xfrm>
            <a:off x="2122551" y="5572886"/>
            <a:ext cx="4126229" cy="619760"/>
          </a:xfrm>
          <a:custGeom>
            <a:rect b="b" l="l" r="r" t="t"/>
            <a:pathLst>
              <a:path extrusionOk="0" h="619760" w="4126229">
                <a:moveTo>
                  <a:pt x="4125849" y="561213"/>
                </a:moveTo>
                <a:lnTo>
                  <a:pt x="4114901" y="555028"/>
                </a:lnTo>
                <a:lnTo>
                  <a:pt x="4036568" y="510730"/>
                </a:lnTo>
                <a:lnTo>
                  <a:pt x="4032631" y="511810"/>
                </a:lnTo>
                <a:lnTo>
                  <a:pt x="4030980" y="514858"/>
                </a:lnTo>
                <a:lnTo>
                  <a:pt x="4029202" y="517918"/>
                </a:lnTo>
                <a:lnTo>
                  <a:pt x="4030345" y="521792"/>
                </a:lnTo>
                <a:lnTo>
                  <a:pt x="4089654" y="555358"/>
                </a:lnTo>
                <a:lnTo>
                  <a:pt x="3897249" y="558012"/>
                </a:lnTo>
                <a:lnTo>
                  <a:pt x="3897249" y="554863"/>
                </a:lnTo>
                <a:lnTo>
                  <a:pt x="3886962" y="554863"/>
                </a:lnTo>
                <a:lnTo>
                  <a:pt x="3886962" y="12700"/>
                </a:lnTo>
                <a:lnTo>
                  <a:pt x="3886962" y="6350"/>
                </a:lnTo>
                <a:lnTo>
                  <a:pt x="3886962" y="2921"/>
                </a:lnTo>
                <a:lnTo>
                  <a:pt x="3884168" y="0"/>
                </a:lnTo>
                <a:lnTo>
                  <a:pt x="2794" y="0"/>
                </a:lnTo>
                <a:lnTo>
                  <a:pt x="0" y="2921"/>
                </a:lnTo>
                <a:lnTo>
                  <a:pt x="0" y="571068"/>
                </a:lnTo>
                <a:lnTo>
                  <a:pt x="2794" y="573913"/>
                </a:lnTo>
                <a:lnTo>
                  <a:pt x="198767" y="573913"/>
                </a:lnTo>
                <a:lnTo>
                  <a:pt x="139827" y="608291"/>
                </a:lnTo>
                <a:lnTo>
                  <a:pt x="138811" y="612178"/>
                </a:lnTo>
                <a:lnTo>
                  <a:pt x="142367" y="618236"/>
                </a:lnTo>
                <a:lnTo>
                  <a:pt x="146304" y="619264"/>
                </a:lnTo>
                <a:lnTo>
                  <a:pt x="224053" y="573913"/>
                </a:lnTo>
                <a:lnTo>
                  <a:pt x="234950" y="567563"/>
                </a:lnTo>
                <a:lnTo>
                  <a:pt x="224053" y="561213"/>
                </a:lnTo>
                <a:lnTo>
                  <a:pt x="146304" y="515861"/>
                </a:lnTo>
                <a:lnTo>
                  <a:pt x="142367" y="516877"/>
                </a:lnTo>
                <a:lnTo>
                  <a:pt x="138811" y="522935"/>
                </a:lnTo>
                <a:lnTo>
                  <a:pt x="139827" y="526834"/>
                </a:lnTo>
                <a:lnTo>
                  <a:pt x="198767" y="561213"/>
                </a:lnTo>
                <a:lnTo>
                  <a:pt x="12700" y="561213"/>
                </a:lnTo>
                <a:lnTo>
                  <a:pt x="12700" y="12700"/>
                </a:lnTo>
                <a:lnTo>
                  <a:pt x="3874262" y="12700"/>
                </a:lnTo>
                <a:lnTo>
                  <a:pt x="3874262" y="558330"/>
                </a:lnTo>
                <a:lnTo>
                  <a:pt x="3663823" y="561213"/>
                </a:lnTo>
                <a:lnTo>
                  <a:pt x="3663950" y="573913"/>
                </a:lnTo>
                <a:lnTo>
                  <a:pt x="4089857" y="568058"/>
                </a:lnTo>
                <a:lnTo>
                  <a:pt x="4034409" y="601433"/>
                </a:lnTo>
                <a:lnTo>
                  <a:pt x="4031361" y="603237"/>
                </a:lnTo>
                <a:lnTo>
                  <a:pt x="4030472" y="607148"/>
                </a:lnTo>
                <a:lnTo>
                  <a:pt x="4034028" y="613156"/>
                </a:lnTo>
                <a:lnTo>
                  <a:pt x="4037965" y="614121"/>
                </a:lnTo>
                <a:lnTo>
                  <a:pt x="4041013" y="612317"/>
                </a:lnTo>
                <a:lnTo>
                  <a:pt x="4125849" y="56121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3d4a897f4b_0_2419"/>
          <p:cNvSpPr/>
          <p:nvPr/>
        </p:nvSpPr>
        <p:spPr>
          <a:xfrm>
            <a:off x="0" y="914400"/>
            <a:ext cx="9144000" cy="7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3" name="Google Shape;233;g23d4a897f4b_0_2419"/>
          <p:cNvSpPr txBox="1"/>
          <p:nvPr>
            <p:ph idx="4294967295" type="title"/>
          </p:nvPr>
        </p:nvSpPr>
        <p:spPr>
          <a:xfrm>
            <a:off x="2556498" y="165300"/>
            <a:ext cx="49125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Shifts and Rotates</a:t>
            </a:r>
            <a:endParaRPr/>
          </a:p>
        </p:txBody>
      </p:sp>
      <p:graphicFrame>
        <p:nvGraphicFramePr>
          <p:cNvPr id="234" name="Google Shape;234;g23d4a897f4b_0_2419"/>
          <p:cNvGraphicFramePr/>
          <p:nvPr/>
        </p:nvGraphicFramePr>
        <p:xfrm>
          <a:off x="783590" y="22843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{D02177E2-DB5D-4F04-B57C-D3C27F7BF55F}</a:tableStyleId>
              </a:tblPr>
              <a:tblGrid>
                <a:gridCol w="972825"/>
                <a:gridCol w="1030600"/>
                <a:gridCol w="728975"/>
                <a:gridCol w="730250"/>
                <a:gridCol w="547375"/>
                <a:gridCol w="363850"/>
                <a:gridCol w="547375"/>
                <a:gridCol w="364500"/>
                <a:gridCol w="547375"/>
                <a:gridCol w="547375"/>
                <a:gridCol w="304800"/>
              </a:tblGrid>
              <a:tr h="388275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MOV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81915" rtl="0" algn="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r4,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r6,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LSL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#4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r4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r6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&lt;&lt;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24130" rtl="0" algn="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</a:tr>
              <a:tr h="388275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172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MOV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81915" rtl="0" algn="r">
                        <a:lnSpc>
                          <a:spcPct val="1172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r4,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72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r6,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72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LSR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172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#8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72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72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r4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172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72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r6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172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&lt;&lt;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24130" rtl="0" algn="r">
                        <a:lnSpc>
                          <a:spcPct val="11729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235" name="Google Shape;235;g23d4a897f4b_0_2419"/>
          <p:cNvSpPr txBox="1"/>
          <p:nvPr/>
        </p:nvSpPr>
        <p:spPr>
          <a:xfrm>
            <a:off x="307340" y="1063709"/>
            <a:ext cx="8189700" cy="50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17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4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Shifting in Assembly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Examples: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t/>
            </a:r>
            <a:endParaRPr sz="3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4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Rotating in Assembly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Examples: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MOV	r4, r6, ROR #12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; r4 = r6 rotated right 12 bits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; r4 = r6 rotated left by 20 bits (32 -12)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Therefore no need for rotate left.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3d4a897f4b_0_2429"/>
          <p:cNvSpPr txBox="1"/>
          <p:nvPr>
            <p:ph idx="4294967295" type="title"/>
          </p:nvPr>
        </p:nvSpPr>
        <p:spPr>
          <a:xfrm>
            <a:off x="1585351" y="165300"/>
            <a:ext cx="64071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Variable Shifts and Rotates</a:t>
            </a:r>
            <a:endParaRPr/>
          </a:p>
        </p:txBody>
      </p:sp>
      <p:sp>
        <p:nvSpPr>
          <p:cNvPr id="241" name="Google Shape;241;g23d4a897f4b_0_2429"/>
          <p:cNvSpPr txBox="1"/>
          <p:nvPr/>
        </p:nvSpPr>
        <p:spPr>
          <a:xfrm>
            <a:off x="307340" y="1065627"/>
            <a:ext cx="7944600" cy="24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4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Also possible to shift by the value of a register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7E"/>
              </a:buClr>
              <a:buSzPts val="2400"/>
              <a:buFont typeface="Noto Sans Symbols"/>
              <a:buChar char="❖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Examples: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MOV	r4, r6, LSL r3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08000" marR="800100" rtl="0" algn="l">
              <a:lnSpc>
                <a:spcPct val="118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; r4 = r6 &lt;&lt; value specified in r3  MOV	r4, r6, LSR #8 ; r4 = r6 &gt;&gt; 8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3d4a897f4b_0_2437"/>
          <p:cNvSpPr txBox="1"/>
          <p:nvPr>
            <p:ph idx="4294967295" type="title"/>
          </p:nvPr>
        </p:nvSpPr>
        <p:spPr>
          <a:xfrm>
            <a:off x="1978524" y="165300"/>
            <a:ext cx="59880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Constant Multiplication</a:t>
            </a:r>
            <a:endParaRPr/>
          </a:p>
        </p:txBody>
      </p:sp>
      <p:sp>
        <p:nvSpPr>
          <p:cNvPr id="247" name="Google Shape;247;g23d4a897f4b_0_2437"/>
          <p:cNvSpPr txBox="1"/>
          <p:nvPr/>
        </p:nvSpPr>
        <p:spPr>
          <a:xfrm>
            <a:off x="231140" y="1011681"/>
            <a:ext cx="8046600" cy="27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1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Constant multiplication is often faster using shifts and  additions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27100" marR="0" rtl="0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MUL r0, r2, #8 ; r0 = r2 * 8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Is the same as: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27100" marR="0" rtl="0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MOV r0, r2, LSL #3 ; r0 = r2 * 8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00007E"/>
              </a:buClr>
              <a:buSzPts val="21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Constant division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8" name="Google Shape;248;g23d4a897f4b_0_2437"/>
          <p:cNvGraphicFramePr/>
          <p:nvPr/>
        </p:nvGraphicFramePr>
        <p:xfrm>
          <a:off x="212090" y="3880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{D02177E2-DB5D-4F04-B57C-D3C27F7BF55F}</a:tableStyleId>
              </a:tblPr>
              <a:tblGrid>
                <a:gridCol w="696600"/>
                <a:gridCol w="888375"/>
                <a:gridCol w="729625"/>
                <a:gridCol w="730875"/>
                <a:gridCol w="730875"/>
                <a:gridCol w="547375"/>
                <a:gridCol w="365125"/>
                <a:gridCol w="548000"/>
                <a:gridCol w="365125"/>
                <a:gridCol w="1220475"/>
              </a:tblGrid>
              <a:tr h="831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1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Vs.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75" marB="0" marR="0" marL="0"/>
                </a:tc>
                <a:tc>
                  <a:txBody>
                    <a:bodyPr/>
                    <a:lstStyle/>
                    <a:p>
                      <a:pPr indent="0" lvl="0" marL="0" marR="81915" rtl="0" algn="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MOV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r1,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r3,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82550" rtl="0" algn="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ASR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#7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83185" rtl="0" algn="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r1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83185" rtl="0" algn="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24130" rtl="0" algn="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r3/128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</a:tr>
              <a:tr h="39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81915" rtl="0" algn="r">
                        <a:lnSpc>
                          <a:spcPct val="11854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MOV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854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r1,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854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r3,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82550" rtl="0" algn="r">
                        <a:lnSpc>
                          <a:spcPct val="11854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LSR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854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#7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83185" rtl="0" algn="r">
                        <a:lnSpc>
                          <a:spcPct val="11854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;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1854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r1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83185" rtl="0" algn="r">
                        <a:lnSpc>
                          <a:spcPct val="11854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24130" rtl="0" algn="r">
                        <a:lnSpc>
                          <a:spcPct val="11854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r3/128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249" name="Google Shape;249;g23d4a897f4b_0_2437"/>
          <p:cNvSpPr txBox="1"/>
          <p:nvPr/>
        </p:nvSpPr>
        <p:spPr>
          <a:xfrm>
            <a:off x="231140" y="5159502"/>
            <a:ext cx="7657500" cy="1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0" lvl="0" marL="12700" marR="5080" rtl="0" algn="just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first treats the registers like signed values (shifts in MSB).  Thelatter treats data like unsigned values (shifts in 0).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vs 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unsigned int &gt;&gt;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3d4a897f4b_0_2447"/>
          <p:cNvSpPr txBox="1"/>
          <p:nvPr>
            <p:ph idx="4294967295" type="title"/>
          </p:nvPr>
        </p:nvSpPr>
        <p:spPr>
          <a:xfrm>
            <a:off x="1978524" y="165300"/>
            <a:ext cx="57045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Constant Multiplication</a:t>
            </a:r>
            <a:endParaRPr/>
          </a:p>
        </p:txBody>
      </p:sp>
      <p:sp>
        <p:nvSpPr>
          <p:cNvPr id="255" name="Google Shape;255;g23d4a897f4b_0_2447"/>
          <p:cNvSpPr txBox="1"/>
          <p:nvPr/>
        </p:nvSpPr>
        <p:spPr>
          <a:xfrm>
            <a:off x="0" y="800450"/>
            <a:ext cx="9337800" cy="54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-342900" lvl="0" marL="599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1800"/>
              <a:buFont typeface="Noto Sans Symbols"/>
              <a:buChar char="❖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Constant multiplication with subtractions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99440" marR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MUL r0, r2, #7	; r0 = r2 * 7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70940" marR="0" rtl="0" algn="l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Is the same as: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9944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RSB r0, r2, r2, LSL #3 ; r0 = r2 * 7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342900" lvl="0" marL="256540" marR="4180203" rtl="0" algn="l">
              <a:lnSpc>
                <a:spcPct val="146666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; r0 = -r2 + 8*r2 = 7*r2  RSB r0, r1, r2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is the same as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5654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SUB r0, r2, r1 ; r0 = r2 – r1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36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65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Multiply by 35: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99440" marR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ADD	r9,r8,r8,LSL #2; r9=r8*5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99440" marR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RSB	r10,r9,r9,LSL #3	; r10=r9*7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33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3d4a897f4b_0_2511"/>
          <p:cNvSpPr txBox="1"/>
          <p:nvPr>
            <p:ph idx="4294967295" type="title"/>
          </p:nvPr>
        </p:nvSpPr>
        <p:spPr>
          <a:xfrm>
            <a:off x="3258058" y="165303"/>
            <a:ext cx="24897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61" name="Google Shape;261;g23d4a897f4b_0_2511"/>
          <p:cNvSpPr txBox="1"/>
          <p:nvPr/>
        </p:nvSpPr>
        <p:spPr>
          <a:xfrm>
            <a:off x="459740" y="958107"/>
            <a:ext cx="80061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-238759" lvl="0" marL="2508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Instructions so far: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4469" lvl="1" marL="617855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Previously: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ADD, SUB, RSB MUL, MULA, [U|S]MULL, [U|S]MLAL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04469" lvl="1" marL="617855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FFCC00"/>
              </a:buClr>
              <a:buSzPts val="1700"/>
              <a:buFont typeface="Noto Sans Symbols"/>
              <a:buChar char="❖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New instructions: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62" name="Google Shape;262;g23d4a897f4b_0_2511"/>
          <p:cNvGraphicFramePr/>
          <p:nvPr/>
        </p:nvGraphicFramePr>
        <p:xfrm>
          <a:off x="1000769" y="31006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{D02177E2-DB5D-4F04-B57C-D3C27F7BF55F}</a:tableStyleId>
              </a:tblPr>
              <a:tblGrid>
                <a:gridCol w="852800"/>
                <a:gridCol w="911850"/>
                <a:gridCol w="912500"/>
                <a:gridCol w="670550"/>
              </a:tblGrid>
              <a:tr h="392225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AN</a:t>
                      </a: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</a:t>
                      </a: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89535" marR="0" rtl="0" algn="l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ORR,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EOR,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24130" rtl="0" algn="r">
                        <a:lnSpc>
                          <a:spcPct val="10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BIC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</a:tr>
              <a:tr h="439050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MOV,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89535" marR="0" rtl="0" algn="l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MVN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392100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1854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LSL,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89535" marR="0" rtl="0" algn="l">
                        <a:lnSpc>
                          <a:spcPct val="11854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LSR,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854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ASR,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24130" rtl="0" algn="r">
                        <a:lnSpc>
                          <a:spcPct val="11854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ROR</a:t>
                      </a:r>
                      <a:endParaRPr sz="24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263" name="Google Shape;263;g23d4a897f4b_0_2511"/>
          <p:cNvSpPr txBox="1"/>
          <p:nvPr/>
        </p:nvSpPr>
        <p:spPr>
          <a:xfrm>
            <a:off x="459740" y="4523892"/>
            <a:ext cx="81999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238759" lvl="0" marL="2508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Shifting can only be done on the second source operand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215265" marR="894714" rtl="0" algn="l">
              <a:lnSpc>
                <a:spcPct val="113928"/>
              </a:lnSpc>
              <a:spcBef>
                <a:spcPts val="919"/>
              </a:spcBef>
              <a:spcAft>
                <a:spcPts val="0"/>
              </a:spcAft>
              <a:buClr>
                <a:srgbClr val="00007E"/>
              </a:buClr>
              <a:buSzPts val="2000"/>
              <a:buFont typeface="Noto Sans Symbols"/>
              <a:buChar char="❖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Constant multiplications possible using shifts and  addition/subtractions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2023-08-02T10:22:04Z</dcterms:created>
  <dc:creator>Michaelson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2017-02-14T00:00:00Z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2023-08-02T00:00:00Z</vt:filetime>
  </property>
</Properties>
</file>