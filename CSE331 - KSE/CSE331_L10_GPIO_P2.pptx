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9144000" cy="6858000" type="screen4x3"/>
  <p:notesSz cx="6858000" cy="9144000"/>
  <p:embeddedFontLst>
    <p:embeddedFont>
      <p:font typeface="Calibri" panose="020F0502020204030204" pitchFamily="34" charset="0"/>
      <p:regular r:id="rId34"/>
      <p:bold r:id="rId35"/>
      <p:italic r:id="rId36"/>
      <p:boldItalic r:id="rId37"/>
    </p:embeddedFont>
    <p:embeddedFont>
      <p:font typeface="Bookman Old Style" panose="02050604050505020204" pitchFamily="18" charset="0"/>
      <p:regular r:id="rId38"/>
      <p:bold r:id="rId39"/>
      <p:italic r:id="rId40"/>
      <p:boldItalic r:id="rId41"/>
    </p:embeddedFont>
    <p:embeddedFont>
      <p:font typeface="Consolas" panose="020B0609020204030204" pitchFamily="49" charset="0"/>
      <p:regular r:id="rId42"/>
      <p:bold r:id="rId43"/>
      <p:italic r:id="rId44"/>
      <p:boldItalic r:id="rId45"/>
    </p:embeddedFont>
    <p:embeddedFont>
      <p:font typeface="Gill Sans" panose="020B0604020202020204" charset="0"/>
      <p:regular r:id="rId46"/>
      <p:bold r:id="rId47"/>
    </p:embeddedFont>
    <p:embeddedFont>
      <p:font typeface="Cambria Math" panose="02040503050406030204" pitchFamily="18" charset="0"/>
      <p:regular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9" roundtripDataSignature="AMtx7mhubA0MIOVilGUKo8E9NLdhAGmu5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B1F59D3-09BF-41C5-B13E-B9EA82763778}">
  <a:tblStyle styleId="{2B1F59D3-09BF-41C5-B13E-B9EA82763778}" styleName="Table_0">
    <a:wholeTbl>
      <a:tcTxStyle b="off" i="off">
        <a:font>
          <a:latin typeface="Gill Sans MT"/>
          <a:ea typeface="Gill Sans MT"/>
          <a:cs typeface="Gill Sans MT"/>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Gill Sans MT"/>
          <a:ea typeface="Gill Sans MT"/>
          <a:cs typeface="Gill Sans MT"/>
        </a:font>
        <a:schemeClr val="lt1"/>
      </a:tcTxStyle>
      <a:tcStyle>
        <a:tcBdr/>
        <a:fill>
          <a:solidFill>
            <a:schemeClr val="accent1"/>
          </a:solidFill>
        </a:fill>
      </a:tcStyle>
    </a:lastCol>
    <a:firstCol>
      <a:tcTxStyle b="on" i="off">
        <a:font>
          <a:latin typeface="Gill Sans MT"/>
          <a:ea typeface="Gill Sans MT"/>
          <a:cs typeface="Gill Sans MT"/>
        </a:font>
        <a:schemeClr val="lt1"/>
      </a:tcTxStyle>
      <a:tcStyle>
        <a:tcBdr/>
        <a:fill>
          <a:solidFill>
            <a:schemeClr val="accent1"/>
          </a:solidFill>
        </a:fill>
      </a:tcStyle>
    </a:firstCol>
    <a:lastRow>
      <a:tcTxStyle b="on" i="off">
        <a:font>
          <a:latin typeface="Gill Sans MT"/>
          <a:ea typeface="Gill Sans MT"/>
          <a:cs typeface="Gill Sans MT"/>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Gill Sans MT"/>
          <a:ea typeface="Gill Sans MT"/>
          <a:cs typeface="Gill Sans MT"/>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1320" y="4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font" Target="fonts/font14.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font" Target="fonts/font12.fntdata"/><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1.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font" Target="fonts/font10.fntdata"/><Relationship Id="rId48" Type="http://schemas.openxmlformats.org/officeDocument/2006/relationships/font" Target="fonts/font15.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49"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 name="Google Shape;107;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 name="Google Shape;125;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8" name="Google Shape;158;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{{Pause=2}} This table summarizes the difference between push pull, and open drain. Their difference is that, in the push-pull output, when the output data bit is one, the output pin has a high voltage. However, in the open-drain output, when the output data bit is one, the output pin is floating, or has high impedance. {{Pause=1}}  In this example, we need to provide a high voltage on the output pin, in order to turn on the LED. Therefore, we have select the push-pull output, instead of the open-drain output. </a:t>
            </a:r>
            <a:endParaRPr/>
          </a:p>
        </p:txBody>
      </p:sp>
      <p:sp>
        <p:nvSpPr>
          <p:cNvPr id="169" name="Google Shape;169;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8" name="Google Shape;178;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{{Pause=2}} The output data register is easy to understand. This register has the upper 16 bits reserved. It has 16 data bits, with one bit for each pin. Because the red LED is connected to pin 2, to turn on the LED, we need to set, bit 2, of the output data register, to 1. </a:t>
            </a:r>
            <a:endParaRPr/>
          </a:p>
        </p:txBody>
      </p:sp>
      <p:sp>
        <p:nvSpPr>
          <p:cNvPr id="179" name="Google Shape;179;p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{{Pause=2}} This slide summarizes the software code, which can turn on the red LED. The red LED is connected to pin 2 of port B. The software involves four steps. First, we turn on the clock to enable port B.  Then, we set the mode of pin 2 of port B as digital output. Next, we select push-pull output, instead of open-drain output. Finally, we set, bit 2, of the output data register to light up the red LED.</a:t>
            </a:r>
            <a:endParaRPr/>
          </a:p>
        </p:txBody>
      </p:sp>
      <p:sp>
        <p:nvSpPr>
          <p:cNvPr id="194" name="Google Shape;194;p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4" name="Google Shape;204;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2" name="Google Shape;212;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{{Pause=2}} Most G P I O ports have 16 pins. This diagram shows the standard structure of one G P I O pin.  It includes the basic structure for both digital input, and digital output.  In this lecture, I will only focus on the digital output part. We will discuss the digital input in a separate lecture. </a:t>
            </a:r>
            <a:endParaRPr/>
          </a:p>
          <a:p>
            <a:pPr marL="0" lvl="0" indent="0" algn="l" rtl="0">
              <a:spcBef>
                <a:spcPts val="0"/>
              </a:spcBef>
              <a:spcAft>
                <a:spcPts val="0"/>
              </a:spcAft>
              <a:buNone/>
            </a:pPr>
            <a:endParaRPr/>
          </a:p>
        </p:txBody>
      </p:sp>
      <p:sp>
        <p:nvSpPr>
          <p:cNvPr id="213" name="Google Shape;213;p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2" name="Google Shape;222;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{{Pause=2}} Here is the basic structure, that is designed for digital output, on one G P I O pin.  There are four important registers related to output, including the output data register, {{Pause=1}}  the mode register, {{Pause=1}}  the data output type register, {{Pause=1}}  and the pull-up pull-down register. In this slide, I only give a short overview of each registers. Detailed discussion will be presented in the next few slides.  {{Pause=1}} We can use the mode register to configure the pin as output. {{Pause=1}} The output type register, sets the output pin as, either push-pull or open-drain. {{Pause=1}} The pull-up pull down register, specifies, whether the pin is pulled up to a high voltage by a resister, or the pin is pulled down to the ground via another resister. </a:t>
            </a:r>
            <a:endParaRPr/>
          </a:p>
          <a:p>
            <a:pPr marL="0" lvl="0" indent="0" algn="l" rtl="0">
              <a:spcBef>
                <a:spcPts val="0"/>
              </a:spcBef>
              <a:spcAft>
                <a:spcPts val="0"/>
              </a:spcAft>
              <a:buNone/>
            </a:pPr>
            <a:endParaRPr/>
          </a:p>
          <a:p>
            <a:pPr marL="0" lvl="0" indent="0" algn="l" rtl="0">
              <a:spcBef>
                <a:spcPts val="0"/>
              </a:spcBef>
              <a:spcAft>
                <a:spcPts val="0"/>
              </a:spcAft>
              <a:buNone/>
            </a:pPr>
            <a:r>
              <a:rPr lang="en-US"/>
              <a:t>{{Pause=1}} When the pin is configured as output, the value written to the output data register is output on the G P I O pin.  {{Pause=1}} However, whether the pin has a high voltage output, a low voltage output, or a high impedance output, depends on the configuration of the output type register, and the pull-up pull-down register. </a:t>
            </a:r>
            <a:endParaRPr/>
          </a:p>
        </p:txBody>
      </p:sp>
      <p:sp>
        <p:nvSpPr>
          <p:cNvPr id="223" name="Google Shape;223;p1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9" name="Google Shape;249;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marR="0" lvl="0" indent="0" algn="l" rtl="0">
              <a:lnSpc>
                <a:spcPct val="80000"/>
              </a:lnSpc>
              <a:spcBef>
                <a:spcPts val="0"/>
              </a:spcBef>
              <a:spcAft>
                <a:spcPts val="0"/>
              </a:spcAft>
              <a:buClr>
                <a:schemeClr val="dk1"/>
              </a:buClr>
              <a:buSzPts val="2220"/>
              <a:buFont typeface="Calibri"/>
              <a:buNone/>
            </a:pPr>
            <a:r>
              <a:rPr lang="en-US" sz="2220"/>
              <a:t>{{Pause=2}}  Except the G P I O mode register, there are two other registers, which are related to G P I O input. They are the input data register (IDR), and the pull-up pull-down register (P U P D R). </a:t>
            </a:r>
            <a:endParaRPr/>
          </a:p>
          <a:p>
            <a:pPr marL="0" marR="0" lvl="0" indent="0" algn="l" rtl="0">
              <a:lnSpc>
                <a:spcPct val="80000"/>
              </a:lnSpc>
              <a:spcBef>
                <a:spcPts val="0"/>
              </a:spcBef>
              <a:spcAft>
                <a:spcPts val="0"/>
              </a:spcAft>
              <a:buClr>
                <a:schemeClr val="dk1"/>
              </a:buClr>
              <a:buSzPts val="2220"/>
              <a:buFont typeface="Calibri"/>
              <a:buNone/>
            </a:pPr>
            <a:r>
              <a:rPr lang="en-US" sz="2220"/>
              <a:t>{{Pause=1}}  The input module, includes one important electronic component, called, Schmitt Trigger.  The Schmitt trigger circuit is a special voltage comparator. It has two functions. First, it reduces noises, and provides a cleaner and more reliable signal. Second, it converts a slow signal edge, into a clean edge with instantaneous transition. Thus, it can increase the slew rate of signals. </a:t>
            </a:r>
            <a:endParaRPr/>
          </a:p>
          <a:p>
            <a:pPr marL="0" lvl="0" indent="0" algn="l" rtl="0">
              <a:lnSpc>
                <a:spcPct val="80000"/>
              </a:lnSpc>
              <a:spcBef>
                <a:spcPts val="0"/>
              </a:spcBef>
              <a:spcAft>
                <a:spcPts val="0"/>
              </a:spcAft>
              <a:buNone/>
            </a:pPr>
            <a:endParaRPr sz="1110"/>
          </a:p>
        </p:txBody>
      </p:sp>
      <p:sp>
        <p:nvSpPr>
          <p:cNvPr id="250" name="Google Shape;250;p1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0" name="Google Shape;270;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{{Pause=2}} Let me explain the motivations of the Schmitt trigger.  In practice, an analog signal often has electronic noise, introduced by various electronic components. The noise makes the signal fluctuate frequently. In addition, analog signal tends to rise or fall slowly, because of inherent parasitic capacitance, resistance, or induction in electronic circuits. Accordingly, analog signals tend to have small slew rates. The slew rate describes how fast a voltage changes. It is usually measured in volts per microsecond.</a:t>
            </a:r>
            <a:endParaRPr/>
          </a:p>
          <a:p>
            <a:pPr marL="0" lvl="0" indent="0" algn="l" rtl="0">
              <a:spcBef>
                <a:spcPts val="0"/>
              </a:spcBef>
              <a:spcAft>
                <a:spcPts val="0"/>
              </a:spcAft>
              <a:buNone/>
            </a:pPr>
            <a:endParaRPr/>
          </a:p>
        </p:txBody>
      </p:sp>
      <p:sp>
        <p:nvSpPr>
          <p:cNvPr id="271" name="Google Shape;271;p1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0" name="Google Shape;280;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Let’s see what will happen, if we use a simple comparator, to convert the analog input signal, to a binary digital signal.  The simple comparator compares the input voltage with a pre-defined threshold. If the input is larger than the threshold, then the comparator outputs high level. Otherwise, the comparator outputs low level.   Here is the output of the simple comparator. </a:t>
            </a:r>
            <a:endParaRPr/>
          </a:p>
        </p:txBody>
      </p:sp>
      <p:sp>
        <p:nvSpPr>
          <p:cNvPr id="281" name="Google Shape;281;p1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9" name="Google Shape;289;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{{Pause=2}} Different from the simple comparator, the Schmitt Trigger is a special circuit, which switches the output, based on two different thresholds. They are called the trigger high threshold, and the trigger low threshold. The output of a Schmitt Trigger depends on the current input, and the history of the input. When the input voltage increases from zero, the output remains low, until the input becomes larger than the high threshold. {{Pause=1}} Similarly, when the voltage decreases gradually, the output remains high, until the input becomes smaller than the low threshold.   {{Pause=1}}  Any fluctuation in the range between the high and low thresholds is ignored by the Schmitt trigger.  </a:t>
            </a:r>
            <a:endParaRPr/>
          </a:p>
          <a:p>
            <a:pPr marL="0" lvl="0" indent="0" algn="l" rtl="0">
              <a:spcBef>
                <a:spcPts val="0"/>
              </a:spcBef>
              <a:spcAft>
                <a:spcPts val="0"/>
              </a:spcAft>
              <a:buNone/>
            </a:pPr>
            <a:endParaRPr/>
          </a:p>
          <a:p>
            <a:pPr marL="0" lvl="0" indent="0" algn="l" rtl="0">
              <a:spcBef>
                <a:spcPts val="0"/>
              </a:spcBef>
              <a:spcAft>
                <a:spcPts val="0"/>
              </a:spcAft>
              <a:buNone/>
            </a:pPr>
            <a:r>
              <a:rPr lang="en-US"/>
              <a:t>{{Pause=2}} This figure compares the output of the Schmitt Trigger, and the simple comparator. When the input signal fluctuates slightly, the output of the Schmitt Trigger does not switch its output level. For example, at the beginning, the output of Schmitt Trigger is low. When the input signal fluctuates, the output remains low as long as the input signal is lower than the high threshold. Similarly, if the current output is high, even thought the input fluctuates, the output remains high as long as the input is higher than the low threshold. </a:t>
            </a:r>
            <a:endParaRPr/>
          </a:p>
          <a:p>
            <a:pPr marL="0" lvl="0" indent="0" algn="l" rtl="0">
              <a:spcBef>
                <a:spcPts val="0"/>
              </a:spcBef>
              <a:spcAft>
                <a:spcPts val="0"/>
              </a:spcAft>
              <a:buNone/>
            </a:pPr>
            <a:endParaRPr/>
          </a:p>
          <a:p>
            <a:pPr marL="0" lvl="0" indent="0" algn="l" rtl="0">
              <a:spcBef>
                <a:spcPts val="0"/>
              </a:spcBef>
              <a:spcAft>
                <a:spcPts val="0"/>
              </a:spcAft>
              <a:buNone/>
            </a:pPr>
            <a:r>
              <a:rPr lang="en-US"/>
              <a:t>{{Pause=1}} From this simple example, we can see that, the Schmitt Trigger switches its output, much less frequently than the simple comparator.  Accordingly, the Schmitt trigger helps eliminate noise in the input signal. </a:t>
            </a:r>
            <a:endParaRPr/>
          </a:p>
        </p:txBody>
      </p:sp>
      <p:sp>
        <p:nvSpPr>
          <p:cNvPr id="290" name="Google Shape;290;p1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2" name="Google Shape;302;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{{Pause=2}} To improve energy-efficiency, the clock of most peripherals, is turned off. As presented previously, the red LED is connected to the pin 2 of port B. {{Pause=1}} First of all, we need to enable the clock of G P I O Port B.  The clock can be turned on or off by configuring the reset and clock control module (RCC). Specifically, the clock of port B is controlled by the AHB2, peripheral clock enable register (A H B 2 E N R).  We need to set bit 1, that is, G P I O B Enable Bit, of this register to 1. When G P I O B Enable bit is 1, the clock signal can pass through this logic {{Pause=0.1}} AND gate to drive the port B. On the other hand, if G P I O B Enable it is zero, the output of the logic {{Pause=0.1}} AND gate is always zero. Accordingly, the port B has no clock input.</a:t>
            </a:r>
            <a:endParaRPr/>
          </a:p>
          <a:p>
            <a:pPr marL="0" lvl="0" indent="0" algn="l" rtl="0">
              <a:spcBef>
                <a:spcPts val="0"/>
              </a:spcBef>
              <a:spcAft>
                <a:spcPts val="0"/>
              </a:spcAft>
              <a:buNone/>
            </a:pPr>
            <a:endParaRPr/>
          </a:p>
          <a:p>
            <a:pPr marL="0" lvl="0" indent="0" algn="l" rtl="0">
              <a:spcBef>
                <a:spcPts val="0"/>
              </a:spcBef>
              <a:spcAft>
                <a:spcPts val="0"/>
              </a:spcAft>
              <a:buNone/>
            </a:pPr>
            <a:r>
              <a:rPr lang="en-US"/>
              <a:t>{{Pause=1}} Software can set G P I O B Enable bit to 1 by using bitwise OR.  In order to make the code more readable, we use this macro to define this constant. In fact, this macro has already been defined in the device header file. </a:t>
            </a:r>
            <a:endParaRPr/>
          </a:p>
        </p:txBody>
      </p:sp>
      <p:sp>
        <p:nvSpPr>
          <p:cNvPr id="303" name="Google Shape;303;p1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2" name="Google Shape;352;p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{{Pause=2}} When a G P I O pin is used for digital input, the default state of a pin can be high voltage, low voltage, or high impedance. The high impedance state is also called floating or tri-stated. Pull-up and pull-down are used to ensure the input pin has a valid input, either logic 1 or logic 0, when the external circuit does not drive the pin. {{Pause=1}} When a pin is configured as pull-down, the pin is then internally connected to the ground via a resistor. Similarly, when software configures a pin as pull-up, the pin is internally connected to the power supply via a resistor. When a pin is neither pulled up nor pulled down internally, then the pin has high impedance. {{Pause=1}} Note that the internal pull-up and pull-down resistors have large impedance, typically large than 10K ohms. When external circuit, connected to a G P I O pin, has a fair amount of capacitance, the process of, pulling the pin voltage to the level of logic high or logic low, takes a long time. This is because the impedance of, the internal pull-up and pull-down resistors, is too large.  To meet the speed requirements, external pull-up or pull-down with small resistors, are often needed. </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{{Pause=1}} Here is the C code that sets pin 0 as no  pull-up, no pull-down. It clears bit 1 and bit 0 of the P U P D R register by bitwise AND. Note that that pin 0 has already been pulled down externally. Therefore, we do not have to pull it down internally. </a:t>
            </a:r>
            <a:endParaRPr/>
          </a:p>
        </p:txBody>
      </p:sp>
      <p:sp>
        <p:nvSpPr>
          <p:cNvPr id="353" name="Google Shape;353;p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2" name="Google Shape;372;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i="0" u="none" strike="noStrike">
                <a:solidFill>
                  <a:schemeClr val="dk1"/>
                </a:solidFill>
                <a:latin typeface="Calibri"/>
                <a:ea typeface="Calibri"/>
                <a:cs typeface="Calibri"/>
                <a:sym typeface="Calibri"/>
              </a:rPr>
              <a:t>{{Pause=2}} The digital input is sampled every APB cycle. If the input is high, then the corresponding bit, in the input data register (IDR), is set.  We can use a mask to read the read the individual bit of the input data register. as shown in this C code. For example, in order to read the input on pin 7, we first define a mask. Then, we use bit-wise operation AND. We compare the bit-wise result with the mask. If they are the same, the input on pin 7 is 1. Otherwise, the input is 0.</a:t>
            </a:r>
            <a:endParaRPr/>
          </a:p>
        </p:txBody>
      </p:sp>
      <p:sp>
        <p:nvSpPr>
          <p:cNvPr id="373" name="Google Shape;373;p1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3" name="Google Shape;383;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sz="2400"/>
              <a:t>{{Pause=2}} </a:t>
            </a:r>
            <a:r>
              <a:rPr lang="en-US" sz="2400" b="0" i="0">
                <a:solidFill>
                  <a:schemeClr val="dk1"/>
                </a:solidFill>
                <a:latin typeface="Calibri"/>
                <a:ea typeface="Calibri"/>
                <a:cs typeface="Calibri"/>
                <a:sym typeface="Calibri"/>
              </a:rPr>
              <a:t>The STM32L4 discovery kit has a four-direction joystick. The user may push in one of four directions at a time : up, down, left, and right.  The user may also press the center of the joystick. The center is often used as a selector.</a:t>
            </a:r>
            <a:endParaRPr sz="2400" b="0" i="0">
              <a:solidFill>
                <a:schemeClr val="dk1"/>
              </a:solidFill>
              <a:latin typeface="Calibri"/>
              <a:ea typeface="Calibri"/>
              <a:cs typeface="Calibri"/>
              <a:sym typeface="Calibri"/>
            </a:endParaRPr>
          </a:p>
        </p:txBody>
      </p:sp>
      <p:sp>
        <p:nvSpPr>
          <p:cNvPr id="384" name="Google Shape;384;p1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3" name="Google Shape;403;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{{Pause=2}} Here is the schematic diagram, which shows the connections between the processor pins and the joystick. G P I O pins PA 0, PA 1, PA 5, PA 2, PA 3 are connected to the center, left, down, right, and up pin of the joystick, respectively. Each pin is connected to the ground, via a capacitor. The purpose of these capacitors is to perform hardware debouncing. When pressed, the switch within the joystick may bounce back and forth a few times before settling down. The bounces usually settle within 20 milliseconds. A capacitor can filter out any quick changes in a signal. Therefore, the capacitor can remove the bounces or glitches associated with switch transitions. </a:t>
            </a:r>
            <a:endParaRPr/>
          </a:p>
          <a:p>
            <a:pPr marL="0" lvl="0" indent="0" algn="l" rtl="0">
              <a:spcBef>
                <a:spcPts val="0"/>
              </a:spcBef>
              <a:spcAft>
                <a:spcPts val="0"/>
              </a:spcAft>
              <a:buNone/>
            </a:pPr>
            <a:endParaRPr sz="1200"/>
          </a:p>
          <a:p>
            <a:pPr marL="0" lvl="0" indent="0" algn="l" rtl="0">
              <a:spcBef>
                <a:spcPts val="0"/>
              </a:spcBef>
              <a:spcAft>
                <a:spcPts val="0"/>
              </a:spcAft>
              <a:buNone/>
            </a:pPr>
            <a:r>
              <a:rPr lang="en-US" sz="1200"/>
              <a:t>{{Pause=1}} Here is the internal diagram of the joystick. It has five switches. The common terminal is connected to the positive 3 volt. In this lecture, we will write a software program, to detect whether the center of the joystick is pressed. When the user presses the center of the joystick, this center switch is then closed. As result, pin PA 0 is then connected to the 3 volt.  Note that, the joystick center terminal, is pulled down to ground, via a 10K resistor. Therefore, the default voltage on the joystick center terminal is zero. However, the other four joystick terminals are not pulled down. </a:t>
            </a:r>
            <a:endParaRPr/>
          </a:p>
        </p:txBody>
      </p:sp>
      <p:sp>
        <p:nvSpPr>
          <p:cNvPr id="404" name="Google Shape;404;p1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0" name="Google Shape;430;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{{Pause=2}} This slide summarizes the software code, which read the input of the center switch of the joystick. Note that the center terminal of the joystick is connected to pin 0 of port A. The software involves four steps. First, we turn on the clock to enable port A.  Then, we set the mode of pin 0 as digital input. Next, we select no pull-up and no pull-down for pin 0. Finally, we read bit 0 by using bit-wise AND. If the bit-wise result is zero, then the center of the joystick is not pressed. Otherwise, it is pressed. </a:t>
            </a:r>
            <a:endParaRPr/>
          </a:p>
        </p:txBody>
      </p:sp>
      <p:sp>
        <p:nvSpPr>
          <p:cNvPr id="431" name="Google Shape;431;p2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8" name="Google Shape;438;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6" name="Google Shape;446;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2" name="Google Shape;462;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3" name="Google Shape;473;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p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9" name="Google Shape;489;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p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7" name="Google Shape;507;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p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5" name="Google Shape;525;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p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3" name="Google Shape;543;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p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1" name="Google Shape;561;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Google Shape;576;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7" name="Google Shape;577;p3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8" name="Google Shape;578;p3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p3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5" name="Google Shape;585;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8"/>
        <p:cNvGrpSpPr/>
        <p:nvPr/>
      </p:nvGrpSpPr>
      <p:grpSpPr>
        <a:xfrm>
          <a:off x="0" y="0"/>
          <a:ext cx="0" cy="0"/>
          <a:chOff x="0" y="0"/>
          <a:chExt cx="0" cy="0"/>
        </a:xfrm>
      </p:grpSpPr>
      <p:sp>
        <p:nvSpPr>
          <p:cNvPr id="19" name="Google Shape;19;p33"/>
          <p:cNvSpPr txBox="1">
            <a:spLocks noGrp="1"/>
          </p:cNvSpPr>
          <p:nvPr>
            <p:ph type="ctrTitle"/>
          </p:nvPr>
        </p:nvSpPr>
        <p:spPr>
          <a:xfrm>
            <a:off x="1219200" y="3886200"/>
            <a:ext cx="6858000" cy="990600"/>
          </a:xfrm>
          <a:prstGeom prst="rect">
            <a:avLst/>
          </a:prstGeom>
          <a:noFill/>
          <a:ln>
            <a:noFill/>
          </a:ln>
        </p:spPr>
        <p:txBody>
          <a:bodyPr spcFirstLastPara="1" wrap="square" lIns="91425" tIns="45700" rIns="91425" bIns="45700" anchor="t" anchorCtr="0">
            <a:normAutofit/>
          </a:bodyPr>
          <a:lstStyle>
            <a:lvl1pPr lvl="0" algn="r">
              <a:spcBef>
                <a:spcPts val="0"/>
              </a:spcBef>
              <a:spcAft>
                <a:spcPts val="0"/>
              </a:spcAft>
              <a:buClr>
                <a:schemeClr val="dk1"/>
              </a:buClr>
              <a:buSzPts val="3200"/>
              <a:buFont typeface="Bookman Old Style"/>
              <a:buNone/>
              <a:defRPr sz="3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33"/>
          <p:cNvSpPr txBox="1">
            <a:spLocks noGrp="1"/>
          </p:cNvSpPr>
          <p:nvPr>
            <p:ph type="subTitle" idx="1"/>
          </p:nvPr>
        </p:nvSpPr>
        <p:spPr>
          <a:xfrm>
            <a:off x="1219200" y="5124450"/>
            <a:ext cx="6858000" cy="533400"/>
          </a:xfrm>
          <a:prstGeom prst="rect">
            <a:avLst/>
          </a:prstGeom>
          <a:noFill/>
          <a:ln>
            <a:noFill/>
          </a:ln>
        </p:spPr>
        <p:txBody>
          <a:bodyPr spcFirstLastPara="1" wrap="square" lIns="91425" tIns="45700" rIns="91425" bIns="45700" anchor="t" anchorCtr="0">
            <a:normAutofit/>
          </a:bodyPr>
          <a:lstStyle>
            <a:lvl1pPr lvl="0" algn="r">
              <a:spcBef>
                <a:spcPts val="600"/>
              </a:spcBef>
              <a:spcAft>
                <a:spcPts val="0"/>
              </a:spcAft>
              <a:buSzPts val="1520"/>
              <a:buNone/>
              <a:defRPr sz="2000">
                <a:solidFill>
                  <a:schemeClr val="dk2"/>
                </a:solidFill>
                <a:latin typeface="Bookman Old Style"/>
                <a:ea typeface="Bookman Old Style"/>
                <a:cs typeface="Bookman Old Style"/>
                <a:sym typeface="Bookman Old Style"/>
              </a:defRPr>
            </a:lvl1pPr>
            <a:lvl2pPr lvl="1" algn="ctr">
              <a:spcBef>
                <a:spcPts val="500"/>
              </a:spcBef>
              <a:spcAft>
                <a:spcPts val="0"/>
              </a:spcAft>
              <a:buSzPts val="1368"/>
              <a:buNone/>
              <a:defRPr/>
            </a:lvl2pPr>
            <a:lvl3pPr lvl="2" algn="ctr">
              <a:spcBef>
                <a:spcPts val="500"/>
              </a:spcBef>
              <a:spcAft>
                <a:spcPts val="0"/>
              </a:spcAft>
              <a:buSzPts val="1368"/>
              <a:buNone/>
              <a:defRPr/>
            </a:lvl3pPr>
            <a:lvl4pPr lvl="3" algn="ctr">
              <a:spcBef>
                <a:spcPts val="400"/>
              </a:spcBef>
              <a:spcAft>
                <a:spcPts val="0"/>
              </a:spcAft>
              <a:buSzPts val="1260"/>
              <a:buNone/>
              <a:defRPr/>
            </a:lvl4pPr>
            <a:lvl5pPr lvl="4" algn="ctr">
              <a:spcBef>
                <a:spcPts val="300"/>
              </a:spcBef>
              <a:spcAft>
                <a:spcPts val="0"/>
              </a:spcAft>
              <a:buSzPts val="1260"/>
              <a:buNone/>
              <a:defRPr/>
            </a:lvl5pPr>
            <a:lvl6pPr lvl="5" algn="ctr">
              <a:spcBef>
                <a:spcPts val="300"/>
              </a:spcBef>
              <a:spcAft>
                <a:spcPts val="0"/>
              </a:spcAft>
              <a:buSzPts val="1350"/>
              <a:buNone/>
              <a:defRPr/>
            </a:lvl6pPr>
            <a:lvl7pPr lvl="6" algn="ctr">
              <a:spcBef>
                <a:spcPts val="300"/>
              </a:spcBef>
              <a:spcAft>
                <a:spcPts val="0"/>
              </a:spcAft>
              <a:buSzPts val="1350"/>
              <a:buNone/>
              <a:defRPr/>
            </a:lvl7pPr>
            <a:lvl8pPr lvl="7" algn="ctr">
              <a:spcBef>
                <a:spcPts val="300"/>
              </a:spcBef>
              <a:spcAft>
                <a:spcPts val="0"/>
              </a:spcAft>
              <a:buSzPts val="1350"/>
              <a:buNone/>
              <a:defRPr/>
            </a:lvl8pPr>
            <a:lvl9pPr lvl="8" algn="ctr">
              <a:spcBef>
                <a:spcPts val="300"/>
              </a:spcBef>
              <a:spcAft>
                <a:spcPts val="0"/>
              </a:spcAft>
              <a:buSzPts val="1350"/>
              <a:buNone/>
              <a:defRPr/>
            </a:lvl9pPr>
          </a:lstStyle>
          <a:p>
            <a:endParaRPr/>
          </a:p>
        </p:txBody>
      </p:sp>
      <p:sp>
        <p:nvSpPr>
          <p:cNvPr id="21" name="Google Shape;21;p33"/>
          <p:cNvSpPr txBox="1">
            <a:spLocks noGrp="1"/>
          </p:cNvSpPr>
          <p:nvPr>
            <p:ph type="dt" idx="10"/>
          </p:nvPr>
        </p:nvSpPr>
        <p:spPr>
          <a:xfrm>
            <a:off x="6400800" y="6355080"/>
            <a:ext cx="2286000" cy="36576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1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33"/>
          <p:cNvSpPr txBox="1">
            <a:spLocks noGrp="1"/>
          </p:cNvSpPr>
          <p:nvPr>
            <p:ph type="ftr" idx="11"/>
          </p:nvPr>
        </p:nvSpPr>
        <p:spPr>
          <a:xfrm>
            <a:off x="2898648" y="6355080"/>
            <a:ext cx="3474720" cy="36576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33"/>
          <p:cNvSpPr txBox="1">
            <a:spLocks noGrp="1"/>
          </p:cNvSpPr>
          <p:nvPr>
            <p:ph type="sldNum" idx="12"/>
          </p:nvPr>
        </p:nvSpPr>
        <p:spPr>
          <a:xfrm>
            <a:off x="1216152" y="6355080"/>
            <a:ext cx="1219200" cy="36576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24" name="Google Shape;24;p33"/>
          <p:cNvSpPr/>
          <p:nvPr/>
        </p:nvSpPr>
        <p:spPr>
          <a:xfrm>
            <a:off x="904875" y="3648075"/>
            <a:ext cx="7315200" cy="1280160"/>
          </a:xfrm>
          <a:prstGeom prst="rect">
            <a:avLst/>
          </a:prstGeom>
          <a:noFill/>
          <a:ln w="9525" cap="rnd"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
        <p:nvSpPr>
          <p:cNvPr id="25" name="Google Shape;25;p33"/>
          <p:cNvSpPr/>
          <p:nvPr/>
        </p:nvSpPr>
        <p:spPr>
          <a:xfrm>
            <a:off x="914400" y="5048250"/>
            <a:ext cx="7315200" cy="685800"/>
          </a:xfrm>
          <a:prstGeom prst="rect">
            <a:avLst/>
          </a:prstGeom>
          <a:noFill/>
          <a:ln w="952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
        <p:nvSpPr>
          <p:cNvPr id="26" name="Google Shape;26;p33"/>
          <p:cNvSpPr/>
          <p:nvPr/>
        </p:nvSpPr>
        <p:spPr>
          <a:xfrm>
            <a:off x="904875" y="3648075"/>
            <a:ext cx="228600" cy="128016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
        <p:nvSpPr>
          <p:cNvPr id="27" name="Google Shape;27;p33"/>
          <p:cNvSpPr/>
          <p:nvPr/>
        </p:nvSpPr>
        <p:spPr>
          <a:xfrm>
            <a:off x="914400" y="5048250"/>
            <a:ext cx="228600" cy="6858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8"/>
        <p:cNvGrpSpPr/>
        <p:nvPr/>
      </p:nvGrpSpPr>
      <p:grpSpPr>
        <a:xfrm>
          <a:off x="0" y="0"/>
          <a:ext cx="0" cy="0"/>
          <a:chOff x="0" y="0"/>
          <a:chExt cx="0" cy="0"/>
        </a:xfrm>
      </p:grpSpPr>
      <p:sp>
        <p:nvSpPr>
          <p:cNvPr id="29" name="Google Shape;29;p34"/>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34"/>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34"/>
          <p:cNvSpPr txBox="1">
            <a:spLocks noGrp="1"/>
          </p:cNvSpPr>
          <p:nvPr>
            <p:ph type="ftr" idx="11"/>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34"/>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33" name="Google Shape;33;p34"/>
          <p:cNvSpPr txBox="1">
            <a:spLocks noGrp="1"/>
          </p:cNvSpPr>
          <p:nvPr>
            <p:ph type="body" idx="1"/>
          </p:nvPr>
        </p:nvSpPr>
        <p:spPr>
          <a:xfrm>
            <a:off x="457200" y="1219200"/>
            <a:ext cx="8229600" cy="4937760"/>
          </a:xfrm>
          <a:prstGeom prst="rect">
            <a:avLst/>
          </a:prstGeom>
          <a:noFill/>
          <a:ln>
            <a:noFill/>
          </a:ln>
        </p:spPr>
        <p:txBody>
          <a:bodyPr spcFirstLastPara="1" wrap="square" lIns="91425" tIns="45700" rIns="91425" bIns="45700" anchor="t" anchorCtr="0">
            <a:normAutofit/>
          </a:bodyPr>
          <a:lstStyle>
            <a:lvl1pPr marL="457200" lvl="0" indent="-315468" algn="l">
              <a:spcBef>
                <a:spcPts val="600"/>
              </a:spcBef>
              <a:spcAft>
                <a:spcPts val="0"/>
              </a:spcAft>
              <a:buSzPts val="1368"/>
              <a:buChar char="🞂"/>
              <a:defRPr/>
            </a:lvl1pPr>
            <a:lvl2pPr marL="914400" lvl="1" indent="-315468" algn="l">
              <a:spcBef>
                <a:spcPts val="500"/>
              </a:spcBef>
              <a:spcAft>
                <a:spcPts val="0"/>
              </a:spcAft>
              <a:buSzPts val="1368"/>
              <a:buChar char="🞂"/>
              <a:defRPr/>
            </a:lvl2pPr>
            <a:lvl3pPr marL="1371600" lvl="2" indent="-315467" algn="l">
              <a:spcBef>
                <a:spcPts val="500"/>
              </a:spcBef>
              <a:spcAft>
                <a:spcPts val="0"/>
              </a:spcAft>
              <a:buSzPts val="1368"/>
              <a:buChar char="🞂"/>
              <a:defRPr/>
            </a:lvl3pPr>
            <a:lvl4pPr marL="1828800" lvl="3" indent="-308610" algn="l">
              <a:spcBef>
                <a:spcPts val="400"/>
              </a:spcBef>
              <a:spcAft>
                <a:spcPts val="0"/>
              </a:spcAft>
              <a:buSzPts val="1260"/>
              <a:buChar char="◻"/>
              <a:defRPr/>
            </a:lvl4pPr>
            <a:lvl5pPr marL="2286000" lvl="4" indent="-308610" algn="l">
              <a:spcBef>
                <a:spcPts val="300"/>
              </a:spcBef>
              <a:spcAft>
                <a:spcPts val="0"/>
              </a:spcAft>
              <a:buSzPts val="1260"/>
              <a:buChar char="◻"/>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bg>
      <p:bgPr>
        <a:solidFill>
          <a:schemeClr val="dk2"/>
        </a:solidFill>
        <a:effectLst/>
      </p:bgPr>
    </p:bg>
    <p:spTree>
      <p:nvGrpSpPr>
        <p:cNvPr id="1" name="Shape 34"/>
        <p:cNvGrpSpPr/>
        <p:nvPr/>
      </p:nvGrpSpPr>
      <p:grpSpPr>
        <a:xfrm>
          <a:off x="0" y="0"/>
          <a:ext cx="0" cy="0"/>
          <a:chOff x="0" y="0"/>
          <a:chExt cx="0" cy="0"/>
        </a:xfrm>
      </p:grpSpPr>
      <p:sp>
        <p:nvSpPr>
          <p:cNvPr id="35" name="Google Shape;35;p35"/>
          <p:cNvSpPr txBox="1">
            <a:spLocks noGrp="1"/>
          </p:cNvSpPr>
          <p:nvPr>
            <p:ph type="title"/>
          </p:nvPr>
        </p:nvSpPr>
        <p:spPr>
          <a:xfrm>
            <a:off x="1219200" y="2971800"/>
            <a:ext cx="6858000" cy="1066800"/>
          </a:xfrm>
          <a:prstGeom prst="rect">
            <a:avLst/>
          </a:prstGeom>
          <a:noFill/>
          <a:ln>
            <a:noFill/>
          </a:ln>
        </p:spPr>
        <p:txBody>
          <a:bodyPr spcFirstLastPara="1" wrap="square" lIns="91425" tIns="45700" rIns="91425" bIns="45700" anchor="t" anchorCtr="0">
            <a:normAutofit/>
          </a:bodyPr>
          <a:lstStyle>
            <a:lvl1pPr lvl="0" algn="r">
              <a:spcBef>
                <a:spcPts val="0"/>
              </a:spcBef>
              <a:spcAft>
                <a:spcPts val="0"/>
              </a:spcAft>
              <a:buClr>
                <a:schemeClr val="lt2"/>
              </a:buClr>
              <a:buSzPts val="3200"/>
              <a:buFont typeface="Bookman Old Style"/>
              <a:buNone/>
              <a:defRPr sz="3200" b="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35"/>
          <p:cNvSpPr txBox="1">
            <a:spLocks noGrp="1"/>
          </p:cNvSpPr>
          <p:nvPr>
            <p:ph type="body" idx="1"/>
          </p:nvPr>
        </p:nvSpPr>
        <p:spPr>
          <a:xfrm>
            <a:off x="1295400" y="4267200"/>
            <a:ext cx="6781800" cy="1143000"/>
          </a:xfrm>
          <a:prstGeom prst="rect">
            <a:avLst/>
          </a:prstGeom>
          <a:noFill/>
          <a:ln>
            <a:noFill/>
          </a:ln>
        </p:spPr>
        <p:txBody>
          <a:bodyPr spcFirstLastPara="1" wrap="square" lIns="91425" tIns="45700" rIns="91425" bIns="45700" anchor="t" anchorCtr="0">
            <a:normAutofit/>
          </a:bodyPr>
          <a:lstStyle>
            <a:lvl1pPr marL="457200" lvl="0" indent="-228600" algn="r">
              <a:spcBef>
                <a:spcPts val="600"/>
              </a:spcBef>
              <a:spcAft>
                <a:spcPts val="0"/>
              </a:spcAft>
              <a:buSzPts val="1520"/>
              <a:buNone/>
              <a:defRPr sz="2000">
                <a:solidFill>
                  <a:schemeClr val="lt1"/>
                </a:solidFill>
              </a:defRPr>
            </a:lvl1pPr>
            <a:lvl2pPr marL="914400" lvl="1" indent="-228600" algn="l">
              <a:spcBef>
                <a:spcPts val="500"/>
              </a:spcBef>
              <a:spcAft>
                <a:spcPts val="0"/>
              </a:spcAft>
              <a:buSzPts val="1368"/>
              <a:buNone/>
              <a:defRPr sz="1800">
                <a:solidFill>
                  <a:schemeClr val="lt1"/>
                </a:solidFill>
              </a:defRPr>
            </a:lvl2pPr>
            <a:lvl3pPr marL="1371600" lvl="2" indent="-228600" algn="l">
              <a:spcBef>
                <a:spcPts val="500"/>
              </a:spcBef>
              <a:spcAft>
                <a:spcPts val="0"/>
              </a:spcAft>
              <a:buSzPts val="1216"/>
              <a:buNone/>
              <a:defRPr sz="1600">
                <a:solidFill>
                  <a:schemeClr val="lt1"/>
                </a:solidFill>
              </a:defRPr>
            </a:lvl3pPr>
            <a:lvl4pPr marL="1828800" lvl="3" indent="-228600" algn="l">
              <a:spcBef>
                <a:spcPts val="400"/>
              </a:spcBef>
              <a:spcAft>
                <a:spcPts val="0"/>
              </a:spcAft>
              <a:buSzPts val="980"/>
              <a:buNone/>
              <a:defRPr sz="1400">
                <a:solidFill>
                  <a:schemeClr val="lt1"/>
                </a:solidFill>
              </a:defRPr>
            </a:lvl4pPr>
            <a:lvl5pPr marL="2286000" lvl="4" indent="-228600" algn="l">
              <a:spcBef>
                <a:spcPts val="300"/>
              </a:spcBef>
              <a:spcAft>
                <a:spcPts val="0"/>
              </a:spcAft>
              <a:buSzPts val="980"/>
              <a:buNone/>
              <a:defRPr sz="1400">
                <a:solidFill>
                  <a:schemeClr val="lt1"/>
                </a:solidFill>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37" name="Google Shape;37;p35"/>
          <p:cNvSpPr txBox="1">
            <a:spLocks noGrp="1"/>
          </p:cNvSpPr>
          <p:nvPr>
            <p:ph type="dt" idx="10"/>
          </p:nvPr>
        </p:nvSpPr>
        <p:spPr>
          <a:xfrm>
            <a:off x="6400800" y="6355080"/>
            <a:ext cx="2286000" cy="36576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35"/>
          <p:cNvSpPr txBox="1">
            <a:spLocks noGrp="1"/>
          </p:cNvSpPr>
          <p:nvPr>
            <p:ph type="ftr" idx="11"/>
          </p:nvPr>
        </p:nvSpPr>
        <p:spPr>
          <a:xfrm>
            <a:off x="2898648" y="6355080"/>
            <a:ext cx="3474720" cy="36576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35"/>
          <p:cNvSpPr txBox="1">
            <a:spLocks noGrp="1"/>
          </p:cNvSpPr>
          <p:nvPr>
            <p:ph type="sldNum" idx="12"/>
          </p:nvPr>
        </p:nvSpPr>
        <p:spPr>
          <a:xfrm>
            <a:off x="1069848" y="6355080"/>
            <a:ext cx="1520952" cy="36576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40" name="Google Shape;40;p35"/>
          <p:cNvSpPr/>
          <p:nvPr/>
        </p:nvSpPr>
        <p:spPr>
          <a:xfrm>
            <a:off x="914400" y="2819400"/>
            <a:ext cx="7315200" cy="1280160"/>
          </a:xfrm>
          <a:prstGeom prst="rect">
            <a:avLst/>
          </a:prstGeom>
          <a:noFill/>
          <a:ln w="9525" cap="rnd"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41" name="Google Shape;41;p35"/>
          <p:cNvSpPr/>
          <p:nvPr/>
        </p:nvSpPr>
        <p:spPr>
          <a:xfrm>
            <a:off x="914400" y="2819400"/>
            <a:ext cx="228600" cy="128016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2"/>
        <p:cNvGrpSpPr/>
        <p:nvPr/>
      </p:nvGrpSpPr>
      <p:grpSpPr>
        <a:xfrm>
          <a:off x="0" y="0"/>
          <a:ext cx="0" cy="0"/>
          <a:chOff x="0" y="0"/>
          <a:chExt cx="0" cy="0"/>
        </a:xfrm>
      </p:grpSpPr>
      <p:sp>
        <p:nvSpPr>
          <p:cNvPr id="43" name="Google Shape;43;p36"/>
          <p:cNvSpPr txBox="1">
            <a:spLocks noGrp="1"/>
          </p:cNvSpPr>
          <p:nvPr>
            <p:ph type="title"/>
          </p:nvPr>
        </p:nvSpPr>
        <p:spPr>
          <a:xfrm>
            <a:off x="457200" y="228600"/>
            <a:ext cx="8229600" cy="9144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36"/>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36"/>
          <p:cNvSpPr txBox="1">
            <a:spLocks noGrp="1"/>
          </p:cNvSpPr>
          <p:nvPr>
            <p:ph type="ftr" idx="11"/>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36"/>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47" name="Google Shape;47;p36"/>
          <p:cNvSpPr txBox="1">
            <a:spLocks noGrp="1"/>
          </p:cNvSpPr>
          <p:nvPr>
            <p:ph type="body" idx="1"/>
          </p:nvPr>
        </p:nvSpPr>
        <p:spPr>
          <a:xfrm>
            <a:off x="457200" y="1219200"/>
            <a:ext cx="4041648" cy="4937760"/>
          </a:xfrm>
          <a:prstGeom prst="rect">
            <a:avLst/>
          </a:prstGeom>
          <a:noFill/>
          <a:ln>
            <a:noFill/>
          </a:ln>
        </p:spPr>
        <p:txBody>
          <a:bodyPr spcFirstLastPara="1" wrap="square" lIns="91425" tIns="45700" rIns="91425" bIns="45700" anchor="t" anchorCtr="0">
            <a:normAutofit/>
          </a:bodyPr>
          <a:lstStyle>
            <a:lvl1pPr marL="457200" lvl="0" indent="-315468" algn="l">
              <a:spcBef>
                <a:spcPts val="600"/>
              </a:spcBef>
              <a:spcAft>
                <a:spcPts val="0"/>
              </a:spcAft>
              <a:buSzPts val="1368"/>
              <a:buChar char="🞂"/>
              <a:defRPr/>
            </a:lvl1pPr>
            <a:lvl2pPr marL="914400" lvl="1" indent="-315468" algn="l">
              <a:spcBef>
                <a:spcPts val="500"/>
              </a:spcBef>
              <a:spcAft>
                <a:spcPts val="0"/>
              </a:spcAft>
              <a:buSzPts val="1368"/>
              <a:buChar char="🞂"/>
              <a:defRPr/>
            </a:lvl2pPr>
            <a:lvl3pPr marL="1371600" lvl="2" indent="-315467" algn="l">
              <a:spcBef>
                <a:spcPts val="500"/>
              </a:spcBef>
              <a:spcAft>
                <a:spcPts val="0"/>
              </a:spcAft>
              <a:buSzPts val="1368"/>
              <a:buChar char="🞂"/>
              <a:defRPr/>
            </a:lvl3pPr>
            <a:lvl4pPr marL="1828800" lvl="3" indent="-308610" algn="l">
              <a:spcBef>
                <a:spcPts val="400"/>
              </a:spcBef>
              <a:spcAft>
                <a:spcPts val="0"/>
              </a:spcAft>
              <a:buSzPts val="1260"/>
              <a:buChar char="◻"/>
              <a:defRPr/>
            </a:lvl4pPr>
            <a:lvl5pPr marL="2286000" lvl="4" indent="-308610" algn="l">
              <a:spcBef>
                <a:spcPts val="300"/>
              </a:spcBef>
              <a:spcAft>
                <a:spcPts val="0"/>
              </a:spcAft>
              <a:buSzPts val="1260"/>
              <a:buChar char="◻"/>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48" name="Google Shape;48;p36"/>
          <p:cNvSpPr txBox="1">
            <a:spLocks noGrp="1"/>
          </p:cNvSpPr>
          <p:nvPr>
            <p:ph type="body" idx="2"/>
          </p:nvPr>
        </p:nvSpPr>
        <p:spPr>
          <a:xfrm>
            <a:off x="4632198" y="1216152"/>
            <a:ext cx="4041648" cy="4937760"/>
          </a:xfrm>
          <a:prstGeom prst="rect">
            <a:avLst/>
          </a:prstGeom>
          <a:noFill/>
          <a:ln>
            <a:noFill/>
          </a:ln>
        </p:spPr>
        <p:txBody>
          <a:bodyPr spcFirstLastPara="1" wrap="square" lIns="91425" tIns="45700" rIns="91425" bIns="45700" anchor="t" anchorCtr="0">
            <a:normAutofit/>
          </a:bodyPr>
          <a:lstStyle>
            <a:lvl1pPr marL="457200" lvl="0" indent="-315468" algn="l">
              <a:spcBef>
                <a:spcPts val="600"/>
              </a:spcBef>
              <a:spcAft>
                <a:spcPts val="0"/>
              </a:spcAft>
              <a:buSzPts val="1368"/>
              <a:buChar char="🞂"/>
              <a:defRPr/>
            </a:lvl1pPr>
            <a:lvl2pPr marL="914400" lvl="1" indent="-315468" algn="l">
              <a:spcBef>
                <a:spcPts val="500"/>
              </a:spcBef>
              <a:spcAft>
                <a:spcPts val="0"/>
              </a:spcAft>
              <a:buSzPts val="1368"/>
              <a:buChar char="🞂"/>
              <a:defRPr/>
            </a:lvl2pPr>
            <a:lvl3pPr marL="1371600" lvl="2" indent="-315467" algn="l">
              <a:spcBef>
                <a:spcPts val="500"/>
              </a:spcBef>
              <a:spcAft>
                <a:spcPts val="0"/>
              </a:spcAft>
              <a:buSzPts val="1368"/>
              <a:buChar char="🞂"/>
              <a:defRPr/>
            </a:lvl3pPr>
            <a:lvl4pPr marL="1828800" lvl="3" indent="-308610" algn="l">
              <a:spcBef>
                <a:spcPts val="400"/>
              </a:spcBef>
              <a:spcAft>
                <a:spcPts val="0"/>
              </a:spcAft>
              <a:buSzPts val="1260"/>
              <a:buChar char="◻"/>
              <a:defRPr/>
            </a:lvl4pPr>
            <a:lvl5pPr marL="2286000" lvl="4" indent="-308610" algn="l">
              <a:spcBef>
                <a:spcPts val="300"/>
              </a:spcBef>
              <a:spcAft>
                <a:spcPts val="0"/>
              </a:spcAft>
              <a:buSzPts val="1260"/>
              <a:buChar char="◻"/>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9"/>
        <p:cNvGrpSpPr/>
        <p:nvPr/>
      </p:nvGrpSpPr>
      <p:grpSpPr>
        <a:xfrm>
          <a:off x="0" y="0"/>
          <a:ext cx="0" cy="0"/>
          <a:chOff x="0" y="0"/>
          <a:chExt cx="0" cy="0"/>
        </a:xfrm>
      </p:grpSpPr>
      <p:sp>
        <p:nvSpPr>
          <p:cNvPr id="50" name="Google Shape;50;p37"/>
          <p:cNvSpPr txBox="1">
            <a:spLocks noGrp="1"/>
          </p:cNvSpPr>
          <p:nvPr>
            <p:ph type="title"/>
          </p:nvPr>
        </p:nvSpPr>
        <p:spPr>
          <a:xfrm>
            <a:off x="457200" y="228600"/>
            <a:ext cx="8229600" cy="9144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2"/>
              </a:buClr>
              <a:buSzPts val="3200"/>
              <a:buFont typeface="Bookman Old Style"/>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37"/>
          <p:cNvSpPr txBox="1">
            <a:spLocks noGrp="1"/>
          </p:cNvSpPr>
          <p:nvPr>
            <p:ph type="body" idx="1"/>
          </p:nvPr>
        </p:nvSpPr>
        <p:spPr>
          <a:xfrm>
            <a:off x="457200" y="1285875"/>
            <a:ext cx="4040188" cy="685800"/>
          </a:xfrm>
          <a:prstGeom prst="rect">
            <a:avLst/>
          </a:prstGeom>
          <a:noFill/>
          <a:ln>
            <a:noFill/>
          </a:ln>
        </p:spPr>
        <p:txBody>
          <a:bodyPr spcFirstLastPara="1" wrap="square" lIns="91425" tIns="45700" rIns="91425" bIns="45700" anchor="b" anchorCtr="0">
            <a:noAutofit/>
          </a:bodyPr>
          <a:lstStyle>
            <a:lvl1pPr marL="457200" lvl="0" indent="-228600" algn="l">
              <a:spcBef>
                <a:spcPts val="600"/>
              </a:spcBef>
              <a:spcAft>
                <a:spcPts val="0"/>
              </a:spcAft>
              <a:buSzPts val="1824"/>
              <a:buNone/>
              <a:defRPr sz="2400" b="1">
                <a:solidFill>
                  <a:schemeClr val="accent2"/>
                </a:solidFill>
              </a:defRPr>
            </a:lvl1pPr>
            <a:lvl2pPr marL="914400" lvl="1" indent="-228600" algn="l">
              <a:spcBef>
                <a:spcPts val="500"/>
              </a:spcBef>
              <a:spcAft>
                <a:spcPts val="0"/>
              </a:spcAft>
              <a:buSzPts val="1520"/>
              <a:buNone/>
              <a:defRPr sz="2000" b="1"/>
            </a:lvl2pPr>
            <a:lvl3pPr marL="1371600" lvl="2" indent="-228600" algn="l">
              <a:spcBef>
                <a:spcPts val="500"/>
              </a:spcBef>
              <a:spcAft>
                <a:spcPts val="0"/>
              </a:spcAft>
              <a:buSzPts val="1368"/>
              <a:buNone/>
              <a:defRPr sz="1800" b="1"/>
            </a:lvl3pPr>
            <a:lvl4pPr marL="1828800" lvl="3" indent="-228600" algn="l">
              <a:spcBef>
                <a:spcPts val="400"/>
              </a:spcBef>
              <a:spcAft>
                <a:spcPts val="0"/>
              </a:spcAft>
              <a:buSzPts val="1120"/>
              <a:buNone/>
              <a:defRPr sz="1600" b="1"/>
            </a:lvl4pPr>
            <a:lvl5pPr marL="2286000" lvl="4" indent="-228600" algn="l">
              <a:spcBef>
                <a:spcPts val="300"/>
              </a:spcBef>
              <a:spcAft>
                <a:spcPts val="0"/>
              </a:spcAft>
              <a:buSzPts val="1120"/>
              <a:buNone/>
              <a:defRPr sz="1600" b="1"/>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52" name="Google Shape;52;p37"/>
          <p:cNvSpPr txBox="1">
            <a:spLocks noGrp="1"/>
          </p:cNvSpPr>
          <p:nvPr>
            <p:ph type="body" idx="2"/>
          </p:nvPr>
        </p:nvSpPr>
        <p:spPr>
          <a:xfrm>
            <a:off x="4648200" y="1295400"/>
            <a:ext cx="4041775" cy="685800"/>
          </a:xfrm>
          <a:prstGeom prst="rect">
            <a:avLst/>
          </a:prstGeom>
          <a:noFill/>
          <a:ln>
            <a:noFill/>
          </a:ln>
        </p:spPr>
        <p:txBody>
          <a:bodyPr spcFirstLastPara="1" wrap="square" lIns="91425" tIns="45700" rIns="91425" bIns="45700" anchor="b" anchorCtr="0">
            <a:normAutofit/>
          </a:bodyPr>
          <a:lstStyle>
            <a:lvl1pPr marL="457200" lvl="0" indent="-228600" algn="l">
              <a:spcBef>
                <a:spcPts val="600"/>
              </a:spcBef>
              <a:spcAft>
                <a:spcPts val="0"/>
              </a:spcAft>
              <a:buSzPts val="1824"/>
              <a:buNone/>
              <a:defRPr sz="2400" b="1">
                <a:solidFill>
                  <a:schemeClr val="accent2"/>
                </a:solidFill>
              </a:defRPr>
            </a:lvl1pPr>
            <a:lvl2pPr marL="914400" lvl="1" indent="-228600" algn="l">
              <a:spcBef>
                <a:spcPts val="500"/>
              </a:spcBef>
              <a:spcAft>
                <a:spcPts val="0"/>
              </a:spcAft>
              <a:buSzPts val="1520"/>
              <a:buNone/>
              <a:defRPr sz="2000" b="1"/>
            </a:lvl2pPr>
            <a:lvl3pPr marL="1371600" lvl="2" indent="-228600" algn="l">
              <a:spcBef>
                <a:spcPts val="500"/>
              </a:spcBef>
              <a:spcAft>
                <a:spcPts val="0"/>
              </a:spcAft>
              <a:buSzPts val="1368"/>
              <a:buNone/>
              <a:defRPr sz="1800" b="1"/>
            </a:lvl3pPr>
            <a:lvl4pPr marL="1828800" lvl="3" indent="-228600" algn="l">
              <a:spcBef>
                <a:spcPts val="400"/>
              </a:spcBef>
              <a:spcAft>
                <a:spcPts val="0"/>
              </a:spcAft>
              <a:buSzPts val="1120"/>
              <a:buNone/>
              <a:defRPr sz="1600" b="1"/>
            </a:lvl4pPr>
            <a:lvl5pPr marL="2286000" lvl="4" indent="-228600" algn="l">
              <a:spcBef>
                <a:spcPts val="300"/>
              </a:spcBef>
              <a:spcAft>
                <a:spcPts val="0"/>
              </a:spcAft>
              <a:buSzPts val="1120"/>
              <a:buNone/>
              <a:defRPr sz="1600" b="1"/>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53" name="Google Shape;53;p37"/>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37"/>
          <p:cNvSpPr txBox="1">
            <a:spLocks noGrp="1"/>
          </p:cNvSpPr>
          <p:nvPr>
            <p:ph type="ftr" idx="11"/>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37"/>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56" name="Google Shape;56;p37"/>
          <p:cNvSpPr txBox="1">
            <a:spLocks noGrp="1"/>
          </p:cNvSpPr>
          <p:nvPr>
            <p:ph type="body" idx="3"/>
          </p:nvPr>
        </p:nvSpPr>
        <p:spPr>
          <a:xfrm>
            <a:off x="457200" y="2133600"/>
            <a:ext cx="4038600" cy="4038600"/>
          </a:xfrm>
          <a:prstGeom prst="rect">
            <a:avLst/>
          </a:prstGeom>
          <a:noFill/>
          <a:ln>
            <a:noFill/>
          </a:ln>
        </p:spPr>
        <p:txBody>
          <a:bodyPr spcFirstLastPara="1" wrap="square" lIns="91425" tIns="45700" rIns="91425" bIns="45700" anchor="t" anchorCtr="0">
            <a:normAutofit/>
          </a:bodyPr>
          <a:lstStyle>
            <a:lvl1pPr marL="457200" lvl="0" indent="-315468" algn="l">
              <a:spcBef>
                <a:spcPts val="600"/>
              </a:spcBef>
              <a:spcAft>
                <a:spcPts val="0"/>
              </a:spcAft>
              <a:buSzPts val="1368"/>
              <a:buChar char="🞂"/>
              <a:defRPr/>
            </a:lvl1pPr>
            <a:lvl2pPr marL="914400" lvl="1" indent="-315468" algn="l">
              <a:spcBef>
                <a:spcPts val="500"/>
              </a:spcBef>
              <a:spcAft>
                <a:spcPts val="0"/>
              </a:spcAft>
              <a:buSzPts val="1368"/>
              <a:buChar char="🞂"/>
              <a:defRPr/>
            </a:lvl2pPr>
            <a:lvl3pPr marL="1371600" lvl="2" indent="-315467" algn="l">
              <a:spcBef>
                <a:spcPts val="500"/>
              </a:spcBef>
              <a:spcAft>
                <a:spcPts val="0"/>
              </a:spcAft>
              <a:buSzPts val="1368"/>
              <a:buChar char="🞂"/>
              <a:defRPr/>
            </a:lvl3pPr>
            <a:lvl4pPr marL="1828800" lvl="3" indent="-308610" algn="l">
              <a:spcBef>
                <a:spcPts val="400"/>
              </a:spcBef>
              <a:spcAft>
                <a:spcPts val="0"/>
              </a:spcAft>
              <a:buSzPts val="1260"/>
              <a:buChar char="◻"/>
              <a:defRPr/>
            </a:lvl4pPr>
            <a:lvl5pPr marL="2286000" lvl="4" indent="-308610" algn="l">
              <a:spcBef>
                <a:spcPts val="300"/>
              </a:spcBef>
              <a:spcAft>
                <a:spcPts val="0"/>
              </a:spcAft>
              <a:buSzPts val="1260"/>
              <a:buChar char="◻"/>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57" name="Google Shape;57;p37"/>
          <p:cNvSpPr txBox="1">
            <a:spLocks noGrp="1"/>
          </p:cNvSpPr>
          <p:nvPr>
            <p:ph type="body" idx="4"/>
          </p:nvPr>
        </p:nvSpPr>
        <p:spPr>
          <a:xfrm>
            <a:off x="4648200" y="2133600"/>
            <a:ext cx="4038600" cy="4038600"/>
          </a:xfrm>
          <a:prstGeom prst="rect">
            <a:avLst/>
          </a:prstGeom>
          <a:noFill/>
          <a:ln>
            <a:noFill/>
          </a:ln>
        </p:spPr>
        <p:txBody>
          <a:bodyPr spcFirstLastPara="1" wrap="square" lIns="91425" tIns="45700" rIns="91425" bIns="45700" anchor="t" anchorCtr="0">
            <a:normAutofit/>
          </a:bodyPr>
          <a:lstStyle>
            <a:lvl1pPr marL="457200" lvl="0" indent="-315468" algn="l">
              <a:spcBef>
                <a:spcPts val="600"/>
              </a:spcBef>
              <a:spcAft>
                <a:spcPts val="0"/>
              </a:spcAft>
              <a:buSzPts val="1368"/>
              <a:buChar char="🞂"/>
              <a:defRPr/>
            </a:lvl1pPr>
            <a:lvl2pPr marL="914400" lvl="1" indent="-315468" algn="l">
              <a:spcBef>
                <a:spcPts val="500"/>
              </a:spcBef>
              <a:spcAft>
                <a:spcPts val="0"/>
              </a:spcAft>
              <a:buSzPts val="1368"/>
              <a:buChar char="🞂"/>
              <a:defRPr/>
            </a:lvl2pPr>
            <a:lvl3pPr marL="1371600" lvl="2" indent="-315467" algn="l">
              <a:spcBef>
                <a:spcPts val="500"/>
              </a:spcBef>
              <a:spcAft>
                <a:spcPts val="0"/>
              </a:spcAft>
              <a:buSzPts val="1368"/>
              <a:buChar char="🞂"/>
              <a:defRPr/>
            </a:lvl3pPr>
            <a:lvl4pPr marL="1828800" lvl="3" indent="-308610" algn="l">
              <a:spcBef>
                <a:spcPts val="400"/>
              </a:spcBef>
              <a:spcAft>
                <a:spcPts val="0"/>
              </a:spcAft>
              <a:buSzPts val="1260"/>
              <a:buChar char="◻"/>
              <a:defRPr/>
            </a:lvl4pPr>
            <a:lvl5pPr marL="2286000" lvl="4" indent="-308610" algn="l">
              <a:spcBef>
                <a:spcPts val="300"/>
              </a:spcBef>
              <a:spcAft>
                <a:spcPts val="0"/>
              </a:spcAft>
              <a:buSzPts val="1260"/>
              <a:buChar char="◻"/>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8"/>
        <p:cNvGrpSpPr/>
        <p:nvPr/>
      </p:nvGrpSpPr>
      <p:grpSpPr>
        <a:xfrm>
          <a:off x="0" y="0"/>
          <a:ext cx="0" cy="0"/>
          <a:chOff x="0" y="0"/>
          <a:chExt cx="0" cy="0"/>
        </a:xfrm>
      </p:grpSpPr>
      <p:sp>
        <p:nvSpPr>
          <p:cNvPr id="59" name="Google Shape;59;p38"/>
          <p:cNvSpPr txBox="1">
            <a:spLocks noGrp="1"/>
          </p:cNvSpPr>
          <p:nvPr>
            <p:ph type="title"/>
          </p:nvPr>
        </p:nvSpPr>
        <p:spPr>
          <a:xfrm>
            <a:off x="457200" y="228600"/>
            <a:ext cx="8229600" cy="9144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38"/>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38"/>
          <p:cNvSpPr txBox="1">
            <a:spLocks noGrp="1"/>
          </p:cNvSpPr>
          <p:nvPr>
            <p:ph type="ftr" idx="11"/>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38"/>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63" name="Google Shape;63;p38"/>
          <p:cNvSpPr/>
          <p:nvPr/>
        </p:nvSpPr>
        <p:spPr>
          <a:xfrm rot="5400000">
            <a:off x="419100" y="6467475"/>
            <a:ext cx="190849"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64"/>
        <p:cNvGrpSpPr/>
        <p:nvPr/>
      </p:nvGrpSpPr>
      <p:grpSpPr>
        <a:xfrm>
          <a:off x="0" y="0"/>
          <a:ext cx="0" cy="0"/>
          <a:chOff x="0" y="0"/>
          <a:chExt cx="0" cy="0"/>
        </a:xfrm>
      </p:grpSpPr>
      <p:sp>
        <p:nvSpPr>
          <p:cNvPr id="65" name="Google Shape;65;p39"/>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9"/>
          <p:cNvSpPr txBox="1">
            <a:spLocks noGrp="1"/>
          </p:cNvSpPr>
          <p:nvPr>
            <p:ph type="ftr" idx="11"/>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9"/>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cxnSp>
        <p:nvCxnSpPr>
          <p:cNvPr id="68" name="Google Shape;68;p39"/>
          <p:cNvCxnSpPr/>
          <p:nvPr/>
        </p:nvCxnSpPr>
        <p:spPr>
          <a:xfrm>
            <a:off x="457200" y="6353175"/>
            <a:ext cx="8229600" cy="0"/>
          </a:xfrm>
          <a:prstGeom prst="straightConnector1">
            <a:avLst/>
          </a:prstGeom>
          <a:noFill/>
          <a:ln w="9525" cap="flat" cmpd="sng">
            <a:solidFill>
              <a:schemeClr val="accent2"/>
            </a:solidFill>
            <a:prstDash val="dash"/>
            <a:round/>
            <a:headEnd type="none" w="sm" len="sm"/>
            <a:tailEnd type="none" w="sm" len="sm"/>
          </a:ln>
        </p:spPr>
      </p:cxnSp>
      <p:sp>
        <p:nvSpPr>
          <p:cNvPr id="69" name="Google Shape;69;p39"/>
          <p:cNvSpPr/>
          <p:nvPr/>
        </p:nvSpPr>
        <p:spPr>
          <a:xfrm rot="5400000">
            <a:off x="419100" y="6467475"/>
            <a:ext cx="190849"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70"/>
        <p:cNvGrpSpPr/>
        <p:nvPr/>
      </p:nvGrpSpPr>
      <p:grpSpPr>
        <a:xfrm>
          <a:off x="0" y="0"/>
          <a:ext cx="0" cy="0"/>
          <a:chOff x="0" y="0"/>
          <a:chExt cx="0" cy="0"/>
        </a:xfrm>
      </p:grpSpPr>
      <p:sp>
        <p:nvSpPr>
          <p:cNvPr id="71" name="Google Shape;71;p40"/>
          <p:cNvSpPr txBox="1">
            <a:spLocks noGrp="1"/>
          </p:cNvSpPr>
          <p:nvPr>
            <p:ph type="title"/>
          </p:nvPr>
        </p:nvSpPr>
        <p:spPr>
          <a:xfrm>
            <a:off x="6324600" y="304800"/>
            <a:ext cx="2514600" cy="838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dk2"/>
              </a:buClr>
              <a:buSzPts val="2000"/>
              <a:buFont typeface="Gill Sans"/>
              <a:buNone/>
              <a:defRPr sz="2000" b="1">
                <a:solidFill>
                  <a:schemeClr val="dk2"/>
                </a:solidFill>
                <a:latin typeface="Gill Sans"/>
                <a:ea typeface="Gill Sans"/>
                <a:cs typeface="Gill Sans"/>
                <a:sym typeface="Gill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40"/>
          <p:cNvSpPr txBox="1">
            <a:spLocks noGrp="1"/>
          </p:cNvSpPr>
          <p:nvPr>
            <p:ph type="body" idx="1"/>
          </p:nvPr>
        </p:nvSpPr>
        <p:spPr>
          <a:xfrm>
            <a:off x="6324600" y="1219200"/>
            <a:ext cx="2514600" cy="4843463"/>
          </a:xfrm>
          <a:prstGeom prst="rect">
            <a:avLst/>
          </a:prstGeom>
          <a:noFill/>
          <a:ln>
            <a:noFill/>
          </a:ln>
        </p:spPr>
        <p:txBody>
          <a:bodyPr spcFirstLastPara="1" wrap="square" lIns="91425" tIns="45700" rIns="91425" bIns="45700" anchor="t" anchorCtr="0">
            <a:normAutofit/>
          </a:bodyPr>
          <a:lstStyle>
            <a:lvl1pPr marL="457200" lvl="0" indent="-228600" algn="l">
              <a:lnSpc>
                <a:spcPct val="137500"/>
              </a:lnSpc>
              <a:spcBef>
                <a:spcPts val="600"/>
              </a:spcBef>
              <a:spcAft>
                <a:spcPts val="0"/>
              </a:spcAft>
              <a:buSzPts val="1216"/>
              <a:buNone/>
              <a:defRPr sz="1600">
                <a:solidFill>
                  <a:schemeClr val="dk2"/>
                </a:solidFill>
              </a:defRPr>
            </a:lvl1pPr>
            <a:lvl2pPr marL="914400" lvl="1" indent="-228600" algn="l">
              <a:spcBef>
                <a:spcPts val="1000"/>
              </a:spcBef>
              <a:spcAft>
                <a:spcPts val="0"/>
              </a:spcAft>
              <a:buSzPts val="912"/>
              <a:buNone/>
              <a:defRPr sz="1200"/>
            </a:lvl2pPr>
            <a:lvl3pPr marL="1371600" lvl="2" indent="-228600" algn="l">
              <a:spcBef>
                <a:spcPts val="500"/>
              </a:spcBef>
              <a:spcAft>
                <a:spcPts val="0"/>
              </a:spcAft>
              <a:buSzPts val="760"/>
              <a:buNone/>
              <a:defRPr sz="1000"/>
            </a:lvl3pPr>
            <a:lvl4pPr marL="1828800" lvl="3" indent="-228600" algn="l">
              <a:spcBef>
                <a:spcPts val="400"/>
              </a:spcBef>
              <a:spcAft>
                <a:spcPts val="0"/>
              </a:spcAft>
              <a:buSzPts val="630"/>
              <a:buNone/>
              <a:defRPr sz="900"/>
            </a:lvl4pPr>
            <a:lvl5pPr marL="2286000" lvl="4" indent="-228600" algn="l">
              <a:spcBef>
                <a:spcPts val="300"/>
              </a:spcBef>
              <a:spcAft>
                <a:spcPts val="0"/>
              </a:spcAft>
              <a:buSzPts val="630"/>
              <a:buNone/>
              <a:defRPr sz="900"/>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73" name="Google Shape;73;p40"/>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40"/>
          <p:cNvSpPr txBox="1">
            <a:spLocks noGrp="1"/>
          </p:cNvSpPr>
          <p:nvPr>
            <p:ph type="ftr" idx="11"/>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40"/>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cxnSp>
        <p:nvCxnSpPr>
          <p:cNvPr id="76" name="Google Shape;76;p40"/>
          <p:cNvCxnSpPr/>
          <p:nvPr/>
        </p:nvCxnSpPr>
        <p:spPr>
          <a:xfrm>
            <a:off x="457200" y="6353175"/>
            <a:ext cx="8229600" cy="0"/>
          </a:xfrm>
          <a:prstGeom prst="straightConnector1">
            <a:avLst/>
          </a:prstGeom>
          <a:noFill/>
          <a:ln w="9525" cap="flat" cmpd="sng">
            <a:solidFill>
              <a:schemeClr val="accent2"/>
            </a:solidFill>
            <a:prstDash val="dash"/>
            <a:round/>
            <a:headEnd type="none" w="sm" len="sm"/>
            <a:tailEnd type="none" w="sm" len="sm"/>
          </a:ln>
        </p:spPr>
      </p:cxnSp>
      <p:cxnSp>
        <p:nvCxnSpPr>
          <p:cNvPr id="77" name="Google Shape;77;p40"/>
          <p:cNvCxnSpPr/>
          <p:nvPr/>
        </p:nvCxnSpPr>
        <p:spPr>
          <a:xfrm rot="5400000">
            <a:off x="3160645" y="3324225"/>
            <a:ext cx="6035040" cy="0"/>
          </a:xfrm>
          <a:prstGeom prst="straightConnector1">
            <a:avLst/>
          </a:prstGeom>
          <a:noFill/>
          <a:ln w="9525" cap="flat" cmpd="sng">
            <a:solidFill>
              <a:schemeClr val="accent2"/>
            </a:solidFill>
            <a:prstDash val="dash"/>
            <a:round/>
            <a:headEnd type="none" w="sm" len="sm"/>
            <a:tailEnd type="none" w="sm" len="sm"/>
          </a:ln>
        </p:spPr>
      </p:cxnSp>
      <p:sp>
        <p:nvSpPr>
          <p:cNvPr id="78" name="Google Shape;78;p40"/>
          <p:cNvSpPr/>
          <p:nvPr/>
        </p:nvSpPr>
        <p:spPr>
          <a:xfrm rot="5400000">
            <a:off x="419100" y="6467475"/>
            <a:ext cx="190849"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79" name="Google Shape;79;p40"/>
          <p:cNvSpPr txBox="1">
            <a:spLocks noGrp="1"/>
          </p:cNvSpPr>
          <p:nvPr>
            <p:ph type="body" idx="2"/>
          </p:nvPr>
        </p:nvSpPr>
        <p:spPr>
          <a:xfrm>
            <a:off x="304800" y="304800"/>
            <a:ext cx="5715000" cy="5715000"/>
          </a:xfrm>
          <a:prstGeom prst="rect">
            <a:avLst/>
          </a:prstGeom>
          <a:noFill/>
          <a:ln>
            <a:noFill/>
          </a:ln>
        </p:spPr>
        <p:txBody>
          <a:bodyPr spcFirstLastPara="1" wrap="square" lIns="91425" tIns="45700" rIns="91425" bIns="45700" anchor="t" anchorCtr="0">
            <a:normAutofit/>
          </a:bodyPr>
          <a:lstStyle>
            <a:lvl1pPr marL="457200" lvl="0" indent="-315468" algn="l">
              <a:spcBef>
                <a:spcPts val="600"/>
              </a:spcBef>
              <a:spcAft>
                <a:spcPts val="0"/>
              </a:spcAft>
              <a:buSzPts val="1368"/>
              <a:buChar char="🞂"/>
              <a:defRPr/>
            </a:lvl1pPr>
            <a:lvl2pPr marL="914400" lvl="1" indent="-315468" algn="l">
              <a:spcBef>
                <a:spcPts val="500"/>
              </a:spcBef>
              <a:spcAft>
                <a:spcPts val="0"/>
              </a:spcAft>
              <a:buSzPts val="1368"/>
              <a:buChar char="🞂"/>
              <a:defRPr/>
            </a:lvl2pPr>
            <a:lvl3pPr marL="1371600" lvl="2" indent="-315467" algn="l">
              <a:spcBef>
                <a:spcPts val="500"/>
              </a:spcBef>
              <a:spcAft>
                <a:spcPts val="0"/>
              </a:spcAft>
              <a:buSzPts val="1368"/>
              <a:buChar char="🞂"/>
              <a:defRPr/>
            </a:lvl3pPr>
            <a:lvl4pPr marL="1828800" lvl="3" indent="-308610" algn="l">
              <a:spcBef>
                <a:spcPts val="400"/>
              </a:spcBef>
              <a:spcAft>
                <a:spcPts val="0"/>
              </a:spcAft>
              <a:buSzPts val="1260"/>
              <a:buChar char="◻"/>
              <a:defRPr/>
            </a:lvl4pPr>
            <a:lvl5pPr marL="2286000" lvl="4" indent="-308610" algn="l">
              <a:spcBef>
                <a:spcPts val="300"/>
              </a:spcBef>
              <a:spcAft>
                <a:spcPts val="0"/>
              </a:spcAft>
              <a:buSzPts val="1260"/>
              <a:buChar char="◻"/>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bg>
      <p:bgPr>
        <a:solidFill>
          <a:schemeClr val="dk2"/>
        </a:solidFill>
        <a:effectLst/>
      </p:bgPr>
    </p:bg>
    <p:spTree>
      <p:nvGrpSpPr>
        <p:cNvPr id="1" name="Shape 80"/>
        <p:cNvGrpSpPr/>
        <p:nvPr/>
      </p:nvGrpSpPr>
      <p:grpSpPr>
        <a:xfrm>
          <a:off x="0" y="0"/>
          <a:ext cx="0" cy="0"/>
          <a:chOff x="0" y="0"/>
          <a:chExt cx="0" cy="0"/>
        </a:xfrm>
      </p:grpSpPr>
      <p:sp>
        <p:nvSpPr>
          <p:cNvPr id="81" name="Google Shape;81;p41"/>
          <p:cNvSpPr txBox="1">
            <a:spLocks noGrp="1"/>
          </p:cNvSpPr>
          <p:nvPr>
            <p:ph type="title"/>
          </p:nvPr>
        </p:nvSpPr>
        <p:spPr>
          <a:xfrm>
            <a:off x="457200" y="500856"/>
            <a:ext cx="8229600" cy="674688"/>
          </a:xfrm>
          <a:prstGeom prst="rect">
            <a:avLst/>
          </a:prstGeom>
          <a:noFill/>
          <a:ln w="9525" cap="flat" cmpd="sng">
            <a:solidFill>
              <a:schemeClr val="accent1"/>
            </a:solidFill>
            <a:prstDash val="solid"/>
            <a:round/>
            <a:headEnd type="none" w="sm" len="sm"/>
            <a:tailEnd type="none" w="sm" len="sm"/>
          </a:ln>
        </p:spPr>
        <p:txBody>
          <a:bodyPr spcFirstLastPara="1" wrap="square" lIns="274300" tIns="45700" rIns="91425" bIns="45700" anchor="ctr" anchorCtr="0">
            <a:normAutofit/>
          </a:bodyPr>
          <a:lstStyle>
            <a:lvl1pPr lvl="0" algn="r">
              <a:spcBef>
                <a:spcPts val="0"/>
              </a:spcBef>
              <a:spcAft>
                <a:spcPts val="0"/>
              </a:spcAft>
              <a:buClr>
                <a:schemeClr val="lt1"/>
              </a:buClr>
              <a:buSzPts val="2000"/>
              <a:buFont typeface="Bookman Old Style"/>
              <a:buNone/>
              <a:defRPr sz="2000"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41"/>
          <p:cNvSpPr>
            <a:spLocks noGrp="1"/>
          </p:cNvSpPr>
          <p:nvPr>
            <p:ph type="pic" idx="2"/>
          </p:nvPr>
        </p:nvSpPr>
        <p:spPr>
          <a:xfrm>
            <a:off x="457200" y="1905000"/>
            <a:ext cx="8229600" cy="4270248"/>
          </a:xfrm>
          <a:prstGeom prst="rect">
            <a:avLst/>
          </a:prstGeom>
          <a:solidFill>
            <a:srgbClr val="BABABA"/>
          </a:solidFill>
          <a:ln>
            <a:noFill/>
          </a:ln>
        </p:spPr>
      </p:sp>
      <p:sp>
        <p:nvSpPr>
          <p:cNvPr id="83" name="Google Shape;83;p41"/>
          <p:cNvSpPr txBox="1">
            <a:spLocks noGrp="1"/>
          </p:cNvSpPr>
          <p:nvPr>
            <p:ph type="body" idx="1"/>
          </p:nvPr>
        </p:nvSpPr>
        <p:spPr>
          <a:xfrm>
            <a:off x="457200" y="1219200"/>
            <a:ext cx="8229600" cy="533400"/>
          </a:xfrm>
          <a:prstGeom prst="rect">
            <a:avLst/>
          </a:prstGeom>
          <a:noFill/>
          <a:ln>
            <a:noFill/>
          </a:ln>
        </p:spPr>
        <p:txBody>
          <a:bodyPr spcFirstLastPara="1" wrap="square" lIns="91425" tIns="45700" rIns="91425" bIns="45700" anchor="ctr" anchorCtr="0">
            <a:normAutofit/>
          </a:bodyPr>
          <a:lstStyle>
            <a:lvl1pPr marL="457200" lvl="0" indent="-228600" algn="l">
              <a:spcBef>
                <a:spcPts val="600"/>
              </a:spcBef>
              <a:spcAft>
                <a:spcPts val="0"/>
              </a:spcAft>
              <a:buSzPts val="1064"/>
              <a:buFont typeface="Gill Sans"/>
              <a:buNone/>
              <a:defRPr sz="1400"/>
            </a:lvl1pPr>
            <a:lvl2pPr marL="914400" lvl="1" indent="-286512" algn="l">
              <a:spcBef>
                <a:spcPts val="500"/>
              </a:spcBef>
              <a:spcAft>
                <a:spcPts val="0"/>
              </a:spcAft>
              <a:buSzPts val="912"/>
              <a:buChar char="🞂"/>
              <a:defRPr sz="1200"/>
            </a:lvl2pPr>
            <a:lvl3pPr marL="1371600" lvl="2" indent="-276860" algn="l">
              <a:spcBef>
                <a:spcPts val="500"/>
              </a:spcBef>
              <a:spcAft>
                <a:spcPts val="0"/>
              </a:spcAft>
              <a:buSzPts val="760"/>
              <a:buChar char="🞂"/>
              <a:defRPr sz="1000"/>
            </a:lvl3pPr>
            <a:lvl4pPr marL="1828800" lvl="3" indent="-268605" algn="l">
              <a:spcBef>
                <a:spcPts val="400"/>
              </a:spcBef>
              <a:spcAft>
                <a:spcPts val="0"/>
              </a:spcAft>
              <a:buSzPts val="630"/>
              <a:buChar char="◻"/>
              <a:defRPr sz="900"/>
            </a:lvl4pPr>
            <a:lvl5pPr marL="2286000" lvl="4" indent="-268604" algn="l">
              <a:spcBef>
                <a:spcPts val="300"/>
              </a:spcBef>
              <a:spcAft>
                <a:spcPts val="0"/>
              </a:spcAft>
              <a:buSzPts val="630"/>
              <a:buChar char="◻"/>
              <a:defRPr sz="900"/>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84" name="Google Shape;84;p41"/>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41"/>
          <p:cNvSpPr txBox="1">
            <a:spLocks noGrp="1"/>
          </p:cNvSpPr>
          <p:nvPr>
            <p:ph type="ftr" idx="11"/>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41"/>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cxnSp>
        <p:nvCxnSpPr>
          <p:cNvPr id="87" name="Google Shape;87;p41"/>
          <p:cNvCxnSpPr/>
          <p:nvPr/>
        </p:nvCxnSpPr>
        <p:spPr>
          <a:xfrm>
            <a:off x="457200" y="6353175"/>
            <a:ext cx="8229600" cy="0"/>
          </a:xfrm>
          <a:prstGeom prst="straightConnector1">
            <a:avLst/>
          </a:prstGeom>
          <a:noFill/>
          <a:ln w="9525" cap="flat" cmpd="sng">
            <a:solidFill>
              <a:schemeClr val="accent2"/>
            </a:solidFill>
            <a:prstDash val="dash"/>
            <a:round/>
            <a:headEnd type="none" w="sm" len="sm"/>
            <a:tailEnd type="none" w="sm" len="sm"/>
          </a:ln>
        </p:spPr>
      </p:cxnSp>
      <p:sp>
        <p:nvSpPr>
          <p:cNvPr id="88" name="Google Shape;88;p41"/>
          <p:cNvSpPr/>
          <p:nvPr/>
        </p:nvSpPr>
        <p:spPr>
          <a:xfrm rot="5400000">
            <a:off x="419100" y="6467475"/>
            <a:ext cx="190849"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89" name="Google Shape;89;p41"/>
          <p:cNvSpPr/>
          <p:nvPr/>
        </p:nvSpPr>
        <p:spPr>
          <a:xfrm>
            <a:off x="457200" y="500856"/>
            <a:ext cx="182880" cy="6858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0"/>
        <p:cNvGrpSpPr/>
        <p:nvPr/>
      </p:nvGrpSpPr>
      <p:grpSpPr>
        <a:xfrm>
          <a:off x="0" y="0"/>
          <a:ext cx="0" cy="0"/>
          <a:chOff x="0" y="0"/>
          <a:chExt cx="0" cy="0"/>
        </a:xfrm>
      </p:grpSpPr>
      <p:sp>
        <p:nvSpPr>
          <p:cNvPr id="91" name="Google Shape;91;p42"/>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p42"/>
          <p:cNvSpPr txBox="1">
            <a:spLocks noGrp="1"/>
          </p:cNvSpPr>
          <p:nvPr>
            <p:ph type="body" idx="1"/>
          </p:nvPr>
        </p:nvSpPr>
        <p:spPr>
          <a:xfrm rot="5400000">
            <a:off x="2116836" y="-440436"/>
            <a:ext cx="4910328" cy="8229600"/>
          </a:xfrm>
          <a:prstGeom prst="rect">
            <a:avLst/>
          </a:prstGeom>
          <a:noFill/>
          <a:ln>
            <a:noFill/>
          </a:ln>
        </p:spPr>
        <p:txBody>
          <a:bodyPr spcFirstLastPara="1" wrap="square" lIns="91425" tIns="45700" rIns="91425" bIns="45700" anchor="t" anchorCtr="0">
            <a:normAutofit/>
          </a:bodyPr>
          <a:lstStyle>
            <a:lvl1pPr marL="457200" lvl="0" indent="-315468" algn="l">
              <a:spcBef>
                <a:spcPts val="600"/>
              </a:spcBef>
              <a:spcAft>
                <a:spcPts val="0"/>
              </a:spcAft>
              <a:buSzPts val="1368"/>
              <a:buChar char="🞂"/>
              <a:defRPr/>
            </a:lvl1pPr>
            <a:lvl2pPr marL="914400" lvl="1" indent="-315468" algn="l">
              <a:spcBef>
                <a:spcPts val="500"/>
              </a:spcBef>
              <a:spcAft>
                <a:spcPts val="0"/>
              </a:spcAft>
              <a:buSzPts val="1368"/>
              <a:buChar char="🞂"/>
              <a:defRPr/>
            </a:lvl2pPr>
            <a:lvl3pPr marL="1371600" lvl="2" indent="-315467" algn="l">
              <a:spcBef>
                <a:spcPts val="500"/>
              </a:spcBef>
              <a:spcAft>
                <a:spcPts val="0"/>
              </a:spcAft>
              <a:buSzPts val="1368"/>
              <a:buChar char="🞂"/>
              <a:defRPr/>
            </a:lvl3pPr>
            <a:lvl4pPr marL="1828800" lvl="3" indent="-308610" algn="l">
              <a:spcBef>
                <a:spcPts val="400"/>
              </a:spcBef>
              <a:spcAft>
                <a:spcPts val="0"/>
              </a:spcAft>
              <a:buSzPts val="1260"/>
              <a:buChar char="◻"/>
              <a:defRPr/>
            </a:lvl4pPr>
            <a:lvl5pPr marL="2286000" lvl="4" indent="-308610" algn="l">
              <a:spcBef>
                <a:spcPts val="300"/>
              </a:spcBef>
              <a:spcAft>
                <a:spcPts val="0"/>
              </a:spcAft>
              <a:buSzPts val="1260"/>
              <a:buChar char="◻"/>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93" name="Google Shape;93;p42"/>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42"/>
          <p:cNvSpPr txBox="1">
            <a:spLocks noGrp="1"/>
          </p:cNvSpPr>
          <p:nvPr>
            <p:ph type="ftr" idx="11"/>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42"/>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96"/>
        <p:cNvGrpSpPr/>
        <p:nvPr/>
      </p:nvGrpSpPr>
      <p:grpSpPr>
        <a:xfrm>
          <a:off x="0" y="0"/>
          <a:ext cx="0" cy="0"/>
          <a:chOff x="0" y="0"/>
          <a:chExt cx="0" cy="0"/>
        </a:xfrm>
      </p:grpSpPr>
      <p:sp>
        <p:nvSpPr>
          <p:cNvPr id="97" name="Google Shape;97;p43"/>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8" name="Google Shape;98;p43"/>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15468" algn="l">
              <a:spcBef>
                <a:spcPts val="600"/>
              </a:spcBef>
              <a:spcAft>
                <a:spcPts val="0"/>
              </a:spcAft>
              <a:buSzPts val="1368"/>
              <a:buChar char="🞂"/>
              <a:defRPr/>
            </a:lvl1pPr>
            <a:lvl2pPr marL="914400" lvl="1" indent="-315468" algn="l">
              <a:spcBef>
                <a:spcPts val="500"/>
              </a:spcBef>
              <a:spcAft>
                <a:spcPts val="0"/>
              </a:spcAft>
              <a:buSzPts val="1368"/>
              <a:buChar char="🞂"/>
              <a:defRPr/>
            </a:lvl2pPr>
            <a:lvl3pPr marL="1371600" lvl="2" indent="-315467" algn="l">
              <a:spcBef>
                <a:spcPts val="500"/>
              </a:spcBef>
              <a:spcAft>
                <a:spcPts val="0"/>
              </a:spcAft>
              <a:buSzPts val="1368"/>
              <a:buChar char="🞂"/>
              <a:defRPr/>
            </a:lvl3pPr>
            <a:lvl4pPr marL="1828800" lvl="3" indent="-308610" algn="l">
              <a:spcBef>
                <a:spcPts val="400"/>
              </a:spcBef>
              <a:spcAft>
                <a:spcPts val="0"/>
              </a:spcAft>
              <a:buSzPts val="1260"/>
              <a:buChar char="◻"/>
              <a:defRPr/>
            </a:lvl4pPr>
            <a:lvl5pPr marL="2286000" lvl="4" indent="-308610" algn="l">
              <a:spcBef>
                <a:spcPts val="300"/>
              </a:spcBef>
              <a:spcAft>
                <a:spcPts val="0"/>
              </a:spcAft>
              <a:buSzPts val="1260"/>
              <a:buChar char="◻"/>
              <a:defRPr/>
            </a:lvl5pPr>
            <a:lvl6pPr marL="2743200" lvl="5" indent="-314325" algn="l">
              <a:spcBef>
                <a:spcPts val="300"/>
              </a:spcBef>
              <a:spcAft>
                <a:spcPts val="0"/>
              </a:spcAft>
              <a:buSzPts val="1350"/>
              <a:buChar char="🞂"/>
              <a:defRPr/>
            </a:lvl6pPr>
            <a:lvl7pPr marL="3200400" lvl="6" indent="-314325" algn="l">
              <a:spcBef>
                <a:spcPts val="300"/>
              </a:spcBef>
              <a:spcAft>
                <a:spcPts val="0"/>
              </a:spcAft>
              <a:buSzPts val="1350"/>
              <a:buChar char="🞂"/>
              <a:defRPr/>
            </a:lvl7pPr>
            <a:lvl8pPr marL="3657600" lvl="7" indent="-314325" algn="l">
              <a:spcBef>
                <a:spcPts val="300"/>
              </a:spcBef>
              <a:spcAft>
                <a:spcPts val="0"/>
              </a:spcAft>
              <a:buSzPts val="1350"/>
              <a:buChar char="🞂"/>
              <a:defRPr/>
            </a:lvl8pPr>
            <a:lvl9pPr marL="4114800" lvl="8" indent="-314325" algn="l">
              <a:spcBef>
                <a:spcPts val="300"/>
              </a:spcBef>
              <a:spcAft>
                <a:spcPts val="0"/>
              </a:spcAft>
              <a:buSzPts val="1350"/>
              <a:buChar char="🞂"/>
              <a:defRPr/>
            </a:lvl9pPr>
          </a:lstStyle>
          <a:p>
            <a:endParaRPr/>
          </a:p>
        </p:txBody>
      </p:sp>
      <p:sp>
        <p:nvSpPr>
          <p:cNvPr id="99" name="Google Shape;99;p43"/>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43"/>
          <p:cNvSpPr txBox="1">
            <a:spLocks noGrp="1"/>
          </p:cNvSpPr>
          <p:nvPr>
            <p:ph type="ftr" idx="11"/>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43"/>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cxnSp>
        <p:nvCxnSpPr>
          <p:cNvPr id="102" name="Google Shape;102;p43"/>
          <p:cNvCxnSpPr/>
          <p:nvPr/>
        </p:nvCxnSpPr>
        <p:spPr>
          <a:xfrm>
            <a:off x="457200" y="6353175"/>
            <a:ext cx="8229600" cy="0"/>
          </a:xfrm>
          <a:prstGeom prst="straightConnector1">
            <a:avLst/>
          </a:prstGeom>
          <a:noFill/>
          <a:ln w="9525" cap="flat" cmpd="sng">
            <a:solidFill>
              <a:schemeClr val="accent2"/>
            </a:solidFill>
            <a:prstDash val="dash"/>
            <a:round/>
            <a:headEnd type="none" w="sm" len="sm"/>
            <a:tailEnd type="none" w="sm" len="sm"/>
          </a:ln>
        </p:spPr>
      </p:cxnSp>
      <p:sp>
        <p:nvSpPr>
          <p:cNvPr id="103" name="Google Shape;103;p43"/>
          <p:cNvSpPr/>
          <p:nvPr/>
        </p:nvSpPr>
        <p:spPr>
          <a:xfrm rot="5400000">
            <a:off x="419100" y="6467475"/>
            <a:ext cx="190849"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cxnSp>
        <p:nvCxnSpPr>
          <p:cNvPr id="104" name="Google Shape;104;p43"/>
          <p:cNvCxnSpPr/>
          <p:nvPr/>
        </p:nvCxnSpPr>
        <p:spPr>
          <a:xfrm rot="5400000">
            <a:off x="3629607" y="3201952"/>
            <a:ext cx="5852160" cy="0"/>
          </a:xfrm>
          <a:prstGeom prst="straightConnector1">
            <a:avLst/>
          </a:prstGeom>
          <a:noFill/>
          <a:ln w="9525" cap="flat" cmpd="sng">
            <a:solidFill>
              <a:schemeClr val="accent2"/>
            </a:solidFill>
            <a:prstDash val="dash"/>
            <a:round/>
            <a:headEnd type="none" w="sm" len="sm"/>
            <a:tailEnd type="none" w="sm" len="sm"/>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2"/>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lvl1pPr marR="0" lvl="0" algn="l" rtl="0">
              <a:spcBef>
                <a:spcPts val="0"/>
              </a:spcBef>
              <a:spcAft>
                <a:spcPts val="0"/>
              </a:spcAft>
              <a:buClr>
                <a:schemeClr val="dk2"/>
              </a:buClr>
              <a:buSzPts val="3200"/>
              <a:buFont typeface="Bookman Old Style"/>
              <a:buNone/>
              <a:defRPr sz="3200" b="0" i="0" u="none" strike="noStrike" cap="none">
                <a:solidFill>
                  <a:schemeClr val="dk2"/>
                </a:solidFill>
                <a:latin typeface="Bookman Old Style"/>
                <a:ea typeface="Bookman Old Style"/>
                <a:cs typeface="Bookman Old Style"/>
                <a:sym typeface="Bookman Old Styl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32"/>
          <p:cNvSpPr txBox="1">
            <a:spLocks noGrp="1"/>
          </p:cNvSpPr>
          <p:nvPr>
            <p:ph type="body" idx="1"/>
          </p:nvPr>
        </p:nvSpPr>
        <p:spPr>
          <a:xfrm>
            <a:off x="457200" y="1219200"/>
            <a:ext cx="8229600" cy="4910328"/>
          </a:xfrm>
          <a:prstGeom prst="rect">
            <a:avLst/>
          </a:prstGeom>
          <a:noFill/>
          <a:ln>
            <a:noFill/>
          </a:ln>
        </p:spPr>
        <p:txBody>
          <a:bodyPr spcFirstLastPara="1" wrap="square" lIns="91425" tIns="45700" rIns="91425" bIns="45700" anchor="t" anchorCtr="0">
            <a:normAutofit/>
          </a:bodyPr>
          <a:lstStyle>
            <a:lvl1pPr marL="457200" marR="0" lvl="0" indent="-354076" algn="l" rtl="0">
              <a:spcBef>
                <a:spcPts val="600"/>
              </a:spcBef>
              <a:spcAft>
                <a:spcPts val="0"/>
              </a:spcAft>
              <a:buClr>
                <a:schemeClr val="accent1"/>
              </a:buClr>
              <a:buSzPts val="1976"/>
              <a:buFont typeface="Noto Sans Symbols"/>
              <a:buChar char="🞂"/>
              <a:defRPr sz="2600" b="0" i="0" u="none" strike="noStrike" cap="none">
                <a:solidFill>
                  <a:schemeClr val="dk1"/>
                </a:solidFill>
                <a:latin typeface="Gill Sans"/>
                <a:ea typeface="Gill Sans"/>
                <a:cs typeface="Gill Sans"/>
                <a:sym typeface="Gill Sans"/>
              </a:defRPr>
            </a:lvl1pPr>
            <a:lvl2pPr marL="914400" marR="0" lvl="1" indent="-339597" algn="l" rtl="0">
              <a:spcBef>
                <a:spcPts val="500"/>
              </a:spcBef>
              <a:spcAft>
                <a:spcPts val="0"/>
              </a:spcAft>
              <a:buClr>
                <a:schemeClr val="accent2"/>
              </a:buClr>
              <a:buSzPts val="1748"/>
              <a:buFont typeface="Noto Sans Symbols"/>
              <a:buChar char="🞂"/>
              <a:defRPr sz="2300" b="0" i="0" u="none" strike="noStrike" cap="none">
                <a:solidFill>
                  <a:schemeClr val="dk2"/>
                </a:solidFill>
                <a:latin typeface="Gill Sans"/>
                <a:ea typeface="Gill Sans"/>
                <a:cs typeface="Gill Sans"/>
                <a:sym typeface="Gill Sans"/>
              </a:defRPr>
            </a:lvl2pPr>
            <a:lvl3pPr marL="1371600" marR="0" lvl="2" indent="-325119" algn="l" rtl="0">
              <a:spcBef>
                <a:spcPts val="500"/>
              </a:spcBef>
              <a:spcAft>
                <a:spcPts val="0"/>
              </a:spcAft>
              <a:buClr>
                <a:srgbClr val="BABABA"/>
              </a:buClr>
              <a:buSzPts val="1520"/>
              <a:buFont typeface="Noto Sans Symbols"/>
              <a:buChar char="🞂"/>
              <a:defRPr sz="2000" b="0" i="0" u="none" strike="noStrike" cap="none">
                <a:solidFill>
                  <a:schemeClr val="dk1"/>
                </a:solidFill>
                <a:latin typeface="Gill Sans"/>
                <a:ea typeface="Gill Sans"/>
                <a:cs typeface="Gill Sans"/>
                <a:sym typeface="Gill Sans"/>
              </a:defRPr>
            </a:lvl3pPr>
            <a:lvl4pPr marL="1828800" marR="0" lvl="3" indent="-308610" algn="l" rtl="0">
              <a:spcBef>
                <a:spcPts val="400"/>
              </a:spcBef>
              <a:spcAft>
                <a:spcPts val="0"/>
              </a:spcAft>
              <a:buClr>
                <a:srgbClr val="A84643"/>
              </a:buClr>
              <a:buSzPts val="1260"/>
              <a:buFont typeface="Noto Sans Symbols"/>
              <a:buChar char="◻"/>
              <a:defRPr sz="1800" b="0" i="0" u="none" strike="noStrike" cap="none">
                <a:solidFill>
                  <a:schemeClr val="dk1"/>
                </a:solidFill>
                <a:latin typeface="Gill Sans"/>
                <a:ea typeface="Gill Sans"/>
                <a:cs typeface="Gill Sans"/>
                <a:sym typeface="Gill Sans"/>
              </a:defRPr>
            </a:lvl4pPr>
            <a:lvl5pPr marL="2286000" marR="0" lvl="4" indent="-299720" algn="l" rtl="0">
              <a:spcBef>
                <a:spcPts val="300"/>
              </a:spcBef>
              <a:spcAft>
                <a:spcPts val="0"/>
              </a:spcAft>
              <a:buClr>
                <a:schemeClr val="accent2"/>
              </a:buClr>
              <a:buSzPts val="1120"/>
              <a:buFont typeface="Noto Sans Symbols"/>
              <a:buChar char="◻"/>
              <a:defRPr sz="1600" b="0" i="0" u="none" strike="noStrike" cap="none">
                <a:solidFill>
                  <a:schemeClr val="dk1"/>
                </a:solidFill>
                <a:latin typeface="Gill Sans"/>
                <a:ea typeface="Gill Sans"/>
                <a:cs typeface="Gill Sans"/>
                <a:sym typeface="Gill Sans"/>
              </a:defRPr>
            </a:lvl5pPr>
            <a:lvl6pPr marL="2743200" marR="0" lvl="5" indent="-304800" algn="l" rtl="0">
              <a:spcBef>
                <a:spcPts val="300"/>
              </a:spcBef>
              <a:spcAft>
                <a:spcPts val="0"/>
              </a:spcAft>
              <a:buClr>
                <a:srgbClr val="8BA1B3"/>
              </a:buClr>
              <a:buSzPts val="1200"/>
              <a:buFont typeface="Noto Sans Symbols"/>
              <a:buChar char="🞂"/>
              <a:defRPr sz="1600" b="0" i="0" u="none" strike="noStrike" cap="none">
                <a:solidFill>
                  <a:schemeClr val="dk1"/>
                </a:solidFill>
                <a:latin typeface="Gill Sans"/>
                <a:ea typeface="Gill Sans"/>
                <a:cs typeface="Gill Sans"/>
                <a:sym typeface="Gill Sans"/>
              </a:defRPr>
            </a:lvl6pPr>
            <a:lvl7pPr marL="3200400" marR="0" lvl="6" indent="-295275" algn="l" rtl="0">
              <a:spcBef>
                <a:spcPts val="300"/>
              </a:spcBef>
              <a:spcAft>
                <a:spcPts val="0"/>
              </a:spcAft>
              <a:buClr>
                <a:srgbClr val="646C8F"/>
              </a:buClr>
              <a:buSzPts val="1050"/>
              <a:buFont typeface="Noto Sans Symbols"/>
              <a:buChar char="🞂"/>
              <a:defRPr sz="1400" b="0" i="0" u="none" strike="noStrike" cap="none">
                <a:solidFill>
                  <a:schemeClr val="dk1"/>
                </a:solidFill>
                <a:latin typeface="Gill Sans"/>
                <a:ea typeface="Gill Sans"/>
                <a:cs typeface="Gill Sans"/>
                <a:sym typeface="Gill Sans"/>
              </a:defRPr>
            </a:lvl7pPr>
            <a:lvl8pPr marL="3657600" marR="0" lvl="7" indent="-295275" algn="l" rtl="0">
              <a:spcBef>
                <a:spcPts val="300"/>
              </a:spcBef>
              <a:spcAft>
                <a:spcPts val="0"/>
              </a:spcAft>
              <a:buClr>
                <a:srgbClr val="BABABA"/>
              </a:buClr>
              <a:buSzPts val="1050"/>
              <a:buFont typeface="Noto Sans Symbols"/>
              <a:buChar char="🞂"/>
              <a:defRPr sz="1400" b="0" i="0" u="none" strike="noStrike" cap="none">
                <a:solidFill>
                  <a:schemeClr val="dk1"/>
                </a:solidFill>
                <a:latin typeface="Gill Sans"/>
                <a:ea typeface="Gill Sans"/>
                <a:cs typeface="Gill Sans"/>
                <a:sym typeface="Gill Sans"/>
              </a:defRPr>
            </a:lvl8pPr>
            <a:lvl9pPr marL="4114800" marR="0" lvl="8" indent="-285750" algn="l" rtl="0">
              <a:spcBef>
                <a:spcPts val="300"/>
              </a:spcBef>
              <a:spcAft>
                <a:spcPts val="0"/>
              </a:spcAft>
              <a:buClr>
                <a:srgbClr val="9FB8CD"/>
              </a:buClr>
              <a:buSzPts val="900"/>
              <a:buFont typeface="Noto Sans Symbols"/>
              <a:buChar char="🞂"/>
              <a:defRPr sz="1200" b="0" i="0" u="none" strike="noStrike" cap="none">
                <a:solidFill>
                  <a:schemeClr val="dk1"/>
                </a:solidFill>
                <a:latin typeface="Gill Sans"/>
                <a:ea typeface="Gill Sans"/>
                <a:cs typeface="Gill Sans"/>
                <a:sym typeface="Gill Sans"/>
              </a:defRPr>
            </a:lvl9pPr>
          </a:lstStyle>
          <a:p>
            <a:endParaRPr/>
          </a:p>
        </p:txBody>
      </p:sp>
      <p:sp>
        <p:nvSpPr>
          <p:cNvPr id="12" name="Google Shape;12;p32"/>
          <p:cNvSpPr txBox="1">
            <a:spLocks noGrp="1"/>
          </p:cNvSpPr>
          <p:nvPr>
            <p:ph type="dt" idx="10"/>
          </p:nvPr>
        </p:nvSpPr>
        <p:spPr>
          <a:xfrm>
            <a:off x="6400800" y="6356350"/>
            <a:ext cx="2289048" cy="36576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400" b="0" i="0" u="none" strike="noStrike" cap="none">
                <a:solidFill>
                  <a:schemeClr val="dk2"/>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13" name="Google Shape;13;p32"/>
          <p:cNvSpPr txBox="1">
            <a:spLocks noGrp="1"/>
          </p:cNvSpPr>
          <p:nvPr>
            <p:ph type="ftr" idx="11"/>
          </p:nvPr>
        </p:nvSpPr>
        <p:spPr>
          <a:xfrm>
            <a:off x="2898648" y="6356350"/>
            <a:ext cx="3505200" cy="36576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400" b="0" i="0" u="none" strike="noStrike" cap="none">
                <a:solidFill>
                  <a:schemeClr val="dk2"/>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14" name="Google Shape;14;p32"/>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400" b="0" i="0" u="none" strike="noStrike" cap="none">
                <a:solidFill>
                  <a:schemeClr val="dk2"/>
                </a:solidFill>
                <a:latin typeface="Gill Sans"/>
                <a:ea typeface="Gill Sans"/>
                <a:cs typeface="Gill Sans"/>
                <a:sym typeface="Gill Sans"/>
              </a:defRPr>
            </a:lvl1pPr>
            <a:lvl2pPr marL="0" marR="0" lvl="1" indent="0" algn="l" rtl="0">
              <a:spcBef>
                <a:spcPts val="0"/>
              </a:spcBef>
              <a:buNone/>
              <a:defRPr sz="1400" b="0" i="0" u="none" strike="noStrike" cap="none">
                <a:solidFill>
                  <a:schemeClr val="dk2"/>
                </a:solidFill>
                <a:latin typeface="Gill Sans"/>
                <a:ea typeface="Gill Sans"/>
                <a:cs typeface="Gill Sans"/>
                <a:sym typeface="Gill Sans"/>
              </a:defRPr>
            </a:lvl2pPr>
            <a:lvl3pPr marL="0" marR="0" lvl="2" indent="0" algn="l" rtl="0">
              <a:spcBef>
                <a:spcPts val="0"/>
              </a:spcBef>
              <a:buNone/>
              <a:defRPr sz="1400" b="0" i="0" u="none" strike="noStrike" cap="none">
                <a:solidFill>
                  <a:schemeClr val="dk2"/>
                </a:solidFill>
                <a:latin typeface="Gill Sans"/>
                <a:ea typeface="Gill Sans"/>
                <a:cs typeface="Gill Sans"/>
                <a:sym typeface="Gill Sans"/>
              </a:defRPr>
            </a:lvl3pPr>
            <a:lvl4pPr marL="0" marR="0" lvl="3" indent="0" algn="l" rtl="0">
              <a:spcBef>
                <a:spcPts val="0"/>
              </a:spcBef>
              <a:buNone/>
              <a:defRPr sz="1400" b="0" i="0" u="none" strike="noStrike" cap="none">
                <a:solidFill>
                  <a:schemeClr val="dk2"/>
                </a:solidFill>
                <a:latin typeface="Gill Sans"/>
                <a:ea typeface="Gill Sans"/>
                <a:cs typeface="Gill Sans"/>
                <a:sym typeface="Gill Sans"/>
              </a:defRPr>
            </a:lvl4pPr>
            <a:lvl5pPr marL="0" marR="0" lvl="4" indent="0" algn="l" rtl="0">
              <a:spcBef>
                <a:spcPts val="0"/>
              </a:spcBef>
              <a:buNone/>
              <a:defRPr sz="1400" b="0" i="0" u="none" strike="noStrike" cap="none">
                <a:solidFill>
                  <a:schemeClr val="dk2"/>
                </a:solidFill>
                <a:latin typeface="Gill Sans"/>
                <a:ea typeface="Gill Sans"/>
                <a:cs typeface="Gill Sans"/>
                <a:sym typeface="Gill Sans"/>
              </a:defRPr>
            </a:lvl5pPr>
            <a:lvl6pPr marL="0" marR="0" lvl="5" indent="0" algn="l" rtl="0">
              <a:spcBef>
                <a:spcPts val="0"/>
              </a:spcBef>
              <a:buNone/>
              <a:defRPr sz="1400" b="0" i="0" u="none" strike="noStrike" cap="none">
                <a:solidFill>
                  <a:schemeClr val="dk2"/>
                </a:solidFill>
                <a:latin typeface="Gill Sans"/>
                <a:ea typeface="Gill Sans"/>
                <a:cs typeface="Gill Sans"/>
                <a:sym typeface="Gill Sans"/>
              </a:defRPr>
            </a:lvl6pPr>
            <a:lvl7pPr marL="0" marR="0" lvl="6" indent="0" algn="l" rtl="0">
              <a:spcBef>
                <a:spcPts val="0"/>
              </a:spcBef>
              <a:buNone/>
              <a:defRPr sz="1400" b="0" i="0" u="none" strike="noStrike" cap="none">
                <a:solidFill>
                  <a:schemeClr val="dk2"/>
                </a:solidFill>
                <a:latin typeface="Gill Sans"/>
                <a:ea typeface="Gill Sans"/>
                <a:cs typeface="Gill Sans"/>
                <a:sym typeface="Gill Sans"/>
              </a:defRPr>
            </a:lvl7pPr>
            <a:lvl8pPr marL="0" marR="0" lvl="7" indent="0" algn="l" rtl="0">
              <a:spcBef>
                <a:spcPts val="0"/>
              </a:spcBef>
              <a:buNone/>
              <a:defRPr sz="1400" b="0" i="0" u="none" strike="noStrike" cap="none">
                <a:solidFill>
                  <a:schemeClr val="dk2"/>
                </a:solidFill>
                <a:latin typeface="Gill Sans"/>
                <a:ea typeface="Gill Sans"/>
                <a:cs typeface="Gill Sans"/>
                <a:sym typeface="Gill Sans"/>
              </a:defRPr>
            </a:lvl8pPr>
            <a:lvl9pPr marL="0" marR="0" lvl="8" indent="0" algn="l" rtl="0">
              <a:spcBef>
                <a:spcPts val="0"/>
              </a:spcBef>
              <a:buNone/>
              <a:defRPr sz="1400" b="0" i="0" u="none" strike="noStrike" cap="none">
                <a:solidFill>
                  <a:schemeClr val="dk2"/>
                </a:solidFill>
                <a:latin typeface="Gill Sans"/>
                <a:ea typeface="Gill Sans"/>
                <a:cs typeface="Gill Sans"/>
                <a:sym typeface="Gill Sans"/>
              </a:defRPr>
            </a:lvl9pPr>
          </a:lstStyle>
          <a:p>
            <a:pPr marL="0" lvl="0" indent="0" algn="l" rtl="0">
              <a:spcBef>
                <a:spcPts val="0"/>
              </a:spcBef>
              <a:spcAft>
                <a:spcPts val="0"/>
              </a:spcAft>
              <a:buNone/>
            </a:pPr>
            <a:fld id="{00000000-1234-1234-1234-123412341234}" type="slidenum">
              <a:rPr lang="en-US"/>
              <a:t>‹#›</a:t>
            </a:fld>
            <a:endParaRPr sz="1600"/>
          </a:p>
        </p:txBody>
      </p:sp>
      <p:cxnSp>
        <p:nvCxnSpPr>
          <p:cNvPr id="15" name="Google Shape;15;p32"/>
          <p:cNvCxnSpPr/>
          <p:nvPr/>
        </p:nvCxnSpPr>
        <p:spPr>
          <a:xfrm>
            <a:off x="457200" y="6353175"/>
            <a:ext cx="8229600" cy="0"/>
          </a:xfrm>
          <a:prstGeom prst="straightConnector1">
            <a:avLst/>
          </a:prstGeom>
          <a:noFill/>
          <a:ln w="9525" cap="flat" cmpd="sng">
            <a:solidFill>
              <a:schemeClr val="accent2"/>
            </a:solidFill>
            <a:prstDash val="dash"/>
            <a:round/>
            <a:headEnd type="none" w="sm" len="sm"/>
            <a:tailEnd type="none" w="sm" len="sm"/>
          </a:ln>
        </p:spPr>
      </p:cxnSp>
      <p:cxnSp>
        <p:nvCxnSpPr>
          <p:cNvPr id="16" name="Google Shape;16;p32"/>
          <p:cNvCxnSpPr/>
          <p:nvPr/>
        </p:nvCxnSpPr>
        <p:spPr>
          <a:xfrm>
            <a:off x="457200" y="1143000"/>
            <a:ext cx="8229600" cy="0"/>
          </a:xfrm>
          <a:prstGeom prst="straightConnector1">
            <a:avLst/>
          </a:prstGeom>
          <a:noFill/>
          <a:ln w="9525" cap="flat" cmpd="sng">
            <a:solidFill>
              <a:schemeClr val="accent2"/>
            </a:solidFill>
            <a:prstDash val="dash"/>
            <a:round/>
            <a:headEnd type="none" w="sm" len="sm"/>
            <a:tailEnd type="none" w="sm" len="sm"/>
          </a:ln>
        </p:spPr>
      </p:cxnSp>
      <p:sp>
        <p:nvSpPr>
          <p:cNvPr id="17" name="Google Shape;17;p32"/>
          <p:cNvSpPr/>
          <p:nvPr/>
        </p:nvSpPr>
        <p:spPr>
          <a:xfrm rot="5400000">
            <a:off x="419100" y="6467475"/>
            <a:ext cx="190849" cy="120314"/>
          </a:xfrm>
          <a:prstGeom prst="triangle">
            <a:avLst>
              <a:gd name="adj" fmla="val 50000"/>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
          <p:cNvSpPr txBox="1">
            <a:spLocks noGrp="1"/>
          </p:cNvSpPr>
          <p:nvPr>
            <p:ph type="ctrTitle"/>
          </p:nvPr>
        </p:nvSpPr>
        <p:spPr>
          <a:xfrm>
            <a:off x="1066800" y="3785235"/>
            <a:ext cx="7239000" cy="9906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Clr>
                <a:srgbClr val="C00000"/>
              </a:buClr>
              <a:buSzPts val="2000"/>
              <a:buFont typeface="Bookman Old Style"/>
              <a:buNone/>
            </a:pPr>
            <a:r>
              <a:rPr lang="en-US" sz="2000" b="1">
                <a:solidFill>
                  <a:srgbClr val="C00000"/>
                </a:solidFill>
              </a:rPr>
              <a:t>Lecture#10: GPIO Part#2 (Chapter#14)</a:t>
            </a:r>
            <a:br>
              <a:rPr lang="en-US" sz="2000" b="1">
                <a:solidFill>
                  <a:srgbClr val="C00000"/>
                </a:solidFill>
              </a:rPr>
            </a:br>
            <a:r>
              <a:rPr lang="en-US" sz="2000"/>
              <a:t>Summer, </a:t>
            </a:r>
            <a:r>
              <a:rPr lang="en-US" sz="2000" smtClean="0"/>
              <a:t>2025</a:t>
            </a:r>
            <a:r>
              <a:rPr lang="en-US" sz="1600"/>
              <a:t/>
            </a:r>
            <a:br>
              <a:rPr lang="en-US" sz="1600"/>
            </a:br>
            <a:endParaRPr sz="2000"/>
          </a:p>
        </p:txBody>
      </p:sp>
      <p:sp>
        <p:nvSpPr>
          <p:cNvPr id="110" name="Google Shape;110;p1"/>
          <p:cNvSpPr txBox="1">
            <a:spLocks noGrp="1"/>
          </p:cNvSpPr>
          <p:nvPr>
            <p:ph type="subTitle" idx="1"/>
          </p:nvPr>
        </p:nvSpPr>
        <p:spPr>
          <a:xfrm>
            <a:off x="1219200" y="5124450"/>
            <a:ext cx="6858000" cy="533400"/>
          </a:xfrm>
          <a:prstGeom prst="rect">
            <a:avLst/>
          </a:prstGeom>
          <a:noFill/>
          <a:ln>
            <a:noFill/>
          </a:ln>
        </p:spPr>
        <p:txBody>
          <a:bodyPr spcFirstLastPara="1" wrap="square" lIns="91425" tIns="45700" rIns="91425" bIns="45700" anchor="t" anchorCtr="0">
            <a:noAutofit/>
          </a:bodyPr>
          <a:lstStyle/>
          <a:p>
            <a:pPr marL="0" lvl="0" indent="0" algn="r" rtl="0">
              <a:lnSpc>
                <a:spcPct val="80000"/>
              </a:lnSpc>
              <a:spcBef>
                <a:spcPts val="0"/>
              </a:spcBef>
              <a:spcAft>
                <a:spcPts val="0"/>
              </a:spcAft>
              <a:buSzPts val="851"/>
              <a:buNone/>
            </a:pPr>
            <a:r>
              <a:rPr lang="en-US" sz="1520" dirty="0" smtClean="0"/>
              <a:t>Credit: </a:t>
            </a:r>
            <a:r>
              <a:rPr lang="en-US" sz="1520" dirty="0" smtClean="0"/>
              <a:t>Dr. Mohammad </a:t>
            </a:r>
            <a:r>
              <a:rPr lang="en-US" sz="1520" dirty="0"/>
              <a:t>A. </a:t>
            </a:r>
            <a:r>
              <a:rPr lang="en-US" sz="1520" dirty="0" err="1" smtClean="0"/>
              <a:t>Qayum</a:t>
            </a:r>
            <a:endParaRPr sz="1120" dirty="0"/>
          </a:p>
        </p:txBody>
      </p:sp>
      <p:sp>
        <p:nvSpPr>
          <p:cNvPr id="111" name="Google Shape;111;p1"/>
          <p:cNvSpPr txBox="1"/>
          <p:nvPr/>
        </p:nvSpPr>
        <p:spPr>
          <a:xfrm>
            <a:off x="1828800" y="337547"/>
            <a:ext cx="6477000" cy="646331"/>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800" b="1" i="0" u="none" strike="noStrike" cap="none">
                <a:solidFill>
                  <a:schemeClr val="dk1"/>
                </a:solidFill>
                <a:latin typeface="Bookman Old Style"/>
                <a:ea typeface="Bookman Old Style"/>
                <a:cs typeface="Bookman Old Style"/>
                <a:sym typeface="Bookman Old Style"/>
              </a:rPr>
              <a:t>Embedded Systems with ARM Cortex-M Microcontrollers in Assembly Language and C</a:t>
            </a:r>
            <a:endParaRPr/>
          </a:p>
        </p:txBody>
      </p:sp>
      <p:sp>
        <p:nvSpPr>
          <p:cNvPr id="112" name="Google Shape;112;p1"/>
          <p:cNvSpPr txBox="1"/>
          <p:nvPr/>
        </p:nvSpPr>
        <p:spPr>
          <a:xfrm>
            <a:off x="1401553" y="1828800"/>
            <a:ext cx="6867900" cy="1200600"/>
          </a:xfrm>
          <a:prstGeom prst="rect">
            <a:avLst/>
          </a:prstGeom>
          <a:noFill/>
          <a:ln>
            <a:noFill/>
          </a:ln>
        </p:spPr>
        <p:txBody>
          <a:bodyPr spcFirstLastPara="1" wrap="square" lIns="91425" tIns="45700" rIns="91425" bIns="45700" anchor="t" anchorCtr="0">
            <a:spAutoFit/>
          </a:bodyPr>
          <a:lstStyle/>
          <a:p>
            <a:pPr marL="0" lvl="0" indent="0" algn="ctr" rtl="0">
              <a:spcBef>
                <a:spcPts val="0"/>
              </a:spcBef>
              <a:spcAft>
                <a:spcPts val="0"/>
              </a:spcAft>
              <a:buClr>
                <a:schemeClr val="dk1"/>
              </a:buClr>
              <a:buFont typeface="Arial"/>
              <a:buNone/>
            </a:pPr>
            <a:r>
              <a:rPr lang="en-US" sz="2400" b="1">
                <a:solidFill>
                  <a:srgbClr val="C00000"/>
                </a:solidFill>
                <a:latin typeface="Gill Sans"/>
                <a:ea typeface="Gill Sans"/>
                <a:cs typeface="Gill Sans"/>
                <a:sym typeface="Gill Sans"/>
              </a:rPr>
              <a:t>CSE331: Microprocessor Interfacing and Embedded Systems</a:t>
            </a:r>
            <a:endParaRPr sz="2400" b="1">
              <a:solidFill>
                <a:srgbClr val="C00000"/>
              </a:solidFill>
              <a:latin typeface="Gill Sans"/>
              <a:ea typeface="Gill Sans"/>
              <a:cs typeface="Gill Sans"/>
              <a:sym typeface="Gill Sans"/>
            </a:endParaRPr>
          </a:p>
          <a:p>
            <a:pPr marL="0" marR="0" lvl="0" indent="0" algn="r" rtl="0">
              <a:spcBef>
                <a:spcPts val="0"/>
              </a:spcBef>
              <a:spcAft>
                <a:spcPts val="0"/>
              </a:spcAft>
              <a:buNone/>
            </a:pPr>
            <a:endParaRPr sz="2400" b="1">
              <a:solidFill>
                <a:srgbClr val="C00000"/>
              </a:solidFill>
              <a:latin typeface="Gill Sans"/>
              <a:ea typeface="Gill Sans"/>
              <a:cs typeface="Gill Sans"/>
              <a:sym typeface="Gill Sans"/>
            </a:endParaRPr>
          </a:p>
        </p:txBody>
      </p:sp>
      <p:sp>
        <p:nvSpPr>
          <p:cNvPr id="113" name="Google Shape;113;p1"/>
          <p:cNvSpPr txBox="1">
            <a:spLocks noGrp="1"/>
          </p:cNvSpPr>
          <p:nvPr>
            <p:ph type="sldNum" idx="12"/>
          </p:nvPr>
        </p:nvSpPr>
        <p:spPr>
          <a:xfrm>
            <a:off x="1216152" y="6355080"/>
            <a:ext cx="1219200"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fontScale="90000"/>
          </a:bodyPr>
          <a:lstStyle/>
          <a:p>
            <a:pPr marL="0" lvl="0" indent="0" algn="l" rtl="0">
              <a:spcBef>
                <a:spcPts val="0"/>
              </a:spcBef>
              <a:spcAft>
                <a:spcPts val="0"/>
              </a:spcAft>
              <a:buClr>
                <a:schemeClr val="dk2"/>
              </a:buClr>
              <a:buSzPct val="100000"/>
              <a:buFont typeface="Bookman Old Style"/>
              <a:buNone/>
            </a:pPr>
            <a:r>
              <a:rPr lang="en-US"/>
              <a:t>GPIO Output:</a:t>
            </a:r>
            <a:br>
              <a:rPr lang="en-US"/>
            </a:br>
            <a:r>
              <a:rPr lang="en-US"/>
              <a:t>Open-Drain</a:t>
            </a:r>
            <a:endParaRPr/>
          </a:p>
        </p:txBody>
      </p:sp>
      <p:sp>
        <p:nvSpPr>
          <p:cNvPr id="119" name="Google Shape;119;p2"/>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2</a:t>
            </a:fld>
            <a:endParaRPr/>
          </a:p>
        </p:txBody>
      </p:sp>
      <p:sp>
        <p:nvSpPr>
          <p:cNvPr id="120" name="Google Shape;120;p2"/>
          <p:cNvSpPr txBox="1"/>
          <p:nvPr/>
        </p:nvSpPr>
        <p:spPr>
          <a:xfrm>
            <a:off x="3765004" y="5335712"/>
            <a:ext cx="5407250"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i="0" u="none" strike="noStrike" cap="none">
                <a:solidFill>
                  <a:srgbClr val="FF0000"/>
                </a:solidFill>
                <a:latin typeface="Gill Sans"/>
                <a:ea typeface="Gill Sans"/>
                <a:cs typeface="Gill Sans"/>
                <a:sym typeface="Gill Sans"/>
              </a:rPr>
              <a:t>Output = </a:t>
            </a:r>
            <a:r>
              <a:rPr lang="en-US" sz="1800" b="1" i="0" u="none" strike="noStrike" cap="none">
                <a:solidFill>
                  <a:srgbClr val="FF0000"/>
                </a:solidFill>
                <a:latin typeface="Consolas"/>
                <a:ea typeface="Consolas"/>
                <a:cs typeface="Consolas"/>
                <a:sym typeface="Consolas"/>
              </a:rPr>
              <a:t>1</a:t>
            </a:r>
            <a:endParaRPr/>
          </a:p>
          <a:p>
            <a:pPr marL="0" marR="0" lvl="0" indent="0" algn="ctr" rtl="0">
              <a:spcBef>
                <a:spcPts val="0"/>
              </a:spcBef>
              <a:spcAft>
                <a:spcPts val="0"/>
              </a:spcAft>
              <a:buNone/>
            </a:pPr>
            <a:r>
              <a:rPr lang="en-US" sz="1800" b="1" i="0" u="none" strike="noStrike" cap="none">
                <a:solidFill>
                  <a:srgbClr val="FF0000"/>
                </a:solidFill>
                <a:latin typeface="Gill Sans"/>
                <a:ea typeface="Gill Sans"/>
                <a:cs typeface="Gill Sans"/>
                <a:sym typeface="Gill Sans"/>
              </a:rPr>
              <a:t>GPIO Pin has high-impedance to external circuit</a:t>
            </a:r>
            <a:endParaRPr sz="1800" b="1" i="0" u="none" strike="noStrike" cap="none">
              <a:solidFill>
                <a:srgbClr val="FF0000"/>
              </a:solidFill>
              <a:latin typeface="Consolas"/>
              <a:ea typeface="Consolas"/>
              <a:cs typeface="Consolas"/>
              <a:sym typeface="Consolas"/>
            </a:endParaRPr>
          </a:p>
        </p:txBody>
      </p:sp>
      <p:pic>
        <p:nvPicPr>
          <p:cNvPr id="121" name="Google Shape;121;p2"/>
          <p:cNvPicPr preferRelativeResize="0"/>
          <p:nvPr/>
        </p:nvPicPr>
        <p:blipFill rotWithShape="1">
          <a:blip r:embed="rId3">
            <a:alphaModFix/>
          </a:blip>
          <a:srcRect/>
          <a:stretch/>
        </p:blipFill>
        <p:spPr>
          <a:xfrm>
            <a:off x="457200" y="2286000"/>
            <a:ext cx="3440232" cy="2385498"/>
          </a:xfrm>
          <a:prstGeom prst="rect">
            <a:avLst/>
          </a:prstGeom>
          <a:noFill/>
          <a:ln>
            <a:noFill/>
          </a:ln>
        </p:spPr>
      </p:pic>
      <p:pic>
        <p:nvPicPr>
          <p:cNvPr id="122" name="Google Shape;122;p2"/>
          <p:cNvPicPr preferRelativeResize="0"/>
          <p:nvPr/>
        </p:nvPicPr>
        <p:blipFill rotWithShape="1">
          <a:blip r:embed="rId4">
            <a:alphaModFix/>
          </a:blip>
          <a:srcRect/>
          <a:stretch/>
        </p:blipFill>
        <p:spPr>
          <a:xfrm>
            <a:off x="4913644" y="2444514"/>
            <a:ext cx="3109969" cy="206847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3"/>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GPIO Output Speed</a:t>
            </a:r>
            <a:endParaRPr/>
          </a:p>
        </p:txBody>
      </p:sp>
      <p:sp>
        <p:nvSpPr>
          <p:cNvPr id="128" name="Google Shape;128;p3"/>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3</a:t>
            </a:fld>
            <a:endParaRPr/>
          </a:p>
        </p:txBody>
      </p:sp>
      <p:sp>
        <p:nvSpPr>
          <p:cNvPr id="129" name="Google Shape;129;p3"/>
          <p:cNvSpPr txBox="1">
            <a:spLocks noGrp="1"/>
          </p:cNvSpPr>
          <p:nvPr>
            <p:ph type="body" idx="1"/>
          </p:nvPr>
        </p:nvSpPr>
        <p:spPr>
          <a:xfrm>
            <a:off x="400467" y="1345021"/>
            <a:ext cx="5254931" cy="4245668"/>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1976"/>
              <a:buChar char="🞂"/>
            </a:pPr>
            <a:r>
              <a:rPr lang="en-US"/>
              <a:t>Output Speed: </a:t>
            </a:r>
            <a:endParaRPr/>
          </a:p>
          <a:p>
            <a:pPr marL="548640" lvl="1" indent="-274320" algn="l" rtl="0">
              <a:spcBef>
                <a:spcPts val="500"/>
              </a:spcBef>
              <a:spcAft>
                <a:spcPts val="0"/>
              </a:spcAft>
              <a:buSzPts val="1748"/>
              <a:buChar char="🞂"/>
            </a:pPr>
            <a:r>
              <a:rPr lang="en-US"/>
              <a:t>Speed of rising and falling</a:t>
            </a:r>
            <a:endParaRPr/>
          </a:p>
          <a:p>
            <a:pPr marL="548640" lvl="1" indent="-274320" algn="l" rtl="0">
              <a:spcBef>
                <a:spcPts val="500"/>
              </a:spcBef>
              <a:spcAft>
                <a:spcPts val="0"/>
              </a:spcAft>
              <a:buSzPts val="1748"/>
              <a:buChar char="🞂"/>
            </a:pPr>
            <a:r>
              <a:rPr lang="en-US"/>
              <a:t>Four speeds: Low, Medium, Fast, High</a:t>
            </a:r>
            <a:endParaRPr/>
          </a:p>
          <a:p>
            <a:pPr marL="274320" lvl="0" indent="-274320" algn="l" rtl="0">
              <a:spcBef>
                <a:spcPts val="600"/>
              </a:spcBef>
              <a:spcAft>
                <a:spcPts val="0"/>
              </a:spcAft>
              <a:buSzPts val="1976"/>
              <a:buChar char="🞂"/>
            </a:pPr>
            <a:r>
              <a:rPr lang="en-US"/>
              <a:t>Tradeoff</a:t>
            </a:r>
            <a:endParaRPr/>
          </a:p>
          <a:p>
            <a:pPr marL="548640" lvl="1" indent="-274320" algn="l" rtl="0">
              <a:spcBef>
                <a:spcPts val="500"/>
              </a:spcBef>
              <a:spcAft>
                <a:spcPts val="0"/>
              </a:spcAft>
              <a:buSzPts val="1748"/>
              <a:buChar char="🞂"/>
            </a:pPr>
            <a:r>
              <a:rPr lang="en-US"/>
              <a:t>Higher GPIO speed increases EMI noise and power consumption</a:t>
            </a:r>
            <a:endParaRPr/>
          </a:p>
          <a:p>
            <a:pPr marL="548640" lvl="1" indent="-274320" algn="l" rtl="0">
              <a:spcBef>
                <a:spcPts val="500"/>
              </a:spcBef>
              <a:spcAft>
                <a:spcPts val="0"/>
              </a:spcAft>
              <a:buSzPts val="1748"/>
              <a:buChar char="🞂"/>
            </a:pPr>
            <a:r>
              <a:rPr lang="en-US"/>
              <a:t>Configure based on peripheral speed</a:t>
            </a:r>
            <a:endParaRPr/>
          </a:p>
          <a:p>
            <a:pPr marL="822960" lvl="2" indent="-228600" algn="l" rtl="0">
              <a:spcBef>
                <a:spcPts val="500"/>
              </a:spcBef>
              <a:spcAft>
                <a:spcPts val="0"/>
              </a:spcAft>
              <a:buSzPts val="1520"/>
              <a:buChar char="🞂"/>
            </a:pPr>
            <a:r>
              <a:rPr lang="en-US"/>
              <a:t>Low speed for toggling LEDs</a:t>
            </a:r>
            <a:endParaRPr/>
          </a:p>
          <a:p>
            <a:pPr marL="822960" lvl="2" indent="-228600" algn="l" rtl="0">
              <a:spcBef>
                <a:spcPts val="500"/>
              </a:spcBef>
              <a:spcAft>
                <a:spcPts val="0"/>
              </a:spcAft>
              <a:buSzPts val="1520"/>
              <a:buChar char="🞂"/>
            </a:pPr>
            <a:r>
              <a:rPr lang="en-US"/>
              <a:t>High speed for SPI</a:t>
            </a:r>
            <a:endParaRPr/>
          </a:p>
        </p:txBody>
      </p:sp>
      <p:grpSp>
        <p:nvGrpSpPr>
          <p:cNvPr id="130" name="Google Shape;130;p3"/>
          <p:cNvGrpSpPr/>
          <p:nvPr/>
        </p:nvGrpSpPr>
        <p:grpSpPr>
          <a:xfrm>
            <a:off x="6019800" y="1943854"/>
            <a:ext cx="2599853" cy="3505200"/>
            <a:chOff x="5867400" y="1600199"/>
            <a:chExt cx="2599853" cy="3505200"/>
          </a:xfrm>
        </p:grpSpPr>
        <p:cxnSp>
          <p:nvCxnSpPr>
            <p:cNvPr id="131" name="Google Shape;131;p3"/>
            <p:cNvCxnSpPr/>
            <p:nvPr/>
          </p:nvCxnSpPr>
          <p:spPr>
            <a:xfrm>
              <a:off x="5867400" y="2209800"/>
              <a:ext cx="2590800" cy="0"/>
            </a:xfrm>
            <a:prstGeom prst="straightConnector1">
              <a:avLst/>
            </a:prstGeom>
            <a:noFill/>
            <a:ln w="9525" cap="flat" cmpd="sng">
              <a:solidFill>
                <a:schemeClr val="accent1"/>
              </a:solidFill>
              <a:prstDash val="solid"/>
              <a:round/>
              <a:headEnd type="none" w="sm" len="sm"/>
              <a:tailEnd type="stealth" w="med" len="med"/>
            </a:ln>
          </p:spPr>
        </p:cxnSp>
        <p:cxnSp>
          <p:nvCxnSpPr>
            <p:cNvPr id="132" name="Google Shape;132;p3"/>
            <p:cNvCxnSpPr/>
            <p:nvPr/>
          </p:nvCxnSpPr>
          <p:spPr>
            <a:xfrm rot="10800000">
              <a:off x="6019800" y="1600200"/>
              <a:ext cx="0" cy="762000"/>
            </a:xfrm>
            <a:prstGeom prst="straightConnector1">
              <a:avLst/>
            </a:prstGeom>
            <a:noFill/>
            <a:ln w="9525" cap="flat" cmpd="sng">
              <a:solidFill>
                <a:schemeClr val="accent1"/>
              </a:solidFill>
              <a:prstDash val="solid"/>
              <a:round/>
              <a:headEnd type="none" w="sm" len="sm"/>
              <a:tailEnd type="stealth" w="med" len="med"/>
            </a:ln>
          </p:spPr>
        </p:cxnSp>
        <p:cxnSp>
          <p:nvCxnSpPr>
            <p:cNvPr id="133" name="Google Shape;133;p3"/>
            <p:cNvCxnSpPr/>
            <p:nvPr/>
          </p:nvCxnSpPr>
          <p:spPr>
            <a:xfrm>
              <a:off x="6019800" y="2209800"/>
              <a:ext cx="381000" cy="0"/>
            </a:xfrm>
            <a:prstGeom prst="straightConnector1">
              <a:avLst/>
            </a:prstGeom>
            <a:noFill/>
            <a:ln w="28575" cap="flat" cmpd="sng">
              <a:solidFill>
                <a:srgbClr val="FF0000"/>
              </a:solidFill>
              <a:prstDash val="solid"/>
              <a:round/>
              <a:headEnd type="none" w="sm" len="sm"/>
              <a:tailEnd type="triangle" w="med" len="med"/>
            </a:ln>
          </p:spPr>
        </p:cxnSp>
        <p:cxnSp>
          <p:nvCxnSpPr>
            <p:cNvPr id="134" name="Google Shape;134;p3"/>
            <p:cNvCxnSpPr/>
            <p:nvPr/>
          </p:nvCxnSpPr>
          <p:spPr>
            <a:xfrm>
              <a:off x="8077200" y="1600200"/>
              <a:ext cx="381000" cy="0"/>
            </a:xfrm>
            <a:prstGeom prst="straightConnector1">
              <a:avLst/>
            </a:prstGeom>
            <a:noFill/>
            <a:ln w="28575" cap="flat" cmpd="sng">
              <a:solidFill>
                <a:srgbClr val="FF0000"/>
              </a:solidFill>
              <a:prstDash val="solid"/>
              <a:round/>
              <a:headEnd type="none" w="sm" len="sm"/>
              <a:tailEnd type="triangle" w="med" len="med"/>
            </a:ln>
          </p:spPr>
        </p:cxnSp>
        <p:cxnSp>
          <p:nvCxnSpPr>
            <p:cNvPr id="135" name="Google Shape;135;p3"/>
            <p:cNvCxnSpPr/>
            <p:nvPr/>
          </p:nvCxnSpPr>
          <p:spPr>
            <a:xfrm rot="10800000" flipH="1">
              <a:off x="6400800" y="1600200"/>
              <a:ext cx="1676400" cy="609600"/>
            </a:xfrm>
            <a:prstGeom prst="straightConnector1">
              <a:avLst/>
            </a:prstGeom>
            <a:noFill/>
            <a:ln w="28575" cap="flat" cmpd="sng">
              <a:solidFill>
                <a:srgbClr val="FF0000"/>
              </a:solidFill>
              <a:prstDash val="solid"/>
              <a:round/>
              <a:headEnd type="none" w="sm" len="sm"/>
              <a:tailEnd type="triangle" w="med" len="med"/>
            </a:ln>
          </p:spPr>
        </p:cxnSp>
        <p:cxnSp>
          <p:nvCxnSpPr>
            <p:cNvPr id="136" name="Google Shape;136;p3"/>
            <p:cNvCxnSpPr/>
            <p:nvPr/>
          </p:nvCxnSpPr>
          <p:spPr>
            <a:xfrm>
              <a:off x="5867400" y="3124200"/>
              <a:ext cx="2590800" cy="0"/>
            </a:xfrm>
            <a:prstGeom prst="straightConnector1">
              <a:avLst/>
            </a:prstGeom>
            <a:noFill/>
            <a:ln w="9525" cap="flat" cmpd="sng">
              <a:solidFill>
                <a:schemeClr val="accent1"/>
              </a:solidFill>
              <a:prstDash val="solid"/>
              <a:round/>
              <a:headEnd type="none" w="sm" len="sm"/>
              <a:tailEnd type="stealth" w="med" len="med"/>
            </a:ln>
          </p:spPr>
        </p:cxnSp>
        <p:cxnSp>
          <p:nvCxnSpPr>
            <p:cNvPr id="137" name="Google Shape;137;p3"/>
            <p:cNvCxnSpPr/>
            <p:nvPr/>
          </p:nvCxnSpPr>
          <p:spPr>
            <a:xfrm rot="10800000">
              <a:off x="6019800" y="2514600"/>
              <a:ext cx="0" cy="762000"/>
            </a:xfrm>
            <a:prstGeom prst="straightConnector1">
              <a:avLst/>
            </a:prstGeom>
            <a:noFill/>
            <a:ln w="9525" cap="flat" cmpd="sng">
              <a:solidFill>
                <a:schemeClr val="accent1"/>
              </a:solidFill>
              <a:prstDash val="solid"/>
              <a:round/>
              <a:headEnd type="none" w="sm" len="sm"/>
              <a:tailEnd type="stealth" w="med" len="med"/>
            </a:ln>
          </p:spPr>
        </p:cxnSp>
        <p:cxnSp>
          <p:nvCxnSpPr>
            <p:cNvPr id="138" name="Google Shape;138;p3"/>
            <p:cNvCxnSpPr/>
            <p:nvPr/>
          </p:nvCxnSpPr>
          <p:spPr>
            <a:xfrm>
              <a:off x="6019800" y="3124200"/>
              <a:ext cx="381000" cy="0"/>
            </a:xfrm>
            <a:prstGeom prst="straightConnector1">
              <a:avLst/>
            </a:prstGeom>
            <a:noFill/>
            <a:ln w="28575" cap="flat" cmpd="sng">
              <a:solidFill>
                <a:srgbClr val="FF0000"/>
              </a:solidFill>
              <a:prstDash val="solid"/>
              <a:round/>
              <a:headEnd type="none" w="sm" len="sm"/>
              <a:tailEnd type="triangle" w="med" len="med"/>
            </a:ln>
          </p:spPr>
        </p:cxnSp>
        <p:cxnSp>
          <p:nvCxnSpPr>
            <p:cNvPr id="139" name="Google Shape;139;p3"/>
            <p:cNvCxnSpPr/>
            <p:nvPr/>
          </p:nvCxnSpPr>
          <p:spPr>
            <a:xfrm>
              <a:off x="7810500" y="2514599"/>
              <a:ext cx="647700" cy="1"/>
            </a:xfrm>
            <a:prstGeom prst="straightConnector1">
              <a:avLst/>
            </a:prstGeom>
            <a:noFill/>
            <a:ln w="28575" cap="flat" cmpd="sng">
              <a:solidFill>
                <a:srgbClr val="FF0000"/>
              </a:solidFill>
              <a:prstDash val="solid"/>
              <a:round/>
              <a:headEnd type="none" w="sm" len="sm"/>
              <a:tailEnd type="triangle" w="med" len="med"/>
            </a:ln>
          </p:spPr>
        </p:cxnSp>
        <p:cxnSp>
          <p:nvCxnSpPr>
            <p:cNvPr id="140" name="Google Shape;140;p3"/>
            <p:cNvCxnSpPr/>
            <p:nvPr/>
          </p:nvCxnSpPr>
          <p:spPr>
            <a:xfrm rot="10800000" flipH="1">
              <a:off x="6400800" y="2514599"/>
              <a:ext cx="1409700" cy="609601"/>
            </a:xfrm>
            <a:prstGeom prst="straightConnector1">
              <a:avLst/>
            </a:prstGeom>
            <a:noFill/>
            <a:ln w="28575" cap="flat" cmpd="sng">
              <a:solidFill>
                <a:srgbClr val="FF0000"/>
              </a:solidFill>
              <a:prstDash val="solid"/>
              <a:round/>
              <a:headEnd type="none" w="sm" len="sm"/>
              <a:tailEnd type="triangle" w="med" len="med"/>
            </a:ln>
          </p:spPr>
        </p:cxnSp>
        <p:cxnSp>
          <p:nvCxnSpPr>
            <p:cNvPr id="141" name="Google Shape;141;p3"/>
            <p:cNvCxnSpPr/>
            <p:nvPr/>
          </p:nvCxnSpPr>
          <p:spPr>
            <a:xfrm>
              <a:off x="5867400" y="4038599"/>
              <a:ext cx="2590800" cy="0"/>
            </a:xfrm>
            <a:prstGeom prst="straightConnector1">
              <a:avLst/>
            </a:prstGeom>
            <a:noFill/>
            <a:ln w="9525" cap="flat" cmpd="sng">
              <a:solidFill>
                <a:schemeClr val="accent1"/>
              </a:solidFill>
              <a:prstDash val="solid"/>
              <a:round/>
              <a:headEnd type="none" w="sm" len="sm"/>
              <a:tailEnd type="stealth" w="med" len="med"/>
            </a:ln>
          </p:spPr>
        </p:cxnSp>
        <p:cxnSp>
          <p:nvCxnSpPr>
            <p:cNvPr id="142" name="Google Shape;142;p3"/>
            <p:cNvCxnSpPr/>
            <p:nvPr/>
          </p:nvCxnSpPr>
          <p:spPr>
            <a:xfrm rot="10800000">
              <a:off x="6019800" y="3428999"/>
              <a:ext cx="0" cy="762000"/>
            </a:xfrm>
            <a:prstGeom prst="straightConnector1">
              <a:avLst/>
            </a:prstGeom>
            <a:noFill/>
            <a:ln w="9525" cap="flat" cmpd="sng">
              <a:solidFill>
                <a:schemeClr val="accent1"/>
              </a:solidFill>
              <a:prstDash val="solid"/>
              <a:round/>
              <a:headEnd type="none" w="sm" len="sm"/>
              <a:tailEnd type="stealth" w="med" len="med"/>
            </a:ln>
          </p:spPr>
        </p:cxnSp>
        <p:cxnSp>
          <p:nvCxnSpPr>
            <p:cNvPr id="143" name="Google Shape;143;p3"/>
            <p:cNvCxnSpPr/>
            <p:nvPr/>
          </p:nvCxnSpPr>
          <p:spPr>
            <a:xfrm>
              <a:off x="6019800" y="4038599"/>
              <a:ext cx="381000" cy="0"/>
            </a:xfrm>
            <a:prstGeom prst="straightConnector1">
              <a:avLst/>
            </a:prstGeom>
            <a:noFill/>
            <a:ln w="28575" cap="flat" cmpd="sng">
              <a:solidFill>
                <a:srgbClr val="FF0000"/>
              </a:solidFill>
              <a:prstDash val="solid"/>
              <a:round/>
              <a:headEnd type="none" w="sm" len="sm"/>
              <a:tailEnd type="triangle" w="med" len="med"/>
            </a:ln>
          </p:spPr>
        </p:cxnSp>
        <p:cxnSp>
          <p:nvCxnSpPr>
            <p:cNvPr id="144" name="Google Shape;144;p3"/>
            <p:cNvCxnSpPr/>
            <p:nvPr/>
          </p:nvCxnSpPr>
          <p:spPr>
            <a:xfrm>
              <a:off x="7114703" y="3447105"/>
              <a:ext cx="1352550" cy="0"/>
            </a:xfrm>
            <a:prstGeom prst="straightConnector1">
              <a:avLst/>
            </a:prstGeom>
            <a:noFill/>
            <a:ln w="28575" cap="flat" cmpd="sng">
              <a:solidFill>
                <a:srgbClr val="FF0000"/>
              </a:solidFill>
              <a:prstDash val="solid"/>
              <a:round/>
              <a:headEnd type="none" w="sm" len="sm"/>
              <a:tailEnd type="triangle" w="med" len="med"/>
            </a:ln>
          </p:spPr>
        </p:cxnSp>
        <p:cxnSp>
          <p:nvCxnSpPr>
            <p:cNvPr id="145" name="Google Shape;145;p3"/>
            <p:cNvCxnSpPr/>
            <p:nvPr/>
          </p:nvCxnSpPr>
          <p:spPr>
            <a:xfrm rot="10800000" flipH="1">
              <a:off x="6400800" y="3448156"/>
              <a:ext cx="762000" cy="590443"/>
            </a:xfrm>
            <a:prstGeom prst="straightConnector1">
              <a:avLst/>
            </a:prstGeom>
            <a:noFill/>
            <a:ln w="28575" cap="flat" cmpd="sng">
              <a:solidFill>
                <a:srgbClr val="FF0000"/>
              </a:solidFill>
              <a:prstDash val="solid"/>
              <a:round/>
              <a:headEnd type="none" w="sm" len="sm"/>
              <a:tailEnd type="triangle" w="med" len="med"/>
            </a:ln>
          </p:spPr>
        </p:cxnSp>
        <p:cxnSp>
          <p:nvCxnSpPr>
            <p:cNvPr id="146" name="Google Shape;146;p3"/>
            <p:cNvCxnSpPr/>
            <p:nvPr/>
          </p:nvCxnSpPr>
          <p:spPr>
            <a:xfrm>
              <a:off x="5867400" y="4952999"/>
              <a:ext cx="2590800" cy="0"/>
            </a:xfrm>
            <a:prstGeom prst="straightConnector1">
              <a:avLst/>
            </a:prstGeom>
            <a:noFill/>
            <a:ln w="9525" cap="flat" cmpd="sng">
              <a:solidFill>
                <a:schemeClr val="accent1"/>
              </a:solidFill>
              <a:prstDash val="solid"/>
              <a:round/>
              <a:headEnd type="none" w="sm" len="sm"/>
              <a:tailEnd type="stealth" w="med" len="med"/>
            </a:ln>
          </p:spPr>
        </p:cxnSp>
        <p:cxnSp>
          <p:nvCxnSpPr>
            <p:cNvPr id="147" name="Google Shape;147;p3"/>
            <p:cNvCxnSpPr/>
            <p:nvPr/>
          </p:nvCxnSpPr>
          <p:spPr>
            <a:xfrm rot="10800000">
              <a:off x="6019800" y="4343399"/>
              <a:ext cx="0" cy="762000"/>
            </a:xfrm>
            <a:prstGeom prst="straightConnector1">
              <a:avLst/>
            </a:prstGeom>
            <a:noFill/>
            <a:ln w="9525" cap="flat" cmpd="sng">
              <a:solidFill>
                <a:schemeClr val="accent1"/>
              </a:solidFill>
              <a:prstDash val="solid"/>
              <a:round/>
              <a:headEnd type="none" w="sm" len="sm"/>
              <a:tailEnd type="stealth" w="med" len="med"/>
            </a:ln>
          </p:spPr>
        </p:cxnSp>
        <p:cxnSp>
          <p:nvCxnSpPr>
            <p:cNvPr id="148" name="Google Shape;148;p3"/>
            <p:cNvCxnSpPr/>
            <p:nvPr/>
          </p:nvCxnSpPr>
          <p:spPr>
            <a:xfrm>
              <a:off x="6019800" y="4952999"/>
              <a:ext cx="381000" cy="0"/>
            </a:xfrm>
            <a:prstGeom prst="straightConnector1">
              <a:avLst/>
            </a:prstGeom>
            <a:noFill/>
            <a:ln w="28575" cap="flat" cmpd="sng">
              <a:solidFill>
                <a:srgbClr val="FF0000"/>
              </a:solidFill>
              <a:prstDash val="solid"/>
              <a:round/>
              <a:headEnd type="none" w="sm" len="sm"/>
              <a:tailEnd type="triangle" w="med" len="med"/>
            </a:ln>
          </p:spPr>
        </p:cxnSp>
        <p:cxnSp>
          <p:nvCxnSpPr>
            <p:cNvPr id="149" name="Google Shape;149;p3"/>
            <p:cNvCxnSpPr/>
            <p:nvPr/>
          </p:nvCxnSpPr>
          <p:spPr>
            <a:xfrm>
              <a:off x="6708469" y="4343397"/>
              <a:ext cx="1749731" cy="2"/>
            </a:xfrm>
            <a:prstGeom prst="straightConnector1">
              <a:avLst/>
            </a:prstGeom>
            <a:noFill/>
            <a:ln w="28575" cap="flat" cmpd="sng">
              <a:solidFill>
                <a:srgbClr val="FF0000"/>
              </a:solidFill>
              <a:prstDash val="solid"/>
              <a:round/>
              <a:headEnd type="none" w="sm" len="sm"/>
              <a:tailEnd type="triangle" w="med" len="med"/>
            </a:ln>
          </p:spPr>
        </p:cxnSp>
        <p:cxnSp>
          <p:nvCxnSpPr>
            <p:cNvPr id="150" name="Google Shape;150;p3"/>
            <p:cNvCxnSpPr/>
            <p:nvPr/>
          </p:nvCxnSpPr>
          <p:spPr>
            <a:xfrm rot="10800000" flipH="1">
              <a:off x="6400800" y="4330754"/>
              <a:ext cx="307669" cy="622246"/>
            </a:xfrm>
            <a:prstGeom prst="straightConnector1">
              <a:avLst/>
            </a:prstGeom>
            <a:noFill/>
            <a:ln w="28575" cap="flat" cmpd="sng">
              <a:solidFill>
                <a:srgbClr val="FF0000"/>
              </a:solidFill>
              <a:prstDash val="solid"/>
              <a:round/>
              <a:headEnd type="none" w="sm" len="sm"/>
              <a:tailEnd type="triangle" w="med" len="med"/>
            </a:ln>
          </p:spPr>
        </p:cxnSp>
        <p:sp>
          <p:nvSpPr>
            <p:cNvPr id="151" name="Google Shape;151;p3"/>
            <p:cNvSpPr/>
            <p:nvPr/>
          </p:nvSpPr>
          <p:spPr>
            <a:xfrm>
              <a:off x="6039815" y="1600199"/>
              <a:ext cx="58958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chemeClr val="dk1"/>
                  </a:solidFill>
                  <a:latin typeface="Gill Sans"/>
                  <a:ea typeface="Gill Sans"/>
                  <a:cs typeface="Gill Sans"/>
                  <a:sym typeface="Gill Sans"/>
                </a:rPr>
                <a:t>Low</a:t>
              </a:r>
              <a:endParaRPr/>
            </a:p>
          </p:txBody>
        </p:sp>
        <p:sp>
          <p:nvSpPr>
            <p:cNvPr id="152" name="Google Shape;152;p3"/>
            <p:cNvSpPr/>
            <p:nvPr/>
          </p:nvSpPr>
          <p:spPr>
            <a:xfrm>
              <a:off x="6036398" y="2443055"/>
              <a:ext cx="93647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Medium</a:t>
              </a:r>
              <a:endParaRPr/>
            </a:p>
          </p:txBody>
        </p:sp>
        <p:sp>
          <p:nvSpPr>
            <p:cNvPr id="153" name="Google Shape;153;p3"/>
            <p:cNvSpPr/>
            <p:nvPr/>
          </p:nvSpPr>
          <p:spPr>
            <a:xfrm>
              <a:off x="6019800" y="3358145"/>
              <a:ext cx="55656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Fast</a:t>
              </a:r>
              <a:endParaRPr/>
            </a:p>
          </p:txBody>
        </p:sp>
        <p:sp>
          <p:nvSpPr>
            <p:cNvPr id="154" name="Google Shape;154;p3"/>
            <p:cNvSpPr/>
            <p:nvPr/>
          </p:nvSpPr>
          <p:spPr>
            <a:xfrm>
              <a:off x="6036398" y="4202667"/>
              <a:ext cx="61747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High</a:t>
              </a:r>
              <a:endParaRPr/>
            </a:p>
          </p:txBody>
        </p:sp>
      </p:grpSp>
      <p:sp>
        <p:nvSpPr>
          <p:cNvPr id="155" name="Google Shape;155;p3"/>
          <p:cNvSpPr txBox="1"/>
          <p:nvPr/>
        </p:nvSpPr>
        <p:spPr>
          <a:xfrm>
            <a:off x="6553200" y="1393132"/>
            <a:ext cx="160011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2"/>
                </a:solidFill>
                <a:latin typeface="Gill Sans"/>
                <a:ea typeface="Gill Sans"/>
                <a:cs typeface="Gill Sans"/>
                <a:sym typeface="Gill Sans"/>
              </a:rPr>
              <a:t>Speed of Rising</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4"/>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Slew Rate</a:t>
            </a:r>
            <a:endParaRPr/>
          </a:p>
        </p:txBody>
      </p:sp>
      <p:sp>
        <p:nvSpPr>
          <p:cNvPr id="161" name="Google Shape;161;p4"/>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4</a:t>
            </a:fld>
            <a:endParaRPr/>
          </a:p>
        </p:txBody>
      </p:sp>
      <p:sp>
        <p:nvSpPr>
          <p:cNvPr id="162" name="Google Shape;162;p4"/>
          <p:cNvSpPr/>
          <p:nvPr/>
        </p:nvSpPr>
        <p:spPr>
          <a:xfrm>
            <a:off x="152400" y="2743200"/>
            <a:ext cx="3505200" cy="922176"/>
          </a:xfrm>
          <a:prstGeom prst="rect">
            <a:avLst/>
          </a:pr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latin typeface="Gill Sans"/>
                <a:ea typeface="Gill Sans"/>
                <a:cs typeface="Gill Sans"/>
                <a:sym typeface="Gill Sans"/>
              </a:rPr>
              <a:t> </a:t>
            </a:r>
            <a:endParaRPr/>
          </a:p>
        </p:txBody>
      </p:sp>
      <p:pic>
        <p:nvPicPr>
          <p:cNvPr id="163" name="Google Shape;163;p4"/>
          <p:cNvPicPr preferRelativeResize="0"/>
          <p:nvPr/>
        </p:nvPicPr>
        <p:blipFill rotWithShape="1">
          <a:blip r:embed="rId4">
            <a:alphaModFix/>
          </a:blip>
          <a:srcRect/>
          <a:stretch/>
        </p:blipFill>
        <p:spPr>
          <a:xfrm>
            <a:off x="3747374" y="1371600"/>
            <a:ext cx="5396626" cy="4229527"/>
          </a:xfrm>
          <a:prstGeom prst="rect">
            <a:avLst/>
          </a:prstGeom>
          <a:noFill/>
          <a:ln>
            <a:noFill/>
          </a:ln>
        </p:spPr>
      </p:pic>
      <p:sp>
        <p:nvSpPr>
          <p:cNvPr id="164" name="Google Shape;164;p4"/>
          <p:cNvSpPr txBox="1"/>
          <p:nvPr/>
        </p:nvSpPr>
        <p:spPr>
          <a:xfrm>
            <a:off x="152400" y="1600200"/>
            <a:ext cx="3159303"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Slew Rate:</a:t>
            </a:r>
            <a:endParaRPr/>
          </a:p>
          <a:p>
            <a:pPr marL="0" marR="0" lvl="0" indent="0" algn="l" rtl="0">
              <a:spcBef>
                <a:spcPts val="0"/>
              </a:spcBef>
              <a:spcAft>
                <a:spcPts val="0"/>
              </a:spcAft>
              <a:buNone/>
            </a:pPr>
            <a:r>
              <a:rPr lang="en-US" sz="1800">
                <a:solidFill>
                  <a:schemeClr val="dk1"/>
                </a:solidFill>
                <a:latin typeface="Gill Sans"/>
                <a:ea typeface="Gill Sans"/>
                <a:cs typeface="Gill Sans"/>
                <a:sym typeface="Gill Sans"/>
              </a:rPr>
              <a:t>Maximum rate of change of the output voltage</a:t>
            </a:r>
            <a:endParaRPr/>
          </a:p>
        </p:txBody>
      </p:sp>
      <p:sp>
        <p:nvSpPr>
          <p:cNvPr id="165" name="Google Shape;165;p4"/>
          <p:cNvSpPr txBox="1"/>
          <p:nvPr/>
        </p:nvSpPr>
        <p:spPr>
          <a:xfrm>
            <a:off x="228600" y="4114800"/>
            <a:ext cx="2930703"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A high slew rate allows the output to be toggled at a fast speed.</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5"/>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GPIO Output: Push-Pull </a:t>
            </a:r>
            <a:r>
              <a:rPr lang="en-US" i="1"/>
              <a:t>vs</a:t>
            </a:r>
            <a:r>
              <a:rPr lang="en-US"/>
              <a:t> Open-Drain </a:t>
            </a:r>
            <a:endParaRPr/>
          </a:p>
        </p:txBody>
      </p:sp>
      <p:sp>
        <p:nvSpPr>
          <p:cNvPr id="172" name="Google Shape;172;p5"/>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5</a:t>
            </a:fld>
            <a:endParaRPr/>
          </a:p>
        </p:txBody>
      </p:sp>
      <p:graphicFrame>
        <p:nvGraphicFramePr>
          <p:cNvPr id="173" name="Google Shape;173;p5"/>
          <p:cNvGraphicFramePr/>
          <p:nvPr/>
        </p:nvGraphicFramePr>
        <p:xfrm>
          <a:off x="1028700" y="1676400"/>
          <a:ext cx="3000000" cy="3000000"/>
        </p:xfrm>
        <a:graphic>
          <a:graphicData uri="http://schemas.openxmlformats.org/drawingml/2006/table">
            <a:tbl>
              <a:tblPr firstRow="1" bandRow="1">
                <a:noFill/>
                <a:tableStyleId>{2B1F59D3-09BF-41C5-B13E-B9EA82763778}</a:tableStyleId>
              </a:tblPr>
              <a:tblGrid>
                <a:gridCol w="26670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362200">
                  <a:extLst>
                    <a:ext uri="{9D8B030D-6E8A-4147-A177-3AD203B41FA5}">
                      <a16:colId xmlns:a16="http://schemas.microsoft.com/office/drawing/2014/main" val="20002"/>
                    </a:ext>
                  </a:extLst>
                </a:gridCol>
              </a:tblGrid>
              <a:tr h="517525">
                <a:tc>
                  <a:txBody>
                    <a:bodyPr/>
                    <a:lstStyle/>
                    <a:p>
                      <a:pPr marL="0" marR="0" lvl="0" indent="0" algn="ctr" rtl="0">
                        <a:spcBef>
                          <a:spcPts val="0"/>
                        </a:spcBef>
                        <a:spcAft>
                          <a:spcPts val="0"/>
                        </a:spcAft>
                        <a:buNone/>
                      </a:pPr>
                      <a:r>
                        <a:rPr lang="en-US" sz="2800" u="none" strike="noStrike" cap="none"/>
                        <a:t>Output Bit</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Push-Pull</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Open-Drain</a:t>
                      </a:r>
                      <a:endParaRPr/>
                    </a:p>
                  </a:txBody>
                  <a:tcPr marL="91450" marR="91450" marT="45725" marB="45725"/>
                </a:tc>
                <a:extLst>
                  <a:ext uri="{0D108BD9-81ED-4DB2-BD59-A6C34878D82A}">
                    <a16:rowId xmlns:a16="http://schemas.microsoft.com/office/drawing/2014/main" val="10000"/>
                  </a:ext>
                </a:extLst>
              </a:tr>
              <a:tr h="533925">
                <a:tc>
                  <a:txBody>
                    <a:bodyPr/>
                    <a:lstStyle/>
                    <a:p>
                      <a:pPr marL="0" marR="0" lvl="0" indent="0" algn="ctr" rtl="0">
                        <a:spcBef>
                          <a:spcPts val="0"/>
                        </a:spcBef>
                        <a:spcAft>
                          <a:spcPts val="0"/>
                        </a:spcAft>
                        <a:buNone/>
                      </a:pPr>
                      <a:r>
                        <a:rPr lang="en-US" sz="2800" u="none" strike="noStrike" cap="none">
                          <a:latin typeface="Arial"/>
                          <a:ea typeface="Arial"/>
                          <a:cs typeface="Arial"/>
                          <a:sym typeface="Arial"/>
                        </a:rPr>
                        <a:t>1</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latin typeface="Arial"/>
                          <a:ea typeface="Arial"/>
                          <a:cs typeface="Arial"/>
                          <a:sym typeface="Arial"/>
                        </a:rPr>
                        <a:t>High</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latin typeface="Arial"/>
                          <a:ea typeface="Arial"/>
                          <a:cs typeface="Arial"/>
                          <a:sym typeface="Arial"/>
                        </a:rPr>
                        <a:t>HiZ</a:t>
                      </a:r>
                      <a:endParaRPr sz="2800" u="none" strike="noStrike" cap="none">
                        <a:latin typeface="Arial"/>
                        <a:ea typeface="Arial"/>
                        <a:cs typeface="Arial"/>
                        <a:sym typeface="Arial"/>
                      </a:endParaRPr>
                    </a:p>
                  </a:txBody>
                  <a:tcPr marL="91450" marR="91450" marT="45725" marB="45725"/>
                </a:tc>
                <a:extLst>
                  <a:ext uri="{0D108BD9-81ED-4DB2-BD59-A6C34878D82A}">
                    <a16:rowId xmlns:a16="http://schemas.microsoft.com/office/drawing/2014/main" val="10001"/>
                  </a:ext>
                </a:extLst>
              </a:tr>
              <a:tr h="533925">
                <a:tc>
                  <a:txBody>
                    <a:bodyPr/>
                    <a:lstStyle/>
                    <a:p>
                      <a:pPr marL="0" marR="0" lvl="0" indent="0" algn="ctr" rtl="0">
                        <a:spcBef>
                          <a:spcPts val="0"/>
                        </a:spcBef>
                        <a:spcAft>
                          <a:spcPts val="0"/>
                        </a:spcAft>
                        <a:buNone/>
                      </a:pPr>
                      <a:r>
                        <a:rPr lang="en-US" sz="2800" u="none" strike="noStrike" cap="none">
                          <a:latin typeface="Arial"/>
                          <a:ea typeface="Arial"/>
                          <a:cs typeface="Arial"/>
                          <a:sym typeface="Arial"/>
                        </a:rPr>
                        <a:t>0</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latin typeface="Arial"/>
                          <a:ea typeface="Arial"/>
                          <a:cs typeface="Arial"/>
                          <a:sym typeface="Arial"/>
                        </a:rPr>
                        <a:t>Low</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latin typeface="Arial"/>
                          <a:ea typeface="Arial"/>
                          <a:cs typeface="Arial"/>
                          <a:sym typeface="Arial"/>
                        </a:rPr>
                        <a:t>Low</a:t>
                      </a:r>
                      <a:endParaRPr/>
                    </a:p>
                  </a:txBody>
                  <a:tcPr marL="91450" marR="91450" marT="45725" marB="45725"/>
                </a:tc>
                <a:extLst>
                  <a:ext uri="{0D108BD9-81ED-4DB2-BD59-A6C34878D82A}">
                    <a16:rowId xmlns:a16="http://schemas.microsoft.com/office/drawing/2014/main" val="10002"/>
                  </a:ext>
                </a:extLst>
              </a:tr>
            </a:tbl>
          </a:graphicData>
        </a:graphic>
      </p:graphicFrame>
      <p:pic>
        <p:nvPicPr>
          <p:cNvPr id="174" name="Google Shape;174;p5"/>
          <p:cNvPicPr preferRelativeResize="0"/>
          <p:nvPr/>
        </p:nvPicPr>
        <p:blipFill rotWithShape="1">
          <a:blip r:embed="rId3">
            <a:alphaModFix/>
          </a:blip>
          <a:srcRect/>
          <a:stretch/>
        </p:blipFill>
        <p:spPr>
          <a:xfrm>
            <a:off x="2067066" y="3733098"/>
            <a:ext cx="5414870" cy="2064132"/>
          </a:xfrm>
          <a:prstGeom prst="rect">
            <a:avLst/>
          </a:prstGeom>
          <a:noFill/>
          <a:ln>
            <a:noFill/>
          </a:ln>
        </p:spPr>
      </p:pic>
      <p:sp>
        <p:nvSpPr>
          <p:cNvPr id="175" name="Google Shape;175;p5"/>
          <p:cNvSpPr txBox="1"/>
          <p:nvPr/>
        </p:nvSpPr>
        <p:spPr>
          <a:xfrm>
            <a:off x="2286000" y="5852532"/>
            <a:ext cx="497700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C00000"/>
                </a:solidFill>
                <a:latin typeface="Gill Sans"/>
                <a:ea typeface="Gill Sans"/>
                <a:cs typeface="Gill Sans"/>
                <a:sym typeface="Gill Sans"/>
              </a:rPr>
              <a:t>Use push-pull output, instead of open-drain output!</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6"/>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GPIO Output Data Register (</a:t>
            </a:r>
            <a:r>
              <a:rPr lang="en-US">
                <a:solidFill>
                  <a:srgbClr val="C00000"/>
                </a:solidFill>
              </a:rPr>
              <a:t>ODR</a:t>
            </a:r>
            <a:r>
              <a:rPr lang="en-US"/>
              <a:t>)</a:t>
            </a:r>
            <a:endParaRPr/>
          </a:p>
        </p:txBody>
      </p:sp>
      <p:sp>
        <p:nvSpPr>
          <p:cNvPr id="182" name="Google Shape;182;p6"/>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6</a:t>
            </a:fld>
            <a:endParaRPr/>
          </a:p>
        </p:txBody>
      </p:sp>
      <p:sp>
        <p:nvSpPr>
          <p:cNvPr id="183" name="Google Shape;183;p6"/>
          <p:cNvSpPr txBox="1">
            <a:spLocks noGrp="1"/>
          </p:cNvSpPr>
          <p:nvPr>
            <p:ph type="body" idx="1"/>
          </p:nvPr>
        </p:nvSpPr>
        <p:spPr>
          <a:xfrm>
            <a:off x="457200" y="1219200"/>
            <a:ext cx="8229600" cy="45720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1520"/>
              <a:buChar char="🞂"/>
            </a:pPr>
            <a:r>
              <a:rPr lang="en-US" sz="2000">
                <a:latin typeface="Arial"/>
                <a:ea typeface="Arial"/>
                <a:cs typeface="Arial"/>
                <a:sym typeface="Arial"/>
              </a:rPr>
              <a:t>16 bits reserved, 16 data bits, 1 bit for each pin</a:t>
            </a:r>
            <a:endParaRPr/>
          </a:p>
        </p:txBody>
      </p:sp>
      <p:pic>
        <p:nvPicPr>
          <p:cNvPr id="184" name="Google Shape;184;p6"/>
          <p:cNvPicPr preferRelativeResize="0"/>
          <p:nvPr/>
        </p:nvPicPr>
        <p:blipFill rotWithShape="1">
          <a:blip r:embed="rId3">
            <a:alphaModFix/>
          </a:blip>
          <a:srcRect/>
          <a:stretch/>
        </p:blipFill>
        <p:spPr>
          <a:xfrm>
            <a:off x="374276" y="1763843"/>
            <a:ext cx="8665564" cy="1468169"/>
          </a:xfrm>
          <a:prstGeom prst="rect">
            <a:avLst/>
          </a:prstGeom>
          <a:noFill/>
          <a:ln>
            <a:noFill/>
          </a:ln>
        </p:spPr>
      </p:pic>
      <p:sp>
        <p:nvSpPr>
          <p:cNvPr id="185" name="Google Shape;185;p6"/>
          <p:cNvSpPr/>
          <p:nvPr/>
        </p:nvSpPr>
        <p:spPr>
          <a:xfrm>
            <a:off x="457200" y="5661529"/>
            <a:ext cx="54102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C00000"/>
                </a:solidFill>
                <a:latin typeface="Consolas"/>
                <a:ea typeface="Consolas"/>
                <a:cs typeface="Consolas"/>
                <a:sym typeface="Consolas"/>
              </a:rPr>
              <a:t>GPIOB-&gt;ODR |= 1UL &lt;&lt; 2;    </a:t>
            </a:r>
            <a:r>
              <a:rPr lang="en-US" sz="1800">
                <a:solidFill>
                  <a:srgbClr val="7F7F7F"/>
                </a:solidFill>
                <a:latin typeface="Consolas"/>
                <a:ea typeface="Consolas"/>
                <a:cs typeface="Consolas"/>
                <a:sym typeface="Consolas"/>
              </a:rPr>
              <a:t>// Set bit 2</a:t>
            </a:r>
            <a:endParaRPr/>
          </a:p>
        </p:txBody>
      </p:sp>
      <p:sp>
        <p:nvSpPr>
          <p:cNvPr id="186" name="Google Shape;186;p6"/>
          <p:cNvSpPr/>
          <p:nvPr/>
        </p:nvSpPr>
        <p:spPr>
          <a:xfrm>
            <a:off x="7391400" y="2494211"/>
            <a:ext cx="533400" cy="706190"/>
          </a:xfrm>
          <a:prstGeom prst="rect">
            <a:avLst/>
          </a:prstGeom>
          <a:noFill/>
          <a:ln w="28575" cap="flat" cmpd="sng">
            <a:solidFill>
              <a:srgbClr val="0000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187" name="Google Shape;187;p6"/>
          <p:cNvSpPr txBox="1"/>
          <p:nvPr/>
        </p:nvSpPr>
        <p:spPr>
          <a:xfrm>
            <a:off x="7302874" y="3319455"/>
            <a:ext cx="710451"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rgbClr val="0000FF"/>
                </a:solidFill>
                <a:latin typeface="Arial"/>
                <a:ea typeface="Arial"/>
                <a:cs typeface="Arial"/>
                <a:sym typeface="Arial"/>
              </a:rPr>
              <a:t>Pin 2</a:t>
            </a:r>
            <a:endParaRPr/>
          </a:p>
        </p:txBody>
      </p:sp>
      <p:pic>
        <p:nvPicPr>
          <p:cNvPr id="188" name="Google Shape;188;p6"/>
          <p:cNvPicPr preferRelativeResize="0"/>
          <p:nvPr/>
        </p:nvPicPr>
        <p:blipFill rotWithShape="1">
          <a:blip r:embed="rId4">
            <a:alphaModFix/>
          </a:blip>
          <a:srcRect/>
          <a:stretch/>
        </p:blipFill>
        <p:spPr>
          <a:xfrm>
            <a:off x="2057400" y="3673547"/>
            <a:ext cx="4361250" cy="1662494"/>
          </a:xfrm>
          <a:prstGeom prst="rect">
            <a:avLst/>
          </a:prstGeom>
          <a:noFill/>
          <a:ln>
            <a:noFill/>
          </a:ln>
        </p:spPr>
      </p:pic>
      <p:sp>
        <p:nvSpPr>
          <p:cNvPr id="189" name="Google Shape;189;p6"/>
          <p:cNvSpPr/>
          <p:nvPr/>
        </p:nvSpPr>
        <p:spPr>
          <a:xfrm>
            <a:off x="4800600" y="3690165"/>
            <a:ext cx="1066800" cy="784588"/>
          </a:xfrm>
          <a:prstGeom prst="rect">
            <a:avLst/>
          </a:prstGeom>
          <a:noFill/>
          <a:ln w="1905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190" name="Google Shape;190;p6"/>
          <p:cNvSpPr/>
          <p:nvPr/>
        </p:nvSpPr>
        <p:spPr>
          <a:xfrm>
            <a:off x="1987983" y="3788953"/>
            <a:ext cx="586740" cy="381000"/>
          </a:xfrm>
          <a:prstGeom prst="ellipse">
            <a:avLst/>
          </a:prstGeom>
          <a:noFill/>
          <a:ln w="1905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7"/>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Light up the Red LED (PB.2)</a:t>
            </a:r>
            <a:endParaRPr/>
          </a:p>
        </p:txBody>
      </p:sp>
      <p:sp>
        <p:nvSpPr>
          <p:cNvPr id="197" name="Google Shape;197;p7"/>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7</a:t>
            </a:fld>
            <a:endParaRPr/>
          </a:p>
        </p:txBody>
      </p:sp>
      <p:sp>
        <p:nvSpPr>
          <p:cNvPr id="198" name="Google Shape;198;p7"/>
          <p:cNvSpPr/>
          <p:nvPr/>
        </p:nvSpPr>
        <p:spPr>
          <a:xfrm>
            <a:off x="618524" y="3581400"/>
            <a:ext cx="8220675" cy="2308324"/>
          </a:xfrm>
          <a:prstGeom prst="rect">
            <a:avLst/>
          </a:prstGeom>
          <a:solidFill>
            <a:schemeClr val="lt1"/>
          </a:solidFill>
          <a:ln w="19050"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C00000"/>
                </a:solidFill>
                <a:latin typeface="Consolas"/>
                <a:ea typeface="Consolas"/>
                <a:cs typeface="Consolas"/>
                <a:sym typeface="Consolas"/>
              </a:rPr>
              <a:t>RCC-&gt;AHB2ENR |= RCC_AHB2ENR_GPIOBEN;  </a:t>
            </a:r>
            <a:r>
              <a:rPr lang="en-US" sz="1800">
                <a:solidFill>
                  <a:srgbClr val="7F7F7F"/>
                </a:solidFill>
                <a:latin typeface="Consolas"/>
                <a:ea typeface="Consolas"/>
                <a:cs typeface="Consolas"/>
                <a:sym typeface="Consolas"/>
              </a:rPr>
              <a:t>// Enable clock of Port B</a:t>
            </a:r>
            <a:endParaRPr/>
          </a:p>
          <a:p>
            <a:pPr marL="0" marR="0" lvl="0" indent="0" algn="l" rtl="0">
              <a:spcBef>
                <a:spcPts val="0"/>
              </a:spcBef>
              <a:spcAft>
                <a:spcPts val="0"/>
              </a:spcAft>
              <a:buNone/>
            </a:pPr>
            <a:endParaRPr sz="1800">
              <a:solidFill>
                <a:srgbClr val="C00000"/>
              </a:solidFill>
              <a:latin typeface="Consolas"/>
              <a:ea typeface="Consolas"/>
              <a:cs typeface="Consolas"/>
              <a:sym typeface="Consolas"/>
            </a:endParaRPr>
          </a:p>
          <a:p>
            <a:pPr marL="0" marR="0" lvl="0" indent="0" algn="l" rtl="0">
              <a:spcBef>
                <a:spcPts val="0"/>
              </a:spcBef>
              <a:spcAft>
                <a:spcPts val="0"/>
              </a:spcAft>
              <a:buNone/>
            </a:pPr>
            <a:r>
              <a:rPr lang="en-US" sz="1800">
                <a:solidFill>
                  <a:srgbClr val="C00000"/>
                </a:solidFill>
                <a:latin typeface="Consolas"/>
                <a:ea typeface="Consolas"/>
                <a:cs typeface="Consolas"/>
                <a:sym typeface="Consolas"/>
              </a:rPr>
              <a:t>GPIOB-&gt;MODER &amp;= ~(3UL&lt;&lt;4); </a:t>
            </a:r>
            <a:r>
              <a:rPr lang="en-US" sz="1800">
                <a:solidFill>
                  <a:srgbClr val="7F7F7F"/>
                </a:solidFill>
                <a:latin typeface="Consolas"/>
                <a:ea typeface="Consolas"/>
                <a:cs typeface="Consolas"/>
                <a:sym typeface="Consolas"/>
              </a:rPr>
              <a:t>// Clear mode bits</a:t>
            </a:r>
            <a:endParaRPr sz="1800">
              <a:solidFill>
                <a:srgbClr val="C00000"/>
              </a:solidFill>
              <a:latin typeface="Consolas"/>
              <a:ea typeface="Consolas"/>
              <a:cs typeface="Consolas"/>
              <a:sym typeface="Consolas"/>
            </a:endParaRPr>
          </a:p>
          <a:p>
            <a:pPr marL="0" marR="0" lvl="0" indent="0" algn="l" rtl="0">
              <a:spcBef>
                <a:spcPts val="0"/>
              </a:spcBef>
              <a:spcAft>
                <a:spcPts val="0"/>
              </a:spcAft>
              <a:buNone/>
            </a:pPr>
            <a:r>
              <a:rPr lang="en-US" sz="1800">
                <a:solidFill>
                  <a:srgbClr val="C00000"/>
                </a:solidFill>
                <a:latin typeface="Consolas"/>
                <a:ea typeface="Consolas"/>
                <a:cs typeface="Consolas"/>
                <a:sym typeface="Consolas"/>
              </a:rPr>
              <a:t>GPIOB-&gt;MODER |=   1UL&lt;&lt;4;  </a:t>
            </a:r>
            <a:r>
              <a:rPr lang="en-US" sz="1800">
                <a:solidFill>
                  <a:srgbClr val="7F7F7F"/>
                </a:solidFill>
                <a:latin typeface="Consolas"/>
                <a:ea typeface="Consolas"/>
                <a:cs typeface="Consolas"/>
                <a:sym typeface="Consolas"/>
              </a:rPr>
              <a:t>// Set mode to output</a:t>
            </a:r>
            <a:endParaRPr sz="1800">
              <a:solidFill>
                <a:srgbClr val="C00000"/>
              </a:solidFill>
              <a:latin typeface="Consolas"/>
              <a:ea typeface="Consolas"/>
              <a:cs typeface="Consolas"/>
              <a:sym typeface="Consolas"/>
            </a:endParaRPr>
          </a:p>
          <a:p>
            <a:pPr marL="0" marR="0" lvl="0" indent="0" algn="l" rtl="0">
              <a:spcBef>
                <a:spcPts val="0"/>
              </a:spcBef>
              <a:spcAft>
                <a:spcPts val="0"/>
              </a:spcAft>
              <a:buNone/>
            </a:pPr>
            <a:endParaRPr sz="1800">
              <a:solidFill>
                <a:srgbClr val="C00000"/>
              </a:solidFill>
              <a:latin typeface="Consolas"/>
              <a:ea typeface="Consolas"/>
              <a:cs typeface="Consolas"/>
              <a:sym typeface="Consolas"/>
            </a:endParaRPr>
          </a:p>
          <a:p>
            <a:pPr marL="0" marR="0" lvl="0" indent="0" algn="l" rtl="0">
              <a:spcBef>
                <a:spcPts val="0"/>
              </a:spcBef>
              <a:spcAft>
                <a:spcPts val="0"/>
              </a:spcAft>
              <a:buNone/>
            </a:pPr>
            <a:r>
              <a:rPr lang="en-US" sz="1800">
                <a:solidFill>
                  <a:srgbClr val="C00000"/>
                </a:solidFill>
                <a:latin typeface="Consolas"/>
                <a:ea typeface="Consolas"/>
                <a:cs typeface="Consolas"/>
                <a:sym typeface="Consolas"/>
              </a:rPr>
              <a:t>GPIOB-&gt;OTYPE &amp;= ~(1UL&lt;&lt;2); </a:t>
            </a:r>
            <a:r>
              <a:rPr lang="en-US" sz="1800">
                <a:solidFill>
                  <a:srgbClr val="7F7F7F"/>
                </a:solidFill>
                <a:latin typeface="Consolas"/>
                <a:ea typeface="Consolas"/>
                <a:cs typeface="Consolas"/>
                <a:sym typeface="Consolas"/>
              </a:rPr>
              <a:t>// Select push-pull output</a:t>
            </a:r>
            <a:endParaRPr/>
          </a:p>
          <a:p>
            <a:pPr marL="0" marR="0" lvl="0" indent="0" algn="l" rtl="0">
              <a:spcBef>
                <a:spcPts val="0"/>
              </a:spcBef>
              <a:spcAft>
                <a:spcPts val="0"/>
              </a:spcAft>
              <a:buNone/>
            </a:pPr>
            <a:endParaRPr sz="1800">
              <a:solidFill>
                <a:srgbClr val="C00000"/>
              </a:solidFill>
              <a:latin typeface="Consolas"/>
              <a:ea typeface="Consolas"/>
              <a:cs typeface="Consolas"/>
              <a:sym typeface="Consolas"/>
            </a:endParaRPr>
          </a:p>
          <a:p>
            <a:pPr marL="0" marR="0" lvl="0" indent="0" algn="l" rtl="0">
              <a:spcBef>
                <a:spcPts val="0"/>
              </a:spcBef>
              <a:spcAft>
                <a:spcPts val="0"/>
              </a:spcAft>
              <a:buNone/>
            </a:pPr>
            <a:r>
              <a:rPr lang="en-US" sz="1800">
                <a:solidFill>
                  <a:srgbClr val="C00000"/>
                </a:solidFill>
                <a:latin typeface="Consolas"/>
                <a:ea typeface="Consolas"/>
                <a:cs typeface="Consolas"/>
                <a:sym typeface="Consolas"/>
              </a:rPr>
              <a:t>GPIOB-&gt;ODR   |= 1UL &lt;&lt; 2;  </a:t>
            </a:r>
            <a:r>
              <a:rPr lang="en-US" sz="1800">
                <a:solidFill>
                  <a:srgbClr val="7F7F7F"/>
                </a:solidFill>
                <a:latin typeface="Consolas"/>
                <a:ea typeface="Consolas"/>
                <a:cs typeface="Consolas"/>
                <a:sym typeface="Consolas"/>
              </a:rPr>
              <a:t>// Output 1 to turn on red LED</a:t>
            </a:r>
            <a:endParaRPr sz="1800">
              <a:solidFill>
                <a:srgbClr val="C00000"/>
              </a:solidFill>
              <a:latin typeface="Consolas"/>
              <a:ea typeface="Consolas"/>
              <a:cs typeface="Consolas"/>
              <a:sym typeface="Consolas"/>
            </a:endParaRPr>
          </a:p>
        </p:txBody>
      </p:sp>
      <p:pic>
        <p:nvPicPr>
          <p:cNvPr id="199" name="Google Shape;199;p7"/>
          <p:cNvPicPr preferRelativeResize="0"/>
          <p:nvPr/>
        </p:nvPicPr>
        <p:blipFill rotWithShape="1">
          <a:blip r:embed="rId3">
            <a:alphaModFix/>
          </a:blip>
          <a:srcRect/>
          <a:stretch/>
        </p:blipFill>
        <p:spPr>
          <a:xfrm>
            <a:off x="2209800" y="1408594"/>
            <a:ext cx="4361250" cy="1662494"/>
          </a:xfrm>
          <a:prstGeom prst="rect">
            <a:avLst/>
          </a:prstGeom>
          <a:noFill/>
          <a:ln>
            <a:noFill/>
          </a:ln>
        </p:spPr>
      </p:pic>
      <p:sp>
        <p:nvSpPr>
          <p:cNvPr id="200" name="Google Shape;200;p7"/>
          <p:cNvSpPr/>
          <p:nvPr/>
        </p:nvSpPr>
        <p:spPr>
          <a:xfrm>
            <a:off x="4953000" y="1425212"/>
            <a:ext cx="1066800" cy="784588"/>
          </a:xfrm>
          <a:prstGeom prst="rect">
            <a:avLst/>
          </a:prstGeom>
          <a:noFill/>
          <a:ln w="1905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201" name="Google Shape;201;p7"/>
          <p:cNvSpPr/>
          <p:nvPr/>
        </p:nvSpPr>
        <p:spPr>
          <a:xfrm>
            <a:off x="2140383" y="1524000"/>
            <a:ext cx="586740" cy="381000"/>
          </a:xfrm>
          <a:prstGeom prst="ellipse">
            <a:avLst/>
          </a:prstGeom>
          <a:noFill/>
          <a:ln w="1905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8"/>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GPIO Initialization</a:t>
            </a:r>
            <a:endParaRPr/>
          </a:p>
        </p:txBody>
      </p:sp>
      <p:sp>
        <p:nvSpPr>
          <p:cNvPr id="207" name="Google Shape;207;p8"/>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8</a:t>
            </a:fld>
            <a:endParaRPr/>
          </a:p>
        </p:txBody>
      </p:sp>
      <p:sp>
        <p:nvSpPr>
          <p:cNvPr id="208" name="Google Shape;208;p8"/>
          <p:cNvSpPr txBox="1">
            <a:spLocks noGrp="1"/>
          </p:cNvSpPr>
          <p:nvPr>
            <p:ph type="body" idx="1"/>
          </p:nvPr>
        </p:nvSpPr>
        <p:spPr>
          <a:xfrm>
            <a:off x="457200" y="1219200"/>
            <a:ext cx="8610600" cy="493776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1520"/>
              <a:buChar char="🞂"/>
            </a:pPr>
            <a:r>
              <a:rPr lang="en-US" sz="2000"/>
              <a:t>Turn on the clock to the GPIO Port (e.g. Port B)</a:t>
            </a:r>
            <a:endParaRPr/>
          </a:p>
          <a:p>
            <a:pPr marL="274320" lvl="1" indent="0" algn="ctr" rtl="0">
              <a:spcBef>
                <a:spcPts val="500"/>
              </a:spcBef>
              <a:spcAft>
                <a:spcPts val="0"/>
              </a:spcAft>
              <a:buSzPts val="1368"/>
              <a:buNone/>
            </a:pPr>
            <a:r>
              <a:rPr lang="en-US" sz="1800">
                <a:latin typeface="Consolas"/>
                <a:ea typeface="Consolas"/>
                <a:cs typeface="Consolas"/>
                <a:sym typeface="Consolas"/>
              </a:rPr>
              <a:t>RCC-&gt;AHBENR |= RCC_AHBENR_GPIO</a:t>
            </a:r>
            <a:r>
              <a:rPr lang="en-US" sz="1800" b="1">
                <a:solidFill>
                  <a:srgbClr val="FF0000"/>
                </a:solidFill>
                <a:latin typeface="Consolas"/>
                <a:ea typeface="Consolas"/>
                <a:cs typeface="Consolas"/>
                <a:sym typeface="Consolas"/>
              </a:rPr>
              <a:t>B</a:t>
            </a:r>
            <a:r>
              <a:rPr lang="en-US" sz="1800">
                <a:latin typeface="Consolas"/>
                <a:ea typeface="Consolas"/>
                <a:cs typeface="Consolas"/>
                <a:sym typeface="Consolas"/>
              </a:rPr>
              <a:t>EN; Reset and Clock Control (RCC)</a:t>
            </a:r>
            <a:endParaRPr/>
          </a:p>
          <a:p>
            <a:pPr marL="274320" lvl="0" indent="-274320" algn="l" rtl="0">
              <a:spcBef>
                <a:spcPts val="600"/>
              </a:spcBef>
              <a:spcAft>
                <a:spcPts val="0"/>
              </a:spcAft>
              <a:buSzPts val="1520"/>
              <a:buChar char="🞂"/>
            </a:pPr>
            <a:r>
              <a:rPr lang="en-US" sz="2000"/>
              <a:t>Configure GPIO mode, output type, speed, pull-up/pull-down</a:t>
            </a:r>
            <a:endParaRPr/>
          </a:p>
        </p:txBody>
      </p:sp>
      <p:sp>
        <p:nvSpPr>
          <p:cNvPr id="209" name="Google Shape;209;p8"/>
          <p:cNvSpPr/>
          <p:nvPr/>
        </p:nvSpPr>
        <p:spPr>
          <a:xfrm>
            <a:off x="990600" y="2286000"/>
            <a:ext cx="8077200" cy="4401205"/>
          </a:xfrm>
          <a:prstGeom prst="rect">
            <a:avLst/>
          </a:prstGeom>
          <a:solidFill>
            <a:schemeClr val="lt1"/>
          </a:solidFill>
          <a:ln w="19050"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onsolas"/>
                <a:ea typeface="Consolas"/>
                <a:cs typeface="Consolas"/>
                <a:sym typeface="Consolas"/>
              </a:rPr>
              <a:t>typedef struct</a:t>
            </a:r>
            <a:endParaRPr sz="1400">
              <a:solidFill>
                <a:schemeClr val="dk1"/>
              </a:solidFill>
              <a:latin typeface="Consolas"/>
              <a:ea typeface="Consolas"/>
              <a:cs typeface="Consolas"/>
              <a:sym typeface="Consolas"/>
            </a:endParaRPr>
          </a:p>
          <a:p>
            <a:pPr marL="0" marR="0" lvl="0" indent="0" algn="l" rtl="0">
              <a:spcBef>
                <a:spcPts val="0"/>
              </a:spcBef>
              <a:spcAft>
                <a:spcPts val="0"/>
              </a:spcAft>
              <a:buNone/>
            </a:pPr>
            <a:r>
              <a:rPr lang="en-US" sz="1400">
                <a:solidFill>
                  <a:schemeClr val="dk1"/>
                </a:solidFill>
                <a:latin typeface="Consolas"/>
                <a:ea typeface="Consolas"/>
                <a:cs typeface="Consolas"/>
                <a:sym typeface="Consolas"/>
              </a:rPr>
              <a:t>{</a:t>
            </a:r>
            <a:endParaRPr/>
          </a:p>
          <a:p>
            <a:pPr marL="0" marR="0" lvl="0" indent="0" algn="l" rtl="0">
              <a:spcBef>
                <a:spcPts val="0"/>
              </a:spcBef>
              <a:spcAft>
                <a:spcPts val="0"/>
              </a:spcAft>
              <a:buNone/>
            </a:pPr>
            <a:r>
              <a:rPr lang="en-US" sz="1400">
                <a:solidFill>
                  <a:schemeClr val="dk1"/>
                </a:solidFill>
                <a:latin typeface="Consolas"/>
                <a:ea typeface="Consolas"/>
                <a:cs typeface="Consolas"/>
                <a:sym typeface="Consolas"/>
              </a:rPr>
              <a:t>  __IO uint32_t MODER;</a:t>
            </a:r>
            <a:endParaRPr/>
          </a:p>
          <a:p>
            <a:pPr marL="0" marR="0" lvl="0" indent="0" algn="l" rtl="0">
              <a:spcBef>
                <a:spcPts val="0"/>
              </a:spcBef>
              <a:spcAft>
                <a:spcPts val="0"/>
              </a:spcAft>
              <a:buNone/>
            </a:pPr>
            <a:r>
              <a:rPr lang="en-US" sz="1400">
                <a:solidFill>
                  <a:schemeClr val="dk1"/>
                </a:solidFill>
                <a:latin typeface="Consolas"/>
                <a:ea typeface="Consolas"/>
                <a:cs typeface="Consolas"/>
                <a:sym typeface="Consolas"/>
              </a:rPr>
              <a:t>  __IO uint16_t OTYPER;</a:t>
            </a:r>
            <a:endParaRPr/>
          </a:p>
          <a:p>
            <a:pPr marL="0" marR="0" lvl="0" indent="0" algn="l" rtl="0">
              <a:spcBef>
                <a:spcPts val="0"/>
              </a:spcBef>
              <a:spcAft>
                <a:spcPts val="0"/>
              </a:spcAft>
              <a:buNone/>
            </a:pPr>
            <a:r>
              <a:rPr lang="en-US" sz="1400">
                <a:solidFill>
                  <a:schemeClr val="dk1"/>
                </a:solidFill>
                <a:latin typeface="Consolas"/>
                <a:ea typeface="Consolas"/>
                <a:cs typeface="Consolas"/>
                <a:sym typeface="Consolas"/>
              </a:rPr>
              <a:t>  uint16_t RESERVED0;</a:t>
            </a:r>
            <a:endParaRPr/>
          </a:p>
          <a:p>
            <a:pPr marL="0" marR="0" lvl="0" indent="0" algn="l" rtl="0">
              <a:spcBef>
                <a:spcPts val="0"/>
              </a:spcBef>
              <a:spcAft>
                <a:spcPts val="0"/>
              </a:spcAft>
              <a:buNone/>
            </a:pPr>
            <a:r>
              <a:rPr lang="en-US" sz="1400">
                <a:solidFill>
                  <a:schemeClr val="dk1"/>
                </a:solidFill>
                <a:latin typeface="Consolas"/>
                <a:ea typeface="Consolas"/>
                <a:cs typeface="Consolas"/>
                <a:sym typeface="Consolas"/>
              </a:rPr>
              <a:t>  __IO uint32_t OSPEEDR;</a:t>
            </a:r>
            <a:endParaRPr/>
          </a:p>
          <a:p>
            <a:pPr marL="0" marR="0" lvl="0" indent="0" algn="l" rtl="0">
              <a:spcBef>
                <a:spcPts val="0"/>
              </a:spcBef>
              <a:spcAft>
                <a:spcPts val="0"/>
              </a:spcAft>
              <a:buNone/>
            </a:pPr>
            <a:r>
              <a:rPr lang="en-US" sz="1400">
                <a:solidFill>
                  <a:schemeClr val="dk1"/>
                </a:solidFill>
                <a:latin typeface="Consolas"/>
                <a:ea typeface="Consolas"/>
                <a:cs typeface="Consolas"/>
                <a:sym typeface="Consolas"/>
              </a:rPr>
              <a:t>  __IO uint32_t PUPDR;</a:t>
            </a:r>
            <a:endParaRPr/>
          </a:p>
          <a:p>
            <a:pPr marL="0" marR="0" lvl="0" indent="0" algn="l" rtl="0">
              <a:spcBef>
                <a:spcPts val="0"/>
              </a:spcBef>
              <a:spcAft>
                <a:spcPts val="0"/>
              </a:spcAft>
              <a:buNone/>
            </a:pPr>
            <a:r>
              <a:rPr lang="en-US" sz="1400">
                <a:solidFill>
                  <a:schemeClr val="dk1"/>
                </a:solidFill>
                <a:latin typeface="Consolas"/>
                <a:ea typeface="Consolas"/>
                <a:cs typeface="Consolas"/>
                <a:sym typeface="Consolas"/>
              </a:rPr>
              <a:t>  __IO uint16_t IDR;</a:t>
            </a:r>
            <a:endParaRPr/>
          </a:p>
          <a:p>
            <a:pPr marL="0" marR="0" lvl="0" indent="0" algn="l" rtl="0">
              <a:spcBef>
                <a:spcPts val="0"/>
              </a:spcBef>
              <a:spcAft>
                <a:spcPts val="0"/>
              </a:spcAft>
              <a:buNone/>
            </a:pPr>
            <a:r>
              <a:rPr lang="en-US" sz="1400">
                <a:solidFill>
                  <a:schemeClr val="dk1"/>
                </a:solidFill>
                <a:latin typeface="Consolas"/>
                <a:ea typeface="Consolas"/>
                <a:cs typeface="Consolas"/>
                <a:sym typeface="Consolas"/>
              </a:rPr>
              <a:t>  uint16_t RESERVED1;</a:t>
            </a:r>
            <a:endParaRPr/>
          </a:p>
          <a:p>
            <a:pPr marL="0" marR="0" lvl="0" indent="0" algn="l" rtl="0">
              <a:spcBef>
                <a:spcPts val="0"/>
              </a:spcBef>
              <a:spcAft>
                <a:spcPts val="0"/>
              </a:spcAft>
              <a:buNone/>
            </a:pPr>
            <a:r>
              <a:rPr lang="en-US" sz="1400">
                <a:solidFill>
                  <a:schemeClr val="dk1"/>
                </a:solidFill>
                <a:latin typeface="Consolas"/>
                <a:ea typeface="Consolas"/>
                <a:cs typeface="Consolas"/>
                <a:sym typeface="Consolas"/>
              </a:rPr>
              <a:t>  __IO uint16_t ODR;</a:t>
            </a:r>
            <a:endParaRPr/>
          </a:p>
          <a:p>
            <a:pPr marL="0" marR="0" lvl="0" indent="0" algn="l" rtl="0">
              <a:spcBef>
                <a:spcPts val="0"/>
              </a:spcBef>
              <a:spcAft>
                <a:spcPts val="0"/>
              </a:spcAft>
              <a:buNone/>
            </a:pPr>
            <a:r>
              <a:rPr lang="en-US" sz="1400">
                <a:solidFill>
                  <a:schemeClr val="dk1"/>
                </a:solidFill>
                <a:latin typeface="Consolas"/>
                <a:ea typeface="Consolas"/>
                <a:cs typeface="Consolas"/>
                <a:sym typeface="Consolas"/>
              </a:rPr>
              <a:t>  uint16_t RESERVED2;</a:t>
            </a:r>
            <a:endParaRPr/>
          </a:p>
          <a:p>
            <a:pPr marL="0" marR="0" lvl="0" indent="0" algn="l" rtl="0">
              <a:spcBef>
                <a:spcPts val="0"/>
              </a:spcBef>
              <a:spcAft>
                <a:spcPts val="0"/>
              </a:spcAft>
              <a:buNone/>
            </a:pPr>
            <a:r>
              <a:rPr lang="en-US" sz="1400">
                <a:solidFill>
                  <a:schemeClr val="dk1"/>
                </a:solidFill>
                <a:latin typeface="Consolas"/>
                <a:ea typeface="Consolas"/>
                <a:cs typeface="Consolas"/>
                <a:sym typeface="Consolas"/>
              </a:rPr>
              <a:t>  __IO uint16_t BSRRL; /* BSRR register is split to 2 * 16-bit fields BSRRL */</a:t>
            </a:r>
            <a:endParaRPr/>
          </a:p>
          <a:p>
            <a:pPr marL="0" marR="0" lvl="0" indent="0" algn="l" rtl="0">
              <a:spcBef>
                <a:spcPts val="0"/>
              </a:spcBef>
              <a:spcAft>
                <a:spcPts val="0"/>
              </a:spcAft>
              <a:buNone/>
            </a:pPr>
            <a:r>
              <a:rPr lang="en-US" sz="1400">
                <a:solidFill>
                  <a:schemeClr val="dk1"/>
                </a:solidFill>
                <a:latin typeface="Consolas"/>
                <a:ea typeface="Consolas"/>
                <a:cs typeface="Consolas"/>
                <a:sym typeface="Consolas"/>
              </a:rPr>
              <a:t>  __IO uint16_t BSRRH; /* BSRR register is split to 2 * 16-bit fields BSRRH */</a:t>
            </a:r>
            <a:endParaRPr/>
          </a:p>
          <a:p>
            <a:pPr marL="0" marR="0" lvl="0" indent="0" algn="l" rtl="0">
              <a:spcBef>
                <a:spcPts val="0"/>
              </a:spcBef>
              <a:spcAft>
                <a:spcPts val="0"/>
              </a:spcAft>
              <a:buNone/>
            </a:pPr>
            <a:r>
              <a:rPr lang="en-US" sz="1400">
                <a:solidFill>
                  <a:schemeClr val="dk1"/>
                </a:solidFill>
                <a:latin typeface="Consolas"/>
                <a:ea typeface="Consolas"/>
                <a:cs typeface="Consolas"/>
                <a:sym typeface="Consolas"/>
              </a:rPr>
              <a:t>  __IO uint32_t LCKR;</a:t>
            </a:r>
            <a:endParaRPr/>
          </a:p>
          <a:p>
            <a:pPr marL="0" marR="0" lvl="0" indent="0" algn="l" rtl="0">
              <a:spcBef>
                <a:spcPts val="0"/>
              </a:spcBef>
              <a:spcAft>
                <a:spcPts val="0"/>
              </a:spcAft>
              <a:buNone/>
            </a:pPr>
            <a:r>
              <a:rPr lang="en-US" sz="1400">
                <a:solidFill>
                  <a:schemeClr val="dk1"/>
                </a:solidFill>
                <a:latin typeface="Consolas"/>
                <a:ea typeface="Consolas"/>
                <a:cs typeface="Consolas"/>
                <a:sym typeface="Consolas"/>
              </a:rPr>
              <a:t>  __IO uint32_t AFR[2];</a:t>
            </a:r>
            <a:endParaRPr/>
          </a:p>
          <a:p>
            <a:pPr marL="0" marR="0" lvl="0" indent="0" algn="l" rtl="0">
              <a:spcBef>
                <a:spcPts val="0"/>
              </a:spcBef>
              <a:spcAft>
                <a:spcPts val="0"/>
              </a:spcAft>
              <a:buNone/>
            </a:pPr>
            <a:r>
              <a:rPr lang="en-US" sz="1400">
                <a:solidFill>
                  <a:schemeClr val="dk1"/>
                </a:solidFill>
                <a:latin typeface="Consolas"/>
                <a:ea typeface="Consolas"/>
                <a:cs typeface="Consolas"/>
                <a:sym typeface="Consolas"/>
              </a:rPr>
              <a:t>} GPIO_TypeDef;</a:t>
            </a:r>
            <a:endParaRPr/>
          </a:p>
          <a:p>
            <a:pPr marL="0" marR="0" lvl="0" indent="0" algn="l" rtl="0">
              <a:spcBef>
                <a:spcPts val="0"/>
              </a:spcBef>
              <a:spcAft>
                <a:spcPts val="0"/>
              </a:spcAft>
              <a:buNone/>
            </a:pPr>
            <a:r>
              <a:rPr lang="en-US" sz="1400">
                <a:solidFill>
                  <a:schemeClr val="dk1"/>
                </a:solidFill>
                <a:latin typeface="Consolas"/>
                <a:ea typeface="Consolas"/>
                <a:cs typeface="Consolas"/>
                <a:sym typeface="Consolas"/>
              </a:rPr>
              <a:t>#define PERIPH_BASE           ((uint32_t)0x40000000) </a:t>
            </a:r>
            <a:endParaRPr/>
          </a:p>
          <a:p>
            <a:pPr marL="0" marR="0" lvl="0" indent="0" algn="l" rtl="0">
              <a:spcBef>
                <a:spcPts val="0"/>
              </a:spcBef>
              <a:spcAft>
                <a:spcPts val="0"/>
              </a:spcAft>
              <a:buNone/>
            </a:pPr>
            <a:r>
              <a:rPr lang="en-US" sz="1400">
                <a:solidFill>
                  <a:schemeClr val="dk1"/>
                </a:solidFill>
                <a:latin typeface="Consolas"/>
                <a:ea typeface="Consolas"/>
                <a:cs typeface="Consolas"/>
                <a:sym typeface="Consolas"/>
              </a:rPr>
              <a:t>#define AHBPERIPH_BASE        (PERIPH_BASE + 0x20000)</a:t>
            </a:r>
            <a:endParaRPr/>
          </a:p>
          <a:p>
            <a:pPr marL="0" marR="0" lvl="0" indent="0" algn="l" rtl="0">
              <a:spcBef>
                <a:spcPts val="0"/>
              </a:spcBef>
              <a:spcAft>
                <a:spcPts val="0"/>
              </a:spcAft>
              <a:buNone/>
            </a:pPr>
            <a:r>
              <a:rPr lang="en-US" sz="1400">
                <a:solidFill>
                  <a:schemeClr val="dk1"/>
                </a:solidFill>
                <a:latin typeface="Consolas"/>
                <a:ea typeface="Consolas"/>
                <a:cs typeface="Consolas"/>
                <a:sym typeface="Consolas"/>
              </a:rPr>
              <a:t>#define GPIOB_BASE            (AHBPERIPH_BASE + 0x0400)</a:t>
            </a:r>
            <a:endParaRPr/>
          </a:p>
          <a:p>
            <a:pPr marL="0" marR="0" lvl="0" indent="0" algn="l" rtl="0">
              <a:spcBef>
                <a:spcPts val="0"/>
              </a:spcBef>
              <a:spcAft>
                <a:spcPts val="0"/>
              </a:spcAft>
              <a:buNone/>
            </a:pPr>
            <a:r>
              <a:rPr lang="en-US" sz="1400" b="1">
                <a:solidFill>
                  <a:srgbClr val="FF0000"/>
                </a:solidFill>
                <a:latin typeface="Consolas"/>
                <a:ea typeface="Consolas"/>
                <a:cs typeface="Consolas"/>
                <a:sym typeface="Consolas"/>
              </a:rPr>
              <a:t>#define GPIOB                 ((GPIO_TypeDef *) GPIOB_BASE)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pic>
        <p:nvPicPr>
          <p:cNvPr id="215" name="Google Shape;215;p9"/>
          <p:cNvPicPr preferRelativeResize="0"/>
          <p:nvPr/>
        </p:nvPicPr>
        <p:blipFill rotWithShape="1">
          <a:blip r:embed="rId3">
            <a:alphaModFix/>
          </a:blip>
          <a:srcRect/>
          <a:stretch/>
        </p:blipFill>
        <p:spPr>
          <a:xfrm>
            <a:off x="76200" y="1334774"/>
            <a:ext cx="8991600" cy="4829802"/>
          </a:xfrm>
          <a:prstGeom prst="rect">
            <a:avLst/>
          </a:prstGeom>
          <a:noFill/>
          <a:ln>
            <a:noFill/>
          </a:ln>
        </p:spPr>
      </p:pic>
      <p:sp>
        <p:nvSpPr>
          <p:cNvPr id="216" name="Google Shape;216;p9"/>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fontScale="90000"/>
          </a:bodyPr>
          <a:lstStyle/>
          <a:p>
            <a:pPr marL="0" lvl="0" indent="0" algn="l" rtl="0">
              <a:spcBef>
                <a:spcPts val="0"/>
              </a:spcBef>
              <a:spcAft>
                <a:spcPts val="0"/>
              </a:spcAft>
              <a:buClr>
                <a:schemeClr val="dk2"/>
              </a:buClr>
              <a:buSzPct val="100000"/>
              <a:buFont typeface="Bookman Old Style"/>
              <a:buNone/>
            </a:pPr>
            <a:r>
              <a:rPr lang="en-US"/>
              <a:t>Basic Structure of an I/O Port Bit</a:t>
            </a:r>
            <a:br>
              <a:rPr lang="en-US"/>
            </a:br>
            <a:r>
              <a:rPr lang="en-US">
                <a:solidFill>
                  <a:srgbClr val="C00000"/>
                </a:solidFill>
              </a:rPr>
              <a:t>Input</a:t>
            </a:r>
            <a:r>
              <a:rPr lang="en-US"/>
              <a:t> and </a:t>
            </a:r>
            <a:r>
              <a:rPr lang="en-US">
                <a:solidFill>
                  <a:srgbClr val="C00000"/>
                </a:solidFill>
              </a:rPr>
              <a:t>Output</a:t>
            </a:r>
            <a:endParaRPr/>
          </a:p>
        </p:txBody>
      </p:sp>
      <p:sp>
        <p:nvSpPr>
          <p:cNvPr id="217" name="Google Shape;217;p9"/>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9</a:t>
            </a:fld>
            <a:endParaRPr/>
          </a:p>
        </p:txBody>
      </p:sp>
      <p:sp>
        <p:nvSpPr>
          <p:cNvPr id="218" name="Google Shape;218;p9"/>
          <p:cNvSpPr/>
          <p:nvPr/>
        </p:nvSpPr>
        <p:spPr>
          <a:xfrm>
            <a:off x="3995457" y="2895600"/>
            <a:ext cx="652743" cy="43088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a:solidFill>
                  <a:srgbClr val="C00000"/>
                </a:solidFill>
                <a:latin typeface="Gill Sans"/>
                <a:ea typeface="Gill Sans"/>
                <a:cs typeface="Gill Sans"/>
                <a:sym typeface="Gill Sans"/>
              </a:rPr>
              <a:t>Schmitt </a:t>
            </a:r>
            <a:endParaRPr/>
          </a:p>
          <a:p>
            <a:pPr marL="0" marR="0" lvl="0" indent="0" algn="l" rtl="0">
              <a:spcBef>
                <a:spcPts val="0"/>
              </a:spcBef>
              <a:spcAft>
                <a:spcPts val="0"/>
              </a:spcAft>
              <a:buNone/>
            </a:pPr>
            <a:r>
              <a:rPr lang="en-US" sz="1100">
                <a:solidFill>
                  <a:srgbClr val="C00000"/>
                </a:solidFill>
                <a:latin typeface="Gill Sans"/>
                <a:ea typeface="Gill Sans"/>
                <a:cs typeface="Gill Sans"/>
                <a:sym typeface="Gill Sans"/>
              </a:rPr>
              <a:t>trigger</a:t>
            </a:r>
            <a:endParaRPr/>
          </a:p>
        </p:txBody>
      </p:sp>
      <p:sp>
        <p:nvSpPr>
          <p:cNvPr id="219" name="Google Shape;219;p9"/>
          <p:cNvSpPr/>
          <p:nvPr/>
        </p:nvSpPr>
        <p:spPr>
          <a:xfrm>
            <a:off x="8305800" y="3733800"/>
            <a:ext cx="228600" cy="228600"/>
          </a:xfrm>
          <a:prstGeom prst="rect">
            <a:avLst/>
          </a:prstGeom>
          <a:solidFill>
            <a:srgbClr val="FFFF00"/>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00"/>
              </a:solidFill>
              <a:latin typeface="Gill Sans"/>
              <a:ea typeface="Gill Sans"/>
              <a:cs typeface="Gill Sans"/>
              <a:sym typeface="Gill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pic>
        <p:nvPicPr>
          <p:cNvPr id="225" name="Google Shape;225;p10"/>
          <p:cNvPicPr preferRelativeResize="0"/>
          <p:nvPr/>
        </p:nvPicPr>
        <p:blipFill rotWithShape="1">
          <a:blip r:embed="rId3">
            <a:alphaModFix/>
          </a:blip>
          <a:srcRect/>
          <a:stretch/>
        </p:blipFill>
        <p:spPr>
          <a:xfrm>
            <a:off x="76200" y="1334774"/>
            <a:ext cx="8991600" cy="4829802"/>
          </a:xfrm>
          <a:prstGeom prst="rect">
            <a:avLst/>
          </a:prstGeom>
          <a:noFill/>
          <a:ln>
            <a:noFill/>
          </a:ln>
        </p:spPr>
      </p:pic>
      <p:sp>
        <p:nvSpPr>
          <p:cNvPr id="226" name="Google Shape;226;p10"/>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fontScale="90000"/>
          </a:bodyPr>
          <a:lstStyle/>
          <a:p>
            <a:pPr marL="0" lvl="0" indent="0" algn="l" rtl="0">
              <a:spcBef>
                <a:spcPts val="0"/>
              </a:spcBef>
              <a:spcAft>
                <a:spcPts val="0"/>
              </a:spcAft>
              <a:buClr>
                <a:schemeClr val="dk2"/>
              </a:buClr>
              <a:buSzPct val="100000"/>
              <a:buFont typeface="Bookman Old Style"/>
              <a:buNone/>
            </a:pPr>
            <a:r>
              <a:rPr lang="en-US"/>
              <a:t>Basic Structure of an I/O Port Bit:</a:t>
            </a:r>
            <a:br>
              <a:rPr lang="en-US"/>
            </a:br>
            <a:r>
              <a:rPr lang="en-US">
                <a:solidFill>
                  <a:srgbClr val="C00000"/>
                </a:solidFill>
              </a:rPr>
              <a:t>Output</a:t>
            </a:r>
            <a:endParaRPr/>
          </a:p>
        </p:txBody>
      </p:sp>
      <p:sp>
        <p:nvSpPr>
          <p:cNvPr id="227" name="Google Shape;227;p10"/>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10</a:t>
            </a:fld>
            <a:endParaRPr/>
          </a:p>
        </p:txBody>
      </p:sp>
      <p:sp>
        <p:nvSpPr>
          <p:cNvPr id="228" name="Google Shape;228;p10"/>
          <p:cNvSpPr/>
          <p:nvPr/>
        </p:nvSpPr>
        <p:spPr>
          <a:xfrm>
            <a:off x="3995457" y="2895600"/>
            <a:ext cx="652743" cy="43088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a:solidFill>
                  <a:srgbClr val="C00000"/>
                </a:solidFill>
                <a:latin typeface="Gill Sans"/>
                <a:ea typeface="Gill Sans"/>
                <a:cs typeface="Gill Sans"/>
                <a:sym typeface="Gill Sans"/>
              </a:rPr>
              <a:t>Schmitt </a:t>
            </a:r>
            <a:endParaRPr/>
          </a:p>
          <a:p>
            <a:pPr marL="0" marR="0" lvl="0" indent="0" algn="l" rtl="0">
              <a:spcBef>
                <a:spcPts val="0"/>
              </a:spcBef>
              <a:spcAft>
                <a:spcPts val="0"/>
              </a:spcAft>
              <a:buNone/>
            </a:pPr>
            <a:r>
              <a:rPr lang="en-US" sz="1100">
                <a:solidFill>
                  <a:srgbClr val="C00000"/>
                </a:solidFill>
                <a:latin typeface="Gill Sans"/>
                <a:ea typeface="Gill Sans"/>
                <a:cs typeface="Gill Sans"/>
                <a:sym typeface="Gill Sans"/>
              </a:rPr>
              <a:t>trigger</a:t>
            </a:r>
            <a:endParaRPr/>
          </a:p>
        </p:txBody>
      </p:sp>
      <p:sp>
        <p:nvSpPr>
          <p:cNvPr id="229" name="Google Shape;229;p10"/>
          <p:cNvSpPr/>
          <p:nvPr/>
        </p:nvSpPr>
        <p:spPr>
          <a:xfrm>
            <a:off x="2971800" y="1334774"/>
            <a:ext cx="4114800" cy="2703826"/>
          </a:xfrm>
          <a:prstGeom prst="rect">
            <a:avLst/>
          </a:prstGeom>
          <a:solidFill>
            <a:schemeClr val="lt1"/>
          </a:solidFill>
          <a:ln w="1905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230" name="Google Shape;230;p10"/>
          <p:cNvSpPr/>
          <p:nvPr/>
        </p:nvSpPr>
        <p:spPr>
          <a:xfrm>
            <a:off x="4321828" y="3818402"/>
            <a:ext cx="4267200" cy="1715774"/>
          </a:xfrm>
          <a:prstGeom prst="rect">
            <a:avLst/>
          </a:prstGeom>
          <a:solidFill>
            <a:schemeClr val="lt1"/>
          </a:solidFill>
          <a:ln w="1905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231" name="Google Shape;231;p10"/>
          <p:cNvSpPr/>
          <p:nvPr/>
        </p:nvSpPr>
        <p:spPr>
          <a:xfrm>
            <a:off x="2891664" y="1334773"/>
            <a:ext cx="952500" cy="1657036"/>
          </a:xfrm>
          <a:prstGeom prst="rect">
            <a:avLst/>
          </a:prstGeom>
          <a:solidFill>
            <a:schemeClr val="lt1"/>
          </a:solidFill>
          <a:ln w="1905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232" name="Google Shape;232;p10"/>
          <p:cNvSpPr/>
          <p:nvPr/>
        </p:nvSpPr>
        <p:spPr>
          <a:xfrm>
            <a:off x="5633757" y="2094226"/>
            <a:ext cx="1605243" cy="1715774"/>
          </a:xfrm>
          <a:prstGeom prst="rect">
            <a:avLst/>
          </a:prstGeom>
          <a:solidFill>
            <a:schemeClr val="lt1"/>
          </a:solidFill>
          <a:ln w="1905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233" name="Google Shape;233;p10"/>
          <p:cNvSpPr txBox="1"/>
          <p:nvPr/>
        </p:nvSpPr>
        <p:spPr>
          <a:xfrm>
            <a:off x="2166657" y="2936297"/>
            <a:ext cx="1148257"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Gill Sans"/>
                <a:ea typeface="Gill Sans"/>
                <a:cs typeface="Gill Sans"/>
                <a:sym typeface="Gill Sans"/>
              </a:rPr>
              <a:t>Output Data Register</a:t>
            </a:r>
            <a:endParaRPr/>
          </a:p>
        </p:txBody>
      </p:sp>
      <p:sp>
        <p:nvSpPr>
          <p:cNvPr id="234" name="Google Shape;234;p10"/>
          <p:cNvSpPr txBox="1"/>
          <p:nvPr/>
        </p:nvSpPr>
        <p:spPr>
          <a:xfrm>
            <a:off x="592009" y="5939242"/>
            <a:ext cx="227498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C00000"/>
                </a:solidFill>
                <a:latin typeface="Gill Sans"/>
                <a:ea typeface="Gill Sans"/>
                <a:cs typeface="Gill Sans"/>
                <a:sym typeface="Gill Sans"/>
              </a:rPr>
              <a:t>GPIO MODE Register</a:t>
            </a:r>
            <a:endParaRPr/>
          </a:p>
        </p:txBody>
      </p:sp>
      <p:sp>
        <p:nvSpPr>
          <p:cNvPr id="235" name="Google Shape;235;p10"/>
          <p:cNvSpPr txBox="1"/>
          <p:nvPr/>
        </p:nvSpPr>
        <p:spPr>
          <a:xfrm>
            <a:off x="1271749" y="6163185"/>
            <a:ext cx="3016660"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C00000"/>
                </a:solidFill>
                <a:latin typeface="Consolas"/>
                <a:ea typeface="Consolas"/>
                <a:cs typeface="Consolas"/>
                <a:sym typeface="Consolas"/>
              </a:rPr>
              <a:t>00</a:t>
            </a:r>
            <a:r>
              <a:rPr lang="en-US" sz="1600">
                <a:solidFill>
                  <a:srgbClr val="C00000"/>
                </a:solidFill>
                <a:latin typeface="Gill Sans"/>
                <a:ea typeface="Gill Sans"/>
                <a:cs typeface="Gill Sans"/>
                <a:sym typeface="Gill Sans"/>
              </a:rPr>
              <a:t> = Input,   </a:t>
            </a:r>
            <a:r>
              <a:rPr lang="en-US" sz="1600">
                <a:solidFill>
                  <a:srgbClr val="C00000"/>
                </a:solidFill>
                <a:latin typeface="Consolas"/>
                <a:ea typeface="Consolas"/>
                <a:cs typeface="Consolas"/>
                <a:sym typeface="Consolas"/>
              </a:rPr>
              <a:t>01</a:t>
            </a:r>
            <a:r>
              <a:rPr lang="en-US" sz="1600">
                <a:solidFill>
                  <a:srgbClr val="C00000"/>
                </a:solidFill>
                <a:latin typeface="Gill Sans"/>
                <a:ea typeface="Gill Sans"/>
                <a:cs typeface="Gill Sans"/>
                <a:sym typeface="Gill Sans"/>
              </a:rPr>
              <a:t> = Output, </a:t>
            </a:r>
            <a:endParaRPr/>
          </a:p>
          <a:p>
            <a:pPr marL="0" marR="0" lvl="0" indent="0" algn="l" rtl="0">
              <a:spcBef>
                <a:spcPts val="0"/>
              </a:spcBef>
              <a:spcAft>
                <a:spcPts val="0"/>
              </a:spcAft>
              <a:buNone/>
            </a:pPr>
            <a:r>
              <a:rPr lang="en-US" sz="1600">
                <a:solidFill>
                  <a:srgbClr val="C00000"/>
                </a:solidFill>
                <a:latin typeface="Consolas"/>
                <a:ea typeface="Consolas"/>
                <a:cs typeface="Consolas"/>
                <a:sym typeface="Consolas"/>
              </a:rPr>
              <a:t>10</a:t>
            </a:r>
            <a:r>
              <a:rPr lang="en-US" sz="1600">
                <a:solidFill>
                  <a:srgbClr val="C00000"/>
                </a:solidFill>
                <a:latin typeface="Gill Sans"/>
                <a:ea typeface="Gill Sans"/>
                <a:cs typeface="Gill Sans"/>
                <a:sym typeface="Gill Sans"/>
              </a:rPr>
              <a:t> = AF,       </a:t>
            </a:r>
            <a:r>
              <a:rPr lang="en-US" sz="1600">
                <a:solidFill>
                  <a:srgbClr val="C00000"/>
                </a:solidFill>
                <a:latin typeface="Consolas"/>
                <a:ea typeface="Consolas"/>
                <a:cs typeface="Consolas"/>
                <a:sym typeface="Consolas"/>
              </a:rPr>
              <a:t>11</a:t>
            </a:r>
            <a:r>
              <a:rPr lang="en-US" sz="1600">
                <a:solidFill>
                  <a:srgbClr val="C00000"/>
                </a:solidFill>
                <a:latin typeface="Gill Sans"/>
                <a:ea typeface="Gill Sans"/>
                <a:cs typeface="Gill Sans"/>
                <a:sym typeface="Gill Sans"/>
              </a:rPr>
              <a:t> = Analog (default)</a:t>
            </a:r>
            <a:endParaRPr/>
          </a:p>
        </p:txBody>
      </p:sp>
      <p:sp>
        <p:nvSpPr>
          <p:cNvPr id="236" name="Google Shape;236;p10"/>
          <p:cNvSpPr/>
          <p:nvPr/>
        </p:nvSpPr>
        <p:spPr>
          <a:xfrm>
            <a:off x="3230199" y="3138845"/>
            <a:ext cx="3821559" cy="86177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FF00FF"/>
                </a:solidFill>
                <a:latin typeface="Gill Sans"/>
                <a:ea typeface="Gill Sans"/>
                <a:cs typeface="Gill Sans"/>
                <a:sym typeface="Gill Sans"/>
              </a:rPr>
              <a:t>GPIO Output Type Register (OTYPER)</a:t>
            </a:r>
            <a:endParaRPr/>
          </a:p>
          <a:p>
            <a:pPr marL="0" marR="0" lvl="0" indent="0" algn="l" rtl="0">
              <a:spcBef>
                <a:spcPts val="0"/>
              </a:spcBef>
              <a:spcAft>
                <a:spcPts val="0"/>
              </a:spcAft>
              <a:buNone/>
            </a:pPr>
            <a:r>
              <a:rPr lang="en-US" sz="1600">
                <a:solidFill>
                  <a:srgbClr val="0000FF"/>
                </a:solidFill>
                <a:latin typeface="Consolas"/>
                <a:ea typeface="Consolas"/>
                <a:cs typeface="Consolas"/>
                <a:sym typeface="Consolas"/>
              </a:rPr>
              <a:t> </a:t>
            </a:r>
            <a:r>
              <a:rPr lang="en-US" sz="1600">
                <a:solidFill>
                  <a:srgbClr val="FF00FF"/>
                </a:solidFill>
                <a:latin typeface="Consolas"/>
                <a:ea typeface="Consolas"/>
                <a:cs typeface="Consolas"/>
                <a:sym typeface="Consolas"/>
              </a:rPr>
              <a:t>0</a:t>
            </a:r>
            <a:r>
              <a:rPr lang="en-US" sz="1600">
                <a:solidFill>
                  <a:srgbClr val="FF00FF"/>
                </a:solidFill>
                <a:latin typeface="Gill Sans"/>
                <a:ea typeface="Gill Sans"/>
                <a:cs typeface="Gill Sans"/>
                <a:sym typeface="Gill Sans"/>
              </a:rPr>
              <a:t> = Output push-pull (default) </a:t>
            </a:r>
            <a:endParaRPr/>
          </a:p>
          <a:p>
            <a:pPr marL="0" marR="0" lvl="0" indent="0" algn="l" rtl="0">
              <a:spcBef>
                <a:spcPts val="0"/>
              </a:spcBef>
              <a:spcAft>
                <a:spcPts val="0"/>
              </a:spcAft>
              <a:buNone/>
            </a:pPr>
            <a:r>
              <a:rPr lang="en-US" sz="1600">
                <a:solidFill>
                  <a:srgbClr val="FF00FF"/>
                </a:solidFill>
                <a:latin typeface="Consolas"/>
                <a:ea typeface="Consolas"/>
                <a:cs typeface="Consolas"/>
                <a:sym typeface="Consolas"/>
              </a:rPr>
              <a:t> 1</a:t>
            </a:r>
            <a:r>
              <a:rPr lang="en-US" sz="1600">
                <a:solidFill>
                  <a:srgbClr val="FF00FF"/>
                </a:solidFill>
                <a:latin typeface="Gill Sans"/>
                <a:ea typeface="Gill Sans"/>
                <a:cs typeface="Gill Sans"/>
                <a:sym typeface="Gill Sans"/>
              </a:rPr>
              <a:t> = Output open-drain</a:t>
            </a:r>
            <a:endParaRPr/>
          </a:p>
        </p:txBody>
      </p:sp>
      <p:sp>
        <p:nvSpPr>
          <p:cNvPr id="237" name="Google Shape;237;p10"/>
          <p:cNvSpPr/>
          <p:nvPr/>
        </p:nvSpPr>
        <p:spPr>
          <a:xfrm>
            <a:off x="4800600" y="1623965"/>
            <a:ext cx="4180503" cy="86177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33CC33"/>
                </a:solidFill>
                <a:latin typeface="Gill Sans"/>
                <a:ea typeface="Gill Sans"/>
                <a:cs typeface="Gill Sans"/>
                <a:sym typeface="Gill Sans"/>
              </a:rPr>
              <a:t>GPIO Pull-up/Pull-down Register (PUPDR)</a:t>
            </a:r>
            <a:endParaRPr/>
          </a:p>
          <a:p>
            <a:pPr marL="0" marR="0" lvl="0" indent="0" algn="l" rtl="0">
              <a:spcBef>
                <a:spcPts val="0"/>
              </a:spcBef>
              <a:spcAft>
                <a:spcPts val="0"/>
              </a:spcAft>
              <a:buNone/>
            </a:pPr>
            <a:r>
              <a:rPr lang="en-US" sz="1600">
                <a:solidFill>
                  <a:srgbClr val="0000FF"/>
                </a:solidFill>
                <a:latin typeface="Consolas"/>
                <a:ea typeface="Consolas"/>
                <a:cs typeface="Consolas"/>
                <a:sym typeface="Consolas"/>
              </a:rPr>
              <a:t> </a:t>
            </a:r>
            <a:r>
              <a:rPr lang="en-US" sz="1600">
                <a:solidFill>
                  <a:srgbClr val="33CC33"/>
                </a:solidFill>
                <a:latin typeface="Consolas"/>
                <a:ea typeface="Consolas"/>
                <a:cs typeface="Consolas"/>
                <a:sym typeface="Consolas"/>
              </a:rPr>
              <a:t>00</a:t>
            </a:r>
            <a:r>
              <a:rPr lang="en-US" sz="1600">
                <a:solidFill>
                  <a:srgbClr val="33CC33"/>
                </a:solidFill>
                <a:latin typeface="Gill Sans"/>
                <a:ea typeface="Gill Sans"/>
                <a:cs typeface="Gill Sans"/>
                <a:sym typeface="Gill Sans"/>
              </a:rPr>
              <a:t> = No pull-up, pull-down   </a:t>
            </a:r>
            <a:r>
              <a:rPr lang="en-US" sz="1600">
                <a:solidFill>
                  <a:srgbClr val="33CC33"/>
                </a:solidFill>
                <a:latin typeface="Consolas"/>
                <a:ea typeface="Consolas"/>
                <a:cs typeface="Consolas"/>
                <a:sym typeface="Consolas"/>
              </a:rPr>
              <a:t>01</a:t>
            </a:r>
            <a:r>
              <a:rPr lang="en-US" sz="1600">
                <a:solidFill>
                  <a:srgbClr val="33CC33"/>
                </a:solidFill>
                <a:latin typeface="Gill Sans"/>
                <a:ea typeface="Gill Sans"/>
                <a:cs typeface="Gill Sans"/>
                <a:sym typeface="Gill Sans"/>
              </a:rPr>
              <a:t> = Pull-up </a:t>
            </a:r>
            <a:endParaRPr/>
          </a:p>
          <a:p>
            <a:pPr marL="0" marR="0" lvl="0" indent="0" algn="l" rtl="0">
              <a:spcBef>
                <a:spcPts val="0"/>
              </a:spcBef>
              <a:spcAft>
                <a:spcPts val="0"/>
              </a:spcAft>
              <a:buNone/>
            </a:pPr>
            <a:r>
              <a:rPr lang="en-US" sz="1600">
                <a:solidFill>
                  <a:srgbClr val="33CC33"/>
                </a:solidFill>
                <a:latin typeface="Consolas"/>
                <a:ea typeface="Consolas"/>
                <a:cs typeface="Consolas"/>
                <a:sym typeface="Consolas"/>
              </a:rPr>
              <a:t> 10</a:t>
            </a:r>
            <a:r>
              <a:rPr lang="en-US" sz="1600">
                <a:solidFill>
                  <a:srgbClr val="33CC33"/>
                </a:solidFill>
                <a:latin typeface="Gill Sans"/>
                <a:ea typeface="Gill Sans"/>
                <a:cs typeface="Gill Sans"/>
                <a:sym typeface="Gill Sans"/>
              </a:rPr>
              <a:t> = Pull-down                    </a:t>
            </a:r>
            <a:r>
              <a:rPr lang="en-US" sz="1600">
                <a:solidFill>
                  <a:srgbClr val="33CC33"/>
                </a:solidFill>
                <a:latin typeface="Consolas"/>
                <a:ea typeface="Consolas"/>
                <a:cs typeface="Consolas"/>
                <a:sym typeface="Consolas"/>
              </a:rPr>
              <a:t>11</a:t>
            </a:r>
            <a:r>
              <a:rPr lang="en-US" sz="1600">
                <a:solidFill>
                  <a:srgbClr val="33CC33"/>
                </a:solidFill>
                <a:latin typeface="Gill Sans"/>
                <a:ea typeface="Gill Sans"/>
                <a:cs typeface="Gill Sans"/>
                <a:sym typeface="Gill Sans"/>
              </a:rPr>
              <a:t> = Reserved</a:t>
            </a:r>
            <a:endParaRPr/>
          </a:p>
        </p:txBody>
      </p:sp>
      <p:sp>
        <p:nvSpPr>
          <p:cNvPr id="238" name="Google Shape;238;p10"/>
          <p:cNvSpPr/>
          <p:nvPr/>
        </p:nvSpPr>
        <p:spPr>
          <a:xfrm>
            <a:off x="8305800" y="3733800"/>
            <a:ext cx="228600" cy="228600"/>
          </a:xfrm>
          <a:prstGeom prst="rect">
            <a:avLst/>
          </a:prstGeom>
          <a:solidFill>
            <a:srgbClr val="FFFF00"/>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00"/>
              </a:solidFill>
              <a:latin typeface="Gill Sans"/>
              <a:ea typeface="Gill Sans"/>
              <a:cs typeface="Gill Sans"/>
              <a:sym typeface="Gill Sans"/>
            </a:endParaRPr>
          </a:p>
        </p:txBody>
      </p:sp>
      <p:sp>
        <p:nvSpPr>
          <p:cNvPr id="239" name="Google Shape;239;p10"/>
          <p:cNvSpPr/>
          <p:nvPr/>
        </p:nvSpPr>
        <p:spPr>
          <a:xfrm>
            <a:off x="7123152" y="4942711"/>
            <a:ext cx="573048" cy="1220474"/>
          </a:xfrm>
          <a:prstGeom prst="rect">
            <a:avLst/>
          </a:prstGeom>
          <a:solidFill>
            <a:schemeClr val="lt1"/>
          </a:solidFill>
          <a:ln w="1905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240" name="Google Shape;240;p10"/>
          <p:cNvSpPr/>
          <p:nvPr/>
        </p:nvSpPr>
        <p:spPr>
          <a:xfrm>
            <a:off x="1547690" y="3579208"/>
            <a:ext cx="372279" cy="1983216"/>
          </a:xfrm>
          <a:prstGeom prst="rect">
            <a:avLst/>
          </a:prstGeom>
          <a:noFill/>
          <a:ln w="38100" cap="flat" cmpd="sng">
            <a:solidFill>
              <a:srgbClr val="0000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241" name="Google Shape;241;p10"/>
          <p:cNvSpPr/>
          <p:nvPr/>
        </p:nvSpPr>
        <p:spPr>
          <a:xfrm>
            <a:off x="5029200" y="3962400"/>
            <a:ext cx="1861651" cy="2200785"/>
          </a:xfrm>
          <a:prstGeom prst="rect">
            <a:avLst/>
          </a:prstGeom>
          <a:noFill/>
          <a:ln w="28575" cap="flat" cmpd="sng">
            <a:solidFill>
              <a:srgbClr val="FF00FF"/>
            </a:solidFill>
            <a:prstDash val="dot"/>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242" name="Google Shape;242;p10"/>
          <p:cNvSpPr/>
          <p:nvPr/>
        </p:nvSpPr>
        <p:spPr>
          <a:xfrm>
            <a:off x="7344999" y="2804200"/>
            <a:ext cx="531409" cy="2200785"/>
          </a:xfrm>
          <a:prstGeom prst="rect">
            <a:avLst/>
          </a:prstGeom>
          <a:noFill/>
          <a:ln w="28575" cap="flat" cmpd="sng">
            <a:solidFill>
              <a:srgbClr val="33CC33"/>
            </a:solidFill>
            <a:prstDash val="dot"/>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grpSp>
        <p:nvGrpSpPr>
          <p:cNvPr id="243" name="Google Shape;243;p10"/>
          <p:cNvGrpSpPr/>
          <p:nvPr/>
        </p:nvGrpSpPr>
        <p:grpSpPr>
          <a:xfrm>
            <a:off x="1485900" y="5086350"/>
            <a:ext cx="2220859" cy="843367"/>
            <a:chOff x="1485900" y="5086350"/>
            <a:chExt cx="2220859" cy="843367"/>
          </a:xfrm>
        </p:grpSpPr>
        <p:cxnSp>
          <p:nvCxnSpPr>
            <p:cNvPr id="244" name="Google Shape;244;p10"/>
            <p:cNvCxnSpPr/>
            <p:nvPr/>
          </p:nvCxnSpPr>
          <p:spPr>
            <a:xfrm>
              <a:off x="1485900" y="5929717"/>
              <a:ext cx="1915292" cy="0"/>
            </a:xfrm>
            <a:prstGeom prst="straightConnector1">
              <a:avLst/>
            </a:prstGeom>
            <a:noFill/>
            <a:ln w="38100" cap="flat" cmpd="sng">
              <a:solidFill>
                <a:srgbClr val="C00000"/>
              </a:solidFill>
              <a:prstDash val="solid"/>
              <a:round/>
              <a:headEnd type="none" w="sm" len="sm"/>
              <a:tailEnd type="none" w="sm" len="sm"/>
            </a:ln>
          </p:spPr>
        </p:cxnSp>
        <p:cxnSp>
          <p:nvCxnSpPr>
            <p:cNvPr id="245" name="Google Shape;245;p10"/>
            <p:cNvCxnSpPr/>
            <p:nvPr/>
          </p:nvCxnSpPr>
          <p:spPr>
            <a:xfrm>
              <a:off x="3401192" y="5086350"/>
              <a:ext cx="305567" cy="0"/>
            </a:xfrm>
            <a:prstGeom prst="straightConnector1">
              <a:avLst/>
            </a:prstGeom>
            <a:noFill/>
            <a:ln w="38100" cap="flat" cmpd="sng">
              <a:solidFill>
                <a:srgbClr val="C00000"/>
              </a:solidFill>
              <a:prstDash val="solid"/>
              <a:round/>
              <a:headEnd type="none" w="sm" len="sm"/>
              <a:tailEnd type="none" w="sm" len="sm"/>
            </a:ln>
          </p:spPr>
        </p:cxnSp>
        <p:cxnSp>
          <p:nvCxnSpPr>
            <p:cNvPr id="246" name="Google Shape;246;p10"/>
            <p:cNvCxnSpPr/>
            <p:nvPr/>
          </p:nvCxnSpPr>
          <p:spPr>
            <a:xfrm>
              <a:off x="3401192" y="5086350"/>
              <a:ext cx="0" cy="833842"/>
            </a:xfrm>
            <a:prstGeom prst="straightConnector1">
              <a:avLst/>
            </a:prstGeom>
            <a:noFill/>
            <a:ln w="38100" cap="flat" cmpd="sng">
              <a:solidFill>
                <a:srgbClr val="C00000"/>
              </a:solidFill>
              <a:prstDash val="solid"/>
              <a:round/>
              <a:headEnd type="none" w="sm" len="sm"/>
              <a:tailEnd type="none" w="sm" len="sm"/>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3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4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6">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36">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36">
                                            <p:txEl>
                                              <p:pRg st="2" end="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4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7">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37">
                                            <p:txEl>
                                              <p:pRg st="1" end="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37">
                                            <p:txEl>
                                              <p:pRg st="2" end="2"/>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4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pic>
        <p:nvPicPr>
          <p:cNvPr id="252" name="Google Shape;252;p11"/>
          <p:cNvPicPr preferRelativeResize="0"/>
          <p:nvPr/>
        </p:nvPicPr>
        <p:blipFill rotWithShape="1">
          <a:blip r:embed="rId3">
            <a:alphaModFix/>
          </a:blip>
          <a:srcRect/>
          <a:stretch/>
        </p:blipFill>
        <p:spPr>
          <a:xfrm>
            <a:off x="76200" y="1334774"/>
            <a:ext cx="8991600" cy="4829802"/>
          </a:xfrm>
          <a:prstGeom prst="rect">
            <a:avLst/>
          </a:prstGeom>
          <a:noFill/>
          <a:ln>
            <a:noFill/>
          </a:ln>
        </p:spPr>
      </p:pic>
      <p:sp>
        <p:nvSpPr>
          <p:cNvPr id="253" name="Google Shape;253;p11"/>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fontScale="90000"/>
          </a:bodyPr>
          <a:lstStyle/>
          <a:p>
            <a:pPr marL="0" lvl="0" indent="0" algn="l" rtl="0">
              <a:spcBef>
                <a:spcPts val="0"/>
              </a:spcBef>
              <a:spcAft>
                <a:spcPts val="0"/>
              </a:spcAft>
              <a:buClr>
                <a:schemeClr val="dk2"/>
              </a:buClr>
              <a:buSzPct val="100000"/>
              <a:buFont typeface="Bookman Old Style"/>
              <a:buNone/>
            </a:pPr>
            <a:r>
              <a:rPr lang="en-US"/>
              <a:t>Basic Structure of an I/O Port Bit:</a:t>
            </a:r>
            <a:br>
              <a:rPr lang="en-US"/>
            </a:br>
            <a:r>
              <a:rPr lang="en-US">
                <a:solidFill>
                  <a:srgbClr val="C00000"/>
                </a:solidFill>
              </a:rPr>
              <a:t>Input</a:t>
            </a:r>
            <a:endParaRPr/>
          </a:p>
        </p:txBody>
      </p:sp>
      <p:sp>
        <p:nvSpPr>
          <p:cNvPr id="254" name="Google Shape;254;p11"/>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11</a:t>
            </a:fld>
            <a:endParaRPr/>
          </a:p>
        </p:txBody>
      </p:sp>
      <p:sp>
        <p:nvSpPr>
          <p:cNvPr id="255" name="Google Shape;255;p11"/>
          <p:cNvSpPr/>
          <p:nvPr/>
        </p:nvSpPr>
        <p:spPr>
          <a:xfrm>
            <a:off x="2971800" y="3886200"/>
            <a:ext cx="4343400" cy="2362200"/>
          </a:xfrm>
          <a:prstGeom prst="rect">
            <a:avLst/>
          </a:prstGeom>
          <a:solidFill>
            <a:schemeClr val="lt1"/>
          </a:solidFill>
          <a:ln w="1905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256" name="Google Shape;256;p11"/>
          <p:cNvSpPr/>
          <p:nvPr/>
        </p:nvSpPr>
        <p:spPr>
          <a:xfrm>
            <a:off x="828" y="2971800"/>
            <a:ext cx="1980372" cy="3048000"/>
          </a:xfrm>
          <a:prstGeom prst="rect">
            <a:avLst/>
          </a:prstGeom>
          <a:solidFill>
            <a:schemeClr val="lt1"/>
          </a:solidFill>
          <a:ln w="1905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257" name="Google Shape;257;p11"/>
          <p:cNvSpPr/>
          <p:nvPr/>
        </p:nvSpPr>
        <p:spPr>
          <a:xfrm>
            <a:off x="1651286" y="4376414"/>
            <a:ext cx="1625313" cy="1715774"/>
          </a:xfrm>
          <a:prstGeom prst="rect">
            <a:avLst/>
          </a:prstGeom>
          <a:solidFill>
            <a:schemeClr val="lt1"/>
          </a:solidFill>
          <a:ln w="1905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258" name="Google Shape;258;p11"/>
          <p:cNvSpPr/>
          <p:nvPr/>
        </p:nvSpPr>
        <p:spPr>
          <a:xfrm>
            <a:off x="5181600" y="4724400"/>
            <a:ext cx="1981200" cy="185777"/>
          </a:xfrm>
          <a:prstGeom prst="rect">
            <a:avLst/>
          </a:prstGeom>
          <a:solidFill>
            <a:schemeClr val="lt1"/>
          </a:solidFill>
          <a:ln w="1905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259" name="Google Shape;259;p11"/>
          <p:cNvSpPr/>
          <p:nvPr/>
        </p:nvSpPr>
        <p:spPr>
          <a:xfrm>
            <a:off x="1435126" y="4170957"/>
            <a:ext cx="154934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a:solidFill>
                  <a:srgbClr val="0000FF"/>
                </a:solidFill>
                <a:latin typeface="Gill Sans"/>
                <a:ea typeface="Gill Sans"/>
                <a:cs typeface="Gill Sans"/>
                <a:sym typeface="Gill Sans"/>
              </a:rPr>
              <a:t>Input Data Register (IDR)</a:t>
            </a:r>
            <a:endParaRPr/>
          </a:p>
        </p:txBody>
      </p:sp>
      <p:sp>
        <p:nvSpPr>
          <p:cNvPr id="260" name="Google Shape;260;p11"/>
          <p:cNvSpPr/>
          <p:nvPr/>
        </p:nvSpPr>
        <p:spPr>
          <a:xfrm>
            <a:off x="4372405" y="5028242"/>
            <a:ext cx="3399995" cy="1220158"/>
          </a:xfrm>
          <a:prstGeom prst="rect">
            <a:avLst/>
          </a:prstGeom>
          <a:solidFill>
            <a:schemeClr val="lt1"/>
          </a:solidFill>
          <a:ln w="1905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261" name="Google Shape;261;p11"/>
          <p:cNvSpPr/>
          <p:nvPr/>
        </p:nvSpPr>
        <p:spPr>
          <a:xfrm>
            <a:off x="4816346" y="5302802"/>
            <a:ext cx="4180503" cy="86177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33CC33"/>
                </a:solidFill>
                <a:latin typeface="Gill Sans"/>
                <a:ea typeface="Gill Sans"/>
                <a:cs typeface="Gill Sans"/>
                <a:sym typeface="Gill Sans"/>
              </a:rPr>
              <a:t>GPIO Pull-up/Pull-down Register (PUPDR)</a:t>
            </a:r>
            <a:endParaRPr/>
          </a:p>
          <a:p>
            <a:pPr marL="0" marR="0" lvl="0" indent="0" algn="l" rtl="0">
              <a:spcBef>
                <a:spcPts val="0"/>
              </a:spcBef>
              <a:spcAft>
                <a:spcPts val="0"/>
              </a:spcAft>
              <a:buNone/>
            </a:pPr>
            <a:r>
              <a:rPr lang="en-US" sz="1600">
                <a:solidFill>
                  <a:srgbClr val="0000FF"/>
                </a:solidFill>
                <a:latin typeface="Consolas"/>
                <a:ea typeface="Consolas"/>
                <a:cs typeface="Consolas"/>
                <a:sym typeface="Consolas"/>
              </a:rPr>
              <a:t> </a:t>
            </a:r>
            <a:r>
              <a:rPr lang="en-US" sz="1600">
                <a:solidFill>
                  <a:srgbClr val="33CC33"/>
                </a:solidFill>
                <a:latin typeface="Consolas"/>
                <a:ea typeface="Consolas"/>
                <a:cs typeface="Consolas"/>
                <a:sym typeface="Consolas"/>
              </a:rPr>
              <a:t>00</a:t>
            </a:r>
            <a:r>
              <a:rPr lang="en-US" sz="1600">
                <a:solidFill>
                  <a:srgbClr val="33CC33"/>
                </a:solidFill>
                <a:latin typeface="Gill Sans"/>
                <a:ea typeface="Gill Sans"/>
                <a:cs typeface="Gill Sans"/>
                <a:sym typeface="Gill Sans"/>
              </a:rPr>
              <a:t> = No pull-up, pull-down   </a:t>
            </a:r>
            <a:r>
              <a:rPr lang="en-US" sz="1600">
                <a:solidFill>
                  <a:srgbClr val="33CC33"/>
                </a:solidFill>
                <a:latin typeface="Consolas"/>
                <a:ea typeface="Consolas"/>
                <a:cs typeface="Consolas"/>
                <a:sym typeface="Consolas"/>
              </a:rPr>
              <a:t>01</a:t>
            </a:r>
            <a:r>
              <a:rPr lang="en-US" sz="1600">
                <a:solidFill>
                  <a:srgbClr val="33CC33"/>
                </a:solidFill>
                <a:latin typeface="Gill Sans"/>
                <a:ea typeface="Gill Sans"/>
                <a:cs typeface="Gill Sans"/>
                <a:sym typeface="Gill Sans"/>
              </a:rPr>
              <a:t> = Pull-up </a:t>
            </a:r>
            <a:endParaRPr/>
          </a:p>
          <a:p>
            <a:pPr marL="0" marR="0" lvl="0" indent="0" algn="l" rtl="0">
              <a:spcBef>
                <a:spcPts val="0"/>
              </a:spcBef>
              <a:spcAft>
                <a:spcPts val="0"/>
              </a:spcAft>
              <a:buNone/>
            </a:pPr>
            <a:r>
              <a:rPr lang="en-US" sz="1600">
                <a:solidFill>
                  <a:srgbClr val="33CC33"/>
                </a:solidFill>
                <a:latin typeface="Consolas"/>
                <a:ea typeface="Consolas"/>
                <a:cs typeface="Consolas"/>
                <a:sym typeface="Consolas"/>
              </a:rPr>
              <a:t> 10</a:t>
            </a:r>
            <a:r>
              <a:rPr lang="en-US" sz="1600">
                <a:solidFill>
                  <a:srgbClr val="33CC33"/>
                </a:solidFill>
                <a:latin typeface="Gill Sans"/>
                <a:ea typeface="Gill Sans"/>
                <a:cs typeface="Gill Sans"/>
                <a:sym typeface="Gill Sans"/>
              </a:rPr>
              <a:t> = Pull-down                    </a:t>
            </a:r>
            <a:r>
              <a:rPr lang="en-US" sz="1600">
                <a:solidFill>
                  <a:srgbClr val="33CC33"/>
                </a:solidFill>
                <a:latin typeface="Consolas"/>
                <a:ea typeface="Consolas"/>
                <a:cs typeface="Consolas"/>
                <a:sym typeface="Consolas"/>
              </a:rPr>
              <a:t>11</a:t>
            </a:r>
            <a:r>
              <a:rPr lang="en-US" sz="1600">
                <a:solidFill>
                  <a:srgbClr val="33CC33"/>
                </a:solidFill>
                <a:latin typeface="Gill Sans"/>
                <a:ea typeface="Gill Sans"/>
                <a:cs typeface="Gill Sans"/>
                <a:sym typeface="Gill Sans"/>
              </a:rPr>
              <a:t> = Reserved</a:t>
            </a:r>
            <a:endParaRPr/>
          </a:p>
        </p:txBody>
      </p:sp>
      <p:sp>
        <p:nvSpPr>
          <p:cNvPr id="262" name="Google Shape;262;p11"/>
          <p:cNvSpPr/>
          <p:nvPr/>
        </p:nvSpPr>
        <p:spPr>
          <a:xfrm>
            <a:off x="7344999" y="2804200"/>
            <a:ext cx="531409" cy="2200785"/>
          </a:xfrm>
          <a:prstGeom prst="rect">
            <a:avLst/>
          </a:prstGeom>
          <a:noFill/>
          <a:ln w="28575" cap="flat" cmpd="sng">
            <a:solidFill>
              <a:srgbClr val="33CC33"/>
            </a:solidFill>
            <a:prstDash val="dot"/>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263" name="Google Shape;263;p11"/>
          <p:cNvSpPr/>
          <p:nvPr/>
        </p:nvSpPr>
        <p:spPr>
          <a:xfrm>
            <a:off x="2023660" y="2250820"/>
            <a:ext cx="372279" cy="1836313"/>
          </a:xfrm>
          <a:prstGeom prst="rect">
            <a:avLst/>
          </a:prstGeom>
          <a:noFill/>
          <a:ln w="38100" cap="flat" cmpd="sng">
            <a:solidFill>
              <a:srgbClr val="0000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264" name="Google Shape;264;p11"/>
          <p:cNvSpPr/>
          <p:nvPr/>
        </p:nvSpPr>
        <p:spPr>
          <a:xfrm>
            <a:off x="3995457" y="2895600"/>
            <a:ext cx="652743" cy="43088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a:solidFill>
                  <a:srgbClr val="C00000"/>
                </a:solidFill>
                <a:latin typeface="Gill Sans"/>
                <a:ea typeface="Gill Sans"/>
                <a:cs typeface="Gill Sans"/>
                <a:sym typeface="Gill Sans"/>
              </a:rPr>
              <a:t>Schmitt </a:t>
            </a:r>
            <a:endParaRPr/>
          </a:p>
          <a:p>
            <a:pPr marL="0" marR="0" lvl="0" indent="0" algn="l" rtl="0">
              <a:spcBef>
                <a:spcPts val="0"/>
              </a:spcBef>
              <a:spcAft>
                <a:spcPts val="0"/>
              </a:spcAft>
              <a:buNone/>
            </a:pPr>
            <a:r>
              <a:rPr lang="en-US" sz="1100">
                <a:solidFill>
                  <a:srgbClr val="C00000"/>
                </a:solidFill>
                <a:latin typeface="Gill Sans"/>
                <a:ea typeface="Gill Sans"/>
                <a:cs typeface="Gill Sans"/>
                <a:sym typeface="Gill Sans"/>
              </a:rPr>
              <a:t>trigger</a:t>
            </a:r>
            <a:endParaRPr/>
          </a:p>
        </p:txBody>
      </p:sp>
      <p:sp>
        <p:nvSpPr>
          <p:cNvPr id="265" name="Google Shape;265;p11"/>
          <p:cNvSpPr/>
          <p:nvPr/>
        </p:nvSpPr>
        <p:spPr>
          <a:xfrm>
            <a:off x="8305800" y="3733800"/>
            <a:ext cx="228600" cy="228600"/>
          </a:xfrm>
          <a:prstGeom prst="rect">
            <a:avLst/>
          </a:prstGeom>
          <a:solidFill>
            <a:srgbClr val="FFFF00"/>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00"/>
              </a:solidFill>
              <a:latin typeface="Gill Sans"/>
              <a:ea typeface="Gill Sans"/>
              <a:cs typeface="Gill Sans"/>
              <a:sym typeface="Gill Sans"/>
            </a:endParaRPr>
          </a:p>
        </p:txBody>
      </p:sp>
      <p:sp>
        <p:nvSpPr>
          <p:cNvPr id="266" name="Google Shape;266;p11"/>
          <p:cNvSpPr/>
          <p:nvPr/>
        </p:nvSpPr>
        <p:spPr>
          <a:xfrm>
            <a:off x="3928660" y="2286000"/>
            <a:ext cx="1024340" cy="1011823"/>
          </a:xfrm>
          <a:prstGeom prst="rect">
            <a:avLst/>
          </a:prstGeom>
          <a:noFill/>
          <a:ln w="2857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267" name="Google Shape;267;p11"/>
          <p:cNvSpPr txBox="1"/>
          <p:nvPr/>
        </p:nvSpPr>
        <p:spPr>
          <a:xfrm>
            <a:off x="5092738" y="2819400"/>
            <a:ext cx="1689062" cy="830997"/>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rgbClr val="FF0000"/>
              </a:buClr>
              <a:buSzPts val="1600"/>
              <a:buFont typeface="Arial"/>
              <a:buChar char="•"/>
            </a:pPr>
            <a:r>
              <a:rPr lang="en-US" sz="1600">
                <a:solidFill>
                  <a:srgbClr val="FF0000"/>
                </a:solidFill>
                <a:latin typeface="Gill Sans"/>
                <a:ea typeface="Gill Sans"/>
                <a:cs typeface="Gill Sans"/>
                <a:sym typeface="Gill Sans"/>
              </a:rPr>
              <a:t>Reduce noise</a:t>
            </a:r>
            <a:endParaRPr/>
          </a:p>
          <a:p>
            <a:pPr marL="285750" marR="0" lvl="0" indent="-285750" algn="l" rtl="0">
              <a:spcBef>
                <a:spcPts val="0"/>
              </a:spcBef>
              <a:spcAft>
                <a:spcPts val="0"/>
              </a:spcAft>
              <a:buClr>
                <a:srgbClr val="FF0000"/>
              </a:buClr>
              <a:buSzPts val="1600"/>
              <a:buFont typeface="Arial"/>
              <a:buChar char="•"/>
            </a:pPr>
            <a:r>
              <a:rPr lang="en-US" sz="1600">
                <a:solidFill>
                  <a:srgbClr val="FF0000"/>
                </a:solidFill>
                <a:latin typeface="Gill Sans"/>
                <a:ea typeface="Gill Sans"/>
                <a:cs typeface="Gill Sans"/>
                <a:sym typeface="Gill Sans"/>
              </a:rPr>
              <a:t>Increase slew rate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61">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61">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61">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6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6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12"/>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rgbClr val="C00000"/>
              </a:buClr>
              <a:buSzPts val="3200"/>
              <a:buFont typeface="Bookman Old Style"/>
              <a:buNone/>
            </a:pPr>
            <a:r>
              <a:rPr lang="en-US">
                <a:solidFill>
                  <a:srgbClr val="C00000"/>
                </a:solidFill>
              </a:rPr>
              <a:t>Schmitt Trigger</a:t>
            </a:r>
            <a:endParaRPr/>
          </a:p>
        </p:txBody>
      </p:sp>
      <p:sp>
        <p:nvSpPr>
          <p:cNvPr id="274" name="Google Shape;274;p12"/>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12</a:t>
            </a:fld>
            <a:endParaRPr/>
          </a:p>
        </p:txBody>
      </p:sp>
      <p:sp>
        <p:nvSpPr>
          <p:cNvPr id="275" name="Google Shape;275;p12"/>
          <p:cNvSpPr txBox="1">
            <a:spLocks noGrp="1"/>
          </p:cNvSpPr>
          <p:nvPr>
            <p:ph type="body" idx="1"/>
          </p:nvPr>
        </p:nvSpPr>
        <p:spPr>
          <a:xfrm>
            <a:off x="437508" y="4191000"/>
            <a:ext cx="8229600" cy="1203960"/>
          </a:xfrm>
          <a:prstGeom prst="rect">
            <a:avLst/>
          </a:prstGeom>
          <a:noFill/>
          <a:ln>
            <a:noFill/>
          </a:ln>
        </p:spPr>
        <p:txBody>
          <a:bodyPr spcFirstLastPara="1" wrap="square" lIns="91425" tIns="45700" rIns="91425" bIns="45700" anchor="t" anchorCtr="0">
            <a:normAutofit fontScale="92500" lnSpcReduction="20000"/>
          </a:bodyPr>
          <a:lstStyle/>
          <a:p>
            <a:pPr marL="0" lvl="0" indent="0" algn="l" rtl="0">
              <a:spcBef>
                <a:spcPts val="0"/>
              </a:spcBef>
              <a:spcAft>
                <a:spcPts val="0"/>
              </a:spcAft>
              <a:buSzPct val="76000"/>
              <a:buNone/>
            </a:pPr>
            <a:r>
              <a:rPr lang="en-US"/>
              <a:t>Analog signals</a:t>
            </a:r>
            <a:endParaRPr/>
          </a:p>
          <a:p>
            <a:pPr marL="274320" lvl="0" indent="-274320" algn="l" rtl="0">
              <a:spcBef>
                <a:spcPts val="600"/>
              </a:spcBef>
              <a:spcAft>
                <a:spcPts val="0"/>
              </a:spcAft>
              <a:buSzPct val="76000"/>
              <a:buChar char="🞂"/>
            </a:pPr>
            <a:r>
              <a:rPr lang="en-US"/>
              <a:t>Noisy</a:t>
            </a:r>
            <a:endParaRPr/>
          </a:p>
          <a:p>
            <a:pPr marL="274320" lvl="0" indent="-274320" algn="l" rtl="0">
              <a:spcBef>
                <a:spcPts val="600"/>
              </a:spcBef>
              <a:spcAft>
                <a:spcPts val="0"/>
              </a:spcAft>
              <a:buSzPct val="76000"/>
              <a:buChar char="🞂"/>
            </a:pPr>
            <a:r>
              <a:rPr lang="en-US"/>
              <a:t>Rise and fall slowly (small slew rate)</a:t>
            </a:r>
            <a:endParaRPr/>
          </a:p>
        </p:txBody>
      </p:sp>
      <p:pic>
        <p:nvPicPr>
          <p:cNvPr id="276" name="Google Shape;276;p12"/>
          <p:cNvPicPr preferRelativeResize="0"/>
          <p:nvPr/>
        </p:nvPicPr>
        <p:blipFill rotWithShape="1">
          <a:blip r:embed="rId3">
            <a:alphaModFix/>
          </a:blip>
          <a:srcRect/>
          <a:stretch/>
        </p:blipFill>
        <p:spPr>
          <a:xfrm>
            <a:off x="132823" y="1600200"/>
            <a:ext cx="7400704" cy="1970182"/>
          </a:xfrm>
          <a:prstGeom prst="rect">
            <a:avLst/>
          </a:prstGeom>
          <a:noFill/>
          <a:ln>
            <a:noFill/>
          </a:ln>
        </p:spPr>
      </p:pic>
      <p:sp>
        <p:nvSpPr>
          <p:cNvPr id="277" name="Google Shape;277;p12"/>
          <p:cNvSpPr txBox="1"/>
          <p:nvPr/>
        </p:nvSpPr>
        <p:spPr>
          <a:xfrm>
            <a:off x="7543800" y="2514600"/>
            <a:ext cx="113543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Threshold</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13"/>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rgbClr val="C00000"/>
              </a:buClr>
              <a:buSzPts val="3200"/>
              <a:buFont typeface="Bookman Old Style"/>
              <a:buNone/>
            </a:pPr>
            <a:r>
              <a:rPr lang="en-US">
                <a:solidFill>
                  <a:srgbClr val="C00000"/>
                </a:solidFill>
              </a:rPr>
              <a:t>Schmitt Trigger</a:t>
            </a:r>
            <a:endParaRPr/>
          </a:p>
        </p:txBody>
      </p:sp>
      <p:sp>
        <p:nvSpPr>
          <p:cNvPr id="284" name="Google Shape;284;p13"/>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13</a:t>
            </a:fld>
            <a:endParaRPr/>
          </a:p>
        </p:txBody>
      </p:sp>
      <p:pic>
        <p:nvPicPr>
          <p:cNvPr id="285" name="Google Shape;285;p13"/>
          <p:cNvPicPr preferRelativeResize="0"/>
          <p:nvPr/>
        </p:nvPicPr>
        <p:blipFill rotWithShape="1">
          <a:blip r:embed="rId3">
            <a:alphaModFix/>
          </a:blip>
          <a:srcRect/>
          <a:stretch/>
        </p:blipFill>
        <p:spPr>
          <a:xfrm>
            <a:off x="143096" y="1600200"/>
            <a:ext cx="8782387" cy="2956600"/>
          </a:xfrm>
          <a:prstGeom prst="rect">
            <a:avLst/>
          </a:prstGeom>
          <a:noFill/>
          <a:ln>
            <a:noFill/>
          </a:ln>
        </p:spPr>
      </p:pic>
      <p:sp>
        <p:nvSpPr>
          <p:cNvPr id="286" name="Google Shape;286;p13"/>
          <p:cNvSpPr txBox="1"/>
          <p:nvPr/>
        </p:nvSpPr>
        <p:spPr>
          <a:xfrm>
            <a:off x="7543800" y="2514600"/>
            <a:ext cx="113543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Threshold</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14"/>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rgbClr val="C00000"/>
              </a:buClr>
              <a:buSzPts val="3200"/>
              <a:buFont typeface="Bookman Old Style"/>
              <a:buNone/>
            </a:pPr>
            <a:r>
              <a:rPr lang="en-US">
                <a:solidFill>
                  <a:srgbClr val="C00000"/>
                </a:solidFill>
              </a:rPr>
              <a:t>Schmitt Trigger</a:t>
            </a:r>
            <a:endParaRPr/>
          </a:p>
        </p:txBody>
      </p:sp>
      <p:sp>
        <p:nvSpPr>
          <p:cNvPr id="293" name="Google Shape;293;p14"/>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14</a:t>
            </a:fld>
            <a:endParaRPr/>
          </a:p>
        </p:txBody>
      </p:sp>
      <p:pic>
        <p:nvPicPr>
          <p:cNvPr id="294" name="Google Shape;294;p14"/>
          <p:cNvPicPr preferRelativeResize="0"/>
          <p:nvPr/>
        </p:nvPicPr>
        <p:blipFill rotWithShape="1">
          <a:blip r:embed="rId3">
            <a:alphaModFix/>
          </a:blip>
          <a:srcRect/>
          <a:stretch/>
        </p:blipFill>
        <p:spPr>
          <a:xfrm>
            <a:off x="76200" y="2651779"/>
            <a:ext cx="2079655" cy="2915493"/>
          </a:xfrm>
          <a:prstGeom prst="rect">
            <a:avLst/>
          </a:prstGeom>
          <a:noFill/>
          <a:ln>
            <a:noFill/>
          </a:ln>
        </p:spPr>
      </p:pic>
      <p:grpSp>
        <p:nvGrpSpPr>
          <p:cNvPr id="295" name="Google Shape;295;p14"/>
          <p:cNvGrpSpPr/>
          <p:nvPr/>
        </p:nvGrpSpPr>
        <p:grpSpPr>
          <a:xfrm>
            <a:off x="264432" y="1419040"/>
            <a:ext cx="1703189" cy="838200"/>
            <a:chOff x="452085" y="1186334"/>
            <a:chExt cx="1703189" cy="838200"/>
          </a:xfrm>
        </p:grpSpPr>
        <p:pic>
          <p:nvPicPr>
            <p:cNvPr id="296" name="Google Shape;296;p14"/>
            <p:cNvPicPr preferRelativeResize="0"/>
            <p:nvPr/>
          </p:nvPicPr>
          <p:blipFill rotWithShape="1">
            <a:blip r:embed="rId4">
              <a:alphaModFix/>
            </a:blip>
            <a:srcRect/>
            <a:stretch/>
          </p:blipFill>
          <p:spPr>
            <a:xfrm>
              <a:off x="838200" y="1186334"/>
              <a:ext cx="928523" cy="838200"/>
            </a:xfrm>
            <a:prstGeom prst="rect">
              <a:avLst/>
            </a:prstGeom>
            <a:noFill/>
            <a:ln>
              <a:noFill/>
            </a:ln>
          </p:spPr>
        </p:pic>
        <p:sp>
          <p:nvSpPr>
            <p:cNvPr id="297" name="Google Shape;297;p14"/>
            <p:cNvSpPr txBox="1"/>
            <p:nvPr/>
          </p:nvSpPr>
          <p:spPr>
            <a:xfrm>
              <a:off x="1752600" y="1524000"/>
              <a:ext cx="40267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i="1">
                  <a:solidFill>
                    <a:schemeClr val="dk1"/>
                  </a:solidFill>
                  <a:latin typeface="Gill Sans"/>
                  <a:ea typeface="Gill Sans"/>
                  <a:cs typeface="Gill Sans"/>
                  <a:sym typeface="Gill Sans"/>
                </a:rPr>
                <a:t>V</a:t>
              </a:r>
              <a:r>
                <a:rPr lang="en-US" sz="1800" i="1" baseline="-25000">
                  <a:solidFill>
                    <a:schemeClr val="dk1"/>
                  </a:solidFill>
                  <a:latin typeface="Gill Sans"/>
                  <a:ea typeface="Gill Sans"/>
                  <a:cs typeface="Gill Sans"/>
                  <a:sym typeface="Gill Sans"/>
                </a:rPr>
                <a:t>in</a:t>
              </a:r>
              <a:endParaRPr/>
            </a:p>
          </p:txBody>
        </p:sp>
        <p:sp>
          <p:nvSpPr>
            <p:cNvPr id="298" name="Google Shape;298;p14"/>
            <p:cNvSpPr txBox="1"/>
            <p:nvPr/>
          </p:nvSpPr>
          <p:spPr>
            <a:xfrm>
              <a:off x="452085" y="1527576"/>
              <a:ext cx="46756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i="1">
                  <a:solidFill>
                    <a:schemeClr val="dk1"/>
                  </a:solidFill>
                  <a:latin typeface="Gill Sans"/>
                  <a:ea typeface="Gill Sans"/>
                  <a:cs typeface="Gill Sans"/>
                  <a:sym typeface="Gill Sans"/>
                </a:rPr>
                <a:t>V</a:t>
              </a:r>
              <a:r>
                <a:rPr lang="en-US" sz="1800" i="1" baseline="-25000">
                  <a:solidFill>
                    <a:schemeClr val="dk1"/>
                  </a:solidFill>
                  <a:latin typeface="Gill Sans"/>
                  <a:ea typeface="Gill Sans"/>
                  <a:cs typeface="Gill Sans"/>
                  <a:sym typeface="Gill Sans"/>
                </a:rPr>
                <a:t>out</a:t>
              </a:r>
              <a:endParaRPr sz="1800" i="1" baseline="-25000">
                <a:solidFill>
                  <a:schemeClr val="dk1"/>
                </a:solidFill>
                <a:latin typeface="Gill Sans"/>
                <a:ea typeface="Gill Sans"/>
                <a:cs typeface="Gill Sans"/>
                <a:sym typeface="Gill Sans"/>
              </a:endParaRPr>
            </a:p>
          </p:txBody>
        </p:sp>
      </p:grpSp>
      <p:pic>
        <p:nvPicPr>
          <p:cNvPr id="299" name="Google Shape;299;p14"/>
          <p:cNvPicPr preferRelativeResize="0"/>
          <p:nvPr/>
        </p:nvPicPr>
        <p:blipFill rotWithShape="1">
          <a:blip r:embed="rId5">
            <a:alphaModFix/>
          </a:blip>
          <a:srcRect/>
          <a:stretch/>
        </p:blipFill>
        <p:spPr>
          <a:xfrm>
            <a:off x="2286000" y="1932078"/>
            <a:ext cx="6820482" cy="314055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15"/>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Enable Clock</a:t>
            </a:r>
            <a:endParaRPr/>
          </a:p>
        </p:txBody>
      </p:sp>
      <p:sp>
        <p:nvSpPr>
          <p:cNvPr id="306" name="Google Shape;306;p15"/>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15</a:t>
            </a:fld>
            <a:endParaRPr/>
          </a:p>
        </p:txBody>
      </p:sp>
      <p:sp>
        <p:nvSpPr>
          <p:cNvPr id="307" name="Google Shape;307;p15"/>
          <p:cNvSpPr txBox="1">
            <a:spLocks noGrp="1"/>
          </p:cNvSpPr>
          <p:nvPr>
            <p:ph type="body" idx="1"/>
          </p:nvPr>
        </p:nvSpPr>
        <p:spPr>
          <a:xfrm>
            <a:off x="434546" y="1283355"/>
            <a:ext cx="8229600" cy="105156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1520"/>
              <a:buChar char="🞂"/>
            </a:pPr>
            <a:r>
              <a:rPr lang="en-US" sz="2000"/>
              <a:t>AHB2 peripheral clock enable register (RCC_AHB2ENR)</a:t>
            </a:r>
            <a:endParaRPr/>
          </a:p>
        </p:txBody>
      </p:sp>
      <p:sp>
        <p:nvSpPr>
          <p:cNvPr id="308" name="Google Shape;308;p15"/>
          <p:cNvSpPr/>
          <p:nvPr/>
        </p:nvSpPr>
        <p:spPr>
          <a:xfrm>
            <a:off x="332342" y="5181600"/>
            <a:ext cx="7973458"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C00000"/>
                </a:solidFill>
                <a:latin typeface="Consolas"/>
                <a:ea typeface="Consolas"/>
                <a:cs typeface="Consolas"/>
                <a:sym typeface="Consolas"/>
              </a:rPr>
              <a:t>#define  RCC_AHB2ENR_GPIOBEN  ((uint32_t)0x00000002U)</a:t>
            </a:r>
            <a:endParaRPr/>
          </a:p>
          <a:p>
            <a:pPr marL="0" marR="0" lvl="0" indent="0" algn="l" rtl="0">
              <a:spcBef>
                <a:spcPts val="0"/>
              </a:spcBef>
              <a:spcAft>
                <a:spcPts val="0"/>
              </a:spcAft>
              <a:buNone/>
            </a:pPr>
            <a:endParaRPr sz="1800">
              <a:solidFill>
                <a:srgbClr val="C00000"/>
              </a:solidFill>
              <a:latin typeface="Consolas"/>
              <a:ea typeface="Consolas"/>
              <a:cs typeface="Consolas"/>
              <a:sym typeface="Consolas"/>
            </a:endParaRPr>
          </a:p>
          <a:p>
            <a:pPr marL="0" marR="0" lvl="0" indent="0" algn="l" rtl="0">
              <a:spcBef>
                <a:spcPts val="0"/>
              </a:spcBef>
              <a:spcAft>
                <a:spcPts val="0"/>
              </a:spcAft>
              <a:buNone/>
            </a:pPr>
            <a:r>
              <a:rPr lang="en-US" sz="1800">
                <a:solidFill>
                  <a:srgbClr val="C00000"/>
                </a:solidFill>
                <a:latin typeface="Consolas"/>
                <a:ea typeface="Consolas"/>
                <a:cs typeface="Consolas"/>
                <a:sym typeface="Consolas"/>
              </a:rPr>
              <a:t>RCC-&gt;AHB2ENR |= RCC_AHB2ENR_GPIOBEN;</a:t>
            </a:r>
            <a:endParaRPr/>
          </a:p>
        </p:txBody>
      </p:sp>
      <p:pic>
        <p:nvPicPr>
          <p:cNvPr id="309" name="Google Shape;309;p15"/>
          <p:cNvPicPr preferRelativeResize="0"/>
          <p:nvPr/>
        </p:nvPicPr>
        <p:blipFill rotWithShape="1">
          <a:blip r:embed="rId3">
            <a:alphaModFix/>
          </a:blip>
          <a:srcRect/>
          <a:stretch/>
        </p:blipFill>
        <p:spPr>
          <a:xfrm>
            <a:off x="145676" y="1795749"/>
            <a:ext cx="8991600" cy="1909721"/>
          </a:xfrm>
          <a:prstGeom prst="rect">
            <a:avLst/>
          </a:prstGeom>
          <a:noFill/>
          <a:ln>
            <a:noFill/>
          </a:ln>
        </p:spPr>
      </p:pic>
      <p:grpSp>
        <p:nvGrpSpPr>
          <p:cNvPr id="310" name="Google Shape;310;p15"/>
          <p:cNvGrpSpPr/>
          <p:nvPr/>
        </p:nvGrpSpPr>
        <p:grpSpPr>
          <a:xfrm>
            <a:off x="228601" y="3908562"/>
            <a:ext cx="3124199" cy="934265"/>
            <a:chOff x="152401" y="3979231"/>
            <a:chExt cx="3124199" cy="934265"/>
          </a:xfrm>
        </p:grpSpPr>
        <p:pic>
          <p:nvPicPr>
            <p:cNvPr id="311" name="Google Shape;311;p15"/>
            <p:cNvPicPr preferRelativeResize="0"/>
            <p:nvPr/>
          </p:nvPicPr>
          <p:blipFill rotWithShape="1">
            <a:blip r:embed="rId4">
              <a:alphaModFix/>
            </a:blip>
            <a:srcRect/>
            <a:stretch/>
          </p:blipFill>
          <p:spPr>
            <a:xfrm>
              <a:off x="152401" y="3979231"/>
              <a:ext cx="3124199" cy="916330"/>
            </a:xfrm>
            <a:prstGeom prst="rect">
              <a:avLst/>
            </a:prstGeom>
            <a:noFill/>
            <a:ln>
              <a:noFill/>
            </a:ln>
          </p:spPr>
        </p:pic>
        <p:sp>
          <p:nvSpPr>
            <p:cNvPr id="312" name="Google Shape;312;p15"/>
            <p:cNvSpPr/>
            <p:nvPr/>
          </p:nvSpPr>
          <p:spPr>
            <a:xfrm>
              <a:off x="762000" y="4646258"/>
              <a:ext cx="2057400" cy="267238"/>
            </a:xfrm>
            <a:prstGeom prst="rect">
              <a:avLst/>
            </a:prstGeom>
            <a:noFill/>
            <a:ln w="19050" cap="flat" cmpd="sng">
              <a:solidFill>
                <a:srgbClr val="0000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grpSp>
      <p:sp>
        <p:nvSpPr>
          <p:cNvPr id="313" name="Google Shape;313;p15"/>
          <p:cNvSpPr/>
          <p:nvPr/>
        </p:nvSpPr>
        <p:spPr>
          <a:xfrm>
            <a:off x="7988120" y="2743200"/>
            <a:ext cx="511696" cy="914400"/>
          </a:xfrm>
          <a:prstGeom prst="rect">
            <a:avLst/>
          </a:prstGeom>
          <a:noFill/>
          <a:ln w="38100" cap="flat" cmpd="sng">
            <a:solidFill>
              <a:srgbClr val="0000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grpSp>
        <p:nvGrpSpPr>
          <p:cNvPr id="314" name="Google Shape;314;p15"/>
          <p:cNvGrpSpPr/>
          <p:nvPr/>
        </p:nvGrpSpPr>
        <p:grpSpPr>
          <a:xfrm>
            <a:off x="3436611" y="3865250"/>
            <a:ext cx="5711658" cy="1052502"/>
            <a:chOff x="3436611" y="3865250"/>
            <a:chExt cx="5711658" cy="1052502"/>
          </a:xfrm>
        </p:grpSpPr>
        <p:grpSp>
          <p:nvGrpSpPr>
            <p:cNvPr id="315" name="Google Shape;315;p15"/>
            <p:cNvGrpSpPr/>
            <p:nvPr/>
          </p:nvGrpSpPr>
          <p:grpSpPr>
            <a:xfrm>
              <a:off x="3436611" y="3865250"/>
              <a:ext cx="5711658" cy="1052502"/>
              <a:chOff x="3589011" y="3865250"/>
              <a:chExt cx="5711658" cy="1052502"/>
            </a:xfrm>
          </p:grpSpPr>
          <p:sp>
            <p:nvSpPr>
              <p:cNvPr id="316" name="Google Shape;316;p15"/>
              <p:cNvSpPr/>
              <p:nvPr/>
            </p:nvSpPr>
            <p:spPr>
              <a:xfrm>
                <a:off x="3589011" y="3865250"/>
                <a:ext cx="5631189" cy="1048245"/>
              </a:xfrm>
              <a:prstGeom prst="rect">
                <a:avLst/>
              </a:prstGeom>
              <a:solidFill>
                <a:srgbClr val="C5D8F1"/>
              </a:solidFill>
              <a:ln w="1905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317" name="Google Shape;317;p15"/>
              <p:cNvSpPr txBox="1"/>
              <p:nvPr/>
            </p:nvSpPr>
            <p:spPr>
              <a:xfrm>
                <a:off x="6238753" y="4579198"/>
                <a:ext cx="1418157"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rgbClr val="000000"/>
                    </a:solidFill>
                    <a:latin typeface="Arial"/>
                    <a:ea typeface="Arial"/>
                    <a:cs typeface="Arial"/>
                    <a:sym typeface="Arial"/>
                  </a:rPr>
                  <a:t>AND Gate</a:t>
                </a:r>
                <a:endParaRPr/>
              </a:p>
            </p:txBody>
          </p:sp>
          <p:sp>
            <p:nvSpPr>
              <p:cNvPr id="318" name="Google Shape;318;p15"/>
              <p:cNvSpPr txBox="1"/>
              <p:nvPr/>
            </p:nvSpPr>
            <p:spPr>
              <a:xfrm>
                <a:off x="4748184" y="4267200"/>
                <a:ext cx="1459795"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chemeClr val="dk1"/>
                    </a:solidFill>
                    <a:latin typeface="Arial"/>
                    <a:ea typeface="Arial"/>
                    <a:cs typeface="Arial"/>
                    <a:sym typeface="Arial"/>
                  </a:rPr>
                  <a:t>GPIOEN</a:t>
                </a:r>
                <a:endParaRPr/>
              </a:p>
            </p:txBody>
          </p:sp>
          <p:cxnSp>
            <p:nvCxnSpPr>
              <p:cNvPr id="319" name="Google Shape;319;p15"/>
              <p:cNvCxnSpPr/>
              <p:nvPr/>
            </p:nvCxnSpPr>
            <p:spPr>
              <a:xfrm flipH="1">
                <a:off x="5973277" y="4453648"/>
                <a:ext cx="535983" cy="3856"/>
              </a:xfrm>
              <a:prstGeom prst="straightConnector1">
                <a:avLst/>
              </a:prstGeom>
              <a:noFill/>
              <a:ln w="28575" cap="flat" cmpd="sng">
                <a:solidFill>
                  <a:schemeClr val="dk1"/>
                </a:solidFill>
                <a:prstDash val="solid"/>
                <a:round/>
                <a:headEnd type="none" w="sm" len="sm"/>
                <a:tailEnd type="none" w="sm" len="sm"/>
              </a:ln>
            </p:spPr>
          </p:cxnSp>
          <p:cxnSp>
            <p:nvCxnSpPr>
              <p:cNvPr id="320" name="Google Shape;320;p15"/>
              <p:cNvCxnSpPr/>
              <p:nvPr/>
            </p:nvCxnSpPr>
            <p:spPr>
              <a:xfrm rot="10800000">
                <a:off x="5973277" y="4200728"/>
                <a:ext cx="541011" cy="0"/>
              </a:xfrm>
              <a:prstGeom prst="straightConnector1">
                <a:avLst/>
              </a:prstGeom>
              <a:noFill/>
              <a:ln w="28575" cap="flat" cmpd="sng">
                <a:solidFill>
                  <a:schemeClr val="dk1"/>
                </a:solidFill>
                <a:prstDash val="solid"/>
                <a:round/>
                <a:headEnd type="none" w="sm" len="sm"/>
                <a:tailEnd type="none" w="sm" len="sm"/>
              </a:ln>
            </p:spPr>
          </p:cxnSp>
          <p:sp>
            <p:nvSpPr>
              <p:cNvPr id="321" name="Google Shape;321;p15"/>
              <p:cNvSpPr txBox="1"/>
              <p:nvPr/>
            </p:nvSpPr>
            <p:spPr>
              <a:xfrm>
                <a:off x="7635206" y="4118950"/>
                <a:ext cx="1665463"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chemeClr val="dk1"/>
                    </a:solidFill>
                    <a:latin typeface="Arial"/>
                    <a:ea typeface="Arial"/>
                    <a:cs typeface="Arial"/>
                    <a:sym typeface="Arial"/>
                  </a:rPr>
                  <a:t>Clock for Port B</a:t>
                </a:r>
                <a:endParaRPr/>
              </a:p>
            </p:txBody>
          </p:sp>
          <p:sp>
            <p:nvSpPr>
              <p:cNvPr id="322" name="Google Shape;322;p15"/>
              <p:cNvSpPr txBox="1"/>
              <p:nvPr/>
            </p:nvSpPr>
            <p:spPr>
              <a:xfrm>
                <a:off x="4914840" y="4037141"/>
                <a:ext cx="1123276"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chemeClr val="dk1"/>
                    </a:solidFill>
                    <a:latin typeface="Arial"/>
                    <a:ea typeface="Arial"/>
                    <a:cs typeface="Arial"/>
                    <a:sym typeface="Arial"/>
                  </a:rPr>
                  <a:t>SYSCLK</a:t>
                </a:r>
                <a:endParaRPr/>
              </a:p>
            </p:txBody>
          </p:sp>
          <p:grpSp>
            <p:nvGrpSpPr>
              <p:cNvPr id="323" name="Google Shape;323;p15"/>
              <p:cNvGrpSpPr/>
              <p:nvPr/>
            </p:nvGrpSpPr>
            <p:grpSpPr>
              <a:xfrm>
                <a:off x="6520620" y="3987372"/>
                <a:ext cx="815139" cy="613182"/>
                <a:chOff x="5499530" y="436654"/>
                <a:chExt cx="815139" cy="613182"/>
              </a:xfrm>
            </p:grpSpPr>
            <p:sp>
              <p:nvSpPr>
                <p:cNvPr id="324" name="Google Shape;324;p15"/>
                <p:cNvSpPr/>
                <p:nvPr/>
              </p:nvSpPr>
              <p:spPr>
                <a:xfrm>
                  <a:off x="5705069" y="442843"/>
                  <a:ext cx="609600" cy="594614"/>
                </a:xfrm>
                <a:prstGeom prst="arc">
                  <a:avLst>
                    <a:gd name="adj1" fmla="val 16200000"/>
                    <a:gd name="adj2" fmla="val 5346703"/>
                  </a:avLst>
                </a:prstGeom>
                <a:solidFill>
                  <a:srgbClr val="C5D8F1"/>
                </a:solidFill>
                <a:ln w="285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Gill Sans"/>
                    <a:ea typeface="Gill Sans"/>
                    <a:cs typeface="Gill Sans"/>
                    <a:sym typeface="Gill Sans"/>
                  </a:endParaRPr>
                </a:p>
              </p:txBody>
            </p:sp>
            <p:cxnSp>
              <p:nvCxnSpPr>
                <p:cNvPr id="325" name="Google Shape;325;p15"/>
                <p:cNvCxnSpPr/>
                <p:nvPr/>
              </p:nvCxnSpPr>
              <p:spPr>
                <a:xfrm rot="10800000">
                  <a:off x="5499530" y="442843"/>
                  <a:ext cx="522506" cy="0"/>
                </a:xfrm>
                <a:prstGeom prst="straightConnector1">
                  <a:avLst/>
                </a:prstGeom>
                <a:noFill/>
                <a:ln w="28575" cap="flat" cmpd="sng">
                  <a:solidFill>
                    <a:schemeClr val="dk1"/>
                  </a:solidFill>
                  <a:prstDash val="solid"/>
                  <a:round/>
                  <a:headEnd type="none" w="sm" len="sm"/>
                  <a:tailEnd type="none" w="sm" len="sm"/>
                </a:ln>
              </p:spPr>
            </p:cxnSp>
            <p:cxnSp>
              <p:nvCxnSpPr>
                <p:cNvPr id="326" name="Google Shape;326;p15"/>
                <p:cNvCxnSpPr/>
                <p:nvPr/>
              </p:nvCxnSpPr>
              <p:spPr>
                <a:xfrm>
                  <a:off x="5499530" y="436654"/>
                  <a:ext cx="0" cy="613182"/>
                </a:xfrm>
                <a:prstGeom prst="straightConnector1">
                  <a:avLst/>
                </a:prstGeom>
                <a:noFill/>
                <a:ln w="28575" cap="flat" cmpd="sng">
                  <a:solidFill>
                    <a:schemeClr val="dk1"/>
                  </a:solidFill>
                  <a:prstDash val="solid"/>
                  <a:round/>
                  <a:headEnd type="none" w="sm" len="sm"/>
                  <a:tailEnd type="none" w="sm" len="sm"/>
                </a:ln>
              </p:spPr>
            </p:cxnSp>
            <p:cxnSp>
              <p:nvCxnSpPr>
                <p:cNvPr id="327" name="Google Shape;327;p15"/>
                <p:cNvCxnSpPr/>
                <p:nvPr/>
              </p:nvCxnSpPr>
              <p:spPr>
                <a:xfrm rot="10800000">
                  <a:off x="5499530" y="1037457"/>
                  <a:ext cx="522506" cy="0"/>
                </a:xfrm>
                <a:prstGeom prst="straightConnector1">
                  <a:avLst/>
                </a:prstGeom>
                <a:noFill/>
                <a:ln w="28575" cap="flat" cmpd="sng">
                  <a:solidFill>
                    <a:schemeClr val="dk1"/>
                  </a:solidFill>
                  <a:prstDash val="solid"/>
                  <a:round/>
                  <a:headEnd type="none" w="sm" len="sm"/>
                  <a:tailEnd type="none" w="sm" len="sm"/>
                </a:ln>
              </p:spPr>
            </p:cxnSp>
          </p:grpSp>
          <p:cxnSp>
            <p:nvCxnSpPr>
              <p:cNvPr id="328" name="Google Shape;328;p15"/>
              <p:cNvCxnSpPr/>
              <p:nvPr/>
            </p:nvCxnSpPr>
            <p:spPr>
              <a:xfrm rot="10800000">
                <a:off x="7335760" y="4290868"/>
                <a:ext cx="360440" cy="0"/>
              </a:xfrm>
              <a:prstGeom prst="straightConnector1">
                <a:avLst/>
              </a:prstGeom>
              <a:noFill/>
              <a:ln w="28575" cap="flat" cmpd="sng">
                <a:solidFill>
                  <a:schemeClr val="dk1"/>
                </a:solidFill>
                <a:prstDash val="solid"/>
                <a:round/>
                <a:headEnd type="none" w="sm" len="sm"/>
                <a:tailEnd type="none" w="sm" len="sm"/>
              </a:ln>
            </p:spPr>
          </p:cxnSp>
        </p:grpSp>
        <p:grpSp>
          <p:nvGrpSpPr>
            <p:cNvPr id="329" name="Google Shape;329;p15"/>
            <p:cNvGrpSpPr/>
            <p:nvPr/>
          </p:nvGrpSpPr>
          <p:grpSpPr>
            <a:xfrm>
              <a:off x="3575755" y="3987372"/>
              <a:ext cx="1230522" cy="281148"/>
              <a:chOff x="5933953" y="6103464"/>
              <a:chExt cx="1480765" cy="376673"/>
            </a:xfrm>
          </p:grpSpPr>
          <p:cxnSp>
            <p:nvCxnSpPr>
              <p:cNvPr id="330" name="Google Shape;330;p15"/>
              <p:cNvCxnSpPr/>
              <p:nvPr/>
            </p:nvCxnSpPr>
            <p:spPr>
              <a:xfrm>
                <a:off x="6822229" y="6108067"/>
                <a:ext cx="0" cy="372070"/>
              </a:xfrm>
              <a:prstGeom prst="straightConnector1">
                <a:avLst/>
              </a:prstGeom>
              <a:noFill/>
              <a:ln w="19050" cap="flat" cmpd="sng">
                <a:solidFill>
                  <a:srgbClr val="C00000"/>
                </a:solidFill>
                <a:prstDash val="solid"/>
                <a:round/>
                <a:headEnd type="none" w="sm" len="sm"/>
                <a:tailEnd type="none" w="sm" len="sm"/>
              </a:ln>
            </p:spPr>
          </p:cxnSp>
          <p:cxnSp>
            <p:nvCxnSpPr>
              <p:cNvPr id="331" name="Google Shape;331;p15"/>
              <p:cNvCxnSpPr/>
              <p:nvPr/>
            </p:nvCxnSpPr>
            <p:spPr>
              <a:xfrm>
                <a:off x="5933953" y="6476405"/>
                <a:ext cx="304800" cy="0"/>
              </a:xfrm>
              <a:prstGeom prst="straightConnector1">
                <a:avLst/>
              </a:prstGeom>
              <a:noFill/>
              <a:ln w="19050" cap="flat" cmpd="sng">
                <a:solidFill>
                  <a:srgbClr val="C00000"/>
                </a:solidFill>
                <a:prstDash val="solid"/>
                <a:round/>
                <a:headEnd type="none" w="sm" len="sm"/>
                <a:tailEnd type="none" w="sm" len="sm"/>
              </a:ln>
            </p:spPr>
          </p:cxnSp>
          <p:cxnSp>
            <p:nvCxnSpPr>
              <p:cNvPr id="332" name="Google Shape;332;p15"/>
              <p:cNvCxnSpPr/>
              <p:nvPr/>
            </p:nvCxnSpPr>
            <p:spPr>
              <a:xfrm>
                <a:off x="6230899" y="6104335"/>
                <a:ext cx="0" cy="372070"/>
              </a:xfrm>
              <a:prstGeom prst="straightConnector1">
                <a:avLst/>
              </a:prstGeom>
              <a:noFill/>
              <a:ln w="19050" cap="flat" cmpd="sng">
                <a:solidFill>
                  <a:srgbClr val="C00000"/>
                </a:solidFill>
                <a:prstDash val="solid"/>
                <a:round/>
                <a:headEnd type="none" w="sm" len="sm"/>
                <a:tailEnd type="none" w="sm" len="sm"/>
              </a:ln>
            </p:spPr>
          </p:cxnSp>
          <p:cxnSp>
            <p:nvCxnSpPr>
              <p:cNvPr id="333" name="Google Shape;333;p15"/>
              <p:cNvCxnSpPr/>
              <p:nvPr/>
            </p:nvCxnSpPr>
            <p:spPr>
              <a:xfrm>
                <a:off x="6226008" y="6108067"/>
                <a:ext cx="304800" cy="0"/>
              </a:xfrm>
              <a:prstGeom prst="straightConnector1">
                <a:avLst/>
              </a:prstGeom>
              <a:noFill/>
              <a:ln w="19050" cap="flat" cmpd="sng">
                <a:solidFill>
                  <a:srgbClr val="C00000"/>
                </a:solidFill>
                <a:prstDash val="solid"/>
                <a:round/>
                <a:headEnd type="none" w="sm" len="sm"/>
                <a:tailEnd type="none" w="sm" len="sm"/>
              </a:ln>
            </p:spPr>
          </p:cxnSp>
          <p:cxnSp>
            <p:nvCxnSpPr>
              <p:cNvPr id="334" name="Google Shape;334;p15"/>
              <p:cNvCxnSpPr/>
              <p:nvPr/>
            </p:nvCxnSpPr>
            <p:spPr>
              <a:xfrm>
                <a:off x="6527076" y="6104335"/>
                <a:ext cx="0" cy="372070"/>
              </a:xfrm>
              <a:prstGeom prst="straightConnector1">
                <a:avLst/>
              </a:prstGeom>
              <a:noFill/>
              <a:ln w="19050" cap="flat" cmpd="sng">
                <a:solidFill>
                  <a:srgbClr val="C00000"/>
                </a:solidFill>
                <a:prstDash val="solid"/>
                <a:round/>
                <a:headEnd type="none" w="sm" len="sm"/>
                <a:tailEnd type="none" w="sm" len="sm"/>
              </a:ln>
            </p:spPr>
          </p:cxnSp>
          <p:cxnSp>
            <p:nvCxnSpPr>
              <p:cNvPr id="335" name="Google Shape;335;p15"/>
              <p:cNvCxnSpPr/>
              <p:nvPr/>
            </p:nvCxnSpPr>
            <p:spPr>
              <a:xfrm>
                <a:off x="6521161" y="6475810"/>
                <a:ext cx="304800" cy="0"/>
              </a:xfrm>
              <a:prstGeom prst="straightConnector1">
                <a:avLst/>
              </a:prstGeom>
              <a:noFill/>
              <a:ln w="19050" cap="flat" cmpd="sng">
                <a:solidFill>
                  <a:srgbClr val="C00000"/>
                </a:solidFill>
                <a:prstDash val="solid"/>
                <a:round/>
                <a:headEnd type="none" w="sm" len="sm"/>
                <a:tailEnd type="none" w="sm" len="sm"/>
              </a:ln>
            </p:spPr>
          </p:cxnSp>
          <p:cxnSp>
            <p:nvCxnSpPr>
              <p:cNvPr id="336" name="Google Shape;336;p15"/>
              <p:cNvCxnSpPr/>
              <p:nvPr/>
            </p:nvCxnSpPr>
            <p:spPr>
              <a:xfrm>
                <a:off x="6814765" y="6107196"/>
                <a:ext cx="304800" cy="0"/>
              </a:xfrm>
              <a:prstGeom prst="straightConnector1">
                <a:avLst/>
              </a:prstGeom>
              <a:noFill/>
              <a:ln w="19050" cap="flat" cmpd="sng">
                <a:solidFill>
                  <a:srgbClr val="C00000"/>
                </a:solidFill>
                <a:prstDash val="solid"/>
                <a:round/>
                <a:headEnd type="none" w="sm" len="sm"/>
                <a:tailEnd type="none" w="sm" len="sm"/>
              </a:ln>
            </p:spPr>
          </p:cxnSp>
          <p:cxnSp>
            <p:nvCxnSpPr>
              <p:cNvPr id="337" name="Google Shape;337;p15"/>
              <p:cNvCxnSpPr/>
              <p:nvPr/>
            </p:nvCxnSpPr>
            <p:spPr>
              <a:xfrm>
                <a:off x="7115833" y="6103464"/>
                <a:ext cx="0" cy="372070"/>
              </a:xfrm>
              <a:prstGeom prst="straightConnector1">
                <a:avLst/>
              </a:prstGeom>
              <a:noFill/>
              <a:ln w="19050" cap="flat" cmpd="sng">
                <a:solidFill>
                  <a:srgbClr val="C00000"/>
                </a:solidFill>
                <a:prstDash val="solid"/>
                <a:round/>
                <a:headEnd type="none" w="sm" len="sm"/>
                <a:tailEnd type="none" w="sm" len="sm"/>
              </a:ln>
            </p:spPr>
          </p:cxnSp>
          <p:cxnSp>
            <p:nvCxnSpPr>
              <p:cNvPr id="338" name="Google Shape;338;p15"/>
              <p:cNvCxnSpPr/>
              <p:nvPr/>
            </p:nvCxnSpPr>
            <p:spPr>
              <a:xfrm>
                <a:off x="7109918" y="6474939"/>
                <a:ext cx="304800" cy="0"/>
              </a:xfrm>
              <a:prstGeom prst="straightConnector1">
                <a:avLst/>
              </a:prstGeom>
              <a:noFill/>
              <a:ln w="19050" cap="flat" cmpd="sng">
                <a:solidFill>
                  <a:srgbClr val="C00000"/>
                </a:solidFill>
                <a:prstDash val="solid"/>
                <a:round/>
                <a:headEnd type="none" w="sm" len="sm"/>
                <a:tailEnd type="none" w="sm" len="sm"/>
              </a:ln>
            </p:spPr>
          </p:cxnSp>
        </p:grpSp>
        <p:grpSp>
          <p:nvGrpSpPr>
            <p:cNvPr id="339" name="Google Shape;339;p15"/>
            <p:cNvGrpSpPr/>
            <p:nvPr/>
          </p:nvGrpSpPr>
          <p:grpSpPr>
            <a:xfrm>
              <a:off x="7625254" y="3896567"/>
              <a:ext cx="1230522" cy="281148"/>
              <a:chOff x="5933953" y="6103464"/>
              <a:chExt cx="1480765" cy="376673"/>
            </a:xfrm>
          </p:grpSpPr>
          <p:cxnSp>
            <p:nvCxnSpPr>
              <p:cNvPr id="340" name="Google Shape;340;p15"/>
              <p:cNvCxnSpPr/>
              <p:nvPr/>
            </p:nvCxnSpPr>
            <p:spPr>
              <a:xfrm>
                <a:off x="6822229" y="6108067"/>
                <a:ext cx="0" cy="372070"/>
              </a:xfrm>
              <a:prstGeom prst="straightConnector1">
                <a:avLst/>
              </a:prstGeom>
              <a:noFill/>
              <a:ln w="19050" cap="flat" cmpd="sng">
                <a:solidFill>
                  <a:srgbClr val="C00000"/>
                </a:solidFill>
                <a:prstDash val="solid"/>
                <a:round/>
                <a:headEnd type="none" w="sm" len="sm"/>
                <a:tailEnd type="none" w="sm" len="sm"/>
              </a:ln>
            </p:spPr>
          </p:cxnSp>
          <p:cxnSp>
            <p:nvCxnSpPr>
              <p:cNvPr id="341" name="Google Shape;341;p15"/>
              <p:cNvCxnSpPr/>
              <p:nvPr/>
            </p:nvCxnSpPr>
            <p:spPr>
              <a:xfrm>
                <a:off x="5933953" y="6476405"/>
                <a:ext cx="304800" cy="0"/>
              </a:xfrm>
              <a:prstGeom prst="straightConnector1">
                <a:avLst/>
              </a:prstGeom>
              <a:noFill/>
              <a:ln w="19050" cap="flat" cmpd="sng">
                <a:solidFill>
                  <a:srgbClr val="C00000"/>
                </a:solidFill>
                <a:prstDash val="solid"/>
                <a:round/>
                <a:headEnd type="none" w="sm" len="sm"/>
                <a:tailEnd type="none" w="sm" len="sm"/>
              </a:ln>
            </p:spPr>
          </p:cxnSp>
          <p:cxnSp>
            <p:nvCxnSpPr>
              <p:cNvPr id="342" name="Google Shape;342;p15"/>
              <p:cNvCxnSpPr/>
              <p:nvPr/>
            </p:nvCxnSpPr>
            <p:spPr>
              <a:xfrm>
                <a:off x="6230899" y="6104335"/>
                <a:ext cx="0" cy="372070"/>
              </a:xfrm>
              <a:prstGeom prst="straightConnector1">
                <a:avLst/>
              </a:prstGeom>
              <a:noFill/>
              <a:ln w="19050" cap="flat" cmpd="sng">
                <a:solidFill>
                  <a:srgbClr val="C00000"/>
                </a:solidFill>
                <a:prstDash val="solid"/>
                <a:round/>
                <a:headEnd type="none" w="sm" len="sm"/>
                <a:tailEnd type="none" w="sm" len="sm"/>
              </a:ln>
            </p:spPr>
          </p:cxnSp>
          <p:cxnSp>
            <p:nvCxnSpPr>
              <p:cNvPr id="343" name="Google Shape;343;p15"/>
              <p:cNvCxnSpPr/>
              <p:nvPr/>
            </p:nvCxnSpPr>
            <p:spPr>
              <a:xfrm>
                <a:off x="6226008" y="6108067"/>
                <a:ext cx="304800" cy="0"/>
              </a:xfrm>
              <a:prstGeom prst="straightConnector1">
                <a:avLst/>
              </a:prstGeom>
              <a:noFill/>
              <a:ln w="19050" cap="flat" cmpd="sng">
                <a:solidFill>
                  <a:srgbClr val="C00000"/>
                </a:solidFill>
                <a:prstDash val="solid"/>
                <a:round/>
                <a:headEnd type="none" w="sm" len="sm"/>
                <a:tailEnd type="none" w="sm" len="sm"/>
              </a:ln>
            </p:spPr>
          </p:cxnSp>
          <p:cxnSp>
            <p:nvCxnSpPr>
              <p:cNvPr id="344" name="Google Shape;344;p15"/>
              <p:cNvCxnSpPr/>
              <p:nvPr/>
            </p:nvCxnSpPr>
            <p:spPr>
              <a:xfrm>
                <a:off x="6527076" y="6104335"/>
                <a:ext cx="0" cy="372070"/>
              </a:xfrm>
              <a:prstGeom prst="straightConnector1">
                <a:avLst/>
              </a:prstGeom>
              <a:noFill/>
              <a:ln w="19050" cap="flat" cmpd="sng">
                <a:solidFill>
                  <a:srgbClr val="C00000"/>
                </a:solidFill>
                <a:prstDash val="solid"/>
                <a:round/>
                <a:headEnd type="none" w="sm" len="sm"/>
                <a:tailEnd type="none" w="sm" len="sm"/>
              </a:ln>
            </p:spPr>
          </p:cxnSp>
          <p:cxnSp>
            <p:nvCxnSpPr>
              <p:cNvPr id="345" name="Google Shape;345;p15"/>
              <p:cNvCxnSpPr/>
              <p:nvPr/>
            </p:nvCxnSpPr>
            <p:spPr>
              <a:xfrm>
                <a:off x="6521161" y="6475810"/>
                <a:ext cx="304800" cy="0"/>
              </a:xfrm>
              <a:prstGeom prst="straightConnector1">
                <a:avLst/>
              </a:prstGeom>
              <a:noFill/>
              <a:ln w="19050" cap="flat" cmpd="sng">
                <a:solidFill>
                  <a:srgbClr val="C00000"/>
                </a:solidFill>
                <a:prstDash val="solid"/>
                <a:round/>
                <a:headEnd type="none" w="sm" len="sm"/>
                <a:tailEnd type="none" w="sm" len="sm"/>
              </a:ln>
            </p:spPr>
          </p:cxnSp>
          <p:cxnSp>
            <p:nvCxnSpPr>
              <p:cNvPr id="346" name="Google Shape;346;p15"/>
              <p:cNvCxnSpPr/>
              <p:nvPr/>
            </p:nvCxnSpPr>
            <p:spPr>
              <a:xfrm>
                <a:off x="6814765" y="6107196"/>
                <a:ext cx="304800" cy="0"/>
              </a:xfrm>
              <a:prstGeom prst="straightConnector1">
                <a:avLst/>
              </a:prstGeom>
              <a:noFill/>
              <a:ln w="19050" cap="flat" cmpd="sng">
                <a:solidFill>
                  <a:srgbClr val="C00000"/>
                </a:solidFill>
                <a:prstDash val="solid"/>
                <a:round/>
                <a:headEnd type="none" w="sm" len="sm"/>
                <a:tailEnd type="none" w="sm" len="sm"/>
              </a:ln>
            </p:spPr>
          </p:cxnSp>
          <p:cxnSp>
            <p:nvCxnSpPr>
              <p:cNvPr id="347" name="Google Shape;347;p15"/>
              <p:cNvCxnSpPr/>
              <p:nvPr/>
            </p:nvCxnSpPr>
            <p:spPr>
              <a:xfrm>
                <a:off x="7115833" y="6103464"/>
                <a:ext cx="0" cy="372070"/>
              </a:xfrm>
              <a:prstGeom prst="straightConnector1">
                <a:avLst/>
              </a:prstGeom>
              <a:noFill/>
              <a:ln w="19050" cap="flat" cmpd="sng">
                <a:solidFill>
                  <a:srgbClr val="C00000"/>
                </a:solidFill>
                <a:prstDash val="solid"/>
                <a:round/>
                <a:headEnd type="none" w="sm" len="sm"/>
                <a:tailEnd type="none" w="sm" len="sm"/>
              </a:ln>
            </p:spPr>
          </p:cxnSp>
          <p:cxnSp>
            <p:nvCxnSpPr>
              <p:cNvPr id="348" name="Google Shape;348;p15"/>
              <p:cNvCxnSpPr/>
              <p:nvPr/>
            </p:nvCxnSpPr>
            <p:spPr>
              <a:xfrm>
                <a:off x="7109918" y="6474939"/>
                <a:ext cx="304800" cy="0"/>
              </a:xfrm>
              <a:prstGeom prst="straightConnector1">
                <a:avLst/>
              </a:prstGeom>
              <a:noFill/>
              <a:ln w="19050" cap="flat" cmpd="sng">
                <a:solidFill>
                  <a:srgbClr val="C00000"/>
                </a:solidFill>
                <a:prstDash val="solid"/>
                <a:round/>
                <a:headEnd type="none" w="sm" len="sm"/>
                <a:tailEnd type="none" w="sm" len="sm"/>
              </a:ln>
            </p:spPr>
          </p:cxnSp>
        </p:grpSp>
        <p:sp>
          <p:nvSpPr>
            <p:cNvPr id="349" name="Google Shape;349;p15"/>
            <p:cNvSpPr txBox="1"/>
            <p:nvPr/>
          </p:nvSpPr>
          <p:spPr>
            <a:xfrm>
              <a:off x="4509238" y="4267200"/>
              <a:ext cx="31130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C00000"/>
                  </a:solidFill>
                  <a:latin typeface="Consolas"/>
                  <a:ea typeface="Consolas"/>
                  <a:cs typeface="Consolas"/>
                  <a:sym typeface="Consolas"/>
                </a:rPr>
                <a:t>1</a:t>
              </a: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16"/>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fontScale="90000"/>
          </a:bodyPr>
          <a:lstStyle/>
          <a:p>
            <a:pPr marL="0" lvl="0" indent="0" algn="l" rtl="0">
              <a:spcBef>
                <a:spcPts val="0"/>
              </a:spcBef>
              <a:spcAft>
                <a:spcPts val="0"/>
              </a:spcAft>
              <a:buClr>
                <a:schemeClr val="dk2"/>
              </a:buClr>
              <a:buSzPct val="100000"/>
              <a:buFont typeface="Bookman Old Style"/>
              <a:buNone/>
            </a:pPr>
            <a:r>
              <a:rPr lang="en-US"/>
              <a:t>GPIO Pull-up/Pull-down Register (</a:t>
            </a:r>
            <a:r>
              <a:rPr lang="en-US">
                <a:solidFill>
                  <a:srgbClr val="C00000"/>
                </a:solidFill>
              </a:rPr>
              <a:t>PUPDR</a:t>
            </a:r>
            <a:r>
              <a:rPr lang="en-US"/>
              <a:t>)</a:t>
            </a:r>
            <a:endParaRPr/>
          </a:p>
        </p:txBody>
      </p:sp>
      <p:sp>
        <p:nvSpPr>
          <p:cNvPr id="356" name="Google Shape;356;p16"/>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16</a:t>
            </a:fld>
            <a:endParaRPr/>
          </a:p>
        </p:txBody>
      </p:sp>
      <p:sp>
        <p:nvSpPr>
          <p:cNvPr id="357" name="Google Shape;357;p16"/>
          <p:cNvSpPr txBox="1">
            <a:spLocks noGrp="1"/>
          </p:cNvSpPr>
          <p:nvPr>
            <p:ph type="body" idx="1"/>
          </p:nvPr>
        </p:nvSpPr>
        <p:spPr>
          <a:xfrm>
            <a:off x="457200" y="1219200"/>
            <a:ext cx="8229600" cy="451013"/>
          </a:xfrm>
          <a:prstGeom prst="rect">
            <a:avLst/>
          </a:prstGeom>
          <a:noFill/>
          <a:ln>
            <a:noFill/>
          </a:ln>
        </p:spPr>
        <p:txBody>
          <a:bodyPr spcFirstLastPara="1" wrap="square" lIns="91425" tIns="45700" rIns="91425" bIns="45700" anchor="t" anchorCtr="0">
            <a:normAutofit lnSpcReduction="10000"/>
          </a:bodyPr>
          <a:lstStyle/>
          <a:p>
            <a:pPr marL="274320" lvl="0" indent="-274320" algn="l" rtl="0">
              <a:spcBef>
                <a:spcPts val="0"/>
              </a:spcBef>
              <a:spcAft>
                <a:spcPts val="0"/>
              </a:spcAft>
              <a:buSzPts val="1824"/>
              <a:buChar char="🞂"/>
            </a:pPr>
            <a:r>
              <a:rPr lang="en-US" sz="2400">
                <a:latin typeface="Arial"/>
                <a:ea typeface="Arial"/>
                <a:cs typeface="Arial"/>
                <a:sym typeface="Arial"/>
              </a:rPr>
              <a:t>16 pins per port, 2 bits per pin</a:t>
            </a:r>
            <a:endParaRPr/>
          </a:p>
        </p:txBody>
      </p:sp>
      <p:pic>
        <p:nvPicPr>
          <p:cNvPr id="358" name="Google Shape;358;p16"/>
          <p:cNvPicPr preferRelativeResize="0"/>
          <p:nvPr/>
        </p:nvPicPr>
        <p:blipFill rotWithShape="1">
          <a:blip r:embed="rId3">
            <a:alphaModFix/>
          </a:blip>
          <a:srcRect/>
          <a:stretch/>
        </p:blipFill>
        <p:spPr>
          <a:xfrm>
            <a:off x="43833" y="1752600"/>
            <a:ext cx="9067800" cy="1517813"/>
          </a:xfrm>
          <a:prstGeom prst="rect">
            <a:avLst/>
          </a:prstGeom>
          <a:noFill/>
          <a:ln>
            <a:noFill/>
          </a:ln>
        </p:spPr>
      </p:pic>
      <p:pic>
        <p:nvPicPr>
          <p:cNvPr id="359" name="Google Shape;359;p16"/>
          <p:cNvPicPr preferRelativeResize="0"/>
          <p:nvPr/>
        </p:nvPicPr>
        <p:blipFill rotWithShape="1">
          <a:blip r:embed="rId4">
            <a:alphaModFix/>
          </a:blip>
          <a:srcRect/>
          <a:stretch/>
        </p:blipFill>
        <p:spPr>
          <a:xfrm>
            <a:off x="47258" y="3352800"/>
            <a:ext cx="6277342" cy="1264892"/>
          </a:xfrm>
          <a:prstGeom prst="rect">
            <a:avLst/>
          </a:prstGeom>
          <a:noFill/>
          <a:ln>
            <a:noFill/>
          </a:ln>
        </p:spPr>
      </p:pic>
      <p:pic>
        <p:nvPicPr>
          <p:cNvPr id="360" name="Google Shape;360;p16"/>
          <p:cNvPicPr preferRelativeResize="0"/>
          <p:nvPr/>
        </p:nvPicPr>
        <p:blipFill rotWithShape="1">
          <a:blip r:embed="rId5">
            <a:alphaModFix/>
          </a:blip>
          <a:srcRect/>
          <a:stretch/>
        </p:blipFill>
        <p:spPr>
          <a:xfrm>
            <a:off x="3429000" y="3816359"/>
            <a:ext cx="2895600" cy="3068809"/>
          </a:xfrm>
          <a:prstGeom prst="rect">
            <a:avLst/>
          </a:prstGeom>
          <a:noFill/>
          <a:ln>
            <a:noFill/>
          </a:ln>
        </p:spPr>
      </p:pic>
      <p:pic>
        <p:nvPicPr>
          <p:cNvPr id="361" name="Google Shape;361;p16"/>
          <p:cNvPicPr preferRelativeResize="0"/>
          <p:nvPr/>
        </p:nvPicPr>
        <p:blipFill rotWithShape="1">
          <a:blip r:embed="rId6">
            <a:alphaModFix/>
          </a:blip>
          <a:srcRect/>
          <a:stretch/>
        </p:blipFill>
        <p:spPr>
          <a:xfrm>
            <a:off x="6324600" y="3822636"/>
            <a:ext cx="2895600" cy="2954997"/>
          </a:xfrm>
          <a:prstGeom prst="rect">
            <a:avLst/>
          </a:prstGeom>
          <a:noFill/>
          <a:ln>
            <a:noFill/>
          </a:ln>
        </p:spPr>
      </p:pic>
      <p:sp>
        <p:nvSpPr>
          <p:cNvPr id="362" name="Google Shape;362;p16"/>
          <p:cNvSpPr txBox="1"/>
          <p:nvPr/>
        </p:nvSpPr>
        <p:spPr>
          <a:xfrm>
            <a:off x="7010400" y="6325380"/>
            <a:ext cx="87395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Pull-Up</a:t>
            </a:r>
            <a:endParaRPr/>
          </a:p>
        </p:txBody>
      </p:sp>
      <p:sp>
        <p:nvSpPr>
          <p:cNvPr id="363" name="Google Shape;363;p16"/>
          <p:cNvSpPr txBox="1"/>
          <p:nvPr/>
        </p:nvSpPr>
        <p:spPr>
          <a:xfrm>
            <a:off x="3927125" y="6368645"/>
            <a:ext cx="117468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Pull-Down</a:t>
            </a:r>
            <a:endParaRPr/>
          </a:p>
        </p:txBody>
      </p:sp>
      <p:sp>
        <p:nvSpPr>
          <p:cNvPr id="364" name="Google Shape;364;p16"/>
          <p:cNvSpPr/>
          <p:nvPr/>
        </p:nvSpPr>
        <p:spPr>
          <a:xfrm>
            <a:off x="196233" y="5021366"/>
            <a:ext cx="3385167"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7F7F7F"/>
                </a:solidFill>
                <a:latin typeface="Consolas"/>
                <a:ea typeface="Consolas"/>
                <a:cs typeface="Consolas"/>
                <a:sym typeface="Consolas"/>
              </a:rPr>
              <a:t>// No pull-up, pull-down </a:t>
            </a:r>
            <a:endParaRPr/>
          </a:p>
          <a:p>
            <a:pPr marL="0" marR="0" lvl="0" indent="0" algn="l" rtl="0">
              <a:spcBef>
                <a:spcPts val="0"/>
              </a:spcBef>
              <a:spcAft>
                <a:spcPts val="0"/>
              </a:spcAft>
              <a:buNone/>
            </a:pPr>
            <a:r>
              <a:rPr lang="en-US" sz="1800">
                <a:solidFill>
                  <a:srgbClr val="C00000"/>
                </a:solidFill>
                <a:latin typeface="Consolas"/>
                <a:ea typeface="Consolas"/>
                <a:cs typeface="Consolas"/>
                <a:sym typeface="Consolas"/>
              </a:rPr>
              <a:t>GPIOA-&gt;PUPDR &amp;= ~3UL; </a:t>
            </a:r>
            <a:endParaRPr sz="1800">
              <a:solidFill>
                <a:srgbClr val="7F7F7F"/>
              </a:solidFill>
              <a:latin typeface="Consolas"/>
              <a:ea typeface="Consolas"/>
              <a:cs typeface="Consolas"/>
              <a:sym typeface="Consolas"/>
            </a:endParaRPr>
          </a:p>
        </p:txBody>
      </p:sp>
      <p:sp>
        <p:nvSpPr>
          <p:cNvPr id="365" name="Google Shape;365;p16"/>
          <p:cNvSpPr/>
          <p:nvPr/>
        </p:nvSpPr>
        <p:spPr>
          <a:xfrm>
            <a:off x="7884356" y="2482970"/>
            <a:ext cx="1183443" cy="760616"/>
          </a:xfrm>
          <a:prstGeom prst="rect">
            <a:avLst/>
          </a:prstGeom>
          <a:noFill/>
          <a:ln w="28575" cap="flat" cmpd="sng">
            <a:solidFill>
              <a:srgbClr val="0000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366" name="Google Shape;366;p16"/>
          <p:cNvSpPr txBox="1"/>
          <p:nvPr/>
        </p:nvSpPr>
        <p:spPr>
          <a:xfrm>
            <a:off x="5814149" y="3228019"/>
            <a:ext cx="71045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Pin 2</a:t>
            </a:r>
            <a:endParaRPr/>
          </a:p>
        </p:txBody>
      </p:sp>
      <p:sp>
        <p:nvSpPr>
          <p:cNvPr id="367" name="Google Shape;367;p16"/>
          <p:cNvSpPr txBox="1"/>
          <p:nvPr/>
        </p:nvSpPr>
        <p:spPr>
          <a:xfrm>
            <a:off x="8120851" y="3251624"/>
            <a:ext cx="71045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0000FF"/>
                </a:solidFill>
                <a:latin typeface="Arial"/>
                <a:ea typeface="Arial"/>
                <a:cs typeface="Arial"/>
                <a:sym typeface="Arial"/>
              </a:rPr>
              <a:t>Pin 0</a:t>
            </a:r>
            <a:endParaRPr/>
          </a:p>
        </p:txBody>
      </p:sp>
      <p:sp>
        <p:nvSpPr>
          <p:cNvPr id="368" name="Google Shape;368;p16"/>
          <p:cNvSpPr txBox="1"/>
          <p:nvPr/>
        </p:nvSpPr>
        <p:spPr>
          <a:xfrm>
            <a:off x="7010400" y="3231222"/>
            <a:ext cx="71045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Pin 1</a:t>
            </a:r>
            <a:endParaRPr/>
          </a:p>
        </p:txBody>
      </p:sp>
      <p:sp>
        <p:nvSpPr>
          <p:cNvPr id="369" name="Google Shape;369;p16"/>
          <p:cNvSpPr/>
          <p:nvPr/>
        </p:nvSpPr>
        <p:spPr>
          <a:xfrm>
            <a:off x="1083925" y="3816358"/>
            <a:ext cx="1922979" cy="222242"/>
          </a:xfrm>
          <a:prstGeom prst="rect">
            <a:avLst/>
          </a:prstGeom>
          <a:noFill/>
          <a:ln w="19050" cap="flat" cmpd="sng">
            <a:solidFill>
              <a:srgbClr val="0000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17"/>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GPIO Input Data Register (</a:t>
            </a:r>
            <a:r>
              <a:rPr lang="en-US">
                <a:solidFill>
                  <a:srgbClr val="C00000"/>
                </a:solidFill>
              </a:rPr>
              <a:t>IDR</a:t>
            </a:r>
            <a:r>
              <a:rPr lang="en-US"/>
              <a:t>)</a:t>
            </a:r>
            <a:endParaRPr/>
          </a:p>
        </p:txBody>
      </p:sp>
      <p:sp>
        <p:nvSpPr>
          <p:cNvPr id="376" name="Google Shape;376;p17"/>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17</a:t>
            </a:fld>
            <a:endParaRPr/>
          </a:p>
        </p:txBody>
      </p:sp>
      <p:sp>
        <p:nvSpPr>
          <p:cNvPr id="377" name="Google Shape;377;p17"/>
          <p:cNvSpPr txBox="1"/>
          <p:nvPr/>
        </p:nvSpPr>
        <p:spPr>
          <a:xfrm>
            <a:off x="457200" y="1219200"/>
            <a:ext cx="8229600" cy="451013"/>
          </a:xfrm>
          <a:prstGeom prst="rect">
            <a:avLst/>
          </a:prstGeom>
          <a:noFill/>
          <a:ln>
            <a:noFill/>
          </a:ln>
        </p:spPr>
        <p:txBody>
          <a:bodyPr spcFirstLastPara="1" wrap="square" lIns="91425" tIns="45700" rIns="91425" bIns="45700" anchor="t" anchorCtr="0">
            <a:normAutofit lnSpcReduction="10000"/>
          </a:bodyPr>
          <a:lstStyle/>
          <a:p>
            <a:pPr marL="274320" marR="0" lvl="0" indent="-274320" algn="l" rtl="0">
              <a:spcBef>
                <a:spcPts val="0"/>
              </a:spcBef>
              <a:spcAft>
                <a:spcPts val="0"/>
              </a:spcAft>
              <a:buClr>
                <a:schemeClr val="accent1"/>
              </a:buClr>
              <a:buSzPts val="1824"/>
              <a:buFont typeface="Noto Sans Symbols"/>
              <a:buChar char="🞂"/>
            </a:pPr>
            <a:r>
              <a:rPr lang="en-US" sz="2400">
                <a:solidFill>
                  <a:schemeClr val="dk1"/>
                </a:solidFill>
                <a:latin typeface="Arial"/>
                <a:ea typeface="Arial"/>
                <a:cs typeface="Arial"/>
                <a:sym typeface="Arial"/>
              </a:rPr>
              <a:t>16 bits reserved, 16 data bits (1 bit per pin)</a:t>
            </a:r>
            <a:endParaRPr/>
          </a:p>
        </p:txBody>
      </p:sp>
      <p:pic>
        <p:nvPicPr>
          <p:cNvPr id="378" name="Google Shape;378;p17"/>
          <p:cNvPicPr preferRelativeResize="0"/>
          <p:nvPr/>
        </p:nvPicPr>
        <p:blipFill rotWithShape="1">
          <a:blip r:embed="rId3">
            <a:alphaModFix/>
          </a:blip>
          <a:srcRect/>
          <a:stretch/>
        </p:blipFill>
        <p:spPr>
          <a:xfrm>
            <a:off x="86064" y="1753494"/>
            <a:ext cx="9067801" cy="1498530"/>
          </a:xfrm>
          <a:prstGeom prst="rect">
            <a:avLst/>
          </a:prstGeom>
          <a:noFill/>
          <a:ln>
            <a:noFill/>
          </a:ln>
        </p:spPr>
      </p:pic>
      <p:sp>
        <p:nvSpPr>
          <p:cNvPr id="379" name="Google Shape;379;p17"/>
          <p:cNvSpPr/>
          <p:nvPr/>
        </p:nvSpPr>
        <p:spPr>
          <a:xfrm>
            <a:off x="612648" y="3881568"/>
            <a:ext cx="7086600" cy="23083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C00000"/>
                </a:solidFill>
                <a:latin typeface="Consolas"/>
                <a:ea typeface="Consolas"/>
                <a:cs typeface="Consolas"/>
                <a:sym typeface="Consolas"/>
              </a:rPr>
              <a:t>// Demo of reading pin 7 </a:t>
            </a:r>
            <a:endParaRPr/>
          </a:p>
          <a:p>
            <a:pPr marL="0" marR="0" lvl="0" indent="0" algn="l" rtl="0">
              <a:spcBef>
                <a:spcPts val="0"/>
              </a:spcBef>
              <a:spcAft>
                <a:spcPts val="0"/>
              </a:spcAft>
              <a:buNone/>
            </a:pPr>
            <a:r>
              <a:rPr lang="en-US" sz="1800">
                <a:solidFill>
                  <a:srgbClr val="C00000"/>
                </a:solidFill>
                <a:latin typeface="Consolas"/>
                <a:ea typeface="Consolas"/>
                <a:cs typeface="Consolas"/>
                <a:sym typeface="Consolas"/>
              </a:rPr>
              <a:t>uint32_t mask = 1UL&lt;&lt;7;</a:t>
            </a:r>
            <a:endParaRPr/>
          </a:p>
          <a:p>
            <a:pPr marL="0" marR="0" lvl="0" indent="0" algn="l" rtl="0">
              <a:spcBef>
                <a:spcPts val="0"/>
              </a:spcBef>
              <a:spcAft>
                <a:spcPts val="0"/>
              </a:spcAft>
              <a:buNone/>
            </a:pPr>
            <a:r>
              <a:rPr lang="en-US" sz="1800">
                <a:solidFill>
                  <a:srgbClr val="C00000"/>
                </a:solidFill>
                <a:latin typeface="Consolas"/>
                <a:ea typeface="Consolas"/>
                <a:cs typeface="Consolas"/>
                <a:sym typeface="Consolas"/>
              </a:rPr>
              <a:t>uint32_t input = (GPIOA-&gt;IDR &amp; mask) == mask;</a:t>
            </a:r>
            <a:endParaRPr/>
          </a:p>
          <a:p>
            <a:pPr marL="0" marR="0" lvl="0" indent="0" algn="l" rtl="0">
              <a:spcBef>
                <a:spcPts val="0"/>
              </a:spcBef>
              <a:spcAft>
                <a:spcPts val="0"/>
              </a:spcAft>
              <a:buNone/>
            </a:pPr>
            <a:endParaRPr sz="1800">
              <a:solidFill>
                <a:srgbClr val="C00000"/>
              </a:solidFill>
              <a:latin typeface="Consolas"/>
              <a:ea typeface="Consolas"/>
              <a:cs typeface="Consolas"/>
              <a:sym typeface="Consolas"/>
            </a:endParaRPr>
          </a:p>
          <a:p>
            <a:pPr marL="0" marR="0" lvl="0" indent="0" algn="l" rtl="0">
              <a:spcBef>
                <a:spcPts val="0"/>
              </a:spcBef>
              <a:spcAft>
                <a:spcPts val="0"/>
              </a:spcAft>
              <a:buNone/>
            </a:pPr>
            <a:r>
              <a:rPr lang="en-US" sz="1800">
                <a:solidFill>
                  <a:srgbClr val="7F7F7F"/>
                </a:solidFill>
                <a:latin typeface="Consolas"/>
                <a:ea typeface="Consolas"/>
                <a:cs typeface="Consolas"/>
                <a:sym typeface="Consolas"/>
              </a:rPr>
              <a:t>or</a:t>
            </a:r>
            <a:endParaRPr/>
          </a:p>
          <a:p>
            <a:pPr marL="0" marR="0" lvl="0" indent="0" algn="l" rtl="0">
              <a:spcBef>
                <a:spcPts val="0"/>
              </a:spcBef>
              <a:spcAft>
                <a:spcPts val="0"/>
              </a:spcAft>
              <a:buNone/>
            </a:pPr>
            <a:endParaRPr sz="1800">
              <a:solidFill>
                <a:srgbClr val="C00000"/>
              </a:solidFill>
              <a:latin typeface="Consolas"/>
              <a:ea typeface="Consolas"/>
              <a:cs typeface="Consolas"/>
              <a:sym typeface="Consolas"/>
            </a:endParaRPr>
          </a:p>
          <a:p>
            <a:pPr marL="0" marR="0" lvl="0" indent="0" algn="l" rtl="0">
              <a:spcBef>
                <a:spcPts val="0"/>
              </a:spcBef>
              <a:spcAft>
                <a:spcPts val="0"/>
              </a:spcAft>
              <a:buNone/>
            </a:pPr>
            <a:r>
              <a:rPr lang="en-US" sz="1800">
                <a:solidFill>
                  <a:srgbClr val="7F7F7F"/>
                </a:solidFill>
                <a:latin typeface="Consolas"/>
                <a:ea typeface="Consolas"/>
                <a:cs typeface="Consolas"/>
                <a:sym typeface="Consolas"/>
              </a:rPr>
              <a:t>uint32_t input = (GPIOA-&gt;IDR &amp; mask) &gt;&gt; 7;</a:t>
            </a:r>
            <a:endParaRPr/>
          </a:p>
          <a:p>
            <a:pPr marL="0" marR="0" lvl="0" indent="0" algn="l" rtl="0">
              <a:spcBef>
                <a:spcPts val="0"/>
              </a:spcBef>
              <a:spcAft>
                <a:spcPts val="0"/>
              </a:spcAft>
              <a:buNone/>
            </a:pPr>
            <a:endParaRPr sz="1800">
              <a:solidFill>
                <a:srgbClr val="C00000"/>
              </a:solidFill>
              <a:latin typeface="Consolas"/>
              <a:ea typeface="Consolas"/>
              <a:cs typeface="Consolas"/>
              <a:sym typeface="Consolas"/>
            </a:endParaRPr>
          </a:p>
        </p:txBody>
      </p:sp>
      <p:sp>
        <p:nvSpPr>
          <p:cNvPr id="380" name="Google Shape;380;p17"/>
          <p:cNvSpPr/>
          <p:nvPr/>
        </p:nvSpPr>
        <p:spPr>
          <a:xfrm>
            <a:off x="4485789" y="2488014"/>
            <a:ext cx="533400" cy="729071"/>
          </a:xfrm>
          <a:prstGeom prst="rect">
            <a:avLst/>
          </a:prstGeom>
          <a:noFill/>
          <a:ln w="38100" cap="flat" cmpd="sng">
            <a:solidFill>
              <a:srgbClr val="0000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18"/>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Joystick</a:t>
            </a:r>
            <a:endParaRPr/>
          </a:p>
        </p:txBody>
      </p:sp>
      <p:sp>
        <p:nvSpPr>
          <p:cNvPr id="387" name="Google Shape;387;p18"/>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18</a:t>
            </a:fld>
            <a:endParaRPr/>
          </a:p>
        </p:txBody>
      </p:sp>
      <p:pic>
        <p:nvPicPr>
          <p:cNvPr id="388" name="Google Shape;388;p18"/>
          <p:cNvPicPr preferRelativeResize="0"/>
          <p:nvPr/>
        </p:nvPicPr>
        <p:blipFill rotWithShape="1">
          <a:blip r:embed="rId3">
            <a:alphaModFix/>
          </a:blip>
          <a:srcRect/>
          <a:stretch/>
        </p:blipFill>
        <p:spPr>
          <a:xfrm>
            <a:off x="3200400" y="1249588"/>
            <a:ext cx="2403698" cy="5303612"/>
          </a:xfrm>
          <a:prstGeom prst="rect">
            <a:avLst/>
          </a:prstGeom>
          <a:noFill/>
          <a:ln>
            <a:noFill/>
          </a:ln>
        </p:spPr>
      </p:pic>
      <p:sp>
        <p:nvSpPr>
          <p:cNvPr id="389" name="Google Shape;389;p18"/>
          <p:cNvSpPr/>
          <p:nvPr/>
        </p:nvSpPr>
        <p:spPr>
          <a:xfrm>
            <a:off x="4343400" y="4764042"/>
            <a:ext cx="762000" cy="722358"/>
          </a:xfrm>
          <a:prstGeom prst="rect">
            <a:avLst/>
          </a:prstGeom>
          <a:noFill/>
          <a:ln w="2857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cxnSp>
        <p:nvCxnSpPr>
          <p:cNvPr id="390" name="Google Shape;390;p18"/>
          <p:cNvCxnSpPr/>
          <p:nvPr/>
        </p:nvCxnSpPr>
        <p:spPr>
          <a:xfrm rot="10800000">
            <a:off x="5120320" y="5459642"/>
            <a:ext cx="899480" cy="52057"/>
          </a:xfrm>
          <a:prstGeom prst="straightConnector1">
            <a:avLst/>
          </a:prstGeom>
          <a:noFill/>
          <a:ln w="28575" cap="flat" cmpd="sng">
            <a:solidFill>
              <a:srgbClr val="FF0000"/>
            </a:solidFill>
            <a:prstDash val="solid"/>
            <a:round/>
            <a:headEnd type="none" w="sm" len="sm"/>
            <a:tailEnd type="triangle" w="med" len="med"/>
          </a:ln>
        </p:spPr>
      </p:cxnSp>
      <p:sp>
        <p:nvSpPr>
          <p:cNvPr id="391" name="Google Shape;391;p18"/>
          <p:cNvSpPr txBox="1"/>
          <p:nvPr/>
        </p:nvSpPr>
        <p:spPr>
          <a:xfrm>
            <a:off x="614911" y="3616612"/>
            <a:ext cx="2403698"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a:solidFill>
                  <a:schemeClr val="dk1"/>
                </a:solidFill>
                <a:latin typeface="Gill Sans"/>
                <a:ea typeface="Gill Sans"/>
                <a:cs typeface="Gill Sans"/>
                <a:sym typeface="Gill Sans"/>
              </a:rPr>
              <a:t>STM32L4 Discovery Kit</a:t>
            </a:r>
            <a:endParaRPr/>
          </a:p>
        </p:txBody>
      </p:sp>
      <p:sp>
        <p:nvSpPr>
          <p:cNvPr id="392" name="Google Shape;392;p18"/>
          <p:cNvSpPr/>
          <p:nvPr/>
        </p:nvSpPr>
        <p:spPr>
          <a:xfrm>
            <a:off x="6072820" y="5050034"/>
            <a:ext cx="1905000"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FF0000"/>
                </a:solidFill>
                <a:latin typeface="Gill Sans"/>
                <a:ea typeface="Gill Sans"/>
                <a:cs typeface="Gill Sans"/>
                <a:sym typeface="Gill Sans"/>
              </a:rPr>
              <a:t>Joystick with 4-direction control and selector</a:t>
            </a:r>
            <a:endParaRPr sz="1600">
              <a:solidFill>
                <a:srgbClr val="FF0000"/>
              </a:solidFill>
              <a:latin typeface="Gill Sans"/>
              <a:ea typeface="Gill Sans"/>
              <a:cs typeface="Gill Sans"/>
              <a:sym typeface="Gill Sans"/>
            </a:endParaRPr>
          </a:p>
        </p:txBody>
      </p:sp>
      <p:sp>
        <p:nvSpPr>
          <p:cNvPr id="393" name="Google Shape;393;p18"/>
          <p:cNvSpPr/>
          <p:nvPr/>
        </p:nvSpPr>
        <p:spPr>
          <a:xfrm>
            <a:off x="4343400" y="3526562"/>
            <a:ext cx="990600" cy="893037"/>
          </a:xfrm>
          <a:prstGeom prst="rect">
            <a:avLst/>
          </a:prstGeom>
          <a:noFill/>
          <a:ln w="2857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cxnSp>
        <p:nvCxnSpPr>
          <p:cNvPr id="394" name="Google Shape;394;p18"/>
          <p:cNvCxnSpPr/>
          <p:nvPr/>
        </p:nvCxnSpPr>
        <p:spPr>
          <a:xfrm flipH="1">
            <a:off x="5334000" y="2496321"/>
            <a:ext cx="1118729" cy="1030242"/>
          </a:xfrm>
          <a:prstGeom prst="straightConnector1">
            <a:avLst/>
          </a:prstGeom>
          <a:noFill/>
          <a:ln w="28575" cap="flat" cmpd="sng">
            <a:solidFill>
              <a:srgbClr val="FF0000"/>
            </a:solidFill>
            <a:prstDash val="solid"/>
            <a:round/>
            <a:headEnd type="none" w="sm" len="sm"/>
            <a:tailEnd type="triangle" w="med" len="med"/>
          </a:ln>
        </p:spPr>
      </p:cxnSp>
      <p:sp>
        <p:nvSpPr>
          <p:cNvPr id="395" name="Google Shape;395;p18"/>
          <p:cNvSpPr/>
          <p:nvPr/>
        </p:nvSpPr>
        <p:spPr>
          <a:xfrm>
            <a:off x="6452729" y="2293062"/>
            <a:ext cx="116727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FF0000"/>
                </a:solidFill>
                <a:latin typeface="Gill Sans"/>
                <a:ea typeface="Gill Sans"/>
                <a:cs typeface="Gill Sans"/>
                <a:sym typeface="Gill Sans"/>
              </a:rPr>
              <a:t>STM32L4</a:t>
            </a:r>
            <a:endParaRPr/>
          </a:p>
        </p:txBody>
      </p:sp>
      <p:sp>
        <p:nvSpPr>
          <p:cNvPr id="396" name="Google Shape;396;p18"/>
          <p:cNvSpPr/>
          <p:nvPr/>
        </p:nvSpPr>
        <p:spPr>
          <a:xfrm>
            <a:off x="4466668" y="4436353"/>
            <a:ext cx="46358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FF0000"/>
                </a:solidFill>
                <a:latin typeface="Gill Sans"/>
                <a:ea typeface="Gill Sans"/>
                <a:cs typeface="Gill Sans"/>
                <a:sym typeface="Gill Sans"/>
              </a:rPr>
              <a:t>Up</a:t>
            </a:r>
            <a:endParaRPr sz="1800">
              <a:solidFill>
                <a:schemeClr val="dk1"/>
              </a:solidFill>
              <a:latin typeface="Gill Sans"/>
              <a:ea typeface="Gill Sans"/>
              <a:cs typeface="Gill Sans"/>
              <a:sym typeface="Gill Sans"/>
            </a:endParaRPr>
          </a:p>
        </p:txBody>
      </p:sp>
      <p:sp>
        <p:nvSpPr>
          <p:cNvPr id="397" name="Google Shape;397;p18"/>
          <p:cNvSpPr/>
          <p:nvPr/>
        </p:nvSpPr>
        <p:spPr>
          <a:xfrm>
            <a:off x="4347585" y="5511699"/>
            <a:ext cx="76431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FF0000"/>
                </a:solidFill>
                <a:latin typeface="Gill Sans"/>
                <a:ea typeface="Gill Sans"/>
                <a:cs typeface="Gill Sans"/>
                <a:sym typeface="Gill Sans"/>
              </a:rPr>
              <a:t>Down</a:t>
            </a:r>
            <a:endParaRPr sz="1800">
              <a:solidFill>
                <a:schemeClr val="dk1"/>
              </a:solidFill>
              <a:latin typeface="Gill Sans"/>
              <a:ea typeface="Gill Sans"/>
              <a:cs typeface="Gill Sans"/>
              <a:sym typeface="Gill Sans"/>
            </a:endParaRPr>
          </a:p>
        </p:txBody>
      </p:sp>
      <p:sp>
        <p:nvSpPr>
          <p:cNvPr id="398" name="Google Shape;398;p18"/>
          <p:cNvSpPr/>
          <p:nvPr/>
        </p:nvSpPr>
        <p:spPr>
          <a:xfrm>
            <a:off x="3858510" y="4904407"/>
            <a:ext cx="54373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FF0000"/>
                </a:solidFill>
                <a:latin typeface="Gill Sans"/>
                <a:ea typeface="Gill Sans"/>
                <a:cs typeface="Gill Sans"/>
                <a:sym typeface="Gill Sans"/>
              </a:rPr>
              <a:t>Left</a:t>
            </a:r>
            <a:endParaRPr sz="1800">
              <a:solidFill>
                <a:schemeClr val="dk1"/>
              </a:solidFill>
              <a:latin typeface="Gill Sans"/>
              <a:ea typeface="Gill Sans"/>
              <a:cs typeface="Gill Sans"/>
              <a:sym typeface="Gill Sans"/>
            </a:endParaRPr>
          </a:p>
        </p:txBody>
      </p:sp>
      <p:sp>
        <p:nvSpPr>
          <p:cNvPr id="399" name="Google Shape;399;p18"/>
          <p:cNvSpPr/>
          <p:nvPr/>
        </p:nvSpPr>
        <p:spPr>
          <a:xfrm>
            <a:off x="5070070" y="4931226"/>
            <a:ext cx="66556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FF0000"/>
                </a:solidFill>
                <a:latin typeface="Gill Sans"/>
                <a:ea typeface="Gill Sans"/>
                <a:cs typeface="Gill Sans"/>
                <a:sym typeface="Gill Sans"/>
              </a:rPr>
              <a:t>Right</a:t>
            </a:r>
            <a:endParaRPr sz="1800">
              <a:solidFill>
                <a:schemeClr val="dk1"/>
              </a:solidFill>
              <a:latin typeface="Gill Sans"/>
              <a:ea typeface="Gill Sans"/>
              <a:cs typeface="Gill Sans"/>
              <a:sym typeface="Gill Sans"/>
            </a:endParaRPr>
          </a:p>
        </p:txBody>
      </p:sp>
      <p:sp>
        <p:nvSpPr>
          <p:cNvPr id="400" name="Google Shape;400;p18"/>
          <p:cNvSpPr/>
          <p:nvPr/>
        </p:nvSpPr>
        <p:spPr>
          <a:xfrm>
            <a:off x="4343400" y="4927176"/>
            <a:ext cx="776919"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a:solidFill>
                  <a:srgbClr val="FF0000"/>
                </a:solidFill>
                <a:latin typeface="Gill Sans"/>
                <a:ea typeface="Gill Sans"/>
                <a:cs typeface="Gill Sans"/>
                <a:sym typeface="Gill Sans"/>
              </a:rPr>
              <a:t>Center</a:t>
            </a:r>
            <a:endParaRPr sz="1400" b="1">
              <a:solidFill>
                <a:schemeClr val="dk1"/>
              </a:solidFill>
              <a:latin typeface="Gill Sans"/>
              <a:ea typeface="Gill Sans"/>
              <a:cs typeface="Gill Sans"/>
              <a:sym typeface="Gill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p19"/>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Joystick</a:t>
            </a:r>
            <a:endParaRPr/>
          </a:p>
        </p:txBody>
      </p:sp>
      <p:sp>
        <p:nvSpPr>
          <p:cNvPr id="407" name="Google Shape;407;p19"/>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19</a:t>
            </a:fld>
            <a:endParaRPr/>
          </a:p>
        </p:txBody>
      </p:sp>
      <p:pic>
        <p:nvPicPr>
          <p:cNvPr id="408" name="Google Shape;408;p19"/>
          <p:cNvPicPr preferRelativeResize="0"/>
          <p:nvPr/>
        </p:nvPicPr>
        <p:blipFill rotWithShape="1">
          <a:blip r:embed="rId3">
            <a:alphaModFix/>
          </a:blip>
          <a:srcRect/>
          <a:stretch/>
        </p:blipFill>
        <p:spPr>
          <a:xfrm>
            <a:off x="21879" y="1243162"/>
            <a:ext cx="9207914" cy="3252638"/>
          </a:xfrm>
          <a:prstGeom prst="rect">
            <a:avLst/>
          </a:prstGeom>
          <a:noFill/>
          <a:ln>
            <a:noFill/>
          </a:ln>
        </p:spPr>
      </p:pic>
      <p:cxnSp>
        <p:nvCxnSpPr>
          <p:cNvPr id="409" name="Google Shape;409;p19"/>
          <p:cNvCxnSpPr/>
          <p:nvPr/>
        </p:nvCxnSpPr>
        <p:spPr>
          <a:xfrm rot="10800000" flipH="1">
            <a:off x="0" y="4495800"/>
            <a:ext cx="9144000" cy="76200"/>
          </a:xfrm>
          <a:prstGeom prst="straightConnector1">
            <a:avLst/>
          </a:prstGeom>
          <a:noFill/>
          <a:ln w="9525" cap="flat" cmpd="sng">
            <a:solidFill>
              <a:schemeClr val="accent1"/>
            </a:solidFill>
            <a:prstDash val="dash"/>
            <a:round/>
            <a:headEnd type="none" w="sm" len="sm"/>
            <a:tailEnd type="none" w="sm" len="sm"/>
          </a:ln>
        </p:spPr>
      </p:cxnSp>
      <p:pic>
        <p:nvPicPr>
          <p:cNvPr id="410" name="Google Shape;410;p19"/>
          <p:cNvPicPr preferRelativeResize="0"/>
          <p:nvPr/>
        </p:nvPicPr>
        <p:blipFill rotWithShape="1">
          <a:blip r:embed="rId4">
            <a:alphaModFix/>
          </a:blip>
          <a:srcRect/>
          <a:stretch/>
        </p:blipFill>
        <p:spPr>
          <a:xfrm>
            <a:off x="2971800" y="4564995"/>
            <a:ext cx="3048000" cy="1464580"/>
          </a:xfrm>
          <a:prstGeom prst="rect">
            <a:avLst/>
          </a:prstGeom>
          <a:noFill/>
          <a:ln>
            <a:noFill/>
          </a:ln>
        </p:spPr>
      </p:pic>
      <p:grpSp>
        <p:nvGrpSpPr>
          <p:cNvPr id="411" name="Google Shape;411;p19"/>
          <p:cNvGrpSpPr/>
          <p:nvPr/>
        </p:nvGrpSpPr>
        <p:grpSpPr>
          <a:xfrm>
            <a:off x="6019800" y="5112619"/>
            <a:ext cx="1157173" cy="369332"/>
            <a:chOff x="6019800" y="5255244"/>
            <a:chExt cx="1157173" cy="369332"/>
          </a:xfrm>
        </p:grpSpPr>
        <p:cxnSp>
          <p:nvCxnSpPr>
            <p:cNvPr id="412" name="Google Shape;412;p19"/>
            <p:cNvCxnSpPr/>
            <p:nvPr/>
          </p:nvCxnSpPr>
          <p:spPr>
            <a:xfrm>
              <a:off x="6019800" y="5450987"/>
              <a:ext cx="533400" cy="0"/>
            </a:xfrm>
            <a:prstGeom prst="straightConnector1">
              <a:avLst/>
            </a:prstGeom>
            <a:noFill/>
            <a:ln w="19050" cap="flat" cmpd="sng">
              <a:solidFill>
                <a:srgbClr val="C00000"/>
              </a:solidFill>
              <a:prstDash val="solid"/>
              <a:round/>
              <a:headEnd type="none" w="sm" len="sm"/>
              <a:tailEnd type="none" w="sm" len="sm"/>
            </a:ln>
          </p:spPr>
        </p:cxnSp>
        <p:sp>
          <p:nvSpPr>
            <p:cNvPr id="413" name="Google Shape;413;p19"/>
            <p:cNvSpPr txBox="1"/>
            <p:nvPr/>
          </p:nvSpPr>
          <p:spPr>
            <a:xfrm>
              <a:off x="6575526" y="5255244"/>
              <a:ext cx="60144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C00000"/>
                  </a:solidFill>
                  <a:latin typeface="Arial"/>
                  <a:ea typeface="Arial"/>
                  <a:cs typeface="Arial"/>
                  <a:sym typeface="Arial"/>
                </a:rPr>
                <a:t>+3V</a:t>
              </a:r>
              <a:endParaRPr/>
            </a:p>
          </p:txBody>
        </p:sp>
      </p:grpSp>
      <p:sp>
        <p:nvSpPr>
          <p:cNvPr id="414" name="Google Shape;414;p19"/>
          <p:cNvSpPr txBox="1"/>
          <p:nvPr/>
        </p:nvSpPr>
        <p:spPr>
          <a:xfrm>
            <a:off x="3408228" y="6019800"/>
            <a:ext cx="2154372"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rgbClr val="0000FF"/>
                </a:solidFill>
                <a:latin typeface="Gill Sans"/>
                <a:ea typeface="Gill Sans"/>
                <a:cs typeface="Gill Sans"/>
                <a:sym typeface="Gill Sans"/>
              </a:rPr>
              <a:t>Internal diagram of joystick</a:t>
            </a:r>
            <a:endParaRPr/>
          </a:p>
        </p:txBody>
      </p:sp>
      <p:grpSp>
        <p:nvGrpSpPr>
          <p:cNvPr id="415" name="Google Shape;415;p19"/>
          <p:cNvGrpSpPr/>
          <p:nvPr/>
        </p:nvGrpSpPr>
        <p:grpSpPr>
          <a:xfrm>
            <a:off x="1809821" y="5132241"/>
            <a:ext cx="1161863" cy="369332"/>
            <a:chOff x="1809821" y="5132241"/>
            <a:chExt cx="1161863" cy="369332"/>
          </a:xfrm>
        </p:grpSpPr>
        <p:cxnSp>
          <p:nvCxnSpPr>
            <p:cNvPr id="416" name="Google Shape;416;p19"/>
            <p:cNvCxnSpPr>
              <a:stCxn id="417" idx="3"/>
            </p:cNvCxnSpPr>
            <p:nvPr/>
          </p:nvCxnSpPr>
          <p:spPr>
            <a:xfrm>
              <a:off x="2413384" y="5316907"/>
              <a:ext cx="558300" cy="0"/>
            </a:xfrm>
            <a:prstGeom prst="straightConnector1">
              <a:avLst/>
            </a:prstGeom>
            <a:noFill/>
            <a:ln w="19050" cap="flat" cmpd="sng">
              <a:solidFill>
                <a:srgbClr val="C00000"/>
              </a:solidFill>
              <a:prstDash val="solid"/>
              <a:round/>
              <a:headEnd type="none" w="sm" len="sm"/>
              <a:tailEnd type="none" w="sm" len="sm"/>
            </a:ln>
          </p:spPr>
        </p:cxnSp>
        <p:sp>
          <p:nvSpPr>
            <p:cNvPr id="417" name="Google Shape;417;p19"/>
            <p:cNvSpPr txBox="1"/>
            <p:nvPr/>
          </p:nvSpPr>
          <p:spPr>
            <a:xfrm>
              <a:off x="1809821" y="5132241"/>
              <a:ext cx="60356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C00000"/>
                  </a:solidFill>
                  <a:latin typeface="Arial"/>
                  <a:ea typeface="Arial"/>
                  <a:cs typeface="Arial"/>
                  <a:sym typeface="Arial"/>
                </a:rPr>
                <a:t>PA0</a:t>
              </a:r>
              <a:endParaRPr/>
            </a:p>
          </p:txBody>
        </p:sp>
      </p:grpSp>
      <p:grpSp>
        <p:nvGrpSpPr>
          <p:cNvPr id="418" name="Google Shape;418;p19"/>
          <p:cNvGrpSpPr/>
          <p:nvPr/>
        </p:nvGrpSpPr>
        <p:grpSpPr>
          <a:xfrm>
            <a:off x="3708876" y="2119797"/>
            <a:ext cx="3544178" cy="1920393"/>
            <a:chOff x="3708876" y="2119797"/>
            <a:chExt cx="3544178" cy="1920393"/>
          </a:xfrm>
        </p:grpSpPr>
        <p:sp>
          <p:nvSpPr>
            <p:cNvPr id="419" name="Google Shape;419;p19"/>
            <p:cNvSpPr/>
            <p:nvPr/>
          </p:nvSpPr>
          <p:spPr>
            <a:xfrm>
              <a:off x="4876800" y="3527400"/>
              <a:ext cx="609600" cy="398189"/>
            </a:xfrm>
            <a:prstGeom prst="rect">
              <a:avLst/>
            </a:prstGeom>
            <a:noFill/>
            <a:ln w="19050" cap="flat" cmpd="sng">
              <a:solidFill>
                <a:srgbClr val="FF0000"/>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420" name="Google Shape;420;p19"/>
            <p:cNvSpPr/>
            <p:nvPr/>
          </p:nvSpPr>
          <p:spPr>
            <a:xfrm>
              <a:off x="3962400" y="3642001"/>
              <a:ext cx="609600" cy="398189"/>
            </a:xfrm>
            <a:prstGeom prst="rect">
              <a:avLst/>
            </a:prstGeom>
            <a:noFill/>
            <a:ln w="19050" cap="flat" cmpd="sng">
              <a:solidFill>
                <a:srgbClr val="FF0000"/>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421" name="Google Shape;421;p19"/>
            <p:cNvSpPr/>
            <p:nvPr/>
          </p:nvSpPr>
          <p:spPr>
            <a:xfrm>
              <a:off x="5715000" y="3445594"/>
              <a:ext cx="609600" cy="398189"/>
            </a:xfrm>
            <a:prstGeom prst="rect">
              <a:avLst/>
            </a:prstGeom>
            <a:noFill/>
            <a:ln w="19050" cap="flat" cmpd="sng">
              <a:solidFill>
                <a:srgbClr val="FF0000"/>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422" name="Google Shape;422;p19"/>
            <p:cNvSpPr/>
            <p:nvPr/>
          </p:nvSpPr>
          <p:spPr>
            <a:xfrm>
              <a:off x="6643454" y="3336324"/>
              <a:ext cx="609600" cy="398189"/>
            </a:xfrm>
            <a:prstGeom prst="rect">
              <a:avLst/>
            </a:prstGeom>
            <a:noFill/>
            <a:ln w="19050" cap="flat" cmpd="sng">
              <a:solidFill>
                <a:srgbClr val="FF0000"/>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423" name="Google Shape;423;p19"/>
            <p:cNvSpPr/>
            <p:nvPr/>
          </p:nvSpPr>
          <p:spPr>
            <a:xfrm>
              <a:off x="3708876" y="2119797"/>
              <a:ext cx="609600" cy="398189"/>
            </a:xfrm>
            <a:prstGeom prst="rect">
              <a:avLst/>
            </a:prstGeom>
            <a:noFill/>
            <a:ln w="19050" cap="flat" cmpd="sng">
              <a:solidFill>
                <a:srgbClr val="FF0000"/>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grpSp>
      <p:sp>
        <p:nvSpPr>
          <p:cNvPr id="424" name="Google Shape;424;p19"/>
          <p:cNvSpPr/>
          <p:nvPr/>
        </p:nvSpPr>
        <p:spPr>
          <a:xfrm>
            <a:off x="5715000" y="1298962"/>
            <a:ext cx="2362200" cy="496056"/>
          </a:xfrm>
          <a:prstGeom prst="rect">
            <a:avLst/>
          </a:prstGeom>
          <a:noFill/>
          <a:ln w="19050" cap="flat" cmpd="sng">
            <a:solidFill>
              <a:srgbClr val="FF0000"/>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425" name="Google Shape;425;p19"/>
          <p:cNvSpPr/>
          <p:nvPr/>
        </p:nvSpPr>
        <p:spPr>
          <a:xfrm>
            <a:off x="76200" y="1752599"/>
            <a:ext cx="7848600" cy="897195"/>
          </a:xfrm>
          <a:prstGeom prst="rect">
            <a:avLst/>
          </a:prstGeom>
          <a:noFill/>
          <a:ln w="19050" cap="flat" cmpd="sng">
            <a:solidFill>
              <a:srgbClr val="FF0000"/>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426" name="Google Shape;426;p19"/>
          <p:cNvSpPr/>
          <p:nvPr/>
        </p:nvSpPr>
        <p:spPr>
          <a:xfrm>
            <a:off x="5011220" y="1836080"/>
            <a:ext cx="609600" cy="681906"/>
          </a:xfrm>
          <a:prstGeom prst="rect">
            <a:avLst/>
          </a:prstGeom>
          <a:noFill/>
          <a:ln w="19050" cap="flat" cmpd="sng">
            <a:solidFill>
              <a:srgbClr val="FF0000"/>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427" name="Google Shape;427;p19"/>
          <p:cNvSpPr txBox="1"/>
          <p:nvPr/>
        </p:nvSpPr>
        <p:spPr>
          <a:xfrm>
            <a:off x="3972296" y="2974769"/>
            <a:ext cx="65"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endParaRPr sz="1800">
              <a:solidFill>
                <a:schemeClr val="dk1"/>
              </a:solidFill>
              <a:latin typeface="Gill Sans"/>
              <a:ea typeface="Gill Sans"/>
              <a:cs typeface="Gill Sans"/>
              <a:sym typeface="Gill S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1"/>
                                          </p:stCondLst>
                                        </p:cTn>
                                        <p:tgtEl>
                                          <p:spTgt spid="418"/>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4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0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2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1"/>
                                          </p:stCondLst>
                                        </p:cTn>
                                        <p:tgtEl>
                                          <p:spTgt spid="424"/>
                                        </p:tgtEl>
                                        <p:attrNameLst>
                                          <p:attrName>style.visibility</p:attrName>
                                        </p:attrNameLst>
                                      </p:cBhvr>
                                      <p:to>
                                        <p:strVal val="hidden"/>
                                      </p:to>
                                    </p:set>
                                  </p:childTnLst>
                                </p:cTn>
                              </p:par>
                              <p:par>
                                <p:cTn id="27" presetID="1" presetClass="entr" presetSubtype="0" fill="hold" nodeType="withEffect">
                                  <p:stCondLst>
                                    <p:cond delay="0"/>
                                  </p:stCondLst>
                                  <p:childTnLst>
                                    <p:set>
                                      <p:cBhvr>
                                        <p:cTn id="28" dur="1" fill="hold">
                                          <p:stCondLst>
                                            <p:cond delay="0"/>
                                          </p:stCondLst>
                                        </p:cTn>
                                        <p:tgtEl>
                                          <p:spTgt spid="41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2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nodeType="clickEffect">
                                  <p:stCondLst>
                                    <p:cond delay="0"/>
                                  </p:stCondLst>
                                  <p:childTnLst>
                                    <p:set>
                                      <p:cBhvr>
                                        <p:cTn id="34" dur="1" fill="hold">
                                          <p:stCondLst>
                                            <p:cond delay="1"/>
                                          </p:stCondLst>
                                        </p:cTn>
                                        <p:tgtEl>
                                          <p:spTgt spid="425"/>
                                        </p:tgtEl>
                                        <p:attrNameLst>
                                          <p:attrName>style.visibility</p:attrName>
                                        </p:attrNameLst>
                                      </p:cBhvr>
                                      <p:to>
                                        <p:strVal val="hidden"/>
                                      </p:to>
                                    </p:set>
                                  </p:childTnLst>
                                </p:cTn>
                              </p:par>
                              <p:par>
                                <p:cTn id="35" presetID="1" presetClass="entr" presetSubtype="0" fill="hold" nodeType="withEffect">
                                  <p:stCondLst>
                                    <p:cond delay="0"/>
                                  </p:stCondLst>
                                  <p:childTnLst>
                                    <p:set>
                                      <p:cBhvr>
                                        <p:cTn id="36" dur="1" fill="hold">
                                          <p:stCondLst>
                                            <p:cond delay="0"/>
                                          </p:stCondLst>
                                        </p:cTn>
                                        <p:tgtEl>
                                          <p:spTgt spid="4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20"/>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Read Input of Pin PA.0</a:t>
            </a:r>
            <a:endParaRPr/>
          </a:p>
        </p:txBody>
      </p:sp>
      <p:sp>
        <p:nvSpPr>
          <p:cNvPr id="434" name="Google Shape;434;p20"/>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20</a:t>
            </a:fld>
            <a:endParaRPr/>
          </a:p>
        </p:txBody>
      </p:sp>
      <p:sp>
        <p:nvSpPr>
          <p:cNvPr id="435" name="Google Shape;435;p20"/>
          <p:cNvSpPr/>
          <p:nvPr/>
        </p:nvSpPr>
        <p:spPr>
          <a:xfrm>
            <a:off x="457200" y="1219200"/>
            <a:ext cx="8220675" cy="5078313"/>
          </a:xfrm>
          <a:prstGeom prst="rect">
            <a:avLst/>
          </a:prstGeom>
          <a:solidFill>
            <a:schemeClr val="lt1"/>
          </a:solidFill>
          <a:ln w="19050"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C00000"/>
                </a:solidFill>
                <a:latin typeface="Consolas"/>
                <a:ea typeface="Consolas"/>
                <a:cs typeface="Consolas"/>
                <a:sym typeface="Consolas"/>
              </a:rPr>
              <a:t>uint32_t input;</a:t>
            </a:r>
            <a:endParaRPr/>
          </a:p>
          <a:p>
            <a:pPr marL="0" marR="0" lvl="0" indent="0" algn="l" rtl="0">
              <a:spcBef>
                <a:spcPts val="0"/>
              </a:spcBef>
              <a:spcAft>
                <a:spcPts val="0"/>
              </a:spcAft>
              <a:buNone/>
            </a:pPr>
            <a:endParaRPr sz="1800">
              <a:solidFill>
                <a:srgbClr val="C00000"/>
              </a:solidFill>
              <a:latin typeface="Consolas"/>
              <a:ea typeface="Consolas"/>
              <a:cs typeface="Consolas"/>
              <a:sym typeface="Consolas"/>
            </a:endParaRPr>
          </a:p>
          <a:p>
            <a:pPr marL="0" marR="0" lvl="0" indent="0" algn="l" rtl="0">
              <a:spcBef>
                <a:spcPts val="0"/>
              </a:spcBef>
              <a:spcAft>
                <a:spcPts val="0"/>
              </a:spcAft>
              <a:buNone/>
            </a:pPr>
            <a:r>
              <a:rPr lang="en-US" sz="1800">
                <a:solidFill>
                  <a:srgbClr val="C00000"/>
                </a:solidFill>
                <a:latin typeface="Consolas"/>
                <a:ea typeface="Consolas"/>
                <a:cs typeface="Consolas"/>
                <a:sym typeface="Consolas"/>
              </a:rPr>
              <a:t>RCC-&gt;AHB2ENR |= RCC_AHB2ENR_GPIOAEN;  </a:t>
            </a:r>
            <a:r>
              <a:rPr lang="en-US" sz="1800">
                <a:solidFill>
                  <a:srgbClr val="7F7F7F"/>
                </a:solidFill>
                <a:latin typeface="Consolas"/>
                <a:ea typeface="Consolas"/>
                <a:cs typeface="Consolas"/>
                <a:sym typeface="Consolas"/>
              </a:rPr>
              <a:t>// Enable clock of Port A</a:t>
            </a:r>
            <a:endParaRPr/>
          </a:p>
          <a:p>
            <a:pPr marL="0" marR="0" lvl="0" indent="0" algn="l" rtl="0">
              <a:spcBef>
                <a:spcPts val="0"/>
              </a:spcBef>
              <a:spcAft>
                <a:spcPts val="0"/>
              </a:spcAft>
              <a:buNone/>
            </a:pPr>
            <a:endParaRPr sz="1800">
              <a:solidFill>
                <a:srgbClr val="C00000"/>
              </a:solidFill>
              <a:latin typeface="Consolas"/>
              <a:ea typeface="Consolas"/>
              <a:cs typeface="Consolas"/>
              <a:sym typeface="Consolas"/>
            </a:endParaRPr>
          </a:p>
          <a:p>
            <a:pPr marL="0" marR="0" lvl="0" indent="0" algn="l" rtl="0">
              <a:spcBef>
                <a:spcPts val="0"/>
              </a:spcBef>
              <a:spcAft>
                <a:spcPts val="0"/>
              </a:spcAft>
              <a:buNone/>
            </a:pPr>
            <a:r>
              <a:rPr lang="en-US" sz="1800">
                <a:solidFill>
                  <a:srgbClr val="C00000"/>
                </a:solidFill>
                <a:latin typeface="Consolas"/>
                <a:ea typeface="Consolas"/>
                <a:cs typeface="Consolas"/>
                <a:sym typeface="Consolas"/>
              </a:rPr>
              <a:t>GPIOA-&gt;MODER &amp;= ~3UL; </a:t>
            </a:r>
            <a:r>
              <a:rPr lang="en-US" sz="1800">
                <a:solidFill>
                  <a:srgbClr val="7F7F7F"/>
                </a:solidFill>
                <a:latin typeface="Consolas"/>
                <a:ea typeface="Consolas"/>
                <a:cs typeface="Consolas"/>
                <a:sym typeface="Consolas"/>
              </a:rPr>
              <a:t>// Set PA.0 as digital input</a:t>
            </a:r>
            <a:endParaRPr sz="1800">
              <a:solidFill>
                <a:srgbClr val="C00000"/>
              </a:solidFill>
              <a:latin typeface="Consolas"/>
              <a:ea typeface="Consolas"/>
              <a:cs typeface="Consolas"/>
              <a:sym typeface="Consolas"/>
            </a:endParaRPr>
          </a:p>
          <a:p>
            <a:pPr marL="0" marR="0" lvl="0" indent="0" algn="l" rtl="0">
              <a:spcBef>
                <a:spcPts val="0"/>
              </a:spcBef>
              <a:spcAft>
                <a:spcPts val="0"/>
              </a:spcAft>
              <a:buNone/>
            </a:pPr>
            <a:endParaRPr sz="1800">
              <a:solidFill>
                <a:srgbClr val="C00000"/>
              </a:solidFill>
              <a:latin typeface="Consolas"/>
              <a:ea typeface="Consolas"/>
              <a:cs typeface="Consolas"/>
              <a:sym typeface="Consolas"/>
            </a:endParaRPr>
          </a:p>
          <a:p>
            <a:pPr marL="0" marR="0" lvl="0" indent="0" algn="l" rtl="0">
              <a:spcBef>
                <a:spcPts val="0"/>
              </a:spcBef>
              <a:spcAft>
                <a:spcPts val="0"/>
              </a:spcAft>
              <a:buNone/>
            </a:pPr>
            <a:r>
              <a:rPr lang="en-US" sz="1800">
                <a:solidFill>
                  <a:srgbClr val="C00000"/>
                </a:solidFill>
                <a:latin typeface="Consolas"/>
                <a:ea typeface="Consolas"/>
                <a:cs typeface="Consolas"/>
                <a:sym typeface="Consolas"/>
              </a:rPr>
              <a:t>GPIOA-&gt;PUPDR &amp;= ~2UL; </a:t>
            </a:r>
            <a:r>
              <a:rPr lang="en-US" sz="1800">
                <a:solidFill>
                  <a:srgbClr val="7F7F7F"/>
                </a:solidFill>
                <a:latin typeface="Consolas"/>
                <a:ea typeface="Consolas"/>
                <a:cs typeface="Consolas"/>
                <a:sym typeface="Consolas"/>
              </a:rPr>
              <a:t>// pull-down</a:t>
            </a:r>
            <a:endParaRPr/>
          </a:p>
          <a:p>
            <a:pPr marL="0" marR="0" lvl="0" indent="0" algn="l" rtl="0">
              <a:spcBef>
                <a:spcPts val="0"/>
              </a:spcBef>
              <a:spcAft>
                <a:spcPts val="0"/>
              </a:spcAft>
              <a:buNone/>
            </a:pPr>
            <a:endParaRPr sz="1800">
              <a:solidFill>
                <a:srgbClr val="C00000"/>
              </a:solidFill>
              <a:latin typeface="Consolas"/>
              <a:ea typeface="Consolas"/>
              <a:cs typeface="Consolas"/>
              <a:sym typeface="Consolas"/>
            </a:endParaRPr>
          </a:p>
          <a:p>
            <a:pPr marL="0" marR="0" lvl="0" indent="0" algn="l" rtl="0">
              <a:spcBef>
                <a:spcPts val="0"/>
              </a:spcBef>
              <a:spcAft>
                <a:spcPts val="0"/>
              </a:spcAft>
              <a:buNone/>
            </a:pPr>
            <a:r>
              <a:rPr lang="en-US" sz="1800">
                <a:solidFill>
                  <a:srgbClr val="7F7F7F"/>
                </a:solidFill>
                <a:latin typeface="Consolas"/>
                <a:ea typeface="Consolas"/>
                <a:cs typeface="Consolas"/>
                <a:sym typeface="Consolas"/>
              </a:rPr>
              <a:t>// Read pin 0</a:t>
            </a:r>
            <a:endParaRPr sz="1800">
              <a:solidFill>
                <a:srgbClr val="C00000"/>
              </a:solidFill>
              <a:latin typeface="Consolas"/>
              <a:ea typeface="Consolas"/>
              <a:cs typeface="Consolas"/>
              <a:sym typeface="Consolas"/>
            </a:endParaRPr>
          </a:p>
          <a:p>
            <a:pPr marL="0" marR="0" lvl="0" indent="0" algn="l" rtl="0">
              <a:spcBef>
                <a:spcPts val="0"/>
              </a:spcBef>
              <a:spcAft>
                <a:spcPts val="0"/>
              </a:spcAft>
              <a:buNone/>
            </a:pPr>
            <a:r>
              <a:rPr lang="en-US" sz="1800">
                <a:solidFill>
                  <a:srgbClr val="C00000"/>
                </a:solidFill>
                <a:latin typeface="Consolas"/>
                <a:ea typeface="Consolas"/>
                <a:cs typeface="Consolas"/>
                <a:sym typeface="Consolas"/>
              </a:rPr>
              <a:t>input = (GPIOA-&gt;IDR &amp; 1UL);</a:t>
            </a:r>
            <a:endParaRPr/>
          </a:p>
          <a:p>
            <a:pPr marL="0" marR="0" lvl="0" indent="0" algn="l" rtl="0">
              <a:spcBef>
                <a:spcPts val="0"/>
              </a:spcBef>
              <a:spcAft>
                <a:spcPts val="0"/>
              </a:spcAft>
              <a:buNone/>
            </a:pPr>
            <a:endParaRPr sz="1800">
              <a:solidFill>
                <a:srgbClr val="C00000"/>
              </a:solidFill>
              <a:latin typeface="Consolas"/>
              <a:ea typeface="Consolas"/>
              <a:cs typeface="Consolas"/>
              <a:sym typeface="Consolas"/>
            </a:endParaRPr>
          </a:p>
          <a:p>
            <a:pPr marL="0" marR="0" lvl="0" indent="0" algn="l" rtl="0">
              <a:spcBef>
                <a:spcPts val="0"/>
              </a:spcBef>
              <a:spcAft>
                <a:spcPts val="0"/>
              </a:spcAft>
              <a:buNone/>
            </a:pPr>
            <a:r>
              <a:rPr lang="en-US" sz="1800">
                <a:solidFill>
                  <a:srgbClr val="C00000"/>
                </a:solidFill>
                <a:latin typeface="Consolas"/>
                <a:ea typeface="Consolas"/>
                <a:cs typeface="Consolas"/>
                <a:sym typeface="Consolas"/>
              </a:rPr>
              <a:t>if (input == 0) {</a:t>
            </a:r>
            <a:endParaRPr/>
          </a:p>
          <a:p>
            <a:pPr marL="0" marR="0" lvl="0" indent="0" algn="l" rtl="0">
              <a:spcBef>
                <a:spcPts val="0"/>
              </a:spcBef>
              <a:spcAft>
                <a:spcPts val="0"/>
              </a:spcAft>
              <a:buNone/>
            </a:pPr>
            <a:r>
              <a:rPr lang="en-US" sz="1800">
                <a:solidFill>
                  <a:srgbClr val="7F7F7F"/>
                </a:solidFill>
                <a:latin typeface="Consolas"/>
                <a:ea typeface="Consolas"/>
                <a:cs typeface="Consolas"/>
                <a:sym typeface="Consolas"/>
              </a:rPr>
              <a:t>   // Center of joystick is not pressed</a:t>
            </a:r>
            <a:endParaRPr/>
          </a:p>
          <a:p>
            <a:pPr marL="0" marR="0" lvl="0" indent="0" algn="l" rtl="0">
              <a:spcBef>
                <a:spcPts val="0"/>
              </a:spcBef>
              <a:spcAft>
                <a:spcPts val="0"/>
              </a:spcAft>
              <a:buNone/>
            </a:pPr>
            <a:r>
              <a:rPr lang="en-US" sz="1800">
                <a:solidFill>
                  <a:srgbClr val="C00000"/>
                </a:solidFill>
                <a:latin typeface="Consolas"/>
                <a:ea typeface="Consolas"/>
                <a:cs typeface="Consolas"/>
                <a:sym typeface="Consolas"/>
              </a:rPr>
              <a:t>   ...</a:t>
            </a:r>
            <a:endParaRPr/>
          </a:p>
          <a:p>
            <a:pPr marL="0" marR="0" lvl="0" indent="0" algn="l" rtl="0">
              <a:spcBef>
                <a:spcPts val="0"/>
              </a:spcBef>
              <a:spcAft>
                <a:spcPts val="0"/>
              </a:spcAft>
              <a:buNone/>
            </a:pPr>
            <a:r>
              <a:rPr lang="en-US" sz="1800">
                <a:solidFill>
                  <a:srgbClr val="C00000"/>
                </a:solidFill>
                <a:latin typeface="Consolas"/>
                <a:ea typeface="Consolas"/>
                <a:cs typeface="Consolas"/>
                <a:sym typeface="Consolas"/>
              </a:rPr>
              <a:t>} else {</a:t>
            </a:r>
            <a:endParaRPr/>
          </a:p>
          <a:p>
            <a:pPr marL="0" marR="0" lvl="0" indent="0" algn="l" rtl="0">
              <a:spcBef>
                <a:spcPts val="0"/>
              </a:spcBef>
              <a:spcAft>
                <a:spcPts val="0"/>
              </a:spcAft>
              <a:buNone/>
            </a:pPr>
            <a:r>
              <a:rPr lang="en-US" sz="1800">
                <a:solidFill>
                  <a:srgbClr val="7F7F7F"/>
                </a:solidFill>
                <a:latin typeface="Consolas"/>
                <a:ea typeface="Consolas"/>
                <a:cs typeface="Consolas"/>
                <a:sym typeface="Consolas"/>
              </a:rPr>
              <a:t>   // Center of joystick is pressed</a:t>
            </a:r>
            <a:endParaRPr/>
          </a:p>
          <a:p>
            <a:pPr marL="0" marR="0" lvl="0" indent="0" algn="l" rtl="0">
              <a:spcBef>
                <a:spcPts val="0"/>
              </a:spcBef>
              <a:spcAft>
                <a:spcPts val="0"/>
              </a:spcAft>
              <a:buNone/>
            </a:pPr>
            <a:r>
              <a:rPr lang="en-US" sz="1800">
                <a:solidFill>
                  <a:srgbClr val="C00000"/>
                </a:solidFill>
                <a:latin typeface="Consolas"/>
                <a:ea typeface="Consolas"/>
                <a:cs typeface="Consolas"/>
                <a:sym typeface="Consolas"/>
              </a:rPr>
              <a:t>   ...</a:t>
            </a:r>
            <a:endParaRPr/>
          </a:p>
          <a:p>
            <a:pPr marL="0" marR="0" lvl="0" indent="0" algn="l" rtl="0">
              <a:spcBef>
                <a:spcPts val="0"/>
              </a:spcBef>
              <a:spcAft>
                <a:spcPts val="0"/>
              </a:spcAft>
              <a:buNone/>
            </a:pPr>
            <a:r>
              <a:rPr lang="en-US" sz="1800">
                <a:solidFill>
                  <a:srgbClr val="C00000"/>
                </a:solidFill>
                <a:latin typeface="Consolas"/>
                <a:ea typeface="Consolas"/>
                <a:cs typeface="Consolas"/>
                <a:sym typeface="Consolas"/>
              </a:rPr>
              <a: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21"/>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Keypad Scan</a:t>
            </a:r>
            <a:endParaRPr/>
          </a:p>
        </p:txBody>
      </p:sp>
      <p:sp>
        <p:nvSpPr>
          <p:cNvPr id="441" name="Google Shape;441;p21"/>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21</a:t>
            </a:fld>
            <a:endParaRPr/>
          </a:p>
        </p:txBody>
      </p:sp>
      <p:pic>
        <p:nvPicPr>
          <p:cNvPr id="442" name="Google Shape;442;p21"/>
          <p:cNvPicPr preferRelativeResize="0"/>
          <p:nvPr/>
        </p:nvPicPr>
        <p:blipFill rotWithShape="1">
          <a:blip r:embed="rId3">
            <a:alphaModFix/>
          </a:blip>
          <a:srcRect/>
          <a:stretch/>
        </p:blipFill>
        <p:spPr>
          <a:xfrm>
            <a:off x="685800" y="1675021"/>
            <a:ext cx="3362325" cy="4171950"/>
          </a:xfrm>
          <a:prstGeom prst="rect">
            <a:avLst/>
          </a:prstGeom>
          <a:noFill/>
          <a:ln>
            <a:noFill/>
          </a:ln>
        </p:spPr>
      </p:pic>
      <p:pic>
        <p:nvPicPr>
          <p:cNvPr id="443" name="Google Shape;443;p21"/>
          <p:cNvPicPr preferRelativeResize="0"/>
          <p:nvPr/>
        </p:nvPicPr>
        <p:blipFill rotWithShape="1">
          <a:blip r:embed="rId4">
            <a:alphaModFix/>
          </a:blip>
          <a:srcRect/>
          <a:stretch/>
        </p:blipFill>
        <p:spPr>
          <a:xfrm>
            <a:off x="4800600" y="1295400"/>
            <a:ext cx="3805237" cy="4931193"/>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sp>
        <p:nvSpPr>
          <p:cNvPr id="448" name="Google Shape;448;p22"/>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Keypad Scan</a:t>
            </a:r>
            <a:endParaRPr/>
          </a:p>
        </p:txBody>
      </p:sp>
      <p:sp>
        <p:nvSpPr>
          <p:cNvPr id="449" name="Google Shape;449;p22"/>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22</a:t>
            </a:fld>
            <a:endParaRPr/>
          </a:p>
        </p:txBody>
      </p:sp>
      <p:sp>
        <p:nvSpPr>
          <p:cNvPr id="450" name="Google Shape;450;p22"/>
          <p:cNvSpPr txBox="1"/>
          <p:nvPr/>
        </p:nvSpPr>
        <p:spPr>
          <a:xfrm>
            <a:off x="5257800" y="2191434"/>
            <a:ext cx="3223959" cy="14773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Step </a:t>
            </a:r>
            <a:r>
              <a:rPr lang="en-US" sz="1800">
                <a:solidFill>
                  <a:schemeClr val="dk1"/>
                </a:solidFill>
                <a:latin typeface="Consolas"/>
                <a:ea typeface="Consolas"/>
                <a:cs typeface="Consolas"/>
                <a:sym typeface="Consolas"/>
              </a:rPr>
              <a:t>1</a:t>
            </a:r>
            <a:r>
              <a:rPr lang="en-US" sz="1800">
                <a:solidFill>
                  <a:schemeClr val="dk1"/>
                </a:solidFill>
                <a:latin typeface="Gill Sans"/>
                <a:ea typeface="Gill Sans"/>
                <a:cs typeface="Gill Sans"/>
                <a:sym typeface="Gill Sans"/>
              </a:rPr>
              <a:t>:  Set Output </a:t>
            </a:r>
            <a:endParaRPr/>
          </a:p>
          <a:p>
            <a:pPr marL="0" marR="0" lvl="0" indent="0" algn="l" rtl="0">
              <a:spcBef>
                <a:spcPts val="0"/>
              </a:spcBef>
              <a:spcAft>
                <a:spcPts val="0"/>
              </a:spcAft>
              <a:buNone/>
            </a:pPr>
            <a:r>
              <a:rPr lang="en-US" sz="1800">
                <a:solidFill>
                  <a:schemeClr val="dk1"/>
                </a:solidFill>
                <a:latin typeface="Consolas"/>
                <a:ea typeface="Consolas"/>
                <a:cs typeface="Consolas"/>
                <a:sym typeface="Consolas"/>
              </a:rPr>
              <a:t>      R1,R2,R3,R4 = 0000</a:t>
            </a:r>
            <a:endParaRPr/>
          </a:p>
          <a:p>
            <a:pPr marL="0" marR="0" lvl="0" indent="0" algn="l" rtl="0">
              <a:spcBef>
                <a:spcPts val="0"/>
              </a:spcBef>
              <a:spcAft>
                <a:spcPts val="0"/>
              </a:spcAft>
              <a:buNone/>
            </a:pPr>
            <a:endParaRPr sz="1800">
              <a:solidFill>
                <a:schemeClr val="dk1"/>
              </a:solidFill>
              <a:latin typeface="Consolas"/>
              <a:ea typeface="Consolas"/>
              <a:cs typeface="Consolas"/>
              <a:sym typeface="Consolas"/>
            </a:endParaRPr>
          </a:p>
          <a:p>
            <a:pPr marL="0" marR="0" lvl="0" indent="0" algn="l" rtl="0">
              <a:spcBef>
                <a:spcPts val="0"/>
              </a:spcBef>
              <a:spcAft>
                <a:spcPts val="0"/>
              </a:spcAft>
              <a:buNone/>
            </a:pPr>
            <a:r>
              <a:rPr lang="en-US" sz="1800">
                <a:solidFill>
                  <a:schemeClr val="dk1"/>
                </a:solidFill>
                <a:latin typeface="Gill Sans"/>
                <a:ea typeface="Gill Sans"/>
                <a:cs typeface="Gill Sans"/>
                <a:sym typeface="Gill Sans"/>
              </a:rPr>
              <a:t>Step </a:t>
            </a:r>
            <a:r>
              <a:rPr lang="en-US" sz="1800">
                <a:solidFill>
                  <a:schemeClr val="dk1"/>
                </a:solidFill>
                <a:latin typeface="Consolas"/>
                <a:ea typeface="Consolas"/>
                <a:cs typeface="Consolas"/>
                <a:sym typeface="Consolas"/>
              </a:rPr>
              <a:t>2</a:t>
            </a:r>
            <a:r>
              <a:rPr lang="en-US" sz="1800">
                <a:solidFill>
                  <a:schemeClr val="dk1"/>
                </a:solidFill>
                <a:latin typeface="Gill Sans"/>
                <a:ea typeface="Gill Sans"/>
                <a:cs typeface="Gill Sans"/>
                <a:sym typeface="Gill Sans"/>
              </a:rPr>
              <a:t>:  Read Input</a:t>
            </a:r>
            <a:endParaRPr/>
          </a:p>
          <a:p>
            <a:pPr marL="0" marR="0" lvl="0" indent="0" algn="l" rtl="0">
              <a:spcBef>
                <a:spcPts val="0"/>
              </a:spcBef>
              <a:spcAft>
                <a:spcPts val="0"/>
              </a:spcAft>
              <a:buNone/>
            </a:pPr>
            <a:r>
              <a:rPr lang="en-US" sz="1800">
                <a:solidFill>
                  <a:schemeClr val="dk1"/>
                </a:solidFill>
                <a:latin typeface="Consolas"/>
                <a:ea typeface="Consolas"/>
                <a:cs typeface="Consolas"/>
                <a:sym typeface="Consolas"/>
              </a:rPr>
              <a:t>      C1,C2,C3 = 111</a:t>
            </a:r>
            <a:endParaRPr/>
          </a:p>
        </p:txBody>
      </p:sp>
      <p:pic>
        <p:nvPicPr>
          <p:cNvPr id="451" name="Google Shape;451;p22"/>
          <p:cNvPicPr preferRelativeResize="0"/>
          <p:nvPr/>
        </p:nvPicPr>
        <p:blipFill rotWithShape="1">
          <a:blip r:embed="rId3">
            <a:alphaModFix/>
          </a:blip>
          <a:srcRect/>
          <a:stretch/>
        </p:blipFill>
        <p:spPr>
          <a:xfrm>
            <a:off x="228600" y="1295400"/>
            <a:ext cx="3805237" cy="4931193"/>
          </a:xfrm>
          <a:prstGeom prst="rect">
            <a:avLst/>
          </a:prstGeom>
          <a:noFill/>
          <a:ln>
            <a:noFill/>
          </a:ln>
        </p:spPr>
      </p:pic>
      <p:sp>
        <p:nvSpPr>
          <p:cNvPr id="452" name="Google Shape;452;p22"/>
          <p:cNvSpPr txBox="1"/>
          <p:nvPr/>
        </p:nvSpPr>
        <p:spPr>
          <a:xfrm>
            <a:off x="5562600" y="4147066"/>
            <a:ext cx="2174954"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FF0000"/>
                </a:solidFill>
                <a:latin typeface="Cambria Math"/>
                <a:ea typeface="Cambria Math"/>
                <a:cs typeface="Cambria Math"/>
                <a:sym typeface="Cambria Math"/>
              </a:rPr>
              <a:t>⟹ </a:t>
            </a:r>
            <a:r>
              <a:rPr lang="en-US" sz="2000">
                <a:solidFill>
                  <a:srgbClr val="FF0000"/>
                </a:solidFill>
                <a:latin typeface="Gill Sans"/>
                <a:ea typeface="Gill Sans"/>
                <a:cs typeface="Gill Sans"/>
                <a:sym typeface="Gill Sans"/>
              </a:rPr>
              <a:t>No key pressed</a:t>
            </a:r>
            <a:endParaRPr/>
          </a:p>
        </p:txBody>
      </p:sp>
      <p:sp>
        <p:nvSpPr>
          <p:cNvPr id="453" name="Google Shape;453;p22"/>
          <p:cNvSpPr txBox="1"/>
          <p:nvPr/>
        </p:nvSpPr>
        <p:spPr>
          <a:xfrm>
            <a:off x="1066800" y="2170048"/>
            <a:ext cx="35458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FF0000"/>
                </a:solidFill>
                <a:latin typeface="Consolas"/>
                <a:ea typeface="Consolas"/>
                <a:cs typeface="Consolas"/>
                <a:sym typeface="Consolas"/>
              </a:rPr>
              <a:t>0</a:t>
            </a:r>
            <a:endParaRPr/>
          </a:p>
        </p:txBody>
      </p:sp>
      <p:sp>
        <p:nvSpPr>
          <p:cNvPr id="454" name="Google Shape;454;p22"/>
          <p:cNvSpPr txBox="1"/>
          <p:nvPr/>
        </p:nvSpPr>
        <p:spPr>
          <a:xfrm>
            <a:off x="1066800" y="3008248"/>
            <a:ext cx="35458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FF0000"/>
                </a:solidFill>
                <a:latin typeface="Consolas"/>
                <a:ea typeface="Consolas"/>
                <a:cs typeface="Consolas"/>
                <a:sym typeface="Consolas"/>
              </a:rPr>
              <a:t>0</a:t>
            </a:r>
            <a:endParaRPr/>
          </a:p>
        </p:txBody>
      </p:sp>
      <p:sp>
        <p:nvSpPr>
          <p:cNvPr id="455" name="Google Shape;455;p22"/>
          <p:cNvSpPr txBox="1"/>
          <p:nvPr/>
        </p:nvSpPr>
        <p:spPr>
          <a:xfrm>
            <a:off x="1066800" y="3774713"/>
            <a:ext cx="35458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FF0000"/>
                </a:solidFill>
                <a:latin typeface="Consolas"/>
                <a:ea typeface="Consolas"/>
                <a:cs typeface="Consolas"/>
                <a:sym typeface="Consolas"/>
              </a:rPr>
              <a:t>0</a:t>
            </a:r>
            <a:endParaRPr/>
          </a:p>
        </p:txBody>
      </p:sp>
      <p:sp>
        <p:nvSpPr>
          <p:cNvPr id="456" name="Google Shape;456;p22"/>
          <p:cNvSpPr txBox="1"/>
          <p:nvPr/>
        </p:nvSpPr>
        <p:spPr>
          <a:xfrm>
            <a:off x="1093216" y="4608448"/>
            <a:ext cx="35458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FF0000"/>
                </a:solidFill>
                <a:latin typeface="Consolas"/>
                <a:ea typeface="Consolas"/>
                <a:cs typeface="Consolas"/>
                <a:sym typeface="Consolas"/>
              </a:rPr>
              <a:t>0</a:t>
            </a:r>
            <a:endParaRPr/>
          </a:p>
        </p:txBody>
      </p:sp>
      <p:sp>
        <p:nvSpPr>
          <p:cNvPr id="457" name="Google Shape;457;p22"/>
          <p:cNvSpPr txBox="1"/>
          <p:nvPr/>
        </p:nvSpPr>
        <p:spPr>
          <a:xfrm>
            <a:off x="1752600" y="6096000"/>
            <a:ext cx="35458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0000FF"/>
                </a:solidFill>
                <a:latin typeface="Consolas"/>
                <a:ea typeface="Consolas"/>
                <a:cs typeface="Consolas"/>
                <a:sym typeface="Consolas"/>
              </a:rPr>
              <a:t>1</a:t>
            </a:r>
            <a:endParaRPr/>
          </a:p>
        </p:txBody>
      </p:sp>
      <p:sp>
        <p:nvSpPr>
          <p:cNvPr id="458" name="Google Shape;458;p22"/>
          <p:cNvSpPr txBox="1"/>
          <p:nvPr/>
        </p:nvSpPr>
        <p:spPr>
          <a:xfrm>
            <a:off x="2590800" y="6136913"/>
            <a:ext cx="35458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0000FF"/>
                </a:solidFill>
                <a:latin typeface="Consolas"/>
                <a:ea typeface="Consolas"/>
                <a:cs typeface="Consolas"/>
                <a:sym typeface="Consolas"/>
              </a:rPr>
              <a:t>1</a:t>
            </a:r>
            <a:endParaRPr/>
          </a:p>
        </p:txBody>
      </p:sp>
      <p:sp>
        <p:nvSpPr>
          <p:cNvPr id="459" name="Google Shape;459;p22"/>
          <p:cNvSpPr txBox="1"/>
          <p:nvPr/>
        </p:nvSpPr>
        <p:spPr>
          <a:xfrm>
            <a:off x="3352800" y="6096000"/>
            <a:ext cx="35458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0000FF"/>
                </a:solidFill>
                <a:latin typeface="Consolas"/>
                <a:ea typeface="Consolas"/>
                <a:cs typeface="Consolas"/>
                <a:sym typeface="Consolas"/>
              </a:rPr>
              <a:t>1</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23"/>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Keypad Scan</a:t>
            </a:r>
            <a:endParaRPr/>
          </a:p>
        </p:txBody>
      </p:sp>
      <p:sp>
        <p:nvSpPr>
          <p:cNvPr id="465" name="Google Shape;465;p23"/>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23</a:t>
            </a:fld>
            <a:endParaRPr/>
          </a:p>
        </p:txBody>
      </p:sp>
      <p:pic>
        <p:nvPicPr>
          <p:cNvPr id="466" name="Google Shape;466;p23"/>
          <p:cNvPicPr preferRelativeResize="0"/>
          <p:nvPr/>
        </p:nvPicPr>
        <p:blipFill rotWithShape="1">
          <a:blip r:embed="rId3">
            <a:alphaModFix/>
          </a:blip>
          <a:srcRect/>
          <a:stretch/>
        </p:blipFill>
        <p:spPr>
          <a:xfrm>
            <a:off x="533400" y="1524000"/>
            <a:ext cx="3362325" cy="4171950"/>
          </a:xfrm>
          <a:prstGeom prst="rect">
            <a:avLst/>
          </a:prstGeom>
          <a:noFill/>
          <a:ln>
            <a:noFill/>
          </a:ln>
        </p:spPr>
      </p:pic>
      <p:sp>
        <p:nvSpPr>
          <p:cNvPr id="467" name="Google Shape;467;p23"/>
          <p:cNvSpPr/>
          <p:nvPr/>
        </p:nvSpPr>
        <p:spPr>
          <a:xfrm>
            <a:off x="2214562" y="4419600"/>
            <a:ext cx="604838" cy="609600"/>
          </a:xfrm>
          <a:prstGeom prst="rect">
            <a:avLst/>
          </a:prstGeom>
          <a:noFill/>
          <a:ln w="381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468" name="Google Shape;468;p23"/>
          <p:cNvSpPr txBox="1"/>
          <p:nvPr/>
        </p:nvSpPr>
        <p:spPr>
          <a:xfrm>
            <a:off x="1447800" y="5791200"/>
            <a:ext cx="211134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FF0000"/>
                </a:solidFill>
                <a:latin typeface="Gill Sans"/>
                <a:ea typeface="Gill Sans"/>
                <a:cs typeface="Gill Sans"/>
                <a:sym typeface="Gill Sans"/>
              </a:rPr>
              <a:t>Key “0” is pressed</a:t>
            </a:r>
            <a:endParaRPr/>
          </a:p>
        </p:txBody>
      </p:sp>
      <p:pic>
        <p:nvPicPr>
          <p:cNvPr id="469" name="Google Shape;469;p23"/>
          <p:cNvPicPr preferRelativeResize="0"/>
          <p:nvPr/>
        </p:nvPicPr>
        <p:blipFill rotWithShape="1">
          <a:blip r:embed="rId4">
            <a:alphaModFix/>
          </a:blip>
          <a:srcRect/>
          <a:stretch/>
        </p:blipFill>
        <p:spPr>
          <a:xfrm>
            <a:off x="4648200" y="1219200"/>
            <a:ext cx="3880866" cy="5029200"/>
          </a:xfrm>
          <a:prstGeom prst="rect">
            <a:avLst/>
          </a:prstGeom>
          <a:noFill/>
          <a:ln>
            <a:noFill/>
          </a:ln>
        </p:spPr>
      </p:pic>
      <p:sp>
        <p:nvSpPr>
          <p:cNvPr id="470" name="Google Shape;470;p23"/>
          <p:cNvSpPr/>
          <p:nvPr/>
        </p:nvSpPr>
        <p:spPr>
          <a:xfrm>
            <a:off x="6781800" y="4953000"/>
            <a:ext cx="533400" cy="457200"/>
          </a:xfrm>
          <a:prstGeom prst="rect">
            <a:avLst/>
          </a:prstGeom>
          <a:noFill/>
          <a:ln w="381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475" name="Google Shape;475;p24"/>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Keypad Scan</a:t>
            </a:r>
            <a:endParaRPr/>
          </a:p>
        </p:txBody>
      </p:sp>
      <p:sp>
        <p:nvSpPr>
          <p:cNvPr id="476" name="Google Shape;476;p24"/>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24</a:t>
            </a:fld>
            <a:endParaRPr/>
          </a:p>
        </p:txBody>
      </p:sp>
      <p:pic>
        <p:nvPicPr>
          <p:cNvPr id="477" name="Google Shape;477;p24"/>
          <p:cNvPicPr preferRelativeResize="0"/>
          <p:nvPr/>
        </p:nvPicPr>
        <p:blipFill rotWithShape="1">
          <a:blip r:embed="rId3">
            <a:alphaModFix/>
          </a:blip>
          <a:srcRect/>
          <a:stretch/>
        </p:blipFill>
        <p:spPr>
          <a:xfrm>
            <a:off x="457200" y="1183913"/>
            <a:ext cx="3880866" cy="5029200"/>
          </a:xfrm>
          <a:prstGeom prst="rect">
            <a:avLst/>
          </a:prstGeom>
          <a:noFill/>
          <a:ln>
            <a:noFill/>
          </a:ln>
        </p:spPr>
      </p:pic>
      <p:sp>
        <p:nvSpPr>
          <p:cNvPr id="478" name="Google Shape;478;p24"/>
          <p:cNvSpPr/>
          <p:nvPr/>
        </p:nvSpPr>
        <p:spPr>
          <a:xfrm>
            <a:off x="2590800" y="4839280"/>
            <a:ext cx="609600" cy="723320"/>
          </a:xfrm>
          <a:prstGeom prst="rect">
            <a:avLst/>
          </a:prstGeom>
          <a:noFill/>
          <a:ln w="381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479" name="Google Shape;479;p24"/>
          <p:cNvSpPr txBox="1"/>
          <p:nvPr/>
        </p:nvSpPr>
        <p:spPr>
          <a:xfrm>
            <a:off x="5257800" y="2191434"/>
            <a:ext cx="3505200" cy="23083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Step </a:t>
            </a:r>
            <a:r>
              <a:rPr lang="en-US" sz="1800">
                <a:solidFill>
                  <a:schemeClr val="dk1"/>
                </a:solidFill>
                <a:latin typeface="Consolas"/>
                <a:ea typeface="Consolas"/>
                <a:cs typeface="Consolas"/>
                <a:sym typeface="Consolas"/>
              </a:rPr>
              <a:t>1</a:t>
            </a:r>
            <a:r>
              <a:rPr lang="en-US" sz="1800">
                <a:solidFill>
                  <a:schemeClr val="dk1"/>
                </a:solidFill>
                <a:latin typeface="Gill Sans"/>
                <a:ea typeface="Gill Sans"/>
                <a:cs typeface="Gill Sans"/>
                <a:sym typeface="Gill Sans"/>
              </a:rPr>
              <a:t>:  Set Output </a:t>
            </a:r>
            <a:endParaRPr/>
          </a:p>
          <a:p>
            <a:pPr marL="0" marR="0" lvl="0" indent="0" algn="l" rtl="0">
              <a:spcBef>
                <a:spcPts val="0"/>
              </a:spcBef>
              <a:spcAft>
                <a:spcPts val="0"/>
              </a:spcAft>
              <a:buNone/>
            </a:pPr>
            <a:r>
              <a:rPr lang="en-US" sz="1800">
                <a:solidFill>
                  <a:schemeClr val="dk1"/>
                </a:solidFill>
                <a:latin typeface="Consolas"/>
                <a:ea typeface="Consolas"/>
                <a:cs typeface="Consolas"/>
                <a:sym typeface="Consolas"/>
              </a:rPr>
              <a:t>      R1,R2,R3,R4 = 0000</a:t>
            </a:r>
            <a:endParaRPr/>
          </a:p>
          <a:p>
            <a:pPr marL="0" marR="0" lvl="0" indent="0" algn="l" rtl="0">
              <a:spcBef>
                <a:spcPts val="0"/>
              </a:spcBef>
              <a:spcAft>
                <a:spcPts val="0"/>
              </a:spcAft>
              <a:buNone/>
            </a:pPr>
            <a:endParaRPr sz="1800">
              <a:solidFill>
                <a:schemeClr val="dk1"/>
              </a:solidFill>
              <a:latin typeface="Consolas"/>
              <a:ea typeface="Consolas"/>
              <a:cs typeface="Consolas"/>
              <a:sym typeface="Consolas"/>
            </a:endParaRPr>
          </a:p>
          <a:p>
            <a:pPr marL="0" marR="0" lvl="0" indent="0" algn="l" rtl="0">
              <a:spcBef>
                <a:spcPts val="0"/>
              </a:spcBef>
              <a:spcAft>
                <a:spcPts val="0"/>
              </a:spcAft>
              <a:buNone/>
            </a:pPr>
            <a:r>
              <a:rPr lang="en-US" sz="1800">
                <a:solidFill>
                  <a:schemeClr val="dk1"/>
                </a:solidFill>
                <a:latin typeface="Gill Sans"/>
                <a:ea typeface="Gill Sans"/>
                <a:cs typeface="Gill Sans"/>
                <a:sym typeface="Gill Sans"/>
              </a:rPr>
              <a:t>Step </a:t>
            </a:r>
            <a:r>
              <a:rPr lang="en-US" sz="1800">
                <a:solidFill>
                  <a:schemeClr val="dk1"/>
                </a:solidFill>
                <a:latin typeface="Consolas"/>
                <a:ea typeface="Consolas"/>
                <a:cs typeface="Consolas"/>
                <a:sym typeface="Consolas"/>
              </a:rPr>
              <a:t>2</a:t>
            </a:r>
            <a:r>
              <a:rPr lang="en-US" sz="1800">
                <a:solidFill>
                  <a:schemeClr val="dk1"/>
                </a:solidFill>
                <a:latin typeface="Gill Sans"/>
                <a:ea typeface="Gill Sans"/>
                <a:cs typeface="Gill Sans"/>
                <a:sym typeface="Gill Sans"/>
              </a:rPr>
              <a:t>:  Read Input</a:t>
            </a:r>
            <a:endParaRPr/>
          </a:p>
          <a:p>
            <a:pPr marL="0" marR="0" lvl="0" indent="0" algn="l" rtl="0">
              <a:spcBef>
                <a:spcPts val="0"/>
              </a:spcBef>
              <a:spcAft>
                <a:spcPts val="0"/>
              </a:spcAft>
              <a:buNone/>
            </a:pPr>
            <a:r>
              <a:rPr lang="en-US" sz="1800">
                <a:solidFill>
                  <a:schemeClr val="dk1"/>
                </a:solidFill>
                <a:latin typeface="Consolas"/>
                <a:ea typeface="Consolas"/>
                <a:cs typeface="Consolas"/>
                <a:sym typeface="Consolas"/>
              </a:rPr>
              <a:t>      C1,C2,C3 = 101</a:t>
            </a:r>
            <a:endParaRPr/>
          </a:p>
          <a:p>
            <a:pPr marL="0" marR="0" lvl="0" indent="0" algn="l" rtl="0">
              <a:spcBef>
                <a:spcPts val="0"/>
              </a:spcBef>
              <a:spcAft>
                <a:spcPts val="0"/>
              </a:spcAft>
              <a:buNone/>
            </a:pPr>
            <a:endParaRPr sz="1800">
              <a:solidFill>
                <a:schemeClr val="dk1"/>
              </a:solidFill>
              <a:latin typeface="Consolas"/>
              <a:ea typeface="Consolas"/>
              <a:cs typeface="Consolas"/>
              <a:sym typeface="Consolas"/>
            </a:endParaRPr>
          </a:p>
          <a:p>
            <a:pPr marL="0" marR="0" lvl="0" indent="0" algn="l" rtl="0">
              <a:spcBef>
                <a:spcPts val="0"/>
              </a:spcBef>
              <a:spcAft>
                <a:spcPts val="0"/>
              </a:spcAft>
              <a:buNone/>
            </a:pPr>
            <a:r>
              <a:rPr lang="en-US" sz="1800">
                <a:solidFill>
                  <a:srgbClr val="FF0000"/>
                </a:solidFill>
                <a:latin typeface="Consolas"/>
                <a:ea typeface="Consolas"/>
                <a:cs typeface="Consolas"/>
                <a:sym typeface="Consolas"/>
              </a:rPr>
              <a:t>⟹ Some key in 2</a:t>
            </a:r>
            <a:r>
              <a:rPr lang="en-US" sz="1800" baseline="30000">
                <a:solidFill>
                  <a:srgbClr val="FF0000"/>
                </a:solidFill>
                <a:latin typeface="Consolas"/>
                <a:ea typeface="Consolas"/>
                <a:cs typeface="Consolas"/>
                <a:sym typeface="Consolas"/>
              </a:rPr>
              <a:t>nd</a:t>
            </a:r>
            <a:r>
              <a:rPr lang="en-US" sz="1800">
                <a:solidFill>
                  <a:srgbClr val="FF0000"/>
                </a:solidFill>
                <a:latin typeface="Consolas"/>
                <a:ea typeface="Consolas"/>
                <a:cs typeface="Consolas"/>
                <a:sym typeface="Consolas"/>
              </a:rPr>
              <a:t> column is pressed down</a:t>
            </a:r>
            <a:endParaRPr sz="1800">
              <a:solidFill>
                <a:srgbClr val="FF0000"/>
              </a:solidFill>
              <a:latin typeface="Consolas"/>
              <a:ea typeface="Consolas"/>
              <a:cs typeface="Consolas"/>
              <a:sym typeface="Consolas"/>
            </a:endParaRPr>
          </a:p>
        </p:txBody>
      </p:sp>
      <p:sp>
        <p:nvSpPr>
          <p:cNvPr id="480" name="Google Shape;480;p24"/>
          <p:cNvSpPr txBox="1"/>
          <p:nvPr/>
        </p:nvSpPr>
        <p:spPr>
          <a:xfrm>
            <a:off x="1447800" y="2170048"/>
            <a:ext cx="35458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FF0000"/>
                </a:solidFill>
                <a:latin typeface="Consolas"/>
                <a:ea typeface="Consolas"/>
                <a:cs typeface="Consolas"/>
                <a:sym typeface="Consolas"/>
              </a:rPr>
              <a:t>0</a:t>
            </a:r>
            <a:endParaRPr/>
          </a:p>
        </p:txBody>
      </p:sp>
      <p:sp>
        <p:nvSpPr>
          <p:cNvPr id="481" name="Google Shape;481;p24"/>
          <p:cNvSpPr txBox="1"/>
          <p:nvPr/>
        </p:nvSpPr>
        <p:spPr>
          <a:xfrm>
            <a:off x="1447800" y="3008248"/>
            <a:ext cx="35458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FF0000"/>
                </a:solidFill>
                <a:latin typeface="Consolas"/>
                <a:ea typeface="Consolas"/>
                <a:cs typeface="Consolas"/>
                <a:sym typeface="Consolas"/>
              </a:rPr>
              <a:t>0</a:t>
            </a:r>
            <a:endParaRPr/>
          </a:p>
        </p:txBody>
      </p:sp>
      <p:sp>
        <p:nvSpPr>
          <p:cNvPr id="482" name="Google Shape;482;p24"/>
          <p:cNvSpPr txBox="1"/>
          <p:nvPr/>
        </p:nvSpPr>
        <p:spPr>
          <a:xfrm>
            <a:off x="1447800" y="3774713"/>
            <a:ext cx="35458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FF0000"/>
                </a:solidFill>
                <a:latin typeface="Consolas"/>
                <a:ea typeface="Consolas"/>
                <a:cs typeface="Consolas"/>
                <a:sym typeface="Consolas"/>
              </a:rPr>
              <a:t>0</a:t>
            </a:r>
            <a:endParaRPr/>
          </a:p>
        </p:txBody>
      </p:sp>
      <p:sp>
        <p:nvSpPr>
          <p:cNvPr id="483" name="Google Shape;483;p24"/>
          <p:cNvSpPr txBox="1"/>
          <p:nvPr/>
        </p:nvSpPr>
        <p:spPr>
          <a:xfrm>
            <a:off x="1474216" y="4608448"/>
            <a:ext cx="35458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FF0000"/>
                </a:solidFill>
                <a:latin typeface="Consolas"/>
                <a:ea typeface="Consolas"/>
                <a:cs typeface="Consolas"/>
                <a:sym typeface="Consolas"/>
              </a:rPr>
              <a:t>0</a:t>
            </a:r>
            <a:endParaRPr/>
          </a:p>
        </p:txBody>
      </p:sp>
      <p:sp>
        <p:nvSpPr>
          <p:cNvPr id="484" name="Google Shape;484;p24"/>
          <p:cNvSpPr txBox="1"/>
          <p:nvPr/>
        </p:nvSpPr>
        <p:spPr>
          <a:xfrm>
            <a:off x="2007616" y="6096000"/>
            <a:ext cx="35458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0000FF"/>
                </a:solidFill>
                <a:latin typeface="Consolas"/>
                <a:ea typeface="Consolas"/>
                <a:cs typeface="Consolas"/>
                <a:sym typeface="Consolas"/>
              </a:rPr>
              <a:t>1</a:t>
            </a:r>
            <a:endParaRPr/>
          </a:p>
        </p:txBody>
      </p:sp>
      <p:sp>
        <p:nvSpPr>
          <p:cNvPr id="485" name="Google Shape;485;p24"/>
          <p:cNvSpPr txBox="1"/>
          <p:nvPr/>
        </p:nvSpPr>
        <p:spPr>
          <a:xfrm>
            <a:off x="2845816" y="6136913"/>
            <a:ext cx="35458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0000FF"/>
                </a:solidFill>
                <a:latin typeface="Consolas"/>
                <a:ea typeface="Consolas"/>
                <a:cs typeface="Consolas"/>
                <a:sym typeface="Consolas"/>
              </a:rPr>
              <a:t>0</a:t>
            </a:r>
            <a:endParaRPr/>
          </a:p>
        </p:txBody>
      </p:sp>
      <p:sp>
        <p:nvSpPr>
          <p:cNvPr id="486" name="Google Shape;486;p24"/>
          <p:cNvSpPr txBox="1"/>
          <p:nvPr/>
        </p:nvSpPr>
        <p:spPr>
          <a:xfrm>
            <a:off x="3607816" y="6096000"/>
            <a:ext cx="35458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0000FF"/>
                </a:solidFill>
                <a:latin typeface="Consolas"/>
                <a:ea typeface="Consolas"/>
                <a:cs typeface="Consolas"/>
                <a:sym typeface="Consolas"/>
              </a:rPr>
              <a:t>1</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491" name="Google Shape;491;p25"/>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Keypad Scan</a:t>
            </a:r>
            <a:endParaRPr/>
          </a:p>
        </p:txBody>
      </p:sp>
      <p:sp>
        <p:nvSpPr>
          <p:cNvPr id="492" name="Google Shape;492;p25"/>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25</a:t>
            </a:fld>
            <a:endParaRPr/>
          </a:p>
        </p:txBody>
      </p:sp>
      <p:pic>
        <p:nvPicPr>
          <p:cNvPr id="493" name="Google Shape;493;p25"/>
          <p:cNvPicPr preferRelativeResize="0"/>
          <p:nvPr/>
        </p:nvPicPr>
        <p:blipFill rotWithShape="1">
          <a:blip r:embed="rId3">
            <a:alphaModFix/>
          </a:blip>
          <a:srcRect/>
          <a:stretch/>
        </p:blipFill>
        <p:spPr>
          <a:xfrm>
            <a:off x="457200" y="1183913"/>
            <a:ext cx="3880866" cy="5029200"/>
          </a:xfrm>
          <a:prstGeom prst="rect">
            <a:avLst/>
          </a:prstGeom>
          <a:noFill/>
          <a:ln>
            <a:noFill/>
          </a:ln>
        </p:spPr>
      </p:pic>
      <p:sp>
        <p:nvSpPr>
          <p:cNvPr id="494" name="Google Shape;494;p25"/>
          <p:cNvSpPr/>
          <p:nvPr/>
        </p:nvSpPr>
        <p:spPr>
          <a:xfrm>
            <a:off x="2590800" y="4839280"/>
            <a:ext cx="609600" cy="723320"/>
          </a:xfrm>
          <a:prstGeom prst="rect">
            <a:avLst/>
          </a:prstGeom>
          <a:noFill/>
          <a:ln w="381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495" name="Google Shape;495;p25"/>
          <p:cNvSpPr txBox="1"/>
          <p:nvPr/>
        </p:nvSpPr>
        <p:spPr>
          <a:xfrm>
            <a:off x="5257800" y="2191434"/>
            <a:ext cx="3350597" cy="369331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Step </a:t>
            </a:r>
            <a:r>
              <a:rPr lang="en-US" sz="1800">
                <a:solidFill>
                  <a:schemeClr val="dk1"/>
                </a:solidFill>
                <a:latin typeface="Consolas"/>
                <a:ea typeface="Consolas"/>
                <a:cs typeface="Consolas"/>
                <a:sym typeface="Consolas"/>
              </a:rPr>
              <a:t>1</a:t>
            </a:r>
            <a:r>
              <a:rPr lang="en-US" sz="1800">
                <a:solidFill>
                  <a:schemeClr val="dk1"/>
                </a:solidFill>
                <a:latin typeface="Gill Sans"/>
                <a:ea typeface="Gill Sans"/>
                <a:cs typeface="Gill Sans"/>
                <a:sym typeface="Gill Sans"/>
              </a:rPr>
              <a:t>:  Set Output </a:t>
            </a:r>
            <a:endParaRPr/>
          </a:p>
          <a:p>
            <a:pPr marL="0" marR="0" lvl="0" indent="0" algn="l" rtl="0">
              <a:spcBef>
                <a:spcPts val="0"/>
              </a:spcBef>
              <a:spcAft>
                <a:spcPts val="0"/>
              </a:spcAft>
              <a:buNone/>
            </a:pPr>
            <a:r>
              <a:rPr lang="en-US" sz="1800">
                <a:solidFill>
                  <a:schemeClr val="dk1"/>
                </a:solidFill>
                <a:latin typeface="Consolas"/>
                <a:ea typeface="Consolas"/>
                <a:cs typeface="Consolas"/>
                <a:sym typeface="Consolas"/>
              </a:rPr>
              <a:t>      R1,R2,R3,R4 = 0000</a:t>
            </a:r>
            <a:endParaRPr/>
          </a:p>
          <a:p>
            <a:pPr marL="0" marR="0" lvl="0" indent="0" algn="l" rtl="0">
              <a:spcBef>
                <a:spcPts val="0"/>
              </a:spcBef>
              <a:spcAft>
                <a:spcPts val="0"/>
              </a:spcAft>
              <a:buNone/>
            </a:pPr>
            <a:endParaRPr sz="1800">
              <a:solidFill>
                <a:schemeClr val="dk1"/>
              </a:solidFill>
              <a:latin typeface="Consolas"/>
              <a:ea typeface="Consolas"/>
              <a:cs typeface="Consolas"/>
              <a:sym typeface="Consolas"/>
            </a:endParaRPr>
          </a:p>
          <a:p>
            <a:pPr marL="0" marR="0" lvl="0" indent="0" algn="l" rtl="0">
              <a:spcBef>
                <a:spcPts val="0"/>
              </a:spcBef>
              <a:spcAft>
                <a:spcPts val="0"/>
              </a:spcAft>
              <a:buNone/>
            </a:pPr>
            <a:r>
              <a:rPr lang="en-US" sz="1800">
                <a:solidFill>
                  <a:schemeClr val="dk1"/>
                </a:solidFill>
                <a:latin typeface="Gill Sans"/>
                <a:ea typeface="Gill Sans"/>
                <a:cs typeface="Gill Sans"/>
                <a:sym typeface="Gill Sans"/>
              </a:rPr>
              <a:t>Step </a:t>
            </a:r>
            <a:r>
              <a:rPr lang="en-US" sz="1800">
                <a:solidFill>
                  <a:schemeClr val="dk1"/>
                </a:solidFill>
                <a:latin typeface="Consolas"/>
                <a:ea typeface="Consolas"/>
                <a:cs typeface="Consolas"/>
                <a:sym typeface="Consolas"/>
              </a:rPr>
              <a:t>2</a:t>
            </a:r>
            <a:r>
              <a:rPr lang="en-US" sz="1800">
                <a:solidFill>
                  <a:schemeClr val="dk1"/>
                </a:solidFill>
                <a:latin typeface="Gill Sans"/>
                <a:ea typeface="Gill Sans"/>
                <a:cs typeface="Gill Sans"/>
                <a:sym typeface="Gill Sans"/>
              </a:rPr>
              <a:t>:  Read Input</a:t>
            </a:r>
            <a:endParaRPr/>
          </a:p>
          <a:p>
            <a:pPr marL="0" marR="0" lvl="0" indent="0" algn="l" rtl="0">
              <a:spcBef>
                <a:spcPts val="0"/>
              </a:spcBef>
              <a:spcAft>
                <a:spcPts val="0"/>
              </a:spcAft>
              <a:buNone/>
            </a:pPr>
            <a:r>
              <a:rPr lang="en-US" sz="1800">
                <a:solidFill>
                  <a:schemeClr val="dk1"/>
                </a:solidFill>
                <a:latin typeface="Consolas"/>
                <a:ea typeface="Consolas"/>
                <a:cs typeface="Consolas"/>
                <a:sym typeface="Consolas"/>
              </a:rPr>
              <a:t>      C1,C2,C3 = 101</a:t>
            </a:r>
            <a:endParaRPr/>
          </a:p>
          <a:p>
            <a:pPr marL="0" marR="0" lvl="0" indent="0" algn="l" rtl="0">
              <a:spcBef>
                <a:spcPts val="0"/>
              </a:spcBef>
              <a:spcAft>
                <a:spcPts val="0"/>
              </a:spcAft>
              <a:buNone/>
            </a:pPr>
            <a:endParaRPr sz="1800">
              <a:solidFill>
                <a:schemeClr val="dk1"/>
              </a:solidFill>
              <a:latin typeface="Consolas"/>
              <a:ea typeface="Consolas"/>
              <a:cs typeface="Consolas"/>
              <a:sym typeface="Consolas"/>
            </a:endParaRPr>
          </a:p>
          <a:p>
            <a:pPr marL="0" marR="0" lvl="0" indent="0" algn="l" rtl="0">
              <a:spcBef>
                <a:spcPts val="0"/>
              </a:spcBef>
              <a:spcAft>
                <a:spcPts val="0"/>
              </a:spcAft>
              <a:buNone/>
            </a:pPr>
            <a:r>
              <a:rPr lang="en-US" sz="1800">
                <a:solidFill>
                  <a:srgbClr val="FF0000"/>
                </a:solidFill>
                <a:latin typeface="Gill Sans"/>
                <a:ea typeface="Gill Sans"/>
                <a:cs typeface="Gill Sans"/>
                <a:sym typeface="Gill Sans"/>
              </a:rPr>
              <a:t>Step 3a:  Scan </a:t>
            </a:r>
            <a:r>
              <a:rPr lang="en-US" sz="1800">
                <a:solidFill>
                  <a:srgbClr val="FF0000"/>
                </a:solidFill>
                <a:latin typeface="Consolas"/>
                <a:ea typeface="Consolas"/>
                <a:cs typeface="Consolas"/>
                <a:sym typeface="Consolas"/>
              </a:rPr>
              <a:t>1</a:t>
            </a:r>
            <a:r>
              <a:rPr lang="en-US" sz="1800" baseline="30000">
                <a:solidFill>
                  <a:srgbClr val="FF0000"/>
                </a:solidFill>
                <a:latin typeface="Gill Sans"/>
                <a:ea typeface="Gill Sans"/>
                <a:cs typeface="Gill Sans"/>
                <a:sym typeface="Gill Sans"/>
              </a:rPr>
              <a:t>st</a:t>
            </a:r>
            <a:r>
              <a:rPr lang="en-US" sz="1800">
                <a:solidFill>
                  <a:srgbClr val="FF0000"/>
                </a:solidFill>
                <a:latin typeface="Gill Sans"/>
                <a:ea typeface="Gill Sans"/>
                <a:cs typeface="Gill Sans"/>
                <a:sym typeface="Gill Sans"/>
              </a:rPr>
              <a:t> row</a:t>
            </a:r>
            <a:endParaRPr/>
          </a:p>
          <a:p>
            <a:pPr marL="0" marR="0" lvl="0" indent="0" algn="l" rtl="0">
              <a:spcBef>
                <a:spcPts val="0"/>
              </a:spcBef>
              <a:spcAft>
                <a:spcPts val="0"/>
              </a:spcAft>
              <a:buNone/>
            </a:pPr>
            <a:r>
              <a:rPr lang="en-US" sz="1800">
                <a:solidFill>
                  <a:srgbClr val="FF0000"/>
                </a:solidFill>
                <a:latin typeface="Consolas"/>
                <a:ea typeface="Consolas"/>
                <a:cs typeface="Consolas"/>
                <a:sym typeface="Consolas"/>
              </a:rPr>
              <a:t>      R1,R2,R3,R4 = 0111</a:t>
            </a:r>
            <a:endParaRPr/>
          </a:p>
          <a:p>
            <a:pPr marL="0" marR="0" lvl="0" indent="0" algn="l" rtl="0">
              <a:spcBef>
                <a:spcPts val="0"/>
              </a:spcBef>
              <a:spcAft>
                <a:spcPts val="0"/>
              </a:spcAft>
              <a:buNone/>
            </a:pPr>
            <a:r>
              <a:rPr lang="en-US" sz="1800">
                <a:solidFill>
                  <a:srgbClr val="FF0000"/>
                </a:solidFill>
                <a:latin typeface="Consolas"/>
                <a:ea typeface="Consolas"/>
                <a:cs typeface="Consolas"/>
                <a:sym typeface="Consolas"/>
              </a:rPr>
              <a:t>      C1,C2,C3 = 111</a:t>
            </a:r>
            <a:endParaRPr/>
          </a:p>
          <a:p>
            <a:pPr marL="0" marR="0" lvl="0" indent="0" algn="l" rtl="0">
              <a:spcBef>
                <a:spcPts val="0"/>
              </a:spcBef>
              <a:spcAft>
                <a:spcPts val="0"/>
              </a:spcAft>
              <a:buNone/>
            </a:pPr>
            <a:endParaRPr sz="1800">
              <a:solidFill>
                <a:schemeClr val="dk1"/>
              </a:solidFill>
              <a:latin typeface="Consolas"/>
              <a:ea typeface="Consolas"/>
              <a:cs typeface="Consolas"/>
              <a:sym typeface="Consolas"/>
            </a:endParaRPr>
          </a:p>
          <a:p>
            <a:pPr marL="0" marR="0" lvl="0" indent="0" algn="l" rtl="0">
              <a:spcBef>
                <a:spcPts val="0"/>
              </a:spcBef>
              <a:spcAft>
                <a:spcPts val="0"/>
              </a:spcAft>
              <a:buNone/>
            </a:pPr>
            <a:r>
              <a:rPr lang="en-US" sz="1800">
                <a:solidFill>
                  <a:srgbClr val="FF0000"/>
                </a:solidFill>
                <a:latin typeface="Consolas"/>
                <a:ea typeface="Consolas"/>
                <a:cs typeface="Consolas"/>
                <a:sym typeface="Consolas"/>
              </a:rPr>
              <a:t>⟹ No key in 1</a:t>
            </a:r>
            <a:r>
              <a:rPr lang="en-US" sz="1800" baseline="30000">
                <a:solidFill>
                  <a:srgbClr val="FF0000"/>
                </a:solidFill>
                <a:latin typeface="Consolas"/>
                <a:ea typeface="Consolas"/>
                <a:cs typeface="Consolas"/>
                <a:sym typeface="Consolas"/>
              </a:rPr>
              <a:t>st</a:t>
            </a:r>
            <a:r>
              <a:rPr lang="en-US" sz="1800">
                <a:solidFill>
                  <a:srgbClr val="FF0000"/>
                </a:solidFill>
                <a:latin typeface="Consolas"/>
                <a:ea typeface="Consolas"/>
                <a:cs typeface="Consolas"/>
                <a:sym typeface="Consolas"/>
              </a:rPr>
              <a:t> row</a:t>
            </a:r>
            <a:endParaRPr/>
          </a:p>
          <a:p>
            <a:pPr marL="0" marR="0" lvl="0" indent="0" algn="l" rtl="0">
              <a:spcBef>
                <a:spcPts val="0"/>
              </a:spcBef>
              <a:spcAft>
                <a:spcPts val="0"/>
              </a:spcAft>
              <a:buNone/>
            </a:pPr>
            <a:r>
              <a:rPr lang="en-US" sz="1800">
                <a:solidFill>
                  <a:srgbClr val="FF0000"/>
                </a:solidFill>
                <a:latin typeface="Consolas"/>
                <a:ea typeface="Consolas"/>
                <a:cs typeface="Consolas"/>
                <a:sym typeface="Consolas"/>
              </a:rPr>
              <a:t>   is pressed down</a:t>
            </a:r>
            <a:endParaRPr sz="1800">
              <a:solidFill>
                <a:schemeClr val="dk1"/>
              </a:solidFill>
              <a:latin typeface="Consolas"/>
              <a:ea typeface="Consolas"/>
              <a:cs typeface="Consolas"/>
              <a:sym typeface="Consolas"/>
            </a:endParaRPr>
          </a:p>
          <a:p>
            <a:pPr marL="0" marR="0" lvl="0" indent="0" algn="l" rtl="0">
              <a:spcBef>
                <a:spcPts val="0"/>
              </a:spcBef>
              <a:spcAft>
                <a:spcPts val="0"/>
              </a:spcAft>
              <a:buNone/>
            </a:pPr>
            <a:endParaRPr sz="1800">
              <a:solidFill>
                <a:schemeClr val="dk1"/>
              </a:solidFill>
              <a:latin typeface="Consolas"/>
              <a:ea typeface="Consolas"/>
              <a:cs typeface="Consolas"/>
              <a:sym typeface="Consolas"/>
            </a:endParaRPr>
          </a:p>
        </p:txBody>
      </p:sp>
      <p:sp>
        <p:nvSpPr>
          <p:cNvPr id="496" name="Google Shape;496;p25"/>
          <p:cNvSpPr txBox="1"/>
          <p:nvPr/>
        </p:nvSpPr>
        <p:spPr>
          <a:xfrm>
            <a:off x="1447800" y="2170048"/>
            <a:ext cx="35458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FF0000"/>
                </a:solidFill>
                <a:latin typeface="Consolas"/>
                <a:ea typeface="Consolas"/>
                <a:cs typeface="Consolas"/>
                <a:sym typeface="Consolas"/>
              </a:rPr>
              <a:t>0</a:t>
            </a:r>
            <a:endParaRPr/>
          </a:p>
        </p:txBody>
      </p:sp>
      <p:sp>
        <p:nvSpPr>
          <p:cNvPr id="497" name="Google Shape;497;p25"/>
          <p:cNvSpPr txBox="1"/>
          <p:nvPr/>
        </p:nvSpPr>
        <p:spPr>
          <a:xfrm>
            <a:off x="1447800" y="3008248"/>
            <a:ext cx="35458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FF0000"/>
                </a:solidFill>
                <a:latin typeface="Consolas"/>
                <a:ea typeface="Consolas"/>
                <a:cs typeface="Consolas"/>
                <a:sym typeface="Consolas"/>
              </a:rPr>
              <a:t>1</a:t>
            </a:r>
            <a:endParaRPr/>
          </a:p>
        </p:txBody>
      </p:sp>
      <p:sp>
        <p:nvSpPr>
          <p:cNvPr id="498" name="Google Shape;498;p25"/>
          <p:cNvSpPr txBox="1"/>
          <p:nvPr/>
        </p:nvSpPr>
        <p:spPr>
          <a:xfrm>
            <a:off x="1447800" y="3774713"/>
            <a:ext cx="35458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FF0000"/>
                </a:solidFill>
                <a:latin typeface="Consolas"/>
                <a:ea typeface="Consolas"/>
                <a:cs typeface="Consolas"/>
                <a:sym typeface="Consolas"/>
              </a:rPr>
              <a:t>1</a:t>
            </a:r>
            <a:endParaRPr/>
          </a:p>
        </p:txBody>
      </p:sp>
      <p:sp>
        <p:nvSpPr>
          <p:cNvPr id="499" name="Google Shape;499;p25"/>
          <p:cNvSpPr txBox="1"/>
          <p:nvPr/>
        </p:nvSpPr>
        <p:spPr>
          <a:xfrm>
            <a:off x="1474216" y="4608448"/>
            <a:ext cx="35458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FF0000"/>
                </a:solidFill>
                <a:latin typeface="Consolas"/>
                <a:ea typeface="Consolas"/>
                <a:cs typeface="Consolas"/>
                <a:sym typeface="Consolas"/>
              </a:rPr>
              <a:t>1</a:t>
            </a:r>
            <a:endParaRPr/>
          </a:p>
        </p:txBody>
      </p:sp>
      <p:sp>
        <p:nvSpPr>
          <p:cNvPr id="500" name="Google Shape;500;p25"/>
          <p:cNvSpPr txBox="1"/>
          <p:nvPr/>
        </p:nvSpPr>
        <p:spPr>
          <a:xfrm>
            <a:off x="2007616" y="6096000"/>
            <a:ext cx="35458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0000FF"/>
                </a:solidFill>
                <a:latin typeface="Consolas"/>
                <a:ea typeface="Consolas"/>
                <a:cs typeface="Consolas"/>
                <a:sym typeface="Consolas"/>
              </a:rPr>
              <a:t>1</a:t>
            </a:r>
            <a:endParaRPr/>
          </a:p>
        </p:txBody>
      </p:sp>
      <p:sp>
        <p:nvSpPr>
          <p:cNvPr id="501" name="Google Shape;501;p25"/>
          <p:cNvSpPr txBox="1"/>
          <p:nvPr/>
        </p:nvSpPr>
        <p:spPr>
          <a:xfrm>
            <a:off x="2845816" y="6136913"/>
            <a:ext cx="35458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0000FF"/>
                </a:solidFill>
                <a:latin typeface="Consolas"/>
                <a:ea typeface="Consolas"/>
                <a:cs typeface="Consolas"/>
                <a:sym typeface="Consolas"/>
              </a:rPr>
              <a:t>1</a:t>
            </a:r>
            <a:endParaRPr/>
          </a:p>
        </p:txBody>
      </p:sp>
      <p:sp>
        <p:nvSpPr>
          <p:cNvPr id="502" name="Google Shape;502;p25"/>
          <p:cNvSpPr txBox="1"/>
          <p:nvPr/>
        </p:nvSpPr>
        <p:spPr>
          <a:xfrm>
            <a:off x="3607816" y="6096000"/>
            <a:ext cx="35458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0000FF"/>
                </a:solidFill>
                <a:latin typeface="Consolas"/>
                <a:ea typeface="Consolas"/>
                <a:cs typeface="Consolas"/>
                <a:sym typeface="Consolas"/>
              </a:rPr>
              <a:t>1</a:t>
            </a:r>
            <a:endParaRPr/>
          </a:p>
        </p:txBody>
      </p:sp>
      <p:sp>
        <p:nvSpPr>
          <p:cNvPr id="503" name="Google Shape;503;p25"/>
          <p:cNvSpPr txBox="1"/>
          <p:nvPr/>
        </p:nvSpPr>
        <p:spPr>
          <a:xfrm>
            <a:off x="144045" y="1447800"/>
            <a:ext cx="148681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FF0000"/>
                </a:solidFill>
                <a:latin typeface="Gill Sans"/>
                <a:ea typeface="Gill Sans"/>
                <a:cs typeface="Gill Sans"/>
                <a:sym typeface="Gill Sans"/>
              </a:rPr>
              <a:t>Scan </a:t>
            </a:r>
            <a:r>
              <a:rPr lang="en-US" sz="1800" b="1">
                <a:solidFill>
                  <a:srgbClr val="FF0000"/>
                </a:solidFill>
                <a:latin typeface="Consolas"/>
                <a:ea typeface="Consolas"/>
                <a:cs typeface="Consolas"/>
                <a:sym typeface="Consolas"/>
              </a:rPr>
              <a:t>1</a:t>
            </a:r>
            <a:r>
              <a:rPr lang="en-US" sz="1800" b="1" baseline="30000">
                <a:solidFill>
                  <a:srgbClr val="FF0000"/>
                </a:solidFill>
                <a:latin typeface="Gill Sans"/>
                <a:ea typeface="Gill Sans"/>
                <a:cs typeface="Gill Sans"/>
                <a:sym typeface="Gill Sans"/>
              </a:rPr>
              <a:t>st</a:t>
            </a:r>
            <a:r>
              <a:rPr lang="en-US" sz="1800" b="1">
                <a:solidFill>
                  <a:srgbClr val="FF0000"/>
                </a:solidFill>
                <a:latin typeface="Gill Sans"/>
                <a:ea typeface="Gill Sans"/>
                <a:cs typeface="Gill Sans"/>
                <a:sym typeface="Gill Sans"/>
              </a:rPr>
              <a:t> row</a:t>
            </a:r>
            <a:endParaRPr/>
          </a:p>
        </p:txBody>
      </p:sp>
      <p:cxnSp>
        <p:nvCxnSpPr>
          <p:cNvPr id="504" name="Google Shape;504;p25"/>
          <p:cNvCxnSpPr>
            <a:endCxn id="495" idx="1"/>
          </p:cNvCxnSpPr>
          <p:nvPr/>
        </p:nvCxnSpPr>
        <p:spPr>
          <a:xfrm>
            <a:off x="4876800" y="4038094"/>
            <a:ext cx="381000" cy="0"/>
          </a:xfrm>
          <a:prstGeom prst="straightConnector1">
            <a:avLst/>
          </a:prstGeom>
          <a:noFill/>
          <a:ln w="28575" cap="flat" cmpd="sng">
            <a:solidFill>
              <a:srgbClr val="FF0000"/>
            </a:solidFill>
            <a:prstDash val="solid"/>
            <a:round/>
            <a:headEnd type="none" w="sm" len="sm"/>
            <a:tailEnd type="stealth" w="med" len="med"/>
          </a:ln>
        </p:spPr>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08"/>
        <p:cNvGrpSpPr/>
        <p:nvPr/>
      </p:nvGrpSpPr>
      <p:grpSpPr>
        <a:xfrm>
          <a:off x="0" y="0"/>
          <a:ext cx="0" cy="0"/>
          <a:chOff x="0" y="0"/>
          <a:chExt cx="0" cy="0"/>
        </a:xfrm>
      </p:grpSpPr>
      <p:sp>
        <p:nvSpPr>
          <p:cNvPr id="509" name="Google Shape;509;p26"/>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Keypad Scan</a:t>
            </a:r>
            <a:endParaRPr/>
          </a:p>
        </p:txBody>
      </p:sp>
      <p:sp>
        <p:nvSpPr>
          <p:cNvPr id="510" name="Google Shape;510;p26"/>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26</a:t>
            </a:fld>
            <a:endParaRPr/>
          </a:p>
        </p:txBody>
      </p:sp>
      <p:pic>
        <p:nvPicPr>
          <p:cNvPr id="511" name="Google Shape;511;p26"/>
          <p:cNvPicPr preferRelativeResize="0"/>
          <p:nvPr/>
        </p:nvPicPr>
        <p:blipFill rotWithShape="1">
          <a:blip r:embed="rId3">
            <a:alphaModFix/>
          </a:blip>
          <a:srcRect/>
          <a:stretch/>
        </p:blipFill>
        <p:spPr>
          <a:xfrm>
            <a:off x="457200" y="1183913"/>
            <a:ext cx="3880866" cy="5029200"/>
          </a:xfrm>
          <a:prstGeom prst="rect">
            <a:avLst/>
          </a:prstGeom>
          <a:noFill/>
          <a:ln>
            <a:noFill/>
          </a:ln>
        </p:spPr>
      </p:pic>
      <p:sp>
        <p:nvSpPr>
          <p:cNvPr id="512" name="Google Shape;512;p26"/>
          <p:cNvSpPr/>
          <p:nvPr/>
        </p:nvSpPr>
        <p:spPr>
          <a:xfrm>
            <a:off x="2590800" y="4839280"/>
            <a:ext cx="609600" cy="723320"/>
          </a:xfrm>
          <a:prstGeom prst="rect">
            <a:avLst/>
          </a:prstGeom>
          <a:noFill/>
          <a:ln w="381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513" name="Google Shape;513;p26"/>
          <p:cNvSpPr txBox="1"/>
          <p:nvPr/>
        </p:nvSpPr>
        <p:spPr>
          <a:xfrm>
            <a:off x="5257800" y="2191434"/>
            <a:ext cx="3350597" cy="369331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Step </a:t>
            </a:r>
            <a:r>
              <a:rPr lang="en-US" sz="1800">
                <a:solidFill>
                  <a:schemeClr val="dk1"/>
                </a:solidFill>
                <a:latin typeface="Consolas"/>
                <a:ea typeface="Consolas"/>
                <a:cs typeface="Consolas"/>
                <a:sym typeface="Consolas"/>
              </a:rPr>
              <a:t>1</a:t>
            </a:r>
            <a:r>
              <a:rPr lang="en-US" sz="1800">
                <a:solidFill>
                  <a:schemeClr val="dk1"/>
                </a:solidFill>
                <a:latin typeface="Gill Sans"/>
                <a:ea typeface="Gill Sans"/>
                <a:cs typeface="Gill Sans"/>
                <a:sym typeface="Gill Sans"/>
              </a:rPr>
              <a:t>:  Set Output </a:t>
            </a:r>
            <a:endParaRPr/>
          </a:p>
          <a:p>
            <a:pPr marL="0" marR="0" lvl="0" indent="0" algn="l" rtl="0">
              <a:spcBef>
                <a:spcPts val="0"/>
              </a:spcBef>
              <a:spcAft>
                <a:spcPts val="0"/>
              </a:spcAft>
              <a:buNone/>
            </a:pPr>
            <a:r>
              <a:rPr lang="en-US" sz="1800">
                <a:solidFill>
                  <a:schemeClr val="dk1"/>
                </a:solidFill>
                <a:latin typeface="Consolas"/>
                <a:ea typeface="Consolas"/>
                <a:cs typeface="Consolas"/>
                <a:sym typeface="Consolas"/>
              </a:rPr>
              <a:t>      R1,R2,R3,R4 = 0000</a:t>
            </a:r>
            <a:endParaRPr/>
          </a:p>
          <a:p>
            <a:pPr marL="0" marR="0" lvl="0" indent="0" algn="l" rtl="0">
              <a:spcBef>
                <a:spcPts val="0"/>
              </a:spcBef>
              <a:spcAft>
                <a:spcPts val="0"/>
              </a:spcAft>
              <a:buNone/>
            </a:pPr>
            <a:endParaRPr sz="1800">
              <a:solidFill>
                <a:schemeClr val="dk1"/>
              </a:solidFill>
              <a:latin typeface="Consolas"/>
              <a:ea typeface="Consolas"/>
              <a:cs typeface="Consolas"/>
              <a:sym typeface="Consolas"/>
            </a:endParaRPr>
          </a:p>
          <a:p>
            <a:pPr marL="0" marR="0" lvl="0" indent="0" algn="l" rtl="0">
              <a:spcBef>
                <a:spcPts val="0"/>
              </a:spcBef>
              <a:spcAft>
                <a:spcPts val="0"/>
              </a:spcAft>
              <a:buNone/>
            </a:pPr>
            <a:r>
              <a:rPr lang="en-US" sz="1800">
                <a:solidFill>
                  <a:schemeClr val="dk1"/>
                </a:solidFill>
                <a:latin typeface="Gill Sans"/>
                <a:ea typeface="Gill Sans"/>
                <a:cs typeface="Gill Sans"/>
                <a:sym typeface="Gill Sans"/>
              </a:rPr>
              <a:t>Step </a:t>
            </a:r>
            <a:r>
              <a:rPr lang="en-US" sz="1800">
                <a:solidFill>
                  <a:schemeClr val="dk1"/>
                </a:solidFill>
                <a:latin typeface="Consolas"/>
                <a:ea typeface="Consolas"/>
                <a:cs typeface="Consolas"/>
                <a:sym typeface="Consolas"/>
              </a:rPr>
              <a:t>2</a:t>
            </a:r>
            <a:r>
              <a:rPr lang="en-US" sz="1800">
                <a:solidFill>
                  <a:schemeClr val="dk1"/>
                </a:solidFill>
                <a:latin typeface="Gill Sans"/>
                <a:ea typeface="Gill Sans"/>
                <a:cs typeface="Gill Sans"/>
                <a:sym typeface="Gill Sans"/>
              </a:rPr>
              <a:t>:  Read Input</a:t>
            </a:r>
            <a:endParaRPr/>
          </a:p>
          <a:p>
            <a:pPr marL="0" marR="0" lvl="0" indent="0" algn="l" rtl="0">
              <a:spcBef>
                <a:spcPts val="0"/>
              </a:spcBef>
              <a:spcAft>
                <a:spcPts val="0"/>
              </a:spcAft>
              <a:buNone/>
            </a:pPr>
            <a:r>
              <a:rPr lang="en-US" sz="1800">
                <a:solidFill>
                  <a:schemeClr val="dk1"/>
                </a:solidFill>
                <a:latin typeface="Consolas"/>
                <a:ea typeface="Consolas"/>
                <a:cs typeface="Consolas"/>
                <a:sym typeface="Consolas"/>
              </a:rPr>
              <a:t>      C1,C2,C3 = 101</a:t>
            </a:r>
            <a:endParaRPr/>
          </a:p>
          <a:p>
            <a:pPr marL="0" marR="0" lvl="0" indent="0" algn="l" rtl="0">
              <a:spcBef>
                <a:spcPts val="0"/>
              </a:spcBef>
              <a:spcAft>
                <a:spcPts val="0"/>
              </a:spcAft>
              <a:buNone/>
            </a:pPr>
            <a:endParaRPr sz="1800">
              <a:solidFill>
                <a:schemeClr val="dk1"/>
              </a:solidFill>
              <a:latin typeface="Consolas"/>
              <a:ea typeface="Consolas"/>
              <a:cs typeface="Consolas"/>
              <a:sym typeface="Consolas"/>
            </a:endParaRPr>
          </a:p>
          <a:p>
            <a:pPr marL="0" marR="0" lvl="0" indent="0" algn="l" rtl="0">
              <a:spcBef>
                <a:spcPts val="0"/>
              </a:spcBef>
              <a:spcAft>
                <a:spcPts val="0"/>
              </a:spcAft>
              <a:buNone/>
            </a:pPr>
            <a:r>
              <a:rPr lang="en-US" sz="1800">
                <a:solidFill>
                  <a:srgbClr val="FF0000"/>
                </a:solidFill>
                <a:latin typeface="Gill Sans"/>
                <a:ea typeface="Gill Sans"/>
                <a:cs typeface="Gill Sans"/>
                <a:sym typeface="Gill Sans"/>
              </a:rPr>
              <a:t>Step 3b:  Scan 2</a:t>
            </a:r>
            <a:r>
              <a:rPr lang="en-US" sz="1800" baseline="30000">
                <a:solidFill>
                  <a:srgbClr val="FF0000"/>
                </a:solidFill>
                <a:latin typeface="Gill Sans"/>
                <a:ea typeface="Gill Sans"/>
                <a:cs typeface="Gill Sans"/>
                <a:sym typeface="Gill Sans"/>
              </a:rPr>
              <a:t>nd</a:t>
            </a:r>
            <a:r>
              <a:rPr lang="en-US" sz="1800">
                <a:solidFill>
                  <a:srgbClr val="FF0000"/>
                </a:solidFill>
                <a:latin typeface="Gill Sans"/>
                <a:ea typeface="Gill Sans"/>
                <a:cs typeface="Gill Sans"/>
                <a:sym typeface="Gill Sans"/>
              </a:rPr>
              <a:t> row</a:t>
            </a:r>
            <a:endParaRPr/>
          </a:p>
          <a:p>
            <a:pPr marL="0" marR="0" lvl="0" indent="0" algn="l" rtl="0">
              <a:spcBef>
                <a:spcPts val="0"/>
              </a:spcBef>
              <a:spcAft>
                <a:spcPts val="0"/>
              </a:spcAft>
              <a:buNone/>
            </a:pPr>
            <a:r>
              <a:rPr lang="en-US" sz="1800">
                <a:solidFill>
                  <a:srgbClr val="FF0000"/>
                </a:solidFill>
                <a:latin typeface="Consolas"/>
                <a:ea typeface="Consolas"/>
                <a:cs typeface="Consolas"/>
                <a:sym typeface="Consolas"/>
              </a:rPr>
              <a:t>      R1,R2,R3,R4 = 1011</a:t>
            </a:r>
            <a:endParaRPr/>
          </a:p>
          <a:p>
            <a:pPr marL="0" marR="0" lvl="0" indent="0" algn="l" rtl="0">
              <a:spcBef>
                <a:spcPts val="0"/>
              </a:spcBef>
              <a:spcAft>
                <a:spcPts val="0"/>
              </a:spcAft>
              <a:buNone/>
            </a:pPr>
            <a:r>
              <a:rPr lang="en-US" sz="1800">
                <a:solidFill>
                  <a:srgbClr val="FF0000"/>
                </a:solidFill>
                <a:latin typeface="Consolas"/>
                <a:ea typeface="Consolas"/>
                <a:cs typeface="Consolas"/>
                <a:sym typeface="Consolas"/>
              </a:rPr>
              <a:t>      C1,C2,C3 = 111</a:t>
            </a:r>
            <a:endParaRPr/>
          </a:p>
          <a:p>
            <a:pPr marL="0" marR="0" lvl="0" indent="0" algn="l" rtl="0">
              <a:spcBef>
                <a:spcPts val="0"/>
              </a:spcBef>
              <a:spcAft>
                <a:spcPts val="0"/>
              </a:spcAft>
              <a:buNone/>
            </a:pPr>
            <a:endParaRPr sz="1800">
              <a:solidFill>
                <a:schemeClr val="dk1"/>
              </a:solidFill>
              <a:latin typeface="Consolas"/>
              <a:ea typeface="Consolas"/>
              <a:cs typeface="Consolas"/>
              <a:sym typeface="Consolas"/>
            </a:endParaRPr>
          </a:p>
          <a:p>
            <a:pPr marL="0" marR="0" lvl="0" indent="0" algn="l" rtl="0">
              <a:spcBef>
                <a:spcPts val="0"/>
              </a:spcBef>
              <a:spcAft>
                <a:spcPts val="0"/>
              </a:spcAft>
              <a:buNone/>
            </a:pPr>
            <a:r>
              <a:rPr lang="en-US" sz="1800">
                <a:solidFill>
                  <a:srgbClr val="FF0000"/>
                </a:solidFill>
                <a:latin typeface="Consolas"/>
                <a:ea typeface="Consolas"/>
                <a:cs typeface="Consolas"/>
                <a:sym typeface="Consolas"/>
              </a:rPr>
              <a:t>⟹ No key in 2</a:t>
            </a:r>
            <a:r>
              <a:rPr lang="en-US" sz="1800" baseline="30000">
                <a:solidFill>
                  <a:srgbClr val="FF0000"/>
                </a:solidFill>
                <a:latin typeface="Consolas"/>
                <a:ea typeface="Consolas"/>
                <a:cs typeface="Consolas"/>
                <a:sym typeface="Consolas"/>
              </a:rPr>
              <a:t>nd</a:t>
            </a:r>
            <a:r>
              <a:rPr lang="en-US" sz="1800">
                <a:solidFill>
                  <a:srgbClr val="FF0000"/>
                </a:solidFill>
                <a:latin typeface="Consolas"/>
                <a:ea typeface="Consolas"/>
                <a:cs typeface="Consolas"/>
                <a:sym typeface="Consolas"/>
              </a:rPr>
              <a:t> row</a:t>
            </a:r>
            <a:endParaRPr/>
          </a:p>
          <a:p>
            <a:pPr marL="0" marR="0" lvl="0" indent="0" algn="l" rtl="0">
              <a:spcBef>
                <a:spcPts val="0"/>
              </a:spcBef>
              <a:spcAft>
                <a:spcPts val="0"/>
              </a:spcAft>
              <a:buNone/>
            </a:pPr>
            <a:r>
              <a:rPr lang="en-US" sz="1800">
                <a:solidFill>
                  <a:srgbClr val="FF0000"/>
                </a:solidFill>
                <a:latin typeface="Consolas"/>
                <a:ea typeface="Consolas"/>
                <a:cs typeface="Consolas"/>
                <a:sym typeface="Consolas"/>
              </a:rPr>
              <a:t>   is pressed down</a:t>
            </a:r>
            <a:endParaRPr sz="1800">
              <a:solidFill>
                <a:schemeClr val="dk1"/>
              </a:solidFill>
              <a:latin typeface="Consolas"/>
              <a:ea typeface="Consolas"/>
              <a:cs typeface="Consolas"/>
              <a:sym typeface="Consolas"/>
            </a:endParaRPr>
          </a:p>
          <a:p>
            <a:pPr marL="0" marR="0" lvl="0" indent="0" algn="l" rtl="0">
              <a:spcBef>
                <a:spcPts val="0"/>
              </a:spcBef>
              <a:spcAft>
                <a:spcPts val="0"/>
              </a:spcAft>
              <a:buNone/>
            </a:pPr>
            <a:endParaRPr sz="1800">
              <a:solidFill>
                <a:schemeClr val="dk1"/>
              </a:solidFill>
              <a:latin typeface="Consolas"/>
              <a:ea typeface="Consolas"/>
              <a:cs typeface="Consolas"/>
              <a:sym typeface="Consolas"/>
            </a:endParaRPr>
          </a:p>
        </p:txBody>
      </p:sp>
      <p:sp>
        <p:nvSpPr>
          <p:cNvPr id="514" name="Google Shape;514;p26"/>
          <p:cNvSpPr txBox="1"/>
          <p:nvPr/>
        </p:nvSpPr>
        <p:spPr>
          <a:xfrm>
            <a:off x="1447800" y="2170048"/>
            <a:ext cx="35458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FF0000"/>
                </a:solidFill>
                <a:latin typeface="Consolas"/>
                <a:ea typeface="Consolas"/>
                <a:cs typeface="Consolas"/>
                <a:sym typeface="Consolas"/>
              </a:rPr>
              <a:t>1</a:t>
            </a:r>
            <a:endParaRPr/>
          </a:p>
        </p:txBody>
      </p:sp>
      <p:sp>
        <p:nvSpPr>
          <p:cNvPr id="515" name="Google Shape;515;p26"/>
          <p:cNvSpPr txBox="1"/>
          <p:nvPr/>
        </p:nvSpPr>
        <p:spPr>
          <a:xfrm>
            <a:off x="1447800" y="3008248"/>
            <a:ext cx="35458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FF0000"/>
                </a:solidFill>
                <a:latin typeface="Consolas"/>
                <a:ea typeface="Consolas"/>
                <a:cs typeface="Consolas"/>
                <a:sym typeface="Consolas"/>
              </a:rPr>
              <a:t>0</a:t>
            </a:r>
            <a:endParaRPr/>
          </a:p>
        </p:txBody>
      </p:sp>
      <p:sp>
        <p:nvSpPr>
          <p:cNvPr id="516" name="Google Shape;516;p26"/>
          <p:cNvSpPr txBox="1"/>
          <p:nvPr/>
        </p:nvSpPr>
        <p:spPr>
          <a:xfrm>
            <a:off x="1447800" y="3774713"/>
            <a:ext cx="35458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FF0000"/>
                </a:solidFill>
                <a:latin typeface="Consolas"/>
                <a:ea typeface="Consolas"/>
                <a:cs typeface="Consolas"/>
                <a:sym typeface="Consolas"/>
              </a:rPr>
              <a:t>1</a:t>
            </a:r>
            <a:endParaRPr/>
          </a:p>
        </p:txBody>
      </p:sp>
      <p:sp>
        <p:nvSpPr>
          <p:cNvPr id="517" name="Google Shape;517;p26"/>
          <p:cNvSpPr txBox="1"/>
          <p:nvPr/>
        </p:nvSpPr>
        <p:spPr>
          <a:xfrm>
            <a:off x="1474216" y="4608448"/>
            <a:ext cx="35458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FF0000"/>
                </a:solidFill>
                <a:latin typeface="Consolas"/>
                <a:ea typeface="Consolas"/>
                <a:cs typeface="Consolas"/>
                <a:sym typeface="Consolas"/>
              </a:rPr>
              <a:t>1</a:t>
            </a:r>
            <a:endParaRPr/>
          </a:p>
        </p:txBody>
      </p:sp>
      <p:sp>
        <p:nvSpPr>
          <p:cNvPr id="518" name="Google Shape;518;p26"/>
          <p:cNvSpPr txBox="1"/>
          <p:nvPr/>
        </p:nvSpPr>
        <p:spPr>
          <a:xfrm>
            <a:off x="2007616" y="6096000"/>
            <a:ext cx="35458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0000FF"/>
                </a:solidFill>
                <a:latin typeface="Consolas"/>
                <a:ea typeface="Consolas"/>
                <a:cs typeface="Consolas"/>
                <a:sym typeface="Consolas"/>
              </a:rPr>
              <a:t>1</a:t>
            </a:r>
            <a:endParaRPr/>
          </a:p>
        </p:txBody>
      </p:sp>
      <p:sp>
        <p:nvSpPr>
          <p:cNvPr id="519" name="Google Shape;519;p26"/>
          <p:cNvSpPr txBox="1"/>
          <p:nvPr/>
        </p:nvSpPr>
        <p:spPr>
          <a:xfrm>
            <a:off x="2845816" y="6136913"/>
            <a:ext cx="35458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0000FF"/>
                </a:solidFill>
                <a:latin typeface="Consolas"/>
                <a:ea typeface="Consolas"/>
                <a:cs typeface="Consolas"/>
                <a:sym typeface="Consolas"/>
              </a:rPr>
              <a:t>1</a:t>
            </a:r>
            <a:endParaRPr/>
          </a:p>
        </p:txBody>
      </p:sp>
      <p:sp>
        <p:nvSpPr>
          <p:cNvPr id="520" name="Google Shape;520;p26"/>
          <p:cNvSpPr txBox="1"/>
          <p:nvPr/>
        </p:nvSpPr>
        <p:spPr>
          <a:xfrm>
            <a:off x="3607816" y="6096000"/>
            <a:ext cx="35458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0000FF"/>
                </a:solidFill>
                <a:latin typeface="Consolas"/>
                <a:ea typeface="Consolas"/>
                <a:cs typeface="Consolas"/>
                <a:sym typeface="Consolas"/>
              </a:rPr>
              <a:t>1</a:t>
            </a:r>
            <a:endParaRPr/>
          </a:p>
        </p:txBody>
      </p:sp>
      <p:sp>
        <p:nvSpPr>
          <p:cNvPr id="521" name="Google Shape;521;p26"/>
          <p:cNvSpPr txBox="1"/>
          <p:nvPr/>
        </p:nvSpPr>
        <p:spPr>
          <a:xfrm>
            <a:off x="144045" y="1447800"/>
            <a:ext cx="153811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FF0000"/>
                </a:solidFill>
                <a:latin typeface="Gill Sans"/>
                <a:ea typeface="Gill Sans"/>
                <a:cs typeface="Gill Sans"/>
                <a:sym typeface="Gill Sans"/>
              </a:rPr>
              <a:t>Scan </a:t>
            </a:r>
            <a:r>
              <a:rPr lang="en-US" sz="1800" b="1">
                <a:solidFill>
                  <a:srgbClr val="FF0000"/>
                </a:solidFill>
                <a:latin typeface="Consolas"/>
                <a:ea typeface="Consolas"/>
                <a:cs typeface="Consolas"/>
                <a:sym typeface="Consolas"/>
              </a:rPr>
              <a:t>2</a:t>
            </a:r>
            <a:r>
              <a:rPr lang="en-US" sz="1800" b="1" baseline="30000">
                <a:solidFill>
                  <a:srgbClr val="FF0000"/>
                </a:solidFill>
                <a:latin typeface="Gill Sans"/>
                <a:ea typeface="Gill Sans"/>
                <a:cs typeface="Gill Sans"/>
                <a:sym typeface="Gill Sans"/>
              </a:rPr>
              <a:t>nd</a:t>
            </a:r>
            <a:r>
              <a:rPr lang="en-US" sz="1800" b="1">
                <a:solidFill>
                  <a:srgbClr val="FF0000"/>
                </a:solidFill>
                <a:latin typeface="Gill Sans"/>
                <a:ea typeface="Gill Sans"/>
                <a:cs typeface="Gill Sans"/>
                <a:sym typeface="Gill Sans"/>
              </a:rPr>
              <a:t> row</a:t>
            </a:r>
            <a:endParaRPr/>
          </a:p>
        </p:txBody>
      </p:sp>
      <p:cxnSp>
        <p:nvCxnSpPr>
          <p:cNvPr id="522" name="Google Shape;522;p26"/>
          <p:cNvCxnSpPr/>
          <p:nvPr/>
        </p:nvCxnSpPr>
        <p:spPr>
          <a:xfrm>
            <a:off x="4876800" y="4038093"/>
            <a:ext cx="381000" cy="1"/>
          </a:xfrm>
          <a:prstGeom prst="straightConnector1">
            <a:avLst/>
          </a:prstGeom>
          <a:noFill/>
          <a:ln w="28575" cap="flat" cmpd="sng">
            <a:solidFill>
              <a:srgbClr val="FF0000"/>
            </a:solidFill>
            <a:prstDash val="solid"/>
            <a:round/>
            <a:headEnd type="none" w="sm" len="sm"/>
            <a:tailEnd type="stealth" w="med" len="med"/>
          </a:ln>
        </p:spPr>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sp>
        <p:nvSpPr>
          <p:cNvPr id="527" name="Google Shape;527;p27"/>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Keypad Scan</a:t>
            </a:r>
            <a:endParaRPr/>
          </a:p>
        </p:txBody>
      </p:sp>
      <p:sp>
        <p:nvSpPr>
          <p:cNvPr id="528" name="Google Shape;528;p27"/>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27</a:t>
            </a:fld>
            <a:endParaRPr/>
          </a:p>
        </p:txBody>
      </p:sp>
      <p:pic>
        <p:nvPicPr>
          <p:cNvPr id="529" name="Google Shape;529;p27"/>
          <p:cNvPicPr preferRelativeResize="0"/>
          <p:nvPr/>
        </p:nvPicPr>
        <p:blipFill rotWithShape="1">
          <a:blip r:embed="rId3">
            <a:alphaModFix/>
          </a:blip>
          <a:srcRect/>
          <a:stretch/>
        </p:blipFill>
        <p:spPr>
          <a:xfrm>
            <a:off x="457200" y="1183913"/>
            <a:ext cx="3880866" cy="5029200"/>
          </a:xfrm>
          <a:prstGeom prst="rect">
            <a:avLst/>
          </a:prstGeom>
          <a:noFill/>
          <a:ln>
            <a:noFill/>
          </a:ln>
        </p:spPr>
      </p:pic>
      <p:sp>
        <p:nvSpPr>
          <p:cNvPr id="530" name="Google Shape;530;p27"/>
          <p:cNvSpPr/>
          <p:nvPr/>
        </p:nvSpPr>
        <p:spPr>
          <a:xfrm>
            <a:off x="2590800" y="4839280"/>
            <a:ext cx="609600" cy="723320"/>
          </a:xfrm>
          <a:prstGeom prst="rect">
            <a:avLst/>
          </a:prstGeom>
          <a:noFill/>
          <a:ln w="381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531" name="Google Shape;531;p27"/>
          <p:cNvSpPr txBox="1"/>
          <p:nvPr/>
        </p:nvSpPr>
        <p:spPr>
          <a:xfrm>
            <a:off x="5257800" y="2191434"/>
            <a:ext cx="3350597" cy="369331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Step </a:t>
            </a:r>
            <a:r>
              <a:rPr lang="en-US" sz="1800">
                <a:solidFill>
                  <a:schemeClr val="dk1"/>
                </a:solidFill>
                <a:latin typeface="Consolas"/>
                <a:ea typeface="Consolas"/>
                <a:cs typeface="Consolas"/>
                <a:sym typeface="Consolas"/>
              </a:rPr>
              <a:t>1</a:t>
            </a:r>
            <a:r>
              <a:rPr lang="en-US" sz="1800">
                <a:solidFill>
                  <a:schemeClr val="dk1"/>
                </a:solidFill>
                <a:latin typeface="Gill Sans"/>
                <a:ea typeface="Gill Sans"/>
                <a:cs typeface="Gill Sans"/>
                <a:sym typeface="Gill Sans"/>
              </a:rPr>
              <a:t>:  Set Output </a:t>
            </a:r>
            <a:endParaRPr/>
          </a:p>
          <a:p>
            <a:pPr marL="0" marR="0" lvl="0" indent="0" algn="l" rtl="0">
              <a:spcBef>
                <a:spcPts val="0"/>
              </a:spcBef>
              <a:spcAft>
                <a:spcPts val="0"/>
              </a:spcAft>
              <a:buNone/>
            </a:pPr>
            <a:r>
              <a:rPr lang="en-US" sz="1800">
                <a:solidFill>
                  <a:schemeClr val="dk1"/>
                </a:solidFill>
                <a:latin typeface="Consolas"/>
                <a:ea typeface="Consolas"/>
                <a:cs typeface="Consolas"/>
                <a:sym typeface="Consolas"/>
              </a:rPr>
              <a:t>      R1,R2,R3,R4 = 0000</a:t>
            </a:r>
            <a:endParaRPr/>
          </a:p>
          <a:p>
            <a:pPr marL="0" marR="0" lvl="0" indent="0" algn="l" rtl="0">
              <a:spcBef>
                <a:spcPts val="0"/>
              </a:spcBef>
              <a:spcAft>
                <a:spcPts val="0"/>
              </a:spcAft>
              <a:buNone/>
            </a:pPr>
            <a:endParaRPr sz="1800">
              <a:solidFill>
                <a:schemeClr val="dk1"/>
              </a:solidFill>
              <a:latin typeface="Consolas"/>
              <a:ea typeface="Consolas"/>
              <a:cs typeface="Consolas"/>
              <a:sym typeface="Consolas"/>
            </a:endParaRPr>
          </a:p>
          <a:p>
            <a:pPr marL="0" marR="0" lvl="0" indent="0" algn="l" rtl="0">
              <a:spcBef>
                <a:spcPts val="0"/>
              </a:spcBef>
              <a:spcAft>
                <a:spcPts val="0"/>
              </a:spcAft>
              <a:buNone/>
            </a:pPr>
            <a:r>
              <a:rPr lang="en-US" sz="1800">
                <a:solidFill>
                  <a:schemeClr val="dk1"/>
                </a:solidFill>
                <a:latin typeface="Gill Sans"/>
                <a:ea typeface="Gill Sans"/>
                <a:cs typeface="Gill Sans"/>
                <a:sym typeface="Gill Sans"/>
              </a:rPr>
              <a:t>Step </a:t>
            </a:r>
            <a:r>
              <a:rPr lang="en-US" sz="1800">
                <a:solidFill>
                  <a:schemeClr val="dk1"/>
                </a:solidFill>
                <a:latin typeface="Consolas"/>
                <a:ea typeface="Consolas"/>
                <a:cs typeface="Consolas"/>
                <a:sym typeface="Consolas"/>
              </a:rPr>
              <a:t>2</a:t>
            </a:r>
            <a:r>
              <a:rPr lang="en-US" sz="1800">
                <a:solidFill>
                  <a:schemeClr val="dk1"/>
                </a:solidFill>
                <a:latin typeface="Gill Sans"/>
                <a:ea typeface="Gill Sans"/>
                <a:cs typeface="Gill Sans"/>
                <a:sym typeface="Gill Sans"/>
              </a:rPr>
              <a:t>:  Read Input</a:t>
            </a:r>
            <a:endParaRPr/>
          </a:p>
          <a:p>
            <a:pPr marL="0" marR="0" lvl="0" indent="0" algn="l" rtl="0">
              <a:spcBef>
                <a:spcPts val="0"/>
              </a:spcBef>
              <a:spcAft>
                <a:spcPts val="0"/>
              </a:spcAft>
              <a:buNone/>
            </a:pPr>
            <a:r>
              <a:rPr lang="en-US" sz="1800">
                <a:solidFill>
                  <a:schemeClr val="dk1"/>
                </a:solidFill>
                <a:latin typeface="Consolas"/>
                <a:ea typeface="Consolas"/>
                <a:cs typeface="Consolas"/>
                <a:sym typeface="Consolas"/>
              </a:rPr>
              <a:t>      C1,C2,C3 = 101</a:t>
            </a:r>
            <a:endParaRPr/>
          </a:p>
          <a:p>
            <a:pPr marL="0" marR="0" lvl="0" indent="0" algn="l" rtl="0">
              <a:spcBef>
                <a:spcPts val="0"/>
              </a:spcBef>
              <a:spcAft>
                <a:spcPts val="0"/>
              </a:spcAft>
              <a:buNone/>
            </a:pPr>
            <a:endParaRPr sz="1800">
              <a:solidFill>
                <a:schemeClr val="dk1"/>
              </a:solidFill>
              <a:latin typeface="Consolas"/>
              <a:ea typeface="Consolas"/>
              <a:cs typeface="Consolas"/>
              <a:sym typeface="Consolas"/>
            </a:endParaRPr>
          </a:p>
          <a:p>
            <a:pPr marL="0" marR="0" lvl="0" indent="0" algn="l" rtl="0">
              <a:spcBef>
                <a:spcPts val="0"/>
              </a:spcBef>
              <a:spcAft>
                <a:spcPts val="0"/>
              </a:spcAft>
              <a:buNone/>
            </a:pPr>
            <a:r>
              <a:rPr lang="en-US" sz="1800">
                <a:solidFill>
                  <a:srgbClr val="FF0000"/>
                </a:solidFill>
                <a:latin typeface="Gill Sans"/>
                <a:ea typeface="Gill Sans"/>
                <a:cs typeface="Gill Sans"/>
                <a:sym typeface="Gill Sans"/>
              </a:rPr>
              <a:t>Step 3c:  Scan 3</a:t>
            </a:r>
            <a:r>
              <a:rPr lang="en-US" sz="1800" baseline="30000">
                <a:solidFill>
                  <a:srgbClr val="FF0000"/>
                </a:solidFill>
                <a:latin typeface="Gill Sans"/>
                <a:ea typeface="Gill Sans"/>
                <a:cs typeface="Gill Sans"/>
                <a:sym typeface="Gill Sans"/>
              </a:rPr>
              <a:t>rd</a:t>
            </a:r>
            <a:r>
              <a:rPr lang="en-US" sz="1800">
                <a:solidFill>
                  <a:srgbClr val="FF0000"/>
                </a:solidFill>
                <a:latin typeface="Gill Sans"/>
                <a:ea typeface="Gill Sans"/>
                <a:cs typeface="Gill Sans"/>
                <a:sym typeface="Gill Sans"/>
              </a:rPr>
              <a:t> row</a:t>
            </a:r>
            <a:endParaRPr/>
          </a:p>
          <a:p>
            <a:pPr marL="0" marR="0" lvl="0" indent="0" algn="l" rtl="0">
              <a:spcBef>
                <a:spcPts val="0"/>
              </a:spcBef>
              <a:spcAft>
                <a:spcPts val="0"/>
              </a:spcAft>
              <a:buNone/>
            </a:pPr>
            <a:r>
              <a:rPr lang="en-US" sz="1800">
                <a:solidFill>
                  <a:srgbClr val="FF0000"/>
                </a:solidFill>
                <a:latin typeface="Consolas"/>
                <a:ea typeface="Consolas"/>
                <a:cs typeface="Consolas"/>
                <a:sym typeface="Consolas"/>
              </a:rPr>
              <a:t>      R1,R2,R3,R4 = 1101</a:t>
            </a:r>
            <a:endParaRPr/>
          </a:p>
          <a:p>
            <a:pPr marL="0" marR="0" lvl="0" indent="0" algn="l" rtl="0">
              <a:spcBef>
                <a:spcPts val="0"/>
              </a:spcBef>
              <a:spcAft>
                <a:spcPts val="0"/>
              </a:spcAft>
              <a:buNone/>
            </a:pPr>
            <a:r>
              <a:rPr lang="en-US" sz="1800">
                <a:solidFill>
                  <a:srgbClr val="FF0000"/>
                </a:solidFill>
                <a:latin typeface="Consolas"/>
                <a:ea typeface="Consolas"/>
                <a:cs typeface="Consolas"/>
                <a:sym typeface="Consolas"/>
              </a:rPr>
              <a:t>      C1,C2,C3 = 111</a:t>
            </a:r>
            <a:endParaRPr/>
          </a:p>
          <a:p>
            <a:pPr marL="0" marR="0" lvl="0" indent="0" algn="l" rtl="0">
              <a:spcBef>
                <a:spcPts val="0"/>
              </a:spcBef>
              <a:spcAft>
                <a:spcPts val="0"/>
              </a:spcAft>
              <a:buNone/>
            </a:pPr>
            <a:endParaRPr sz="1800">
              <a:solidFill>
                <a:schemeClr val="dk1"/>
              </a:solidFill>
              <a:latin typeface="Consolas"/>
              <a:ea typeface="Consolas"/>
              <a:cs typeface="Consolas"/>
              <a:sym typeface="Consolas"/>
            </a:endParaRPr>
          </a:p>
          <a:p>
            <a:pPr marL="0" marR="0" lvl="0" indent="0" algn="l" rtl="0">
              <a:spcBef>
                <a:spcPts val="0"/>
              </a:spcBef>
              <a:spcAft>
                <a:spcPts val="0"/>
              </a:spcAft>
              <a:buNone/>
            </a:pPr>
            <a:r>
              <a:rPr lang="en-US" sz="1800">
                <a:solidFill>
                  <a:srgbClr val="FF0000"/>
                </a:solidFill>
                <a:latin typeface="Consolas"/>
                <a:ea typeface="Consolas"/>
                <a:cs typeface="Consolas"/>
                <a:sym typeface="Consolas"/>
              </a:rPr>
              <a:t>⟹ No key in 3</a:t>
            </a:r>
            <a:r>
              <a:rPr lang="en-US" sz="1800" baseline="30000">
                <a:solidFill>
                  <a:srgbClr val="FF0000"/>
                </a:solidFill>
                <a:latin typeface="Consolas"/>
                <a:ea typeface="Consolas"/>
                <a:cs typeface="Consolas"/>
                <a:sym typeface="Consolas"/>
              </a:rPr>
              <a:t>rd</a:t>
            </a:r>
            <a:r>
              <a:rPr lang="en-US" sz="1800">
                <a:solidFill>
                  <a:srgbClr val="FF0000"/>
                </a:solidFill>
                <a:latin typeface="Consolas"/>
                <a:ea typeface="Consolas"/>
                <a:cs typeface="Consolas"/>
                <a:sym typeface="Consolas"/>
              </a:rPr>
              <a:t> row</a:t>
            </a:r>
            <a:endParaRPr/>
          </a:p>
          <a:p>
            <a:pPr marL="0" marR="0" lvl="0" indent="0" algn="l" rtl="0">
              <a:spcBef>
                <a:spcPts val="0"/>
              </a:spcBef>
              <a:spcAft>
                <a:spcPts val="0"/>
              </a:spcAft>
              <a:buNone/>
            </a:pPr>
            <a:r>
              <a:rPr lang="en-US" sz="1800">
                <a:solidFill>
                  <a:srgbClr val="FF0000"/>
                </a:solidFill>
                <a:latin typeface="Consolas"/>
                <a:ea typeface="Consolas"/>
                <a:cs typeface="Consolas"/>
                <a:sym typeface="Consolas"/>
              </a:rPr>
              <a:t>   is pressed down</a:t>
            </a:r>
            <a:endParaRPr sz="1800">
              <a:solidFill>
                <a:schemeClr val="dk1"/>
              </a:solidFill>
              <a:latin typeface="Consolas"/>
              <a:ea typeface="Consolas"/>
              <a:cs typeface="Consolas"/>
              <a:sym typeface="Consolas"/>
            </a:endParaRPr>
          </a:p>
          <a:p>
            <a:pPr marL="0" marR="0" lvl="0" indent="0" algn="l" rtl="0">
              <a:spcBef>
                <a:spcPts val="0"/>
              </a:spcBef>
              <a:spcAft>
                <a:spcPts val="0"/>
              </a:spcAft>
              <a:buNone/>
            </a:pPr>
            <a:endParaRPr sz="1800">
              <a:solidFill>
                <a:schemeClr val="dk1"/>
              </a:solidFill>
              <a:latin typeface="Consolas"/>
              <a:ea typeface="Consolas"/>
              <a:cs typeface="Consolas"/>
              <a:sym typeface="Consolas"/>
            </a:endParaRPr>
          </a:p>
        </p:txBody>
      </p:sp>
      <p:sp>
        <p:nvSpPr>
          <p:cNvPr id="532" name="Google Shape;532;p27"/>
          <p:cNvSpPr txBox="1"/>
          <p:nvPr/>
        </p:nvSpPr>
        <p:spPr>
          <a:xfrm>
            <a:off x="1447800" y="2170048"/>
            <a:ext cx="35458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FF0000"/>
                </a:solidFill>
                <a:latin typeface="Consolas"/>
                <a:ea typeface="Consolas"/>
                <a:cs typeface="Consolas"/>
                <a:sym typeface="Consolas"/>
              </a:rPr>
              <a:t>1</a:t>
            </a:r>
            <a:endParaRPr/>
          </a:p>
        </p:txBody>
      </p:sp>
      <p:sp>
        <p:nvSpPr>
          <p:cNvPr id="533" name="Google Shape;533;p27"/>
          <p:cNvSpPr txBox="1"/>
          <p:nvPr/>
        </p:nvSpPr>
        <p:spPr>
          <a:xfrm>
            <a:off x="1447800" y="3008248"/>
            <a:ext cx="35458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FF0000"/>
                </a:solidFill>
                <a:latin typeface="Consolas"/>
                <a:ea typeface="Consolas"/>
                <a:cs typeface="Consolas"/>
                <a:sym typeface="Consolas"/>
              </a:rPr>
              <a:t>1</a:t>
            </a:r>
            <a:endParaRPr/>
          </a:p>
        </p:txBody>
      </p:sp>
      <p:sp>
        <p:nvSpPr>
          <p:cNvPr id="534" name="Google Shape;534;p27"/>
          <p:cNvSpPr txBox="1"/>
          <p:nvPr/>
        </p:nvSpPr>
        <p:spPr>
          <a:xfrm>
            <a:off x="1447800" y="3774713"/>
            <a:ext cx="35458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FF0000"/>
                </a:solidFill>
                <a:latin typeface="Consolas"/>
                <a:ea typeface="Consolas"/>
                <a:cs typeface="Consolas"/>
                <a:sym typeface="Consolas"/>
              </a:rPr>
              <a:t>0</a:t>
            </a:r>
            <a:endParaRPr/>
          </a:p>
        </p:txBody>
      </p:sp>
      <p:sp>
        <p:nvSpPr>
          <p:cNvPr id="535" name="Google Shape;535;p27"/>
          <p:cNvSpPr txBox="1"/>
          <p:nvPr/>
        </p:nvSpPr>
        <p:spPr>
          <a:xfrm>
            <a:off x="1474216" y="4608448"/>
            <a:ext cx="35458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FF0000"/>
                </a:solidFill>
                <a:latin typeface="Consolas"/>
                <a:ea typeface="Consolas"/>
                <a:cs typeface="Consolas"/>
                <a:sym typeface="Consolas"/>
              </a:rPr>
              <a:t>1</a:t>
            </a:r>
            <a:endParaRPr/>
          </a:p>
        </p:txBody>
      </p:sp>
      <p:sp>
        <p:nvSpPr>
          <p:cNvPr id="536" name="Google Shape;536;p27"/>
          <p:cNvSpPr txBox="1"/>
          <p:nvPr/>
        </p:nvSpPr>
        <p:spPr>
          <a:xfrm>
            <a:off x="2007616" y="6096000"/>
            <a:ext cx="35458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0000FF"/>
                </a:solidFill>
                <a:latin typeface="Consolas"/>
                <a:ea typeface="Consolas"/>
                <a:cs typeface="Consolas"/>
                <a:sym typeface="Consolas"/>
              </a:rPr>
              <a:t>1</a:t>
            </a:r>
            <a:endParaRPr/>
          </a:p>
        </p:txBody>
      </p:sp>
      <p:sp>
        <p:nvSpPr>
          <p:cNvPr id="537" name="Google Shape;537;p27"/>
          <p:cNvSpPr txBox="1"/>
          <p:nvPr/>
        </p:nvSpPr>
        <p:spPr>
          <a:xfrm>
            <a:off x="2845816" y="6136913"/>
            <a:ext cx="35458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0000FF"/>
                </a:solidFill>
                <a:latin typeface="Consolas"/>
                <a:ea typeface="Consolas"/>
                <a:cs typeface="Consolas"/>
                <a:sym typeface="Consolas"/>
              </a:rPr>
              <a:t>1</a:t>
            </a:r>
            <a:endParaRPr/>
          </a:p>
        </p:txBody>
      </p:sp>
      <p:sp>
        <p:nvSpPr>
          <p:cNvPr id="538" name="Google Shape;538;p27"/>
          <p:cNvSpPr txBox="1"/>
          <p:nvPr/>
        </p:nvSpPr>
        <p:spPr>
          <a:xfrm>
            <a:off x="3607816" y="6096000"/>
            <a:ext cx="35458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0000FF"/>
                </a:solidFill>
                <a:latin typeface="Consolas"/>
                <a:ea typeface="Consolas"/>
                <a:cs typeface="Consolas"/>
                <a:sym typeface="Consolas"/>
              </a:rPr>
              <a:t>1</a:t>
            </a:r>
            <a:endParaRPr/>
          </a:p>
        </p:txBody>
      </p:sp>
      <p:sp>
        <p:nvSpPr>
          <p:cNvPr id="539" name="Google Shape;539;p27"/>
          <p:cNvSpPr txBox="1"/>
          <p:nvPr/>
        </p:nvSpPr>
        <p:spPr>
          <a:xfrm>
            <a:off x="144045" y="1447800"/>
            <a:ext cx="151496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FF0000"/>
                </a:solidFill>
                <a:latin typeface="Gill Sans"/>
                <a:ea typeface="Gill Sans"/>
                <a:cs typeface="Gill Sans"/>
                <a:sym typeface="Gill Sans"/>
              </a:rPr>
              <a:t>Scan </a:t>
            </a:r>
            <a:r>
              <a:rPr lang="en-US" sz="1800" b="1">
                <a:solidFill>
                  <a:srgbClr val="FF0000"/>
                </a:solidFill>
                <a:latin typeface="Consolas"/>
                <a:ea typeface="Consolas"/>
                <a:cs typeface="Consolas"/>
                <a:sym typeface="Consolas"/>
              </a:rPr>
              <a:t>3</a:t>
            </a:r>
            <a:r>
              <a:rPr lang="en-US" sz="1800" b="1" baseline="30000">
                <a:solidFill>
                  <a:srgbClr val="FF0000"/>
                </a:solidFill>
                <a:latin typeface="Gill Sans"/>
                <a:ea typeface="Gill Sans"/>
                <a:cs typeface="Gill Sans"/>
                <a:sym typeface="Gill Sans"/>
              </a:rPr>
              <a:t>rd</a:t>
            </a:r>
            <a:r>
              <a:rPr lang="en-US" sz="1800" b="1">
                <a:solidFill>
                  <a:srgbClr val="FF0000"/>
                </a:solidFill>
                <a:latin typeface="Gill Sans"/>
                <a:ea typeface="Gill Sans"/>
                <a:cs typeface="Gill Sans"/>
                <a:sym typeface="Gill Sans"/>
              </a:rPr>
              <a:t> row</a:t>
            </a:r>
            <a:endParaRPr/>
          </a:p>
        </p:txBody>
      </p:sp>
      <p:cxnSp>
        <p:nvCxnSpPr>
          <p:cNvPr id="540" name="Google Shape;540;p27"/>
          <p:cNvCxnSpPr/>
          <p:nvPr/>
        </p:nvCxnSpPr>
        <p:spPr>
          <a:xfrm>
            <a:off x="4876800" y="4038093"/>
            <a:ext cx="381000" cy="1"/>
          </a:xfrm>
          <a:prstGeom prst="straightConnector1">
            <a:avLst/>
          </a:prstGeom>
          <a:noFill/>
          <a:ln w="28575" cap="flat" cmpd="sng">
            <a:solidFill>
              <a:srgbClr val="FF0000"/>
            </a:solidFill>
            <a:prstDash val="solid"/>
            <a:round/>
            <a:headEnd type="none" w="sm" len="sm"/>
            <a:tailEnd type="stealth" w="med" len="med"/>
          </a:ln>
        </p:spPr>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28"/>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Keypad Scan</a:t>
            </a:r>
            <a:endParaRPr/>
          </a:p>
        </p:txBody>
      </p:sp>
      <p:sp>
        <p:nvSpPr>
          <p:cNvPr id="546" name="Google Shape;546;p28"/>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28</a:t>
            </a:fld>
            <a:endParaRPr/>
          </a:p>
        </p:txBody>
      </p:sp>
      <p:pic>
        <p:nvPicPr>
          <p:cNvPr id="547" name="Google Shape;547;p28"/>
          <p:cNvPicPr preferRelativeResize="0"/>
          <p:nvPr/>
        </p:nvPicPr>
        <p:blipFill rotWithShape="1">
          <a:blip r:embed="rId3">
            <a:alphaModFix/>
          </a:blip>
          <a:srcRect/>
          <a:stretch/>
        </p:blipFill>
        <p:spPr>
          <a:xfrm>
            <a:off x="457200" y="1183913"/>
            <a:ext cx="3880866" cy="5029200"/>
          </a:xfrm>
          <a:prstGeom prst="rect">
            <a:avLst/>
          </a:prstGeom>
          <a:noFill/>
          <a:ln>
            <a:noFill/>
          </a:ln>
        </p:spPr>
      </p:pic>
      <p:sp>
        <p:nvSpPr>
          <p:cNvPr id="548" name="Google Shape;548;p28"/>
          <p:cNvSpPr/>
          <p:nvPr/>
        </p:nvSpPr>
        <p:spPr>
          <a:xfrm>
            <a:off x="2590800" y="4839280"/>
            <a:ext cx="609600" cy="723320"/>
          </a:xfrm>
          <a:prstGeom prst="rect">
            <a:avLst/>
          </a:prstGeom>
          <a:noFill/>
          <a:ln w="381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549" name="Google Shape;549;p28"/>
          <p:cNvSpPr txBox="1"/>
          <p:nvPr/>
        </p:nvSpPr>
        <p:spPr>
          <a:xfrm>
            <a:off x="5257800" y="2191434"/>
            <a:ext cx="3350597" cy="369331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Step </a:t>
            </a:r>
            <a:r>
              <a:rPr lang="en-US" sz="1800">
                <a:solidFill>
                  <a:schemeClr val="dk1"/>
                </a:solidFill>
                <a:latin typeface="Consolas"/>
                <a:ea typeface="Consolas"/>
                <a:cs typeface="Consolas"/>
                <a:sym typeface="Consolas"/>
              </a:rPr>
              <a:t>1</a:t>
            </a:r>
            <a:r>
              <a:rPr lang="en-US" sz="1800">
                <a:solidFill>
                  <a:schemeClr val="dk1"/>
                </a:solidFill>
                <a:latin typeface="Gill Sans"/>
                <a:ea typeface="Gill Sans"/>
                <a:cs typeface="Gill Sans"/>
                <a:sym typeface="Gill Sans"/>
              </a:rPr>
              <a:t>:  Set Output </a:t>
            </a:r>
            <a:endParaRPr/>
          </a:p>
          <a:p>
            <a:pPr marL="0" marR="0" lvl="0" indent="0" algn="l" rtl="0">
              <a:spcBef>
                <a:spcPts val="0"/>
              </a:spcBef>
              <a:spcAft>
                <a:spcPts val="0"/>
              </a:spcAft>
              <a:buNone/>
            </a:pPr>
            <a:r>
              <a:rPr lang="en-US" sz="1800">
                <a:solidFill>
                  <a:schemeClr val="dk1"/>
                </a:solidFill>
                <a:latin typeface="Consolas"/>
                <a:ea typeface="Consolas"/>
                <a:cs typeface="Consolas"/>
                <a:sym typeface="Consolas"/>
              </a:rPr>
              <a:t>      R1,R2,R3,R4 = 0000</a:t>
            </a:r>
            <a:endParaRPr/>
          </a:p>
          <a:p>
            <a:pPr marL="0" marR="0" lvl="0" indent="0" algn="l" rtl="0">
              <a:spcBef>
                <a:spcPts val="0"/>
              </a:spcBef>
              <a:spcAft>
                <a:spcPts val="0"/>
              </a:spcAft>
              <a:buNone/>
            </a:pPr>
            <a:endParaRPr sz="1800">
              <a:solidFill>
                <a:schemeClr val="dk1"/>
              </a:solidFill>
              <a:latin typeface="Consolas"/>
              <a:ea typeface="Consolas"/>
              <a:cs typeface="Consolas"/>
              <a:sym typeface="Consolas"/>
            </a:endParaRPr>
          </a:p>
          <a:p>
            <a:pPr marL="0" marR="0" lvl="0" indent="0" algn="l" rtl="0">
              <a:spcBef>
                <a:spcPts val="0"/>
              </a:spcBef>
              <a:spcAft>
                <a:spcPts val="0"/>
              </a:spcAft>
              <a:buNone/>
            </a:pPr>
            <a:r>
              <a:rPr lang="en-US" sz="1800">
                <a:solidFill>
                  <a:schemeClr val="dk1"/>
                </a:solidFill>
                <a:latin typeface="Gill Sans"/>
                <a:ea typeface="Gill Sans"/>
                <a:cs typeface="Gill Sans"/>
                <a:sym typeface="Gill Sans"/>
              </a:rPr>
              <a:t>Step </a:t>
            </a:r>
            <a:r>
              <a:rPr lang="en-US" sz="1800">
                <a:solidFill>
                  <a:schemeClr val="dk1"/>
                </a:solidFill>
                <a:latin typeface="Consolas"/>
                <a:ea typeface="Consolas"/>
                <a:cs typeface="Consolas"/>
                <a:sym typeface="Consolas"/>
              </a:rPr>
              <a:t>2</a:t>
            </a:r>
            <a:r>
              <a:rPr lang="en-US" sz="1800">
                <a:solidFill>
                  <a:schemeClr val="dk1"/>
                </a:solidFill>
                <a:latin typeface="Gill Sans"/>
                <a:ea typeface="Gill Sans"/>
                <a:cs typeface="Gill Sans"/>
                <a:sym typeface="Gill Sans"/>
              </a:rPr>
              <a:t>:  Read Input</a:t>
            </a:r>
            <a:endParaRPr/>
          </a:p>
          <a:p>
            <a:pPr marL="0" marR="0" lvl="0" indent="0" algn="l" rtl="0">
              <a:spcBef>
                <a:spcPts val="0"/>
              </a:spcBef>
              <a:spcAft>
                <a:spcPts val="0"/>
              </a:spcAft>
              <a:buNone/>
            </a:pPr>
            <a:r>
              <a:rPr lang="en-US" sz="1800">
                <a:solidFill>
                  <a:schemeClr val="dk1"/>
                </a:solidFill>
                <a:latin typeface="Consolas"/>
                <a:ea typeface="Consolas"/>
                <a:cs typeface="Consolas"/>
                <a:sym typeface="Consolas"/>
              </a:rPr>
              <a:t>      C1,C2,C3 = 101</a:t>
            </a:r>
            <a:endParaRPr/>
          </a:p>
          <a:p>
            <a:pPr marL="0" marR="0" lvl="0" indent="0" algn="l" rtl="0">
              <a:spcBef>
                <a:spcPts val="0"/>
              </a:spcBef>
              <a:spcAft>
                <a:spcPts val="0"/>
              </a:spcAft>
              <a:buNone/>
            </a:pPr>
            <a:endParaRPr sz="1800">
              <a:solidFill>
                <a:schemeClr val="dk1"/>
              </a:solidFill>
              <a:latin typeface="Consolas"/>
              <a:ea typeface="Consolas"/>
              <a:cs typeface="Consolas"/>
              <a:sym typeface="Consolas"/>
            </a:endParaRPr>
          </a:p>
          <a:p>
            <a:pPr marL="0" marR="0" lvl="0" indent="0" algn="l" rtl="0">
              <a:spcBef>
                <a:spcPts val="0"/>
              </a:spcBef>
              <a:spcAft>
                <a:spcPts val="0"/>
              </a:spcAft>
              <a:buNone/>
            </a:pPr>
            <a:r>
              <a:rPr lang="en-US" sz="1800">
                <a:solidFill>
                  <a:srgbClr val="FF0000"/>
                </a:solidFill>
                <a:latin typeface="Gill Sans"/>
                <a:ea typeface="Gill Sans"/>
                <a:cs typeface="Gill Sans"/>
                <a:sym typeface="Gill Sans"/>
              </a:rPr>
              <a:t>Step 3d:  Scan 4</a:t>
            </a:r>
            <a:r>
              <a:rPr lang="en-US" sz="1800" baseline="30000">
                <a:solidFill>
                  <a:srgbClr val="FF0000"/>
                </a:solidFill>
                <a:latin typeface="Gill Sans"/>
                <a:ea typeface="Gill Sans"/>
                <a:cs typeface="Gill Sans"/>
                <a:sym typeface="Gill Sans"/>
              </a:rPr>
              <a:t>th</a:t>
            </a:r>
            <a:r>
              <a:rPr lang="en-US" sz="1800">
                <a:solidFill>
                  <a:srgbClr val="FF0000"/>
                </a:solidFill>
                <a:latin typeface="Gill Sans"/>
                <a:ea typeface="Gill Sans"/>
                <a:cs typeface="Gill Sans"/>
                <a:sym typeface="Gill Sans"/>
              </a:rPr>
              <a:t> row</a:t>
            </a:r>
            <a:endParaRPr/>
          </a:p>
          <a:p>
            <a:pPr marL="0" marR="0" lvl="0" indent="0" algn="l" rtl="0">
              <a:spcBef>
                <a:spcPts val="0"/>
              </a:spcBef>
              <a:spcAft>
                <a:spcPts val="0"/>
              </a:spcAft>
              <a:buNone/>
            </a:pPr>
            <a:r>
              <a:rPr lang="en-US" sz="1800">
                <a:solidFill>
                  <a:srgbClr val="FF0000"/>
                </a:solidFill>
                <a:latin typeface="Consolas"/>
                <a:ea typeface="Consolas"/>
                <a:cs typeface="Consolas"/>
                <a:sym typeface="Consolas"/>
              </a:rPr>
              <a:t>      R1,R2,R3,R4 = 1110</a:t>
            </a:r>
            <a:endParaRPr/>
          </a:p>
          <a:p>
            <a:pPr marL="0" marR="0" lvl="0" indent="0" algn="l" rtl="0">
              <a:spcBef>
                <a:spcPts val="0"/>
              </a:spcBef>
              <a:spcAft>
                <a:spcPts val="0"/>
              </a:spcAft>
              <a:buNone/>
            </a:pPr>
            <a:r>
              <a:rPr lang="en-US" sz="1800">
                <a:solidFill>
                  <a:srgbClr val="FF0000"/>
                </a:solidFill>
                <a:latin typeface="Consolas"/>
                <a:ea typeface="Consolas"/>
                <a:cs typeface="Consolas"/>
                <a:sym typeface="Consolas"/>
              </a:rPr>
              <a:t>      C1,C2,C3 = 101</a:t>
            </a:r>
            <a:endParaRPr/>
          </a:p>
          <a:p>
            <a:pPr marL="0" marR="0" lvl="0" indent="0" algn="l" rtl="0">
              <a:spcBef>
                <a:spcPts val="0"/>
              </a:spcBef>
              <a:spcAft>
                <a:spcPts val="0"/>
              </a:spcAft>
              <a:buNone/>
            </a:pPr>
            <a:endParaRPr sz="1800">
              <a:solidFill>
                <a:schemeClr val="dk1"/>
              </a:solidFill>
              <a:latin typeface="Consolas"/>
              <a:ea typeface="Consolas"/>
              <a:cs typeface="Consolas"/>
              <a:sym typeface="Consolas"/>
            </a:endParaRPr>
          </a:p>
          <a:p>
            <a:pPr marL="0" marR="0" lvl="0" indent="0" algn="l" rtl="0">
              <a:spcBef>
                <a:spcPts val="0"/>
              </a:spcBef>
              <a:spcAft>
                <a:spcPts val="0"/>
              </a:spcAft>
              <a:buNone/>
            </a:pPr>
            <a:r>
              <a:rPr lang="en-US" sz="1800">
                <a:solidFill>
                  <a:srgbClr val="FF0000"/>
                </a:solidFill>
                <a:latin typeface="Consolas"/>
                <a:ea typeface="Consolas"/>
                <a:cs typeface="Consolas"/>
                <a:sym typeface="Consolas"/>
              </a:rPr>
              <a:t>⟹ key in 4</a:t>
            </a:r>
            <a:r>
              <a:rPr lang="en-US" sz="1800" baseline="30000">
                <a:solidFill>
                  <a:srgbClr val="FF0000"/>
                </a:solidFill>
                <a:latin typeface="Consolas"/>
                <a:ea typeface="Consolas"/>
                <a:cs typeface="Consolas"/>
                <a:sym typeface="Consolas"/>
              </a:rPr>
              <a:t>th</a:t>
            </a:r>
            <a:r>
              <a:rPr lang="en-US" sz="1800">
                <a:solidFill>
                  <a:srgbClr val="FF0000"/>
                </a:solidFill>
                <a:latin typeface="Consolas"/>
                <a:ea typeface="Consolas"/>
                <a:cs typeface="Consolas"/>
                <a:sym typeface="Consolas"/>
              </a:rPr>
              <a:t> row</a:t>
            </a:r>
            <a:endParaRPr/>
          </a:p>
          <a:p>
            <a:pPr marL="0" marR="0" lvl="0" indent="0" algn="l" rtl="0">
              <a:spcBef>
                <a:spcPts val="0"/>
              </a:spcBef>
              <a:spcAft>
                <a:spcPts val="0"/>
              </a:spcAft>
              <a:buNone/>
            </a:pPr>
            <a:r>
              <a:rPr lang="en-US" sz="1800">
                <a:solidFill>
                  <a:srgbClr val="FF0000"/>
                </a:solidFill>
                <a:latin typeface="Consolas"/>
                <a:ea typeface="Consolas"/>
                <a:cs typeface="Consolas"/>
                <a:sym typeface="Consolas"/>
              </a:rPr>
              <a:t>   is pressed down</a:t>
            </a:r>
            <a:endParaRPr sz="1800">
              <a:solidFill>
                <a:schemeClr val="dk1"/>
              </a:solidFill>
              <a:latin typeface="Consolas"/>
              <a:ea typeface="Consolas"/>
              <a:cs typeface="Consolas"/>
              <a:sym typeface="Consolas"/>
            </a:endParaRPr>
          </a:p>
          <a:p>
            <a:pPr marL="0" marR="0" lvl="0" indent="0" algn="l" rtl="0">
              <a:spcBef>
                <a:spcPts val="0"/>
              </a:spcBef>
              <a:spcAft>
                <a:spcPts val="0"/>
              </a:spcAft>
              <a:buNone/>
            </a:pPr>
            <a:endParaRPr sz="1800">
              <a:solidFill>
                <a:schemeClr val="dk1"/>
              </a:solidFill>
              <a:latin typeface="Consolas"/>
              <a:ea typeface="Consolas"/>
              <a:cs typeface="Consolas"/>
              <a:sym typeface="Consolas"/>
            </a:endParaRPr>
          </a:p>
        </p:txBody>
      </p:sp>
      <p:sp>
        <p:nvSpPr>
          <p:cNvPr id="550" name="Google Shape;550;p28"/>
          <p:cNvSpPr txBox="1"/>
          <p:nvPr/>
        </p:nvSpPr>
        <p:spPr>
          <a:xfrm>
            <a:off x="1447800" y="2170048"/>
            <a:ext cx="35458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FF0000"/>
                </a:solidFill>
                <a:latin typeface="Consolas"/>
                <a:ea typeface="Consolas"/>
                <a:cs typeface="Consolas"/>
                <a:sym typeface="Consolas"/>
              </a:rPr>
              <a:t>1</a:t>
            </a:r>
            <a:endParaRPr/>
          </a:p>
        </p:txBody>
      </p:sp>
      <p:sp>
        <p:nvSpPr>
          <p:cNvPr id="551" name="Google Shape;551;p28"/>
          <p:cNvSpPr txBox="1"/>
          <p:nvPr/>
        </p:nvSpPr>
        <p:spPr>
          <a:xfrm>
            <a:off x="1447800" y="3008248"/>
            <a:ext cx="35458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FF0000"/>
                </a:solidFill>
                <a:latin typeface="Consolas"/>
                <a:ea typeface="Consolas"/>
                <a:cs typeface="Consolas"/>
                <a:sym typeface="Consolas"/>
              </a:rPr>
              <a:t>1</a:t>
            </a:r>
            <a:endParaRPr/>
          </a:p>
        </p:txBody>
      </p:sp>
      <p:sp>
        <p:nvSpPr>
          <p:cNvPr id="552" name="Google Shape;552;p28"/>
          <p:cNvSpPr txBox="1"/>
          <p:nvPr/>
        </p:nvSpPr>
        <p:spPr>
          <a:xfrm>
            <a:off x="1447800" y="3774713"/>
            <a:ext cx="35458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FF0000"/>
                </a:solidFill>
                <a:latin typeface="Consolas"/>
                <a:ea typeface="Consolas"/>
                <a:cs typeface="Consolas"/>
                <a:sym typeface="Consolas"/>
              </a:rPr>
              <a:t>1</a:t>
            </a:r>
            <a:endParaRPr/>
          </a:p>
        </p:txBody>
      </p:sp>
      <p:sp>
        <p:nvSpPr>
          <p:cNvPr id="553" name="Google Shape;553;p28"/>
          <p:cNvSpPr txBox="1"/>
          <p:nvPr/>
        </p:nvSpPr>
        <p:spPr>
          <a:xfrm>
            <a:off x="1474216" y="4608448"/>
            <a:ext cx="35458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FF0000"/>
                </a:solidFill>
                <a:latin typeface="Consolas"/>
                <a:ea typeface="Consolas"/>
                <a:cs typeface="Consolas"/>
                <a:sym typeface="Consolas"/>
              </a:rPr>
              <a:t>0</a:t>
            </a:r>
            <a:endParaRPr/>
          </a:p>
        </p:txBody>
      </p:sp>
      <p:sp>
        <p:nvSpPr>
          <p:cNvPr id="554" name="Google Shape;554;p28"/>
          <p:cNvSpPr txBox="1"/>
          <p:nvPr/>
        </p:nvSpPr>
        <p:spPr>
          <a:xfrm>
            <a:off x="2007616" y="6096000"/>
            <a:ext cx="35458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0000FF"/>
                </a:solidFill>
                <a:latin typeface="Consolas"/>
                <a:ea typeface="Consolas"/>
                <a:cs typeface="Consolas"/>
                <a:sym typeface="Consolas"/>
              </a:rPr>
              <a:t>1</a:t>
            </a:r>
            <a:endParaRPr/>
          </a:p>
        </p:txBody>
      </p:sp>
      <p:sp>
        <p:nvSpPr>
          <p:cNvPr id="555" name="Google Shape;555;p28"/>
          <p:cNvSpPr txBox="1"/>
          <p:nvPr/>
        </p:nvSpPr>
        <p:spPr>
          <a:xfrm>
            <a:off x="2845816" y="6136913"/>
            <a:ext cx="35458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0000FF"/>
                </a:solidFill>
                <a:latin typeface="Consolas"/>
                <a:ea typeface="Consolas"/>
                <a:cs typeface="Consolas"/>
                <a:sym typeface="Consolas"/>
              </a:rPr>
              <a:t>0</a:t>
            </a:r>
            <a:endParaRPr/>
          </a:p>
        </p:txBody>
      </p:sp>
      <p:sp>
        <p:nvSpPr>
          <p:cNvPr id="556" name="Google Shape;556;p28"/>
          <p:cNvSpPr txBox="1"/>
          <p:nvPr/>
        </p:nvSpPr>
        <p:spPr>
          <a:xfrm>
            <a:off x="3607816" y="6096000"/>
            <a:ext cx="35458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0000FF"/>
                </a:solidFill>
                <a:latin typeface="Consolas"/>
                <a:ea typeface="Consolas"/>
                <a:cs typeface="Consolas"/>
                <a:sym typeface="Consolas"/>
              </a:rPr>
              <a:t>1</a:t>
            </a:r>
            <a:endParaRPr/>
          </a:p>
        </p:txBody>
      </p:sp>
      <p:sp>
        <p:nvSpPr>
          <p:cNvPr id="557" name="Google Shape;557;p28"/>
          <p:cNvSpPr txBox="1"/>
          <p:nvPr/>
        </p:nvSpPr>
        <p:spPr>
          <a:xfrm>
            <a:off x="144045" y="1447800"/>
            <a:ext cx="159101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FF0000"/>
                </a:solidFill>
                <a:latin typeface="Gill Sans"/>
                <a:ea typeface="Gill Sans"/>
                <a:cs typeface="Gill Sans"/>
                <a:sym typeface="Gill Sans"/>
              </a:rPr>
              <a:t>Scan </a:t>
            </a:r>
            <a:r>
              <a:rPr lang="en-US" sz="1800" b="1">
                <a:solidFill>
                  <a:srgbClr val="FF0000"/>
                </a:solidFill>
                <a:latin typeface="Consolas"/>
                <a:ea typeface="Consolas"/>
                <a:cs typeface="Consolas"/>
                <a:sym typeface="Consolas"/>
              </a:rPr>
              <a:t>4</a:t>
            </a:r>
            <a:r>
              <a:rPr lang="en-US" sz="1800" b="1" baseline="30000">
                <a:solidFill>
                  <a:srgbClr val="FF0000"/>
                </a:solidFill>
                <a:latin typeface="Consolas"/>
                <a:ea typeface="Consolas"/>
                <a:cs typeface="Consolas"/>
                <a:sym typeface="Consolas"/>
              </a:rPr>
              <a:t>th</a:t>
            </a:r>
            <a:r>
              <a:rPr lang="en-US" sz="1800" b="1">
                <a:solidFill>
                  <a:srgbClr val="FF0000"/>
                </a:solidFill>
                <a:latin typeface="Consolas"/>
                <a:ea typeface="Consolas"/>
                <a:cs typeface="Consolas"/>
                <a:sym typeface="Consolas"/>
              </a:rPr>
              <a:t> </a:t>
            </a:r>
            <a:r>
              <a:rPr lang="en-US" sz="1800" b="1">
                <a:solidFill>
                  <a:srgbClr val="FF0000"/>
                </a:solidFill>
                <a:latin typeface="Gill Sans"/>
                <a:ea typeface="Gill Sans"/>
                <a:cs typeface="Gill Sans"/>
                <a:sym typeface="Gill Sans"/>
              </a:rPr>
              <a:t>row</a:t>
            </a:r>
            <a:endParaRPr/>
          </a:p>
        </p:txBody>
      </p:sp>
      <p:cxnSp>
        <p:nvCxnSpPr>
          <p:cNvPr id="558" name="Google Shape;558;p28"/>
          <p:cNvCxnSpPr/>
          <p:nvPr/>
        </p:nvCxnSpPr>
        <p:spPr>
          <a:xfrm>
            <a:off x="4876800" y="4038093"/>
            <a:ext cx="381000" cy="1"/>
          </a:xfrm>
          <a:prstGeom prst="straightConnector1">
            <a:avLst/>
          </a:prstGeom>
          <a:noFill/>
          <a:ln w="28575" cap="flat" cmpd="sng">
            <a:solidFill>
              <a:srgbClr val="FF0000"/>
            </a:solidFill>
            <a:prstDash val="solid"/>
            <a:round/>
            <a:headEnd type="none" w="sm" len="sm"/>
            <a:tailEnd type="stealth" w="med" len="med"/>
          </a:ln>
        </p:spPr>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sp>
        <p:nvSpPr>
          <p:cNvPr id="563" name="Google Shape;563;p29"/>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Keypad Scan</a:t>
            </a:r>
            <a:endParaRPr/>
          </a:p>
        </p:txBody>
      </p:sp>
      <p:sp>
        <p:nvSpPr>
          <p:cNvPr id="564" name="Google Shape;564;p29"/>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29</a:t>
            </a:fld>
            <a:endParaRPr/>
          </a:p>
        </p:txBody>
      </p:sp>
      <p:pic>
        <p:nvPicPr>
          <p:cNvPr id="565" name="Google Shape;565;p29"/>
          <p:cNvPicPr preferRelativeResize="0"/>
          <p:nvPr/>
        </p:nvPicPr>
        <p:blipFill rotWithShape="1">
          <a:blip r:embed="rId3">
            <a:alphaModFix/>
          </a:blip>
          <a:srcRect/>
          <a:stretch/>
        </p:blipFill>
        <p:spPr>
          <a:xfrm>
            <a:off x="457200" y="1183913"/>
            <a:ext cx="3880866" cy="5029200"/>
          </a:xfrm>
          <a:prstGeom prst="rect">
            <a:avLst/>
          </a:prstGeom>
          <a:noFill/>
          <a:ln>
            <a:noFill/>
          </a:ln>
        </p:spPr>
      </p:pic>
      <p:sp>
        <p:nvSpPr>
          <p:cNvPr id="566" name="Google Shape;566;p29"/>
          <p:cNvSpPr/>
          <p:nvPr/>
        </p:nvSpPr>
        <p:spPr>
          <a:xfrm>
            <a:off x="2590800" y="4839280"/>
            <a:ext cx="609600" cy="723320"/>
          </a:xfrm>
          <a:prstGeom prst="rect">
            <a:avLst/>
          </a:prstGeom>
          <a:noFill/>
          <a:ln w="381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Gill Sans"/>
              <a:ea typeface="Gill Sans"/>
              <a:cs typeface="Gill Sans"/>
              <a:sym typeface="Gill Sans"/>
            </a:endParaRPr>
          </a:p>
        </p:txBody>
      </p:sp>
      <p:sp>
        <p:nvSpPr>
          <p:cNvPr id="567" name="Google Shape;567;p29"/>
          <p:cNvSpPr txBox="1"/>
          <p:nvPr/>
        </p:nvSpPr>
        <p:spPr>
          <a:xfrm>
            <a:off x="5257801" y="2191434"/>
            <a:ext cx="3505200" cy="193899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000">
              <a:solidFill>
                <a:schemeClr val="dk1"/>
              </a:solidFill>
              <a:latin typeface="Consolas"/>
              <a:ea typeface="Consolas"/>
              <a:cs typeface="Consolas"/>
              <a:sym typeface="Consolas"/>
            </a:endParaRPr>
          </a:p>
          <a:p>
            <a:pPr marL="0" marR="0" lvl="0" indent="0" algn="l" rtl="0">
              <a:spcBef>
                <a:spcPts val="0"/>
              </a:spcBef>
              <a:spcAft>
                <a:spcPts val="0"/>
              </a:spcAft>
              <a:buNone/>
            </a:pPr>
            <a:r>
              <a:rPr lang="en-US" sz="2000">
                <a:solidFill>
                  <a:srgbClr val="FF0000"/>
                </a:solidFill>
                <a:latin typeface="Consolas"/>
                <a:ea typeface="Consolas"/>
                <a:cs typeface="Consolas"/>
                <a:sym typeface="Consolas"/>
              </a:rPr>
              <a:t>⟹ Key pressed is located at the second column and the fourth row.</a:t>
            </a:r>
            <a:endParaRPr/>
          </a:p>
          <a:p>
            <a:pPr marL="0" marR="0" lvl="0" indent="0" algn="l" rtl="0">
              <a:spcBef>
                <a:spcPts val="0"/>
              </a:spcBef>
              <a:spcAft>
                <a:spcPts val="0"/>
              </a:spcAft>
              <a:buNone/>
            </a:pPr>
            <a:endParaRPr sz="2000">
              <a:solidFill>
                <a:schemeClr val="dk1"/>
              </a:solidFill>
              <a:latin typeface="Consolas"/>
              <a:ea typeface="Consolas"/>
              <a:cs typeface="Consolas"/>
              <a:sym typeface="Consolas"/>
            </a:endParaRPr>
          </a:p>
        </p:txBody>
      </p:sp>
      <p:sp>
        <p:nvSpPr>
          <p:cNvPr id="568" name="Google Shape;568;p29"/>
          <p:cNvSpPr txBox="1"/>
          <p:nvPr/>
        </p:nvSpPr>
        <p:spPr>
          <a:xfrm>
            <a:off x="1447800" y="2170048"/>
            <a:ext cx="35458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FF0000"/>
                </a:solidFill>
                <a:latin typeface="Consolas"/>
                <a:ea typeface="Consolas"/>
                <a:cs typeface="Consolas"/>
                <a:sym typeface="Consolas"/>
              </a:rPr>
              <a:t>1</a:t>
            </a:r>
            <a:endParaRPr/>
          </a:p>
        </p:txBody>
      </p:sp>
      <p:sp>
        <p:nvSpPr>
          <p:cNvPr id="569" name="Google Shape;569;p29"/>
          <p:cNvSpPr txBox="1"/>
          <p:nvPr/>
        </p:nvSpPr>
        <p:spPr>
          <a:xfrm>
            <a:off x="1447800" y="3008248"/>
            <a:ext cx="35458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FF0000"/>
                </a:solidFill>
                <a:latin typeface="Consolas"/>
                <a:ea typeface="Consolas"/>
                <a:cs typeface="Consolas"/>
                <a:sym typeface="Consolas"/>
              </a:rPr>
              <a:t>1</a:t>
            </a:r>
            <a:endParaRPr/>
          </a:p>
        </p:txBody>
      </p:sp>
      <p:sp>
        <p:nvSpPr>
          <p:cNvPr id="570" name="Google Shape;570;p29"/>
          <p:cNvSpPr txBox="1"/>
          <p:nvPr/>
        </p:nvSpPr>
        <p:spPr>
          <a:xfrm>
            <a:off x="1447800" y="3774713"/>
            <a:ext cx="35458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FF0000"/>
                </a:solidFill>
                <a:latin typeface="Consolas"/>
                <a:ea typeface="Consolas"/>
                <a:cs typeface="Consolas"/>
                <a:sym typeface="Consolas"/>
              </a:rPr>
              <a:t>1</a:t>
            </a:r>
            <a:endParaRPr/>
          </a:p>
        </p:txBody>
      </p:sp>
      <p:sp>
        <p:nvSpPr>
          <p:cNvPr id="571" name="Google Shape;571;p29"/>
          <p:cNvSpPr txBox="1"/>
          <p:nvPr/>
        </p:nvSpPr>
        <p:spPr>
          <a:xfrm>
            <a:off x="1474216" y="4608448"/>
            <a:ext cx="35458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FF0000"/>
                </a:solidFill>
                <a:latin typeface="Consolas"/>
                <a:ea typeface="Consolas"/>
                <a:cs typeface="Consolas"/>
                <a:sym typeface="Consolas"/>
              </a:rPr>
              <a:t>0</a:t>
            </a:r>
            <a:endParaRPr/>
          </a:p>
        </p:txBody>
      </p:sp>
      <p:sp>
        <p:nvSpPr>
          <p:cNvPr id="572" name="Google Shape;572;p29"/>
          <p:cNvSpPr txBox="1"/>
          <p:nvPr/>
        </p:nvSpPr>
        <p:spPr>
          <a:xfrm>
            <a:off x="2007616" y="6096000"/>
            <a:ext cx="35458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0000FF"/>
                </a:solidFill>
                <a:latin typeface="Consolas"/>
                <a:ea typeface="Consolas"/>
                <a:cs typeface="Consolas"/>
                <a:sym typeface="Consolas"/>
              </a:rPr>
              <a:t>1</a:t>
            </a:r>
            <a:endParaRPr/>
          </a:p>
        </p:txBody>
      </p:sp>
      <p:sp>
        <p:nvSpPr>
          <p:cNvPr id="573" name="Google Shape;573;p29"/>
          <p:cNvSpPr txBox="1"/>
          <p:nvPr/>
        </p:nvSpPr>
        <p:spPr>
          <a:xfrm>
            <a:off x="2845816" y="6136913"/>
            <a:ext cx="35458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0000FF"/>
                </a:solidFill>
                <a:latin typeface="Consolas"/>
                <a:ea typeface="Consolas"/>
                <a:cs typeface="Consolas"/>
                <a:sym typeface="Consolas"/>
              </a:rPr>
              <a:t>0</a:t>
            </a:r>
            <a:endParaRPr/>
          </a:p>
        </p:txBody>
      </p:sp>
      <p:sp>
        <p:nvSpPr>
          <p:cNvPr id="574" name="Google Shape;574;p29"/>
          <p:cNvSpPr txBox="1"/>
          <p:nvPr/>
        </p:nvSpPr>
        <p:spPr>
          <a:xfrm>
            <a:off x="3607816" y="6096000"/>
            <a:ext cx="35458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0000FF"/>
                </a:solidFill>
                <a:latin typeface="Consolas"/>
                <a:ea typeface="Consolas"/>
                <a:cs typeface="Consolas"/>
                <a:sym typeface="Consolas"/>
              </a:rPr>
              <a:t>1</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p30"/>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Keypad Scan</a:t>
            </a:r>
            <a:endParaRPr/>
          </a:p>
        </p:txBody>
      </p:sp>
      <p:sp>
        <p:nvSpPr>
          <p:cNvPr id="581" name="Google Shape;581;p30"/>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30</a:t>
            </a:fld>
            <a:endParaRPr/>
          </a:p>
        </p:txBody>
      </p:sp>
      <p:pic>
        <p:nvPicPr>
          <p:cNvPr id="582" name="Google Shape;582;p30"/>
          <p:cNvPicPr preferRelativeResize="0"/>
          <p:nvPr/>
        </p:nvPicPr>
        <p:blipFill rotWithShape="1">
          <a:blip r:embed="rId3">
            <a:alphaModFix/>
          </a:blip>
          <a:srcRect/>
          <a:stretch/>
        </p:blipFill>
        <p:spPr>
          <a:xfrm>
            <a:off x="2217668" y="1219200"/>
            <a:ext cx="4581144" cy="54864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86"/>
        <p:cNvGrpSpPr/>
        <p:nvPr/>
      </p:nvGrpSpPr>
      <p:grpSpPr>
        <a:xfrm>
          <a:off x="0" y="0"/>
          <a:ext cx="0" cy="0"/>
          <a:chOff x="0" y="0"/>
          <a:chExt cx="0" cy="0"/>
        </a:xfrm>
      </p:grpSpPr>
      <p:sp>
        <p:nvSpPr>
          <p:cNvPr id="587" name="Google Shape;587;p31"/>
          <p:cNvSpPr txBox="1">
            <a:spLocks noGrp="1"/>
          </p:cNvSpPr>
          <p:nvPr>
            <p:ph type="title"/>
          </p:nvPr>
        </p:nvSpPr>
        <p:spPr>
          <a:xfrm>
            <a:off x="457200" y="152400"/>
            <a:ext cx="8229600" cy="9906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3200"/>
              <a:buFont typeface="Bookman Old Style"/>
              <a:buNone/>
            </a:pPr>
            <a:r>
              <a:rPr lang="en-US"/>
              <a:t>I/O Debouncing</a:t>
            </a:r>
            <a:endParaRPr/>
          </a:p>
        </p:txBody>
      </p:sp>
      <p:sp>
        <p:nvSpPr>
          <p:cNvPr id="588" name="Google Shape;588;p31"/>
          <p:cNvSpPr txBox="1">
            <a:spLocks noGrp="1"/>
          </p:cNvSpPr>
          <p:nvPr>
            <p:ph type="sldNum" idx="12"/>
          </p:nvPr>
        </p:nvSpPr>
        <p:spPr>
          <a:xfrm>
            <a:off x="612648" y="6356350"/>
            <a:ext cx="1981200" cy="36576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31</a:t>
            </a:fld>
            <a:endParaRPr/>
          </a:p>
        </p:txBody>
      </p:sp>
      <p:sp>
        <p:nvSpPr>
          <p:cNvPr id="589" name="Google Shape;589;p31"/>
          <p:cNvSpPr txBox="1">
            <a:spLocks noGrp="1"/>
          </p:cNvSpPr>
          <p:nvPr>
            <p:ph type="body" idx="1"/>
          </p:nvPr>
        </p:nvSpPr>
        <p:spPr>
          <a:xfrm>
            <a:off x="457200" y="1219200"/>
            <a:ext cx="8229600" cy="493776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1976"/>
              <a:buChar char="🞂"/>
            </a:pPr>
            <a:r>
              <a:rPr lang="en-US"/>
              <a:t>Example signal when a button is pressed</a:t>
            </a:r>
            <a:endParaRPr/>
          </a:p>
        </p:txBody>
      </p:sp>
      <p:pic>
        <p:nvPicPr>
          <p:cNvPr id="590" name="Google Shape;590;p31"/>
          <p:cNvPicPr preferRelativeResize="0"/>
          <p:nvPr/>
        </p:nvPicPr>
        <p:blipFill rotWithShape="1">
          <a:blip r:embed="rId3">
            <a:alphaModFix/>
          </a:blip>
          <a:srcRect/>
          <a:stretch/>
        </p:blipFill>
        <p:spPr>
          <a:xfrm>
            <a:off x="1676400" y="1676400"/>
            <a:ext cx="5694198" cy="4271924"/>
          </a:xfrm>
          <a:prstGeom prst="rect">
            <a:avLst/>
          </a:prstGeom>
          <a:noFill/>
          <a:ln>
            <a:noFill/>
          </a:ln>
        </p:spPr>
      </p:pic>
    </p:spTree>
  </p:cSld>
  <p:clrMapOvr>
    <a:masterClrMapping/>
  </p:clrMapOvr>
</p:sld>
</file>

<file path=ppt/theme/theme1.xml><?xml version="1.0" encoding="utf-8"?>
<a:theme xmlns:a="http://schemas.openxmlformats.org/drawingml/2006/main" name="Origi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3434</Words>
  <Application>Microsoft Office PowerPoint</Application>
  <PresentationFormat>On-screen Show (4:3)</PresentationFormat>
  <Paragraphs>373</Paragraphs>
  <Slides>31</Slides>
  <Notes>31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Calibri</vt:lpstr>
      <vt:lpstr>Bookman Old Style</vt:lpstr>
      <vt:lpstr>Consolas</vt:lpstr>
      <vt:lpstr>Gill Sans</vt:lpstr>
      <vt:lpstr>Noto Sans Symbols</vt:lpstr>
      <vt:lpstr>Cambria Math</vt:lpstr>
      <vt:lpstr>Arial</vt:lpstr>
      <vt:lpstr>Origin</vt:lpstr>
      <vt:lpstr>Lecture#10: GPIO Part#2 (Chapter#14) Summer, 2025 </vt:lpstr>
      <vt:lpstr>GPIO Output: Open-Drain</vt:lpstr>
      <vt:lpstr>GPIO Output Speed</vt:lpstr>
      <vt:lpstr>Slew Rate</vt:lpstr>
      <vt:lpstr>GPIO Output: Push-Pull vs Open-Drain </vt:lpstr>
      <vt:lpstr>GPIO Output Data Register (ODR)</vt:lpstr>
      <vt:lpstr>Light up the Red LED (PB.2)</vt:lpstr>
      <vt:lpstr>GPIO Initialization</vt:lpstr>
      <vt:lpstr>Basic Structure of an I/O Port Bit Input and Output</vt:lpstr>
      <vt:lpstr>Basic Structure of an I/O Port Bit: Output</vt:lpstr>
      <vt:lpstr>Basic Structure of an I/O Port Bit: Input</vt:lpstr>
      <vt:lpstr>Schmitt Trigger</vt:lpstr>
      <vt:lpstr>Schmitt Trigger</vt:lpstr>
      <vt:lpstr>Schmitt Trigger</vt:lpstr>
      <vt:lpstr>Enable Clock</vt:lpstr>
      <vt:lpstr>GPIO Pull-up/Pull-down Register (PUPDR)</vt:lpstr>
      <vt:lpstr>GPIO Input Data Register (IDR)</vt:lpstr>
      <vt:lpstr>Joystick</vt:lpstr>
      <vt:lpstr>Joystick</vt:lpstr>
      <vt:lpstr>Read Input of Pin PA.0</vt:lpstr>
      <vt:lpstr>Keypad Scan</vt:lpstr>
      <vt:lpstr>Keypad Scan</vt:lpstr>
      <vt:lpstr>Keypad Scan</vt:lpstr>
      <vt:lpstr>Keypad Scan</vt:lpstr>
      <vt:lpstr>Keypad Scan</vt:lpstr>
      <vt:lpstr>Keypad Scan</vt:lpstr>
      <vt:lpstr>Keypad Scan</vt:lpstr>
      <vt:lpstr>Keypad Scan</vt:lpstr>
      <vt:lpstr>Keypad Scan</vt:lpstr>
      <vt:lpstr>Keypad Scan</vt:lpstr>
      <vt:lpstr>I/O Debouncing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Lecture#10: GPIO Part#2 (Chapter#14) Summer, 2025 </dc:title>
  <dc:creator>zhu</dc:creator>
  <cp:lastModifiedBy>DELL</cp:lastModifiedBy>
  <cp:revision>2</cp:revision>
  <dcterms:created xsi:type="dcterms:W3CDTF">2013-03-17T17:42:26Z</dcterms:created>
  <dcterms:modified xsi:type="dcterms:W3CDTF">2025-05-28T18:24:52Z</dcterms:modified>
</cp:coreProperties>
</file>