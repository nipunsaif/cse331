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embeddedFontLst>
    <p:embeddedFont>
      <p:font typeface="Gill Sans" panose="020B0604020202020204" charset="0"/>
      <p:regular r:id="rId21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Bookman Old Style" panose="02050604050505020204" pitchFamily="18" charset="0"/>
      <p:regular r:id="rId27"/>
      <p:bold r:id="rId28"/>
      <p:italic r:id="rId29"/>
      <p:boldItalic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p7cQdxIc+d+VHdllftrq/Eq0H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41C0AA-8CDD-493C-86F3-B4290C7CF803}">
  <a:tblStyle styleId="{0541C0AA-8CDD-493C-86F3-B4290C7CF803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525B096-6B26-4A2C-B9B9-81CDCA40841E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ECF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8ECF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8AEC26C-04CF-44FB-85D4-57DFD8589195}" styleName="Table_2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916DD5F-1160-4075-9956-D1A36D412D9A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32845fbbd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32845fbbd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332845fbbde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2845fbb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32845fbb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332845fbbd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dt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ft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ldNum" idx="12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8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18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95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18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18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ookman Old Style"/>
              <a:buNone/>
              <a:defRPr sz="32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0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" name="Google Shape;41;p20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824"/>
              <a:buNone/>
              <a:defRPr sz="2400" b="1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520"/>
              <a:buNone/>
              <a:defRPr sz="20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2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824"/>
              <a:buNone/>
              <a:defRPr sz="2400" b="1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500"/>
              </a:spcBef>
              <a:spcAft>
                <a:spcPts val="0"/>
              </a:spcAft>
              <a:buSzPts val="1520"/>
              <a:buNone/>
              <a:defRPr sz="2000" b="1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3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4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24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9" name="Google Shape;69;p24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sz="2000" b="1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body" idx="1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25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7" name="Google Shape;77;p25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8" name="Google Shape;78;p25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25"/>
          <p:cNvSpPr txBox="1">
            <a:spLocks noGrp="1"/>
          </p:cNvSpPr>
          <p:nvPr>
            <p:ph type="body" idx="2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solidFill>
          <a:schemeClr val="dk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ookman Old Style"/>
              <a:buNone/>
              <a:defRPr sz="20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>
            <a:spLocks noGrp="1"/>
          </p:cNvSpPr>
          <p:nvPr>
            <p:ph type="pic" idx="2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rgbClr val="BABABA"/>
          </a:solidFill>
          <a:ln>
            <a:noFill/>
          </a:ln>
        </p:spPr>
      </p:sp>
      <p:sp>
        <p:nvSpPr>
          <p:cNvPr id="83" name="Google Shape;83;p26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marL="914400" lvl="1" indent="-286512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marL="1371600" lvl="2" indent="-27686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marL="1828800" lvl="3" indent="-268605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marL="2286000" lvl="4" indent="-268604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26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8" name="Google Shape;88;p2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26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body" idx="1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7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5468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marL="914400" lvl="1" indent="-315468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marL="1371600" lvl="2" indent="-315467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marL="1828800" lvl="3" indent="-30861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marL="2286000" lvl="4" indent="-30861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marL="2743200" lvl="5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marL="3200400" lvl="6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marL="3657600" lvl="7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marL="4114800" lvl="8" indent="-314325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2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3" name="Google Shape;103;p2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28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sz="2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sz="23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A8464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sz="1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sz="1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/>
          </a:p>
        </p:txBody>
      </p:sp>
      <p:cxnSp>
        <p:nvCxnSpPr>
          <p:cNvPr id="15" name="Google Shape;15;p1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" name="Google Shape;16;p17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7" name="Google Shape;17;p1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Bookman Old Style"/>
              <a:buNone/>
            </a:pPr>
            <a:r>
              <a:rPr lang="en-US" sz="2000" b="1" dirty="0">
                <a:solidFill>
                  <a:srgbClr val="C00000"/>
                </a:solidFill>
              </a:rPr>
              <a:t>Lecture#8: C and Assembly Mixing (Chapter#10)</a:t>
            </a:r>
            <a:br>
              <a:rPr lang="en-US" sz="2000" b="1" dirty="0">
                <a:solidFill>
                  <a:srgbClr val="C00000"/>
                </a:solidFill>
              </a:rPr>
            </a:br>
            <a:r>
              <a:rPr lang="en-US" sz="2000" dirty="0"/>
              <a:t>Summer, </a:t>
            </a:r>
            <a:r>
              <a:rPr lang="en-US" sz="2000" dirty="0" smtClean="0"/>
              <a:t>2025</a:t>
            </a:r>
            <a:endParaRPr sz="2000" dirty="0"/>
          </a:p>
        </p:txBody>
      </p:sp>
      <p:sp>
        <p:nvSpPr>
          <p:cNvPr id="110" name="Google Shape;110;p1"/>
          <p:cNvSpPr txBox="1"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216"/>
              <a:buNone/>
            </a:pPr>
            <a:r>
              <a:rPr lang="en-US" sz="1600" dirty="0" smtClean="0"/>
              <a:t>Credit: Dr. Mohammad </a:t>
            </a:r>
            <a:r>
              <a:rPr lang="en-US" sz="1600" dirty="0"/>
              <a:t>A. </a:t>
            </a:r>
            <a:r>
              <a:rPr lang="en-US" sz="1600" smtClean="0"/>
              <a:t>Qayum</a:t>
            </a:r>
            <a:endParaRPr dirty="0"/>
          </a:p>
        </p:txBody>
      </p:sp>
      <p:sp>
        <p:nvSpPr>
          <p:cNvPr id="111" name="Google Shape;111;p1"/>
          <p:cNvSpPr txBox="1"/>
          <p:nvPr/>
        </p:nvSpPr>
        <p:spPr>
          <a:xfrm>
            <a:off x="1828800" y="337547"/>
            <a:ext cx="6477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Embedded Systems with ARM Cortex-M Microcontrollers in Assembly Language and C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1401553" y="1828800"/>
            <a:ext cx="6867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b="1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CSE331: Microprocessor Interfacing and Embedded Systems</a:t>
            </a:r>
            <a:endParaRPr sz="2400" b="1">
              <a:solidFill>
                <a:srgbClr val="C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"/>
          <p:cNvSpPr txBox="1">
            <a:spLocks noGrp="1"/>
          </p:cNvSpPr>
          <p:nvPr>
            <p:ph type="sldNum" idx="12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Basic Data Types in C</a:t>
            </a:r>
            <a:endParaRPr/>
          </a:p>
        </p:txBody>
      </p:sp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aphicFrame>
        <p:nvGraphicFramePr>
          <p:cNvPr id="120" name="Google Shape;120;p2"/>
          <p:cNvGraphicFramePr/>
          <p:nvPr/>
        </p:nvGraphicFramePr>
        <p:xfrm>
          <a:off x="457200" y="1371601"/>
          <a:ext cx="3000000" cy="3000000"/>
        </p:xfrm>
        <a:graphic>
          <a:graphicData uri="http://schemas.openxmlformats.org/drawingml/2006/table">
            <a:tbl>
              <a:tblPr firstRow="1" firstCol="1" bandRow="1" bandCol="1">
                <a:noFill/>
                <a:tableStyleId>{0541C0AA-8CDD-493C-86F3-B4290C7CF803}</a:tableStyleId>
              </a:tblPr>
              <a:tblGrid>
                <a:gridCol w="114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9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8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Data Type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Data Size (bits)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Alignment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Data Range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bool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8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byte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0 or 1. Bits 1-7 are ignored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char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8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byte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-128 </a:t>
                      </a:r>
                      <a:r>
                        <a:rPr lang="en-US" sz="1600"/>
                        <a:t>to</a:t>
                      </a:r>
                      <a:r>
                        <a:rPr lang="en-US" sz="1600" u="none" strike="noStrike" cap="none"/>
                        <a:t> 127(signed) or 0 - 255(unsigned)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int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32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word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-2,147,483,648 </a:t>
                      </a:r>
                      <a:r>
                        <a:rPr lang="en-US" sz="1600"/>
                        <a:t>to</a:t>
                      </a:r>
                      <a:r>
                        <a:rPr lang="en-US" sz="1600" u="none" strike="noStrike" cap="none"/>
                        <a:t> 2,147,483,647(signed) or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0 - 4,294,967,296(unsigned)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short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16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halfword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-32,768 - 32,767(signed) or 0 - 65,536(unsigned)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int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32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word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same as int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long</a:t>
                      </a:r>
                      <a:endParaRPr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64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word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-9,223,372,036,854,775,808 - 9,223,372,036,854,775,807(signed) or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0 - 18,446,744,073,709,551,616(unsigned)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float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32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word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+/- 1.4023x10</a:t>
                      </a:r>
                      <a:r>
                        <a:rPr lang="en-US" sz="1600" u="none" strike="noStrike" cap="none" baseline="30000"/>
                        <a:t>-45</a:t>
                      </a:r>
                      <a:r>
                        <a:rPr lang="en-US" sz="1600" u="none" strike="noStrike" cap="none"/>
                        <a:t> to 3.4028x10</a:t>
                      </a:r>
                      <a:r>
                        <a:rPr lang="en-US" sz="1600" u="none" strike="noStrike" cap="none" baseline="30000"/>
                        <a:t>+38</a:t>
                      </a:r>
                      <a:r>
                        <a:rPr lang="en-US" sz="1600" u="none" strike="noStrike" cap="none"/>
                        <a:t>, always signed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double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64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word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+/- 4.9406x10</a:t>
                      </a:r>
                      <a:r>
                        <a:rPr lang="en-US" sz="1600" u="none" strike="noStrike" cap="none" baseline="30000"/>
                        <a:t>-324</a:t>
                      </a:r>
                      <a:r>
                        <a:rPr lang="en-US" sz="1600" u="none" strike="noStrike" cap="none"/>
                        <a:t> to 1.7977x10</a:t>
                      </a:r>
                      <a:r>
                        <a:rPr lang="en-US" sz="1600" u="none" strike="noStrike" cap="none" baseline="30000"/>
                        <a:t>308</a:t>
                      </a:r>
                      <a:r>
                        <a:rPr lang="en-US" sz="1600" u="none" strike="noStrike" cap="none"/>
                        <a:t>, always signed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6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long double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96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word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very large range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Load and Store Data</a:t>
            </a:r>
            <a:endParaRPr/>
          </a:p>
        </p:txBody>
      </p:sp>
      <p:sp>
        <p:nvSpPr>
          <p:cNvPr id="126" name="Google Shape;126;p3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graphicFrame>
        <p:nvGraphicFramePr>
          <p:cNvPr id="127" name="Google Shape;127;p3"/>
          <p:cNvGraphicFramePr/>
          <p:nvPr/>
        </p:nvGraphicFramePr>
        <p:xfrm>
          <a:off x="1371600" y="2133600"/>
          <a:ext cx="3000000" cy="3000000"/>
        </p:xfrm>
        <a:graphic>
          <a:graphicData uri="http://schemas.openxmlformats.org/drawingml/2006/table">
            <a:tbl>
              <a:tblPr firstRow="1" firstCol="1" bandRow="1" bandCol="1">
                <a:noFill/>
                <a:tableStyleId>{B525B096-6B26-4A2C-B9B9-81CDCA40841E}</a:tableStyleId>
              </a:tblPr>
              <a:tblGrid>
                <a:gridCol w="319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unsigned char</a:t>
                      </a:r>
                      <a:endParaRPr sz="2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u="none" strike="noStrike" cap="none"/>
                        <a:t>LDRB/STRB</a:t>
                      </a:r>
                      <a:endParaRPr sz="2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unsigned short</a:t>
                      </a:r>
                      <a:endParaRPr sz="2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LDRH/STRH</a:t>
                      </a:r>
                      <a:endParaRPr sz="2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unsigned int</a:t>
                      </a:r>
                      <a:endParaRPr sz="2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LDR/STR</a:t>
                      </a:r>
                      <a:endParaRPr sz="2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char</a:t>
                      </a:r>
                      <a:endParaRPr sz="2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LDRSB/STRSB</a:t>
                      </a:r>
                      <a:endParaRPr sz="2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short</a:t>
                      </a:r>
                      <a:endParaRPr sz="2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strike="noStrike" cap="none"/>
                        <a:t>LDRSH/STRSH</a:t>
                      </a:r>
                      <a:endParaRPr sz="2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Struct</a:t>
            </a:r>
            <a:endParaRPr/>
          </a:p>
        </p:txBody>
      </p:sp>
      <p:sp>
        <p:nvSpPr>
          <p:cNvPr id="133" name="Google Shape;133;p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6437" y="0"/>
            <a:ext cx="28253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1068324" y="1210314"/>
            <a:ext cx="2133600" cy="2123658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Position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y;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time;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short scale;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array[10];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Struct</a:t>
            </a:r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92031" y="3930184"/>
            <a:ext cx="2514600" cy="2308324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Position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y;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char padding_1[1];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time;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short scale;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char padding_2[2];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array[10];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 rot="5400000">
            <a:off x="1962503" y="3487321"/>
            <a:ext cx="345242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7811" y="0"/>
            <a:ext cx="476024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/>
          <p:nvPr/>
        </p:nvSpPr>
        <p:spPr>
          <a:xfrm>
            <a:off x="1068324" y="1210314"/>
            <a:ext cx="2133600" cy="2123658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Position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y;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time;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short scale;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array[10];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Struct</a:t>
            </a:r>
            <a:endParaRPr/>
          </a:p>
        </p:txBody>
      </p:sp>
      <p:sp>
        <p:nvSpPr>
          <p:cNvPr id="153" name="Google Shape;153;p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5" name="Google Shape;15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6437" y="0"/>
            <a:ext cx="28253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612648" y="1524000"/>
            <a:ext cx="3275076" cy="1815882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__packed </a:t>
            </a: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Position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y;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time;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short scale;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array[10];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Struct</a:t>
            </a:r>
            <a:endParaRPr/>
          </a:p>
        </p:txBody>
      </p:sp>
      <p:sp>
        <p:nvSpPr>
          <p:cNvPr id="162" name="Google Shape;162;p7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12648" y="1524000"/>
            <a:ext cx="3275076" cy="1815882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__packed </a:t>
            </a: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Position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y;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time;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short scale;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array[10];</a:t>
            </a:r>
            <a:endParaRPr/>
          </a:p>
        </p:txBody>
      </p:sp>
      <p:pic>
        <p:nvPicPr>
          <p:cNvPr id="165" name="Google Shape;16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9600" y="554769"/>
            <a:ext cx="4557057" cy="6167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Unaligned Accesses </a:t>
            </a:r>
            <a:endParaRPr/>
          </a:p>
        </p:txBody>
      </p:sp>
      <p:sp>
        <p:nvSpPr>
          <p:cNvPr id="171" name="Google Shape;171;p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447800"/>
            <a:ext cx="6748117" cy="354198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 txBox="1"/>
          <p:nvPr/>
        </p:nvSpPr>
        <p:spPr>
          <a:xfrm>
            <a:off x="1569668" y="5319126"/>
            <a:ext cx="57230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Two memory accesses are required to fetch the unaligned word!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Struct</a:t>
            </a:r>
            <a:endParaRPr/>
          </a:p>
        </p:txBody>
      </p:sp>
      <p:sp>
        <p:nvSpPr>
          <p:cNvPr id="180" name="Google Shape;180;p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953000" y="1575624"/>
            <a:ext cx="3275076" cy="1815882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__packed </a:t>
            </a: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Position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y;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time;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short scale;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array[10];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990600" y="1441351"/>
            <a:ext cx="2514600" cy="2308324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Position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y;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char x;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char padding_1[1];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time;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short scale;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  char padding_2[2];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array[10];</a:t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1300665" y="3863360"/>
            <a:ext cx="195271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Optimized for speed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(default)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5620593" y="3565009"/>
            <a:ext cx="19398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Optimized for space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Static Variables</a:t>
            </a:r>
            <a:endParaRPr/>
          </a:p>
        </p:txBody>
      </p:sp>
      <p:sp>
        <p:nvSpPr>
          <p:cNvPr id="191" name="Google Shape;191;p1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aphicFrame>
        <p:nvGraphicFramePr>
          <p:cNvPr id="192" name="Google Shape;192;p10"/>
          <p:cNvGraphicFramePr/>
          <p:nvPr/>
        </p:nvGraphicFramePr>
        <p:xfrm>
          <a:off x="1219200" y="1515547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{B8AEC26C-04CF-44FB-85D4-57DFD8589195}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2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Code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foo();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main(void)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int y;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foo();  // y = ?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foo();  // y = ?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foo();  // y = ?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while(1);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foo()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int x = 5;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x = x + 1;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return(x)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3" name="Google Shape;193;p10"/>
          <p:cNvGraphicFramePr/>
          <p:nvPr/>
        </p:nvGraphicFramePr>
        <p:xfrm>
          <a:off x="4876800" y="1515548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{B8AEC26C-04CF-44FB-85D4-57DFD8589195}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1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Code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foo();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main(void)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int y;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foo();  // y = ?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foo();  // y = ?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foo();  // y = ?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while(1);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foo()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static</a:t>
                      </a: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 x = 5; 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x = x + 1;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return(x);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Static Variables</a:t>
            </a:r>
            <a:endParaRPr/>
          </a:p>
        </p:txBody>
      </p:sp>
      <p:sp>
        <p:nvSpPr>
          <p:cNvPr id="199" name="Google Shape;199;p1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aphicFrame>
        <p:nvGraphicFramePr>
          <p:cNvPr id="200" name="Google Shape;200;p11"/>
          <p:cNvGraphicFramePr/>
          <p:nvPr/>
        </p:nvGraphicFramePr>
        <p:xfrm>
          <a:off x="533400" y="1219200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{B8AEC26C-04CF-44FB-85D4-57DFD8589195}</a:tableStyleId>
              </a:tblPr>
              <a:tblGrid>
                <a:gridCol w="40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Code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Assembly Code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3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foo();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main(void) {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int y;</a:t>
                      </a:r>
                      <a:endParaRPr sz="16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int x=5;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foo(x);  // y = 6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foo(x);  // y = 6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foo(x);  // y = 6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while(1);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foo(int x) {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int x = 5;  // local variable</a:t>
                      </a:r>
                      <a:endParaRPr sz="2000" b="1" u="none" strike="noStrike" cap="non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x = x + 1;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return(x)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AREA static_demo, CODE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EXPORT __main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ALIGN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ENTRY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__main  PROC		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BL  foo     ; r0 = 6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BL  foo     ; r0 = 6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BL  foo     ; r0 = 6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stop    B   stop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ENDP		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	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     PROC	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MOV  r0,#5</a:t>
                      </a:r>
                      <a:endParaRPr sz="2000" b="1" u="none" strike="noStrike" cap="non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ADD  r0,r0,#1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BX   LR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ENDP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END</a:t>
                      </a:r>
                      <a:endParaRPr sz="20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Static Variables</a:t>
            </a:r>
            <a:endParaRPr/>
          </a:p>
        </p:txBody>
      </p:sp>
      <p:sp>
        <p:nvSpPr>
          <p:cNvPr id="206" name="Google Shape;206;p12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aphicFrame>
        <p:nvGraphicFramePr>
          <p:cNvPr id="207" name="Google Shape;207;p12"/>
          <p:cNvGraphicFramePr/>
          <p:nvPr/>
        </p:nvGraphicFramePr>
        <p:xfrm>
          <a:off x="457200" y="1189482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{B8AEC26C-04CF-44FB-85D4-57DFD8589195}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Code</a:t>
                      </a:r>
                      <a:endParaRPr sz="13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Assembly Code</a:t>
                      </a:r>
                      <a:endParaRPr sz="13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1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foo();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main(void)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int y;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foo();  // y = 6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foo();  // y = 7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y = foo();  // y = 8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while(1);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foo() {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// x is initialized only once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static int x = 5; // a static variable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x = x + 1;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return(x)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3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AREA static_demo, CODE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EXPORT __main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ALIGN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ENTRY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__main  PROC		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BL  foo     ; r0 = 5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BL  foo     ; r0 = 6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BL  foo     ; r0 = 7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stop    B   stop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ENDP		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	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foo     PROC	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LDR  r1,=x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LDR  r0,[r1]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ADD  r0,r0,#1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STR  r0,[r1]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BX   LR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ENDP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AREA myData, DATA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ALIGN		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      DCD   5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END</a:t>
                      </a:r>
                      <a:endParaRPr sz="1300" b="1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 of C Calling Assembly</a:t>
            </a:r>
            <a:endParaRPr/>
          </a:p>
        </p:txBody>
      </p:sp>
      <p:sp>
        <p:nvSpPr>
          <p:cNvPr id="213" name="Google Shape;213;p13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aphicFrame>
        <p:nvGraphicFramePr>
          <p:cNvPr id="214" name="Google Shape;214;p13"/>
          <p:cNvGraphicFramePr/>
          <p:nvPr/>
        </p:nvGraphicFramePr>
        <p:xfrm>
          <a:off x="152400" y="1752600"/>
          <a:ext cx="3000000" cy="3000000"/>
        </p:xfrm>
        <a:graphic>
          <a:graphicData uri="http://schemas.openxmlformats.org/drawingml/2006/table">
            <a:tbl>
              <a:tblPr firstRow="1" firstCol="1" bandRow="1" bandCol="1">
                <a:noFill/>
                <a:tableStyleId>{B8AEC26C-04CF-44FB-85D4-57DFD8589195}</a:tableStyleId>
              </a:tblPr>
              <a:tblGrid>
                <a:gridCol w="335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Program (main.c)</a:t>
                      </a:r>
                      <a:endParaRPr sz="16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Assembly Program (strlen.s)</a:t>
                      </a:r>
                      <a:endParaRPr sz="16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 str[25] = "Hello!";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extern void strlen(char* s);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main(void){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int i;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 = strlen(str);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while(1);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AREA stringLength, CODE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</a:t>
                      </a:r>
                      <a:r>
                        <a:rPr lang="en-US" sz="1600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 strlen      </a:t>
                      </a: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make strlen visible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ALIGN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strlen PROC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PUSH {r4, lr}      ; preserve r4 and lr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MOV  r4, #0        ; initialize length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loop   LDRB r1, [r0, r4]  ; r0 = string address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CBZ  r1, exit      ; branch if zero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ADD  r4, r4, #1    ; length++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B    loop          ; do it again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exit   MOV  r0, r4        ; place result in r0 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POP  {r4, pc}      ; exit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ENDP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 of Accessing C Variables</a:t>
            </a:r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aphicFrame>
        <p:nvGraphicFramePr>
          <p:cNvPr id="221" name="Google Shape;221;p14"/>
          <p:cNvGraphicFramePr/>
          <p:nvPr/>
        </p:nvGraphicFramePr>
        <p:xfrm>
          <a:off x="914400" y="1219200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{B8AEC26C-04CF-44FB-85D4-57DFD8589195}</a:tableStyleId>
              </a:tblPr>
              <a:tblGrid>
                <a:gridCol w="327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Program (main.c)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Assembly Program (count.s)</a:t>
                      </a:r>
                      <a:endParaRPr sz="14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counter;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extern int getValue();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extern void setValue(int c);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increment();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main(void) {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int c = 0;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setValue(1);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increment();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c = getValue();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while(1);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increment(){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counter += 2;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AREA count, CODE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</a:t>
                      </a:r>
                      <a:r>
                        <a:rPr lang="en-US" sz="1400" b="1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counter 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ALIGN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setValue  PROC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EXPORT setValue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LDR r1, =counter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STR r0, [r1]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BX  lr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ENDP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getValue  PROC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EXPORT getValue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LDR r1, =counter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LDR r0, [r1]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BX  lr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ENDP	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increment PROC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EXPORT increment [WEAK]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LDR r1, =counter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LDR r0, [r1]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ADD r0, r0, #1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STR r0, [r1]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BX  lr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ENDP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END</a:t>
                      </a:r>
                      <a:endParaRPr sz="14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2845fbbde_0_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 b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Weak definitions in ARM</a:t>
            </a:r>
            <a:endParaRPr sz="3900"/>
          </a:p>
        </p:txBody>
      </p:sp>
      <p:sp>
        <p:nvSpPr>
          <p:cNvPr id="228" name="Google Shape;228;g332845fbbde_0_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29" name="Google Shape;229;g332845fbbde_0_8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function definition, or an exported label in assembler, can also be marked as weak, as can a variable definition. In this case, a weak symbol definition is created in the object file.</a:t>
            </a:r>
            <a:endParaRPr sz="20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weak definition can be used to resolve any reference to that symbol in the same way as a normal definition. However, if another non-weak definition of that symbol exists in the build, the linker uses that definition instead of the weak definition, and does not produce an error due to multiply-defined symbols.</a:t>
            </a:r>
            <a:endParaRPr sz="20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 of Assembly Calling C</a:t>
            </a:r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aphicFrame>
        <p:nvGraphicFramePr>
          <p:cNvPr id="236" name="Google Shape;236;p15"/>
          <p:cNvGraphicFramePr/>
          <p:nvPr/>
        </p:nvGraphicFramePr>
        <p:xfrm>
          <a:off x="609600" y="1752600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{B8AEC26C-04CF-44FB-85D4-57DFD8589195}</a:tableStyleId>
              </a:tblPr>
              <a:tblGrid>
                <a:gridCol w="40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0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Assembly Program (main.s)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Program (strlen.c)</a:t>
                      </a:r>
                      <a:endParaRPr sz="2000" b="1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6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AREA my_strlen, CODE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EXPORT __main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600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strlen</a:t>
                      </a:r>
                      <a:endParaRPr sz="2000" u="none" strike="noStrike" cap="none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ALIGN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ENTRY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__main  PROC		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LDR   r0, =str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600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    strlen</a:t>
                      </a:r>
                      <a:endParaRPr sz="2000" u="none" strike="noStrike" cap="none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stop    B     stop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ENDP		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	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AREA myData, DATA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ALIGN		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     DCB   "12345678",0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END 	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strlen(char *s){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int i = 0;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while( s[i] != '\0')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i++;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return i;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 sz="20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Bookman Old Style"/>
              <a:buNone/>
            </a:pPr>
            <a:r>
              <a:rPr lang="en-US"/>
              <a:t>Example of Accessing Data </a:t>
            </a:r>
            <a:br>
              <a:rPr lang="en-US"/>
            </a:br>
            <a:r>
              <a:rPr lang="en-US"/>
              <a:t>Defined in Assembly</a:t>
            </a:r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aphicFrame>
        <p:nvGraphicFramePr>
          <p:cNvPr id="243" name="Google Shape;243;p16"/>
          <p:cNvGraphicFramePr/>
          <p:nvPr/>
        </p:nvGraphicFramePr>
        <p:xfrm>
          <a:off x="762000" y="1203960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{B8AEC26C-04CF-44FB-85D4-57DFD8589195}</a:tableStyleId>
              </a:tblPr>
              <a:tblGrid>
                <a:gridCol w="395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7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Assembly Program</a:t>
                      </a:r>
                      <a:endParaRPr sz="16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Program</a:t>
                      </a:r>
                      <a:endParaRPr sz="1600" u="none" strike="noStrike" cap="none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9425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AREA main, CODE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EXPORT  __main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IMPORT getValue</a:t>
                      </a:r>
                      <a:endParaRPr sz="1600" u="none" strike="noStrike" cap="none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IMPORT increment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IMPORT setValue</a:t>
                      </a:r>
                      <a:endParaRPr sz="1600" u="none" strike="noStrike" cap="none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ALIGN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ENTRY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__main  MOVS  r2,#0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MOVS  r0,#1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BL    setValue</a:t>
                      </a:r>
                      <a:endParaRPr sz="1600" u="none" strike="noStrike" cap="none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BL    increment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BL    getValue 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MOV   r2,r0		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stop    B     stop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AREA myData, DATA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r>
                        <a:rPr lang="en-US" sz="1600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EXPORT counter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 DCD   0		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END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extern int counter;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 getValue() {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return counter;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increment() {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counter++;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setValue(int c) {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counter = c;</a:t>
                      </a:r>
                      <a:endParaRPr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6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2845fbbde_0_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522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Mixed C &amp; Assembly example</a:t>
            </a:r>
            <a:endParaRPr/>
          </a:p>
        </p:txBody>
      </p:sp>
      <p:sp>
        <p:nvSpPr>
          <p:cNvPr id="250" name="Google Shape;250;g332845fbbde_0_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aphicFrame>
        <p:nvGraphicFramePr>
          <p:cNvPr id="251" name="Google Shape;251;g332845fbbde_0_0"/>
          <p:cNvGraphicFramePr/>
          <p:nvPr/>
        </p:nvGraphicFramePr>
        <p:xfrm>
          <a:off x="970750" y="79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{D916DD5F-1160-4075-9956-D1A36D412D9A}</a:tableStyleId>
              </a:tblPr>
              <a:tblGrid>
                <a:gridCol w="361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7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void myfunc(){ 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//int *i, *j;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int *j;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//i=0x100200;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j=0x100208;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*j=0x21;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}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extern int counter;	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int main() {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int x =2;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int y=4;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int z=5;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int *p, *q;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p=0x100200;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q=0x100204;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//*q=12;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*p=sum(x,y,z);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*q=counter;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	return 0;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}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int sum (int a, int b, int c) {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__asm(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	//".extern counter\n"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	".data\n"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	"counter: .word 0x13\n"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	".text\n"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	"push {r4, lr}\n"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	//".extern val: .word 6\n"		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	"add r4, r0, r1\n"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	"add r4, r4, r2\n"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	"b hello\n"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	"hello: mov r0, r4\n"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	"bl myfunc\n"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     "pop {r4, lr}\n"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	     "bx lr\n" );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</a:rPr>
                        <a:t>          }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rigi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854</Words>
  <Application>Microsoft Office PowerPoint</Application>
  <PresentationFormat>On-screen Show (4:3)</PresentationFormat>
  <Paragraphs>436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Gill Sans</vt:lpstr>
      <vt:lpstr>Calibri</vt:lpstr>
      <vt:lpstr>Bookman Old Style</vt:lpstr>
      <vt:lpstr>Consolas</vt:lpstr>
      <vt:lpstr>Noto Sans Symbols</vt:lpstr>
      <vt:lpstr>Arial</vt:lpstr>
      <vt:lpstr>Origin</vt:lpstr>
      <vt:lpstr>Lecture#8: C and Assembly Mixing (Chapter#10) Summer, 2025</vt:lpstr>
      <vt:lpstr>Basic Data Types in C</vt:lpstr>
      <vt:lpstr>Load and Store Data</vt:lpstr>
      <vt:lpstr>Struct</vt:lpstr>
      <vt:lpstr>Struct</vt:lpstr>
      <vt:lpstr>Struct</vt:lpstr>
      <vt:lpstr>Struct</vt:lpstr>
      <vt:lpstr>Unaligned Accesses </vt:lpstr>
      <vt:lpstr>Struct</vt:lpstr>
      <vt:lpstr>Static Variables</vt:lpstr>
      <vt:lpstr>Static Variables</vt:lpstr>
      <vt:lpstr>Static Variables</vt:lpstr>
      <vt:lpstr>Example of C Calling Assembly</vt:lpstr>
      <vt:lpstr>Example of Accessing C Variables</vt:lpstr>
      <vt:lpstr>Weak definitions in ARM</vt:lpstr>
      <vt:lpstr>Example of Assembly Calling C</vt:lpstr>
      <vt:lpstr>Example of Accessing Data  Defined in Assembly</vt:lpstr>
      <vt:lpstr>Mixed C &amp; Assembly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Lecture#8: C and Assembly Mixing (Chapter#10) Summer, 2025</dc:title>
  <dc:creator>zhu</dc:creator>
  <cp:lastModifiedBy>DELL</cp:lastModifiedBy>
  <cp:revision>1</cp:revision>
  <dcterms:created xsi:type="dcterms:W3CDTF">2014-04-18T01:28:58Z</dcterms:created>
  <dcterms:modified xsi:type="dcterms:W3CDTF">2025-05-28T18:21:17Z</dcterms:modified>
</cp:coreProperties>
</file>