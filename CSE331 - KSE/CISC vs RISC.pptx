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985000" cy="9283700"/>
  <p:embeddedFontLst>
    <p:embeddedFont>
      <p:font typeface="Tahoma"/>
      <p:regular r:id="rId26"/>
      <p:bold r:id="rId27"/>
    </p:embeddedFont>
    <p:embeddedFont>
      <p:font typeface="Carli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hlnRcpCLcKMlMYTttxYpoRq5rH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Tahoma-regular.fntdata"/><Relationship Id="rId25" Type="http://schemas.openxmlformats.org/officeDocument/2006/relationships/slide" Target="slides/slide20.xml"/><Relationship Id="rId28" Type="http://schemas.openxmlformats.org/officeDocument/2006/relationships/font" Target="fonts/Carlito-regular.fntdata"/><Relationship Id="rId27" Type="http://schemas.openxmlformats.org/officeDocument/2006/relationships/font" Target="fonts/Tahoma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arl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arlito-boldItalic.fntdata"/><Relationship Id="rId30" Type="http://schemas.openxmlformats.org/officeDocument/2006/relationships/font" Target="fonts/Carli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64375" y="696275"/>
            <a:ext cx="4656875" cy="34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98500" y="4409750"/>
            <a:ext cx="5588000" cy="41776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98500" y="4409750"/>
            <a:ext cx="5588000" cy="4177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64375" y="696275"/>
            <a:ext cx="4656875" cy="34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3ee3ee8257_0_0:notes"/>
          <p:cNvSpPr txBox="1"/>
          <p:nvPr>
            <p:ph idx="1" type="body"/>
          </p:nvPr>
        </p:nvSpPr>
        <p:spPr>
          <a:xfrm>
            <a:off x="698500" y="4409758"/>
            <a:ext cx="5588100" cy="4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23ee3ee8257_0_0:notes"/>
          <p:cNvSpPr/>
          <p:nvPr>
            <p:ph idx="2" type="sldImg"/>
          </p:nvPr>
        </p:nvSpPr>
        <p:spPr>
          <a:xfrm>
            <a:off x="1164396" y="696278"/>
            <a:ext cx="4656900" cy="34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3ee3ee8257_0_5:notes"/>
          <p:cNvSpPr txBox="1"/>
          <p:nvPr>
            <p:ph idx="1" type="body"/>
          </p:nvPr>
        </p:nvSpPr>
        <p:spPr>
          <a:xfrm>
            <a:off x="698500" y="4409758"/>
            <a:ext cx="5588100" cy="4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23ee3ee8257_0_5:notes"/>
          <p:cNvSpPr/>
          <p:nvPr>
            <p:ph idx="2" type="sldImg"/>
          </p:nvPr>
        </p:nvSpPr>
        <p:spPr>
          <a:xfrm>
            <a:off x="1164396" y="696278"/>
            <a:ext cx="4656900" cy="34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/>
          <p:nvPr>
            <p:ph idx="1" type="body"/>
          </p:nvPr>
        </p:nvSpPr>
        <p:spPr>
          <a:xfrm>
            <a:off x="698500" y="4409750"/>
            <a:ext cx="5588000" cy="4177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:notes"/>
          <p:cNvSpPr/>
          <p:nvPr>
            <p:ph idx="2" type="sldImg"/>
          </p:nvPr>
        </p:nvSpPr>
        <p:spPr>
          <a:xfrm>
            <a:off x="1164375" y="696275"/>
            <a:ext cx="4656875" cy="34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:notes"/>
          <p:cNvSpPr txBox="1"/>
          <p:nvPr>
            <p:ph idx="1" type="body"/>
          </p:nvPr>
        </p:nvSpPr>
        <p:spPr>
          <a:xfrm>
            <a:off x="698500" y="4409750"/>
            <a:ext cx="5588000" cy="4177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:notes"/>
          <p:cNvSpPr/>
          <p:nvPr>
            <p:ph idx="2" type="sldImg"/>
          </p:nvPr>
        </p:nvSpPr>
        <p:spPr>
          <a:xfrm>
            <a:off x="1164375" y="696275"/>
            <a:ext cx="4656875" cy="34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3ee3ee8257_0_120:notes"/>
          <p:cNvSpPr txBox="1"/>
          <p:nvPr>
            <p:ph idx="1" type="body"/>
          </p:nvPr>
        </p:nvSpPr>
        <p:spPr>
          <a:xfrm>
            <a:off x="698500" y="4409750"/>
            <a:ext cx="5588100" cy="41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23ee3ee8257_0_120:notes"/>
          <p:cNvSpPr/>
          <p:nvPr>
            <p:ph idx="2" type="sldImg"/>
          </p:nvPr>
        </p:nvSpPr>
        <p:spPr>
          <a:xfrm>
            <a:off x="1164375" y="696275"/>
            <a:ext cx="4656900" cy="34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 txBox="1"/>
          <p:nvPr>
            <p:ph idx="1" type="body"/>
          </p:nvPr>
        </p:nvSpPr>
        <p:spPr>
          <a:xfrm>
            <a:off x="698500" y="4409750"/>
            <a:ext cx="5588000" cy="4177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:notes"/>
          <p:cNvSpPr/>
          <p:nvPr>
            <p:ph idx="2" type="sldImg"/>
          </p:nvPr>
        </p:nvSpPr>
        <p:spPr>
          <a:xfrm>
            <a:off x="1164375" y="696275"/>
            <a:ext cx="4656875" cy="34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5:notes"/>
          <p:cNvSpPr txBox="1"/>
          <p:nvPr>
            <p:ph idx="1" type="body"/>
          </p:nvPr>
        </p:nvSpPr>
        <p:spPr>
          <a:xfrm>
            <a:off x="698500" y="4409750"/>
            <a:ext cx="5588000" cy="4177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:notes"/>
          <p:cNvSpPr/>
          <p:nvPr>
            <p:ph idx="2" type="sldImg"/>
          </p:nvPr>
        </p:nvSpPr>
        <p:spPr>
          <a:xfrm>
            <a:off x="1164375" y="696275"/>
            <a:ext cx="4656875" cy="34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 txBox="1"/>
          <p:nvPr>
            <p:ph idx="1" type="body"/>
          </p:nvPr>
        </p:nvSpPr>
        <p:spPr>
          <a:xfrm>
            <a:off x="698500" y="4409750"/>
            <a:ext cx="5588000" cy="4177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:notes"/>
          <p:cNvSpPr/>
          <p:nvPr>
            <p:ph idx="2" type="sldImg"/>
          </p:nvPr>
        </p:nvSpPr>
        <p:spPr>
          <a:xfrm>
            <a:off x="1164375" y="696275"/>
            <a:ext cx="4656875" cy="34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98500" y="4409750"/>
            <a:ext cx="5588000" cy="4177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/>
          <p:nvPr>
            <p:ph idx="2" type="sldImg"/>
          </p:nvPr>
        </p:nvSpPr>
        <p:spPr>
          <a:xfrm>
            <a:off x="1164375" y="696275"/>
            <a:ext cx="4656875" cy="34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98500" y="4409750"/>
            <a:ext cx="5588000" cy="4177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:notes"/>
          <p:cNvSpPr/>
          <p:nvPr>
            <p:ph idx="2" type="sldImg"/>
          </p:nvPr>
        </p:nvSpPr>
        <p:spPr>
          <a:xfrm>
            <a:off x="1164375" y="696275"/>
            <a:ext cx="4656875" cy="34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98500" y="4409750"/>
            <a:ext cx="5588000" cy="4177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64375" y="696275"/>
            <a:ext cx="4656875" cy="34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698500" y="4409750"/>
            <a:ext cx="5588000" cy="41776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:notes"/>
          <p:cNvSpPr/>
          <p:nvPr>
            <p:ph idx="2" type="sldImg"/>
          </p:nvPr>
        </p:nvSpPr>
        <p:spPr>
          <a:xfrm>
            <a:off x="1164375" y="696275"/>
            <a:ext cx="4656875" cy="3481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67c8df2395_0_0:notes"/>
          <p:cNvSpPr/>
          <p:nvPr>
            <p:ph idx="2" type="sldImg"/>
          </p:nvPr>
        </p:nvSpPr>
        <p:spPr>
          <a:xfrm>
            <a:off x="1164472" y="696278"/>
            <a:ext cx="4656600" cy="34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67c8df2395_0_0:notes"/>
          <p:cNvSpPr txBox="1"/>
          <p:nvPr>
            <p:ph idx="1" type="body"/>
          </p:nvPr>
        </p:nvSpPr>
        <p:spPr>
          <a:xfrm>
            <a:off x="698500" y="4409758"/>
            <a:ext cx="5588100" cy="41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67c8df2395_0_6:notes"/>
          <p:cNvSpPr/>
          <p:nvPr>
            <p:ph idx="2" type="sldImg"/>
          </p:nvPr>
        </p:nvSpPr>
        <p:spPr>
          <a:xfrm>
            <a:off x="1164472" y="696278"/>
            <a:ext cx="4656600" cy="34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67c8df2395_0_6:notes"/>
          <p:cNvSpPr txBox="1"/>
          <p:nvPr>
            <p:ph idx="1" type="body"/>
          </p:nvPr>
        </p:nvSpPr>
        <p:spPr>
          <a:xfrm>
            <a:off x="698500" y="4409758"/>
            <a:ext cx="5588100" cy="41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67c8df2395_0_12:notes"/>
          <p:cNvSpPr/>
          <p:nvPr>
            <p:ph idx="2" type="sldImg"/>
          </p:nvPr>
        </p:nvSpPr>
        <p:spPr>
          <a:xfrm>
            <a:off x="1164472" y="696278"/>
            <a:ext cx="4656600" cy="34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67c8df2395_0_12:notes"/>
          <p:cNvSpPr txBox="1"/>
          <p:nvPr>
            <p:ph idx="1" type="body"/>
          </p:nvPr>
        </p:nvSpPr>
        <p:spPr>
          <a:xfrm>
            <a:off x="698500" y="4409758"/>
            <a:ext cx="5588100" cy="41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67c8df2395_0_18:notes"/>
          <p:cNvSpPr/>
          <p:nvPr>
            <p:ph idx="2" type="sldImg"/>
          </p:nvPr>
        </p:nvSpPr>
        <p:spPr>
          <a:xfrm>
            <a:off x="1164472" y="696278"/>
            <a:ext cx="4656600" cy="34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67c8df2395_0_18:notes"/>
          <p:cNvSpPr txBox="1"/>
          <p:nvPr>
            <p:ph idx="1" type="body"/>
          </p:nvPr>
        </p:nvSpPr>
        <p:spPr>
          <a:xfrm>
            <a:off x="698500" y="4409758"/>
            <a:ext cx="5588100" cy="41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67c8df2395_0_24:notes"/>
          <p:cNvSpPr/>
          <p:nvPr>
            <p:ph idx="2" type="sldImg"/>
          </p:nvPr>
        </p:nvSpPr>
        <p:spPr>
          <a:xfrm>
            <a:off x="1164472" y="696278"/>
            <a:ext cx="4656600" cy="34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67c8df2395_0_24:notes"/>
          <p:cNvSpPr txBox="1"/>
          <p:nvPr>
            <p:ph idx="1" type="body"/>
          </p:nvPr>
        </p:nvSpPr>
        <p:spPr>
          <a:xfrm>
            <a:off x="698500" y="4409758"/>
            <a:ext cx="5588100" cy="41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67c8df2395_0_29:notes"/>
          <p:cNvSpPr/>
          <p:nvPr>
            <p:ph idx="2" type="sldImg"/>
          </p:nvPr>
        </p:nvSpPr>
        <p:spPr>
          <a:xfrm>
            <a:off x="1164472" y="696278"/>
            <a:ext cx="4656600" cy="34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67c8df2395_0_29:notes"/>
          <p:cNvSpPr txBox="1"/>
          <p:nvPr>
            <p:ph idx="1" type="body"/>
          </p:nvPr>
        </p:nvSpPr>
        <p:spPr>
          <a:xfrm>
            <a:off x="698500" y="4409758"/>
            <a:ext cx="5588100" cy="41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67c8df2395_0_35:notes"/>
          <p:cNvSpPr/>
          <p:nvPr>
            <p:ph idx="2" type="sldImg"/>
          </p:nvPr>
        </p:nvSpPr>
        <p:spPr>
          <a:xfrm>
            <a:off x="1164472" y="696278"/>
            <a:ext cx="4656600" cy="3481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67c8df2395_0_35:notes"/>
          <p:cNvSpPr txBox="1"/>
          <p:nvPr>
            <p:ph idx="1" type="body"/>
          </p:nvPr>
        </p:nvSpPr>
        <p:spPr>
          <a:xfrm>
            <a:off x="698500" y="4409758"/>
            <a:ext cx="5588100" cy="41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1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74" name="Google Shape;74;p12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75" name="Google Shape;75;p12"/>
              <p:cNvSpPr/>
              <p:nvPr/>
            </p:nvSpPr>
            <p:spPr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76" name="Google Shape;76;p12"/>
              <p:cNvGrpSpPr/>
              <p:nvPr/>
            </p:nvGrpSpPr>
            <p:grpSpPr>
              <a:xfrm>
                <a:off x="0" y="0"/>
                <a:ext cx="5760" cy="4320"/>
                <a:chOff x="0" y="0"/>
                <a:chExt cx="5760" cy="4320"/>
              </a:xfrm>
            </p:grpSpPr>
            <p:cxnSp>
              <p:nvCxnSpPr>
                <p:cNvPr id="77" name="Google Shape;77;p12"/>
                <p:cNvCxnSpPr/>
                <p:nvPr/>
              </p:nvCxnSpPr>
              <p:spPr>
                <a:xfrm>
                  <a:off x="0" y="192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2"/>
                <p:cNvCxnSpPr/>
                <p:nvPr/>
              </p:nvCxnSpPr>
              <p:spPr>
                <a:xfrm>
                  <a:off x="0" y="384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2"/>
                <p:cNvCxnSpPr/>
                <p:nvPr/>
              </p:nvCxnSpPr>
              <p:spPr>
                <a:xfrm>
                  <a:off x="0" y="576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2"/>
                <p:cNvCxnSpPr/>
                <p:nvPr/>
              </p:nvCxnSpPr>
              <p:spPr>
                <a:xfrm>
                  <a:off x="0" y="768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2"/>
                <p:cNvCxnSpPr/>
                <p:nvPr/>
              </p:nvCxnSpPr>
              <p:spPr>
                <a:xfrm>
                  <a:off x="0" y="960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2"/>
                <p:cNvCxnSpPr/>
                <p:nvPr/>
              </p:nvCxnSpPr>
              <p:spPr>
                <a:xfrm>
                  <a:off x="0" y="1152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2"/>
                <p:cNvCxnSpPr/>
                <p:nvPr/>
              </p:nvCxnSpPr>
              <p:spPr>
                <a:xfrm>
                  <a:off x="0" y="1344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2"/>
                <p:cNvCxnSpPr/>
                <p:nvPr/>
              </p:nvCxnSpPr>
              <p:spPr>
                <a:xfrm>
                  <a:off x="0" y="1536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2"/>
                <p:cNvCxnSpPr/>
                <p:nvPr/>
              </p:nvCxnSpPr>
              <p:spPr>
                <a:xfrm>
                  <a:off x="0" y="1728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2"/>
                <p:cNvCxnSpPr/>
                <p:nvPr/>
              </p:nvCxnSpPr>
              <p:spPr>
                <a:xfrm>
                  <a:off x="0" y="1920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2"/>
                <p:cNvCxnSpPr/>
                <p:nvPr/>
              </p:nvCxnSpPr>
              <p:spPr>
                <a:xfrm>
                  <a:off x="0" y="2112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2"/>
                <p:cNvCxnSpPr/>
                <p:nvPr/>
              </p:nvCxnSpPr>
              <p:spPr>
                <a:xfrm>
                  <a:off x="0" y="2304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2"/>
                <p:cNvCxnSpPr/>
                <p:nvPr/>
              </p:nvCxnSpPr>
              <p:spPr>
                <a:xfrm>
                  <a:off x="0" y="2496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2"/>
                <p:cNvCxnSpPr/>
                <p:nvPr/>
              </p:nvCxnSpPr>
              <p:spPr>
                <a:xfrm>
                  <a:off x="0" y="2688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2"/>
                <p:cNvCxnSpPr/>
                <p:nvPr/>
              </p:nvCxnSpPr>
              <p:spPr>
                <a:xfrm>
                  <a:off x="0" y="2880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2"/>
                <p:cNvCxnSpPr/>
                <p:nvPr/>
              </p:nvCxnSpPr>
              <p:spPr>
                <a:xfrm>
                  <a:off x="0" y="3072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2"/>
                <p:cNvCxnSpPr/>
                <p:nvPr/>
              </p:nvCxnSpPr>
              <p:spPr>
                <a:xfrm>
                  <a:off x="0" y="3264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2"/>
                <p:cNvCxnSpPr/>
                <p:nvPr/>
              </p:nvCxnSpPr>
              <p:spPr>
                <a:xfrm>
                  <a:off x="0" y="3456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2"/>
                <p:cNvCxnSpPr/>
                <p:nvPr/>
              </p:nvCxnSpPr>
              <p:spPr>
                <a:xfrm>
                  <a:off x="0" y="3648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2"/>
                <p:cNvCxnSpPr/>
                <p:nvPr/>
              </p:nvCxnSpPr>
              <p:spPr>
                <a:xfrm>
                  <a:off x="0" y="3840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2"/>
                <p:cNvCxnSpPr/>
                <p:nvPr/>
              </p:nvCxnSpPr>
              <p:spPr>
                <a:xfrm>
                  <a:off x="0" y="4032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2"/>
                <p:cNvCxnSpPr/>
                <p:nvPr/>
              </p:nvCxnSpPr>
              <p:spPr>
                <a:xfrm>
                  <a:off x="0" y="4224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2"/>
                <p:cNvCxnSpPr/>
                <p:nvPr/>
              </p:nvCxnSpPr>
              <p:spPr>
                <a:xfrm>
                  <a:off x="192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2"/>
                <p:cNvCxnSpPr/>
                <p:nvPr/>
              </p:nvCxnSpPr>
              <p:spPr>
                <a:xfrm>
                  <a:off x="384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2"/>
                <p:cNvCxnSpPr/>
                <p:nvPr/>
              </p:nvCxnSpPr>
              <p:spPr>
                <a:xfrm>
                  <a:off x="576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2"/>
                <p:cNvCxnSpPr/>
                <p:nvPr/>
              </p:nvCxnSpPr>
              <p:spPr>
                <a:xfrm>
                  <a:off x="768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2"/>
                <p:cNvCxnSpPr/>
                <p:nvPr/>
              </p:nvCxnSpPr>
              <p:spPr>
                <a:xfrm>
                  <a:off x="960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2"/>
                <p:cNvCxnSpPr/>
                <p:nvPr/>
              </p:nvCxnSpPr>
              <p:spPr>
                <a:xfrm>
                  <a:off x="1152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2"/>
                <p:cNvCxnSpPr/>
                <p:nvPr/>
              </p:nvCxnSpPr>
              <p:spPr>
                <a:xfrm>
                  <a:off x="1344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2"/>
                <p:cNvCxnSpPr/>
                <p:nvPr/>
              </p:nvCxnSpPr>
              <p:spPr>
                <a:xfrm>
                  <a:off x="1536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2"/>
                <p:cNvCxnSpPr/>
                <p:nvPr/>
              </p:nvCxnSpPr>
              <p:spPr>
                <a:xfrm>
                  <a:off x="1728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2"/>
                <p:cNvCxnSpPr/>
                <p:nvPr/>
              </p:nvCxnSpPr>
              <p:spPr>
                <a:xfrm>
                  <a:off x="1920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2"/>
                <p:cNvCxnSpPr/>
                <p:nvPr/>
              </p:nvCxnSpPr>
              <p:spPr>
                <a:xfrm>
                  <a:off x="2112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2"/>
                <p:cNvCxnSpPr/>
                <p:nvPr/>
              </p:nvCxnSpPr>
              <p:spPr>
                <a:xfrm>
                  <a:off x="2304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2"/>
                <p:cNvCxnSpPr/>
                <p:nvPr/>
              </p:nvCxnSpPr>
              <p:spPr>
                <a:xfrm>
                  <a:off x="2496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2"/>
                <p:cNvCxnSpPr/>
                <p:nvPr/>
              </p:nvCxnSpPr>
              <p:spPr>
                <a:xfrm>
                  <a:off x="2688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3" name="Google Shape;113;p12"/>
                <p:cNvCxnSpPr/>
                <p:nvPr/>
              </p:nvCxnSpPr>
              <p:spPr>
                <a:xfrm>
                  <a:off x="2880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4" name="Google Shape;114;p12"/>
                <p:cNvCxnSpPr/>
                <p:nvPr/>
              </p:nvCxnSpPr>
              <p:spPr>
                <a:xfrm>
                  <a:off x="3072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5" name="Google Shape;115;p12"/>
                <p:cNvCxnSpPr/>
                <p:nvPr/>
              </p:nvCxnSpPr>
              <p:spPr>
                <a:xfrm>
                  <a:off x="3264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6" name="Google Shape;116;p12"/>
                <p:cNvCxnSpPr/>
                <p:nvPr/>
              </p:nvCxnSpPr>
              <p:spPr>
                <a:xfrm>
                  <a:off x="3456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7" name="Google Shape;117;p12"/>
                <p:cNvCxnSpPr/>
                <p:nvPr/>
              </p:nvCxnSpPr>
              <p:spPr>
                <a:xfrm>
                  <a:off x="3648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8" name="Google Shape;118;p12"/>
                <p:cNvCxnSpPr/>
                <p:nvPr/>
              </p:nvCxnSpPr>
              <p:spPr>
                <a:xfrm>
                  <a:off x="3840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9" name="Google Shape;119;p12"/>
                <p:cNvCxnSpPr/>
                <p:nvPr/>
              </p:nvCxnSpPr>
              <p:spPr>
                <a:xfrm>
                  <a:off x="4032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20" name="Google Shape;120;p12"/>
                <p:cNvCxnSpPr/>
                <p:nvPr/>
              </p:nvCxnSpPr>
              <p:spPr>
                <a:xfrm>
                  <a:off x="4224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21" name="Google Shape;121;p12"/>
                <p:cNvCxnSpPr/>
                <p:nvPr/>
              </p:nvCxnSpPr>
              <p:spPr>
                <a:xfrm>
                  <a:off x="4416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22" name="Google Shape;122;p12"/>
                <p:cNvCxnSpPr/>
                <p:nvPr/>
              </p:nvCxnSpPr>
              <p:spPr>
                <a:xfrm>
                  <a:off x="4608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23" name="Google Shape;123;p12"/>
                <p:cNvCxnSpPr/>
                <p:nvPr/>
              </p:nvCxnSpPr>
              <p:spPr>
                <a:xfrm>
                  <a:off x="4800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24" name="Google Shape;124;p12"/>
                <p:cNvCxnSpPr/>
                <p:nvPr/>
              </p:nvCxnSpPr>
              <p:spPr>
                <a:xfrm>
                  <a:off x="4992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25" name="Google Shape;125;p12"/>
                <p:cNvCxnSpPr/>
                <p:nvPr/>
              </p:nvCxnSpPr>
              <p:spPr>
                <a:xfrm>
                  <a:off x="5184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26" name="Google Shape;126;p12"/>
                <p:cNvCxnSpPr/>
                <p:nvPr/>
              </p:nvCxnSpPr>
              <p:spPr>
                <a:xfrm>
                  <a:off x="5376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27" name="Google Shape;127;p12"/>
                <p:cNvCxnSpPr/>
                <p:nvPr/>
              </p:nvCxnSpPr>
              <p:spPr>
                <a:xfrm>
                  <a:off x="5568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28" name="Google Shape;128;p12"/>
              <p:cNvCxnSpPr/>
              <p:nvPr/>
            </p:nvCxnSpPr>
            <p:spPr>
              <a:xfrm>
                <a:off x="5568" y="0"/>
                <a:ext cx="0" cy="14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29" name="Google Shape;129;p12"/>
            <p:cNvGrpSpPr/>
            <p:nvPr/>
          </p:nvGrpSpPr>
          <p:grpSpPr>
            <a:xfrm>
              <a:off x="3" y="559"/>
              <a:ext cx="4192" cy="1796"/>
              <a:chOff x="3" y="559"/>
              <a:chExt cx="4192" cy="1796"/>
            </a:xfrm>
          </p:grpSpPr>
          <p:cxnSp>
            <p:nvCxnSpPr>
              <p:cNvPr id="130" name="Google Shape;130;p12"/>
              <p:cNvCxnSpPr/>
              <p:nvPr/>
            </p:nvCxnSpPr>
            <p:spPr>
              <a:xfrm>
                <a:off x="506" y="559"/>
                <a:ext cx="0" cy="179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31" name="Google Shape;131;p12"/>
              <p:cNvCxnSpPr/>
              <p:nvPr/>
            </p:nvCxnSpPr>
            <p:spPr>
              <a:xfrm rot="10800000">
                <a:off x="3" y="1924"/>
                <a:ext cx="3211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32" name="Google Shape;132;p12"/>
              <p:cNvCxnSpPr/>
              <p:nvPr/>
            </p:nvCxnSpPr>
            <p:spPr>
              <a:xfrm rot="10800000">
                <a:off x="384" y="938"/>
                <a:ext cx="3811" cy="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33" name="Google Shape;133;p12"/>
              <p:cNvCxnSpPr/>
              <p:nvPr/>
            </p:nvCxnSpPr>
            <p:spPr>
              <a:xfrm flipH="1" rot="-5400000">
                <a:off x="425" y="860"/>
                <a:ext cx="156" cy="157"/>
              </a:xfrm>
              <a:prstGeom prst="curvedConnector2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34" name="Google Shape;134;p12"/>
            <p:cNvGrpSpPr/>
            <p:nvPr/>
          </p:nvGrpSpPr>
          <p:grpSpPr>
            <a:xfrm>
              <a:off x="1480" y="1952"/>
              <a:ext cx="3808" cy="1812"/>
              <a:chOff x="1480" y="1952"/>
              <a:chExt cx="3808" cy="1812"/>
            </a:xfrm>
          </p:grpSpPr>
          <p:cxnSp>
            <p:nvCxnSpPr>
              <p:cNvPr id="135" name="Google Shape;135;p12"/>
              <p:cNvCxnSpPr/>
              <p:nvPr/>
            </p:nvCxnSpPr>
            <p:spPr>
              <a:xfrm>
                <a:off x="1480" y="3442"/>
                <a:ext cx="380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36" name="Google Shape;136;p12"/>
              <p:cNvCxnSpPr/>
              <p:nvPr/>
            </p:nvCxnSpPr>
            <p:spPr>
              <a:xfrm>
                <a:off x="5172" y="1952"/>
                <a:ext cx="0" cy="181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37" name="Google Shape;137;p12"/>
              <p:cNvCxnSpPr/>
              <p:nvPr/>
            </p:nvCxnSpPr>
            <p:spPr>
              <a:xfrm rot="5400000">
                <a:off x="5096" y="3346"/>
                <a:ext cx="156" cy="157"/>
              </a:xfrm>
              <a:prstGeom prst="curvedConnector2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</p:grpSp>
      <p:sp>
        <p:nvSpPr>
          <p:cNvPr id="138" name="Google Shape;138;p12"/>
          <p:cNvSpPr txBox="1"/>
          <p:nvPr>
            <p:ph type="ctrTitle"/>
          </p:nvPr>
        </p:nvSpPr>
        <p:spPr>
          <a:xfrm>
            <a:off x="990600" y="1752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39" name="Google Shape;139;p12"/>
          <p:cNvSpPr txBox="1"/>
          <p:nvPr>
            <p:ph idx="1" type="subTitle"/>
          </p:nvPr>
        </p:nvSpPr>
        <p:spPr>
          <a:xfrm>
            <a:off x="990600" y="3309937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1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 txBox="1"/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3"/>
          <p:cNvSpPr txBox="1"/>
          <p:nvPr>
            <p:ph idx="1" type="body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1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3ee3ee8257_0_114"/>
          <p:cNvSpPr txBox="1"/>
          <p:nvPr>
            <p:ph type="title"/>
          </p:nvPr>
        </p:nvSpPr>
        <p:spPr>
          <a:xfrm>
            <a:off x="3234562" y="462279"/>
            <a:ext cx="26748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23ee3ee8257_0_114"/>
          <p:cNvSpPr txBox="1"/>
          <p:nvPr>
            <p:ph idx="1" type="body"/>
          </p:nvPr>
        </p:nvSpPr>
        <p:spPr>
          <a:xfrm>
            <a:off x="450850" y="1593850"/>
            <a:ext cx="8310900" cy="44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g23ee3ee8257_0_114"/>
          <p:cNvSpPr txBox="1"/>
          <p:nvPr>
            <p:ph idx="11" type="ftr"/>
          </p:nvPr>
        </p:nvSpPr>
        <p:spPr>
          <a:xfrm>
            <a:off x="3108960" y="6377940"/>
            <a:ext cx="2926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23ee3ee8257_0_114"/>
          <p:cNvSpPr txBox="1"/>
          <p:nvPr>
            <p:ph idx="10" type="dt"/>
          </p:nvPr>
        </p:nvSpPr>
        <p:spPr>
          <a:xfrm>
            <a:off x="45720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23ee3ee8257_0_114"/>
          <p:cNvSpPr txBox="1"/>
          <p:nvPr>
            <p:ph idx="12" type="sldNum"/>
          </p:nvPr>
        </p:nvSpPr>
        <p:spPr>
          <a:xfrm>
            <a:off x="6583680" y="6377940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1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7" name="Google Shape;7;p11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8" name="Google Shape;8;p11"/>
              <p:cNvGrpSpPr/>
              <p:nvPr/>
            </p:nvGrpSpPr>
            <p:grpSpPr>
              <a:xfrm>
                <a:off x="0" y="192"/>
                <a:ext cx="5760" cy="4032"/>
                <a:chOff x="0" y="192"/>
                <a:chExt cx="5760" cy="4032"/>
              </a:xfrm>
            </p:grpSpPr>
            <p:cxnSp>
              <p:nvCxnSpPr>
                <p:cNvPr id="9" name="Google Shape;9;p11"/>
                <p:cNvCxnSpPr/>
                <p:nvPr/>
              </p:nvCxnSpPr>
              <p:spPr>
                <a:xfrm>
                  <a:off x="0" y="192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" name="Google Shape;10;p11"/>
                <p:cNvCxnSpPr/>
                <p:nvPr/>
              </p:nvCxnSpPr>
              <p:spPr>
                <a:xfrm>
                  <a:off x="0" y="384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" name="Google Shape;11;p11"/>
                <p:cNvCxnSpPr/>
                <p:nvPr/>
              </p:nvCxnSpPr>
              <p:spPr>
                <a:xfrm>
                  <a:off x="0" y="576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2" name="Google Shape;12;p11"/>
                <p:cNvCxnSpPr/>
                <p:nvPr/>
              </p:nvCxnSpPr>
              <p:spPr>
                <a:xfrm>
                  <a:off x="0" y="768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" name="Google Shape;13;p11"/>
                <p:cNvCxnSpPr/>
                <p:nvPr/>
              </p:nvCxnSpPr>
              <p:spPr>
                <a:xfrm>
                  <a:off x="0" y="960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" name="Google Shape;14;p11"/>
                <p:cNvCxnSpPr/>
                <p:nvPr/>
              </p:nvCxnSpPr>
              <p:spPr>
                <a:xfrm>
                  <a:off x="0" y="1152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" name="Google Shape;15;p11"/>
                <p:cNvCxnSpPr/>
                <p:nvPr/>
              </p:nvCxnSpPr>
              <p:spPr>
                <a:xfrm>
                  <a:off x="0" y="1344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" name="Google Shape;16;p11"/>
                <p:cNvCxnSpPr/>
                <p:nvPr/>
              </p:nvCxnSpPr>
              <p:spPr>
                <a:xfrm>
                  <a:off x="0" y="1536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" name="Google Shape;17;p11"/>
                <p:cNvCxnSpPr/>
                <p:nvPr/>
              </p:nvCxnSpPr>
              <p:spPr>
                <a:xfrm>
                  <a:off x="0" y="1728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" name="Google Shape;18;p11"/>
                <p:cNvCxnSpPr/>
                <p:nvPr/>
              </p:nvCxnSpPr>
              <p:spPr>
                <a:xfrm>
                  <a:off x="0" y="1920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9" name="Google Shape;19;p11"/>
                <p:cNvCxnSpPr/>
                <p:nvPr/>
              </p:nvCxnSpPr>
              <p:spPr>
                <a:xfrm>
                  <a:off x="0" y="2112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20" name="Google Shape;20;p11"/>
                <p:cNvCxnSpPr/>
                <p:nvPr/>
              </p:nvCxnSpPr>
              <p:spPr>
                <a:xfrm>
                  <a:off x="0" y="2304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21" name="Google Shape;21;p11"/>
                <p:cNvCxnSpPr/>
                <p:nvPr/>
              </p:nvCxnSpPr>
              <p:spPr>
                <a:xfrm>
                  <a:off x="0" y="2496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22" name="Google Shape;22;p11"/>
                <p:cNvCxnSpPr/>
                <p:nvPr/>
              </p:nvCxnSpPr>
              <p:spPr>
                <a:xfrm>
                  <a:off x="0" y="2688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23" name="Google Shape;23;p11"/>
                <p:cNvCxnSpPr/>
                <p:nvPr/>
              </p:nvCxnSpPr>
              <p:spPr>
                <a:xfrm>
                  <a:off x="0" y="2880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24" name="Google Shape;24;p11"/>
                <p:cNvCxnSpPr/>
                <p:nvPr/>
              </p:nvCxnSpPr>
              <p:spPr>
                <a:xfrm>
                  <a:off x="0" y="3072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25" name="Google Shape;25;p11"/>
                <p:cNvCxnSpPr/>
                <p:nvPr/>
              </p:nvCxnSpPr>
              <p:spPr>
                <a:xfrm>
                  <a:off x="0" y="3264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26" name="Google Shape;26;p11"/>
                <p:cNvCxnSpPr/>
                <p:nvPr/>
              </p:nvCxnSpPr>
              <p:spPr>
                <a:xfrm>
                  <a:off x="0" y="3456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27" name="Google Shape;27;p11"/>
                <p:cNvCxnSpPr/>
                <p:nvPr/>
              </p:nvCxnSpPr>
              <p:spPr>
                <a:xfrm>
                  <a:off x="0" y="3648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28" name="Google Shape;28;p11"/>
                <p:cNvCxnSpPr/>
                <p:nvPr/>
              </p:nvCxnSpPr>
              <p:spPr>
                <a:xfrm>
                  <a:off x="0" y="3840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29" name="Google Shape;29;p11"/>
                <p:cNvCxnSpPr/>
                <p:nvPr/>
              </p:nvCxnSpPr>
              <p:spPr>
                <a:xfrm>
                  <a:off x="0" y="4032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0" name="Google Shape;30;p11"/>
                <p:cNvCxnSpPr/>
                <p:nvPr/>
              </p:nvCxnSpPr>
              <p:spPr>
                <a:xfrm>
                  <a:off x="0" y="4224"/>
                  <a:ext cx="576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31" name="Google Shape;31;p11"/>
              <p:cNvGrpSpPr/>
              <p:nvPr/>
            </p:nvGrpSpPr>
            <p:grpSpPr>
              <a:xfrm>
                <a:off x="192" y="0"/>
                <a:ext cx="5376" cy="4320"/>
                <a:chOff x="192" y="0"/>
                <a:chExt cx="5376" cy="4320"/>
              </a:xfrm>
            </p:grpSpPr>
            <p:cxnSp>
              <p:nvCxnSpPr>
                <p:cNvPr id="32" name="Google Shape;32;p11"/>
                <p:cNvCxnSpPr/>
                <p:nvPr/>
              </p:nvCxnSpPr>
              <p:spPr>
                <a:xfrm>
                  <a:off x="192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3" name="Google Shape;33;p11"/>
                <p:cNvCxnSpPr/>
                <p:nvPr/>
              </p:nvCxnSpPr>
              <p:spPr>
                <a:xfrm>
                  <a:off x="384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4" name="Google Shape;34;p11"/>
                <p:cNvCxnSpPr/>
                <p:nvPr/>
              </p:nvCxnSpPr>
              <p:spPr>
                <a:xfrm>
                  <a:off x="576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5" name="Google Shape;35;p11"/>
                <p:cNvCxnSpPr/>
                <p:nvPr/>
              </p:nvCxnSpPr>
              <p:spPr>
                <a:xfrm>
                  <a:off x="768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6" name="Google Shape;36;p11"/>
                <p:cNvCxnSpPr/>
                <p:nvPr/>
              </p:nvCxnSpPr>
              <p:spPr>
                <a:xfrm>
                  <a:off x="960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7" name="Google Shape;37;p11"/>
                <p:cNvCxnSpPr/>
                <p:nvPr/>
              </p:nvCxnSpPr>
              <p:spPr>
                <a:xfrm>
                  <a:off x="1152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8" name="Google Shape;38;p11"/>
                <p:cNvCxnSpPr/>
                <p:nvPr/>
              </p:nvCxnSpPr>
              <p:spPr>
                <a:xfrm>
                  <a:off x="1344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39" name="Google Shape;39;p11"/>
                <p:cNvCxnSpPr/>
                <p:nvPr/>
              </p:nvCxnSpPr>
              <p:spPr>
                <a:xfrm>
                  <a:off x="1536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0" name="Google Shape;40;p11"/>
                <p:cNvCxnSpPr/>
                <p:nvPr/>
              </p:nvCxnSpPr>
              <p:spPr>
                <a:xfrm>
                  <a:off x="1728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1" name="Google Shape;41;p11"/>
                <p:cNvCxnSpPr/>
                <p:nvPr/>
              </p:nvCxnSpPr>
              <p:spPr>
                <a:xfrm>
                  <a:off x="1920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2" name="Google Shape;42;p11"/>
                <p:cNvCxnSpPr/>
                <p:nvPr/>
              </p:nvCxnSpPr>
              <p:spPr>
                <a:xfrm>
                  <a:off x="2112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3" name="Google Shape;43;p11"/>
                <p:cNvCxnSpPr/>
                <p:nvPr/>
              </p:nvCxnSpPr>
              <p:spPr>
                <a:xfrm>
                  <a:off x="2304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4" name="Google Shape;44;p11"/>
                <p:cNvCxnSpPr/>
                <p:nvPr/>
              </p:nvCxnSpPr>
              <p:spPr>
                <a:xfrm>
                  <a:off x="2496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5" name="Google Shape;45;p11"/>
                <p:cNvCxnSpPr/>
                <p:nvPr/>
              </p:nvCxnSpPr>
              <p:spPr>
                <a:xfrm>
                  <a:off x="2688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6" name="Google Shape;46;p11"/>
                <p:cNvCxnSpPr/>
                <p:nvPr/>
              </p:nvCxnSpPr>
              <p:spPr>
                <a:xfrm>
                  <a:off x="2880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7" name="Google Shape;47;p11"/>
                <p:cNvCxnSpPr/>
                <p:nvPr/>
              </p:nvCxnSpPr>
              <p:spPr>
                <a:xfrm>
                  <a:off x="3072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8" name="Google Shape;48;p11"/>
                <p:cNvCxnSpPr/>
                <p:nvPr/>
              </p:nvCxnSpPr>
              <p:spPr>
                <a:xfrm>
                  <a:off x="3264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49" name="Google Shape;49;p11"/>
                <p:cNvCxnSpPr/>
                <p:nvPr/>
              </p:nvCxnSpPr>
              <p:spPr>
                <a:xfrm>
                  <a:off x="3456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0" name="Google Shape;50;p11"/>
                <p:cNvCxnSpPr/>
                <p:nvPr/>
              </p:nvCxnSpPr>
              <p:spPr>
                <a:xfrm>
                  <a:off x="3648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1" name="Google Shape;51;p11"/>
                <p:cNvCxnSpPr/>
                <p:nvPr/>
              </p:nvCxnSpPr>
              <p:spPr>
                <a:xfrm>
                  <a:off x="3840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2" name="Google Shape;52;p11"/>
                <p:cNvCxnSpPr/>
                <p:nvPr/>
              </p:nvCxnSpPr>
              <p:spPr>
                <a:xfrm>
                  <a:off x="4032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3" name="Google Shape;53;p11"/>
                <p:cNvCxnSpPr/>
                <p:nvPr/>
              </p:nvCxnSpPr>
              <p:spPr>
                <a:xfrm>
                  <a:off x="4224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4" name="Google Shape;54;p11"/>
                <p:cNvCxnSpPr/>
                <p:nvPr/>
              </p:nvCxnSpPr>
              <p:spPr>
                <a:xfrm>
                  <a:off x="4416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5" name="Google Shape;55;p11"/>
                <p:cNvCxnSpPr/>
                <p:nvPr/>
              </p:nvCxnSpPr>
              <p:spPr>
                <a:xfrm>
                  <a:off x="4608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6" name="Google Shape;56;p11"/>
                <p:cNvCxnSpPr/>
                <p:nvPr/>
              </p:nvCxnSpPr>
              <p:spPr>
                <a:xfrm>
                  <a:off x="4800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7" name="Google Shape;57;p11"/>
                <p:cNvCxnSpPr/>
                <p:nvPr/>
              </p:nvCxnSpPr>
              <p:spPr>
                <a:xfrm>
                  <a:off x="4992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8" name="Google Shape;58;p11"/>
                <p:cNvCxnSpPr/>
                <p:nvPr/>
              </p:nvCxnSpPr>
              <p:spPr>
                <a:xfrm>
                  <a:off x="5184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9" name="Google Shape;59;p11"/>
                <p:cNvCxnSpPr/>
                <p:nvPr/>
              </p:nvCxnSpPr>
              <p:spPr>
                <a:xfrm>
                  <a:off x="5376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0" name="Google Shape;60;p11"/>
                <p:cNvCxnSpPr/>
                <p:nvPr/>
              </p:nvCxnSpPr>
              <p:spPr>
                <a:xfrm>
                  <a:off x="5568" y="0"/>
                  <a:ext cx="0" cy="432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id="61" name="Google Shape;61;p11"/>
            <p:cNvSpPr/>
            <p:nvPr/>
          </p:nvSpPr>
          <p:spPr>
            <a:xfrm>
              <a:off x="2112" y="0"/>
              <a:ext cx="3648" cy="9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2" name="Google Shape;62;p11"/>
            <p:cNvCxnSpPr/>
            <p:nvPr/>
          </p:nvCxnSpPr>
          <p:spPr>
            <a:xfrm>
              <a:off x="5568" y="0"/>
              <a:ext cx="0" cy="1488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63" name="Google Shape;63;p11"/>
            <p:cNvGrpSpPr/>
            <p:nvPr/>
          </p:nvGrpSpPr>
          <p:grpSpPr>
            <a:xfrm>
              <a:off x="261" y="892"/>
              <a:ext cx="1124" cy="1464"/>
              <a:chOff x="96" y="916"/>
              <a:chExt cx="2208" cy="2876"/>
            </a:xfrm>
          </p:grpSpPr>
          <p:cxnSp>
            <p:nvCxnSpPr>
              <p:cNvPr id="64" name="Google Shape;64;p11"/>
              <p:cNvCxnSpPr/>
              <p:nvPr/>
            </p:nvCxnSpPr>
            <p:spPr>
              <a:xfrm rot="10800000">
                <a:off x="96" y="1037"/>
                <a:ext cx="220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65" name="Google Shape;65;p11"/>
              <p:cNvCxnSpPr/>
              <p:nvPr/>
            </p:nvCxnSpPr>
            <p:spPr>
              <a:xfrm>
                <a:off x="336" y="920"/>
                <a:ext cx="0" cy="287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66" name="Google Shape;66;p11"/>
              <p:cNvCxnSpPr/>
              <p:nvPr/>
            </p:nvCxnSpPr>
            <p:spPr>
              <a:xfrm flipH="1">
                <a:off x="217" y="916"/>
                <a:ext cx="239" cy="239"/>
              </a:xfrm>
              <a:prstGeom prst="curvedConnector2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</p:grpSp>
      <p:sp>
        <p:nvSpPr>
          <p:cNvPr id="67" name="Google Shape;67;p11"/>
          <p:cNvSpPr txBox="1"/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68" name="Google Shape;68;p11"/>
          <p:cNvSpPr txBox="1"/>
          <p:nvPr>
            <p:ph idx="1" type="body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Char char="•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•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"/>
          <p:cNvSpPr txBox="1"/>
          <p:nvPr>
            <p:ph type="ctrTitle"/>
          </p:nvPr>
        </p:nvSpPr>
        <p:spPr>
          <a:xfrm>
            <a:off x="990600" y="1752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RISC vs. CISC</a:t>
            </a:r>
            <a:endParaRPr/>
          </a:p>
        </p:txBody>
      </p:sp>
      <p:sp>
        <p:nvSpPr>
          <p:cNvPr id="160" name="Google Shape;160;p1"/>
          <p:cNvSpPr txBox="1"/>
          <p:nvPr>
            <p:ph idx="1" type="subTitle"/>
          </p:nvPr>
        </p:nvSpPr>
        <p:spPr>
          <a:xfrm>
            <a:off x="990600" y="3309937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None/>
            </a:pPr>
            <a:r>
              <a:rPr lang="en-US"/>
              <a:t>with guidance from </a:t>
            </a: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Rui Wang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None/>
            </a:pPr>
            <a:r>
              <a:rPr lang="en-US"/>
              <a:t>&amp; </a:t>
            </a: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Tibor Horvath</a:t>
            </a:r>
            <a:r>
              <a:rPr lang="en-US"/>
              <a:t>’s presentation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3ee3ee8257_0_0"/>
          <p:cNvSpPr txBox="1"/>
          <p:nvPr>
            <p:ph type="title"/>
          </p:nvPr>
        </p:nvSpPr>
        <p:spPr>
          <a:xfrm>
            <a:off x="3244342" y="462279"/>
            <a:ext cx="26538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CISC</a:t>
            </a:r>
            <a:endParaRPr/>
          </a:p>
        </p:txBody>
      </p:sp>
      <p:sp>
        <p:nvSpPr>
          <p:cNvPr id="166" name="Google Shape;166;g23ee3ee8257_0_0"/>
          <p:cNvSpPr txBox="1"/>
          <p:nvPr/>
        </p:nvSpPr>
        <p:spPr>
          <a:xfrm>
            <a:off x="535940" y="1525574"/>
            <a:ext cx="7924800" cy="48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CISC: complex instruction set computer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latin typeface="Carlito"/>
                <a:ea typeface="Carlito"/>
                <a:cs typeface="Carlito"/>
                <a:sym typeface="Carlito"/>
              </a:rPr>
              <a:t>But o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riginal CPUs very simple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latin typeface="Carlito"/>
                <a:ea typeface="Carlito"/>
                <a:cs typeface="Carlito"/>
                <a:sym typeface="Carlito"/>
              </a:rPr>
              <a:t>P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oorly suited to evolving high level languages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latin typeface="Carlito"/>
                <a:ea typeface="Carlito"/>
                <a:cs typeface="Carlito"/>
                <a:sym typeface="Carlito"/>
              </a:rPr>
              <a:t>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xtended with new instructions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85750" lvl="1" marL="755650" marR="5080" rtl="0" algn="l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e.g. function calls, non-linear data structures, array bound  checking, string manipulation</a:t>
            </a:r>
            <a:endParaRPr b="0" i="0" sz="24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latin typeface="Carlito"/>
                <a:ea typeface="Carlito"/>
                <a:cs typeface="Carlito"/>
                <a:sym typeface="Carlito"/>
              </a:rPr>
              <a:t>I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mplemented in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microcode (</a:t>
            </a:r>
            <a:r>
              <a:rPr i="1" lang="en-US" sz="2800">
                <a:latin typeface="Carlito"/>
                <a:ea typeface="Carlito"/>
                <a:cs typeface="Carlito"/>
                <a:sym typeface="Carlito"/>
              </a:rPr>
              <a:t>which are RISC like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)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85750" lvl="1" marL="7556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sub-machine code for configuring CPU sub-components</a:t>
            </a:r>
            <a:endParaRPr b="0" i="0" sz="24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85750" lvl="1" marL="75565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1 machine code == &gt; 1 microcode</a:t>
            </a:r>
            <a:endParaRPr b="0" i="0" sz="24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e.g. Intel X86 architecture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3ee3ee8257_0_5"/>
          <p:cNvSpPr txBox="1"/>
          <p:nvPr>
            <p:ph type="title"/>
          </p:nvPr>
        </p:nvSpPr>
        <p:spPr>
          <a:xfrm>
            <a:off x="2359049" y="462275"/>
            <a:ext cx="47697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CISC  continued</a:t>
            </a:r>
            <a:endParaRPr/>
          </a:p>
        </p:txBody>
      </p:sp>
      <p:sp>
        <p:nvSpPr>
          <p:cNvPr id="172" name="Google Shape;172;g23ee3ee8257_0_5"/>
          <p:cNvSpPr txBox="1"/>
          <p:nvPr/>
        </p:nvSpPr>
        <p:spPr>
          <a:xfrm>
            <a:off x="535940" y="1522006"/>
            <a:ext cx="7903200" cy="3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60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CISC introduced integrated combinations of features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85750" lvl="1" marL="755650" marR="0" rtl="0" algn="l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e.g. multiple address modes, conditional execution</a:t>
            </a:r>
            <a:endParaRPr b="0" i="0" sz="24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85750" lvl="1" marL="75565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required additional circuitry/power</a:t>
            </a:r>
            <a:endParaRPr b="0" i="0" sz="24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85750" lvl="1" marL="75565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multiple memory cycles per instruction</a:t>
            </a:r>
            <a:endParaRPr b="0" i="0" sz="24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85750" lvl="1" marL="75565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over elaborate/engineered</a:t>
            </a:r>
            <a:endParaRPr b="0" i="0" sz="24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229235" lvl="2" marL="1155700" marR="0" rtl="0" algn="l">
              <a:lnSpc>
                <a:spcPct val="100000"/>
              </a:lnSpc>
              <a:spcBef>
                <a:spcPts val="50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many feature combinations not often used in practise</a:t>
            </a:r>
            <a:endParaRPr b="0" i="0" sz="20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latin typeface="Carlito"/>
                <a:ea typeface="Carlito"/>
                <a:cs typeface="Carlito"/>
                <a:sym typeface="Carlito"/>
              </a:rPr>
              <a:t>C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ould lead to loss of performance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latin typeface="Carlito"/>
                <a:ea typeface="Carlito"/>
                <a:cs typeface="Carlito"/>
                <a:sym typeface="Carlito"/>
              </a:rPr>
              <a:t>B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etter to use combinations of simple instructions</a:t>
            </a:r>
            <a:endParaRPr b="0" i="0" sz="2800" u="none" cap="none" strike="noStrike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"/>
          <p:cNvSpPr txBox="1"/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CISC Problems</a:t>
            </a:r>
            <a:endParaRPr/>
          </a:p>
        </p:txBody>
      </p:sp>
      <p:sp>
        <p:nvSpPr>
          <p:cNvPr id="178" name="Google Shape;178;p3"/>
          <p:cNvSpPr txBox="1"/>
          <p:nvPr>
            <p:ph idx="1" type="body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Performance tuning unsuccessful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Rarely used high-level instructions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Sometimes slower than equivalent sequence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High complexity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Pipelining bottlenecks → lower clock rates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Interrupt handling can complicate even more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Marketing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Prolonged design time and frequent microcode errors hurt competitiveness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"/>
          <p:cNvSpPr txBox="1"/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/>
              <a:t>More about</a:t>
            </a: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CISC</a:t>
            </a:r>
            <a:endParaRPr/>
          </a:p>
        </p:txBody>
      </p:sp>
      <p:sp>
        <p:nvSpPr>
          <p:cNvPr id="184" name="Google Shape;184;p2"/>
          <p:cNvSpPr txBox="1"/>
          <p:nvPr>
            <p:ph idx="1" type="body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Wired logic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→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microcode control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Temptingly easy extensibility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Performance tuning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HW implementation of some high-level functions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Marketing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Add successful instructions of competitors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“New feature” hype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Compatibility: only extensions are possible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3ee3ee8257_0_120"/>
          <p:cNvSpPr txBox="1"/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/>
              <a:t>RISC</a:t>
            </a:r>
            <a:endParaRPr/>
          </a:p>
        </p:txBody>
      </p:sp>
      <p:sp>
        <p:nvSpPr>
          <p:cNvPr id="190" name="Google Shape;190;g23ee3ee8257_0_120"/>
          <p:cNvSpPr txBox="1"/>
          <p:nvPr>
            <p:ph idx="1" type="body"/>
          </p:nvPr>
        </p:nvSpPr>
        <p:spPr>
          <a:xfrm>
            <a:off x="735075" y="1647175"/>
            <a:ext cx="8056500" cy="47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3429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RISC: reduced instruction set computer</a:t>
            </a:r>
            <a:endParaRPr sz="2800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406400" lvl="0" marL="342900" rtl="0" algn="l">
              <a:spcBef>
                <a:spcPts val="67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return to simpler design</a:t>
            </a:r>
            <a:endParaRPr sz="2800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406400" lvl="0" marL="342900" marR="5080" rtl="0" algn="l"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general purpose instructions with small number of  common features</a:t>
            </a:r>
            <a:endParaRPr sz="2800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323850" lvl="1" marL="74295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less circuitry/power</a:t>
            </a:r>
            <a:endParaRPr sz="2400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323850" lvl="1" marL="742950" rtl="0" algn="l">
              <a:spcBef>
                <a:spcPts val="575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execute in single cycle</a:t>
            </a:r>
            <a:endParaRPr sz="2400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406400" lvl="0" marL="342900" rtl="0" algn="l"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code size grew</a:t>
            </a:r>
            <a:endParaRPr sz="2800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406400" lvl="0" marL="342900" rtl="0" algn="l">
              <a:spcBef>
                <a:spcPts val="67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performance improved</a:t>
            </a:r>
            <a:endParaRPr sz="2800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-406400" lvl="0" marL="342900" rtl="0" algn="l">
              <a:spcBef>
                <a:spcPts val="67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e.g. ARM, MIPS</a:t>
            </a:r>
            <a:endParaRPr sz="2800">
              <a:solidFill>
                <a:srgbClr val="000000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/>
          <p:cNvSpPr txBox="1"/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RISC Features</a:t>
            </a:r>
            <a:endParaRPr/>
          </a:p>
        </p:txBody>
      </p:sp>
      <p:sp>
        <p:nvSpPr>
          <p:cNvPr id="196" name="Google Shape;196;p4"/>
          <p:cNvSpPr txBox="1"/>
          <p:nvPr>
            <p:ph idx="1" type="body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Low complexity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Generally results in overall speedup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Less error-prone implementation by hardwired logic or simple microcodes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VLSI implementation advantages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Less transistors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Extra space: more registers, cache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Marketing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Reduced design time, less errors, and more options increase competitiveness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"/>
          <p:cNvSpPr txBox="1"/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RISC Compiler Issues</a:t>
            </a:r>
            <a:endParaRPr/>
          </a:p>
        </p:txBody>
      </p:sp>
      <p:sp>
        <p:nvSpPr>
          <p:cNvPr id="202" name="Google Shape;202;p5"/>
          <p:cNvSpPr txBox="1"/>
          <p:nvPr>
            <p:ph idx="1" type="body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compilers themselves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Computationally more complex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More portable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compiler writer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Less instructions → probably easier job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Simpler instructions → probably less bugs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Can reuse optimization techniques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 txBox="1"/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RISC vs. CISC </a:t>
            </a:r>
            <a:r>
              <a:rPr b="0" i="1" lang="en-US" sz="32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misconceptions</a:t>
            </a:r>
            <a:endParaRPr/>
          </a:p>
        </p:txBody>
      </p:sp>
      <p:sp>
        <p:nvSpPr>
          <p:cNvPr id="208" name="Google Shape;208;p6"/>
          <p:cNvSpPr txBox="1"/>
          <p:nvPr>
            <p:ph idx="1" type="body"/>
          </p:nvPr>
        </p:nvSpPr>
        <p:spPr>
          <a:xfrm>
            <a:off x="838200" y="1905000"/>
            <a:ext cx="792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Arguments favoring RISC: simple design, short design time, speed, price…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Study of RISC should include hardware/software tradeoffs, factors influencing computer performance and industry-side evaluation.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"/>
          <p:cNvSpPr txBox="1"/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RISC vs. CISC </a:t>
            </a:r>
            <a:r>
              <a:rPr b="0" i="1" lang="en-US" sz="32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misconceptions</a:t>
            </a:r>
            <a:endParaRPr/>
          </a:p>
        </p:txBody>
      </p:sp>
      <p:sp>
        <p:nvSpPr>
          <p:cNvPr id="214" name="Google Shape;214;p7"/>
          <p:cNvSpPr txBox="1"/>
          <p:nvPr>
            <p:ph idx="1" type="body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Incorrect implication from the two acronyms: RISC and CISC.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They are not bifurcations between which designers have to choose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Carelessly leaving out the ‘participation’ of Operating System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 txBox="1"/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RISC vs. CISC </a:t>
            </a:r>
            <a:r>
              <a:rPr b="0" i="1" lang="en-US" sz="32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misconceptions</a:t>
            </a:r>
            <a:endParaRPr/>
          </a:p>
        </p:txBody>
      </p:sp>
      <p:sp>
        <p:nvSpPr>
          <p:cNvPr id="220" name="Google Shape;220;p8"/>
          <p:cNvSpPr txBox="1"/>
          <p:nvPr>
            <p:ph idx="1" type="body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Reduced design time?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academic &lt;-&gt; industrial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Performance claims of RISC proponent do not decouple design features like MSRs (Model Specific Register).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MRSs can have a remarkable effect on program execution</a:t>
            </a:r>
            <a:endParaRPr/>
          </a:p>
          <a:p>
            <a:pPr indent="-1905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 txBox="1"/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Conclusion – RISC vs. CISC?</a:t>
            </a:r>
            <a:endParaRPr/>
          </a:p>
        </p:txBody>
      </p:sp>
      <p:sp>
        <p:nvSpPr>
          <p:cNvPr id="226" name="Google Shape;226;p9"/>
          <p:cNvSpPr txBox="1"/>
          <p:nvPr>
            <p:ph idx="1" type="body"/>
          </p:nvPr>
        </p:nvSpPr>
        <p:spPr>
          <a:xfrm>
            <a:off x="838200" y="1905000"/>
            <a:ext cx="7696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CISC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Effectively realizes one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particular High Level Language Computer System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HW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recurring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HW development costs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when change needed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RISC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Allows effective realization of any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High Level Language Computer System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SW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- recurring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SW development costs</a:t>
            </a: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when change needed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 txBox="1"/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Conclusion – Optimum?</a:t>
            </a:r>
            <a:endParaRPr/>
          </a:p>
        </p:txBody>
      </p:sp>
      <p:sp>
        <p:nvSpPr>
          <p:cNvPr id="232" name="Google Shape;232;p10"/>
          <p:cNvSpPr txBox="1"/>
          <p:nvPr>
            <p:ph idx="1" type="body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Hybrid solutions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RISC core &amp; CISC interface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Still has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specific performance tuning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Optimal ISA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Between RISC &amp; CISC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Few, carefully chosen, useful complex instructions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Still has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complexity handling problems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67c8df2395_0_0"/>
          <p:cNvSpPr txBox="1"/>
          <p:nvPr>
            <p:ph type="title"/>
          </p:nvPr>
        </p:nvSpPr>
        <p:spPr>
          <a:xfrm>
            <a:off x="609600" y="406400"/>
            <a:ext cx="7772400" cy="5925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CISC vs RISC</a:t>
            </a:r>
            <a:endParaRPr/>
          </a:p>
        </p:txBody>
      </p:sp>
      <p:pic>
        <p:nvPicPr>
          <p:cNvPr id="238" name="Google Shape;238;g267c8df239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1172700"/>
            <a:ext cx="7258474" cy="531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67c8df2395_0_6"/>
          <p:cNvSpPr txBox="1"/>
          <p:nvPr>
            <p:ph type="title"/>
          </p:nvPr>
        </p:nvSpPr>
        <p:spPr>
          <a:xfrm>
            <a:off x="609600" y="406400"/>
            <a:ext cx="7772400" cy="1524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267c8df2395_0_6"/>
          <p:cNvSpPr txBox="1"/>
          <p:nvPr>
            <p:ph idx="1" type="body"/>
          </p:nvPr>
        </p:nvSpPr>
        <p:spPr>
          <a:xfrm>
            <a:off x="838200" y="2540000"/>
            <a:ext cx="7772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g267c8df2395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804550" cy="495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67c8df2395_0_12"/>
          <p:cNvSpPr txBox="1"/>
          <p:nvPr>
            <p:ph type="title"/>
          </p:nvPr>
        </p:nvSpPr>
        <p:spPr>
          <a:xfrm>
            <a:off x="609600" y="406400"/>
            <a:ext cx="7772400" cy="551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CISC vs RISC</a:t>
            </a:r>
            <a:endParaRPr/>
          </a:p>
        </p:txBody>
      </p:sp>
      <p:pic>
        <p:nvPicPr>
          <p:cNvPr id="251" name="Google Shape;251;g267c8df2395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775" y="1244188"/>
            <a:ext cx="7258725" cy="5232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67c8df2395_0_18"/>
          <p:cNvSpPr txBox="1"/>
          <p:nvPr>
            <p:ph type="title"/>
          </p:nvPr>
        </p:nvSpPr>
        <p:spPr>
          <a:xfrm>
            <a:off x="609600" y="74525"/>
            <a:ext cx="7772400" cy="747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CISC vs RISC</a:t>
            </a:r>
            <a:endParaRPr/>
          </a:p>
        </p:txBody>
      </p:sp>
      <p:sp>
        <p:nvSpPr>
          <p:cNvPr id="257" name="Google Shape;257;g267c8df2395_0_18"/>
          <p:cNvSpPr txBox="1"/>
          <p:nvPr>
            <p:ph idx="1" type="body"/>
          </p:nvPr>
        </p:nvSpPr>
        <p:spPr>
          <a:xfrm>
            <a:off x="838200" y="2540000"/>
            <a:ext cx="7772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8" name="Google Shape;258;g267c8df2395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0364" y="822627"/>
            <a:ext cx="3955933" cy="548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67c8df2395_0_24"/>
          <p:cNvSpPr txBox="1"/>
          <p:nvPr>
            <p:ph type="title"/>
          </p:nvPr>
        </p:nvSpPr>
        <p:spPr>
          <a:xfrm>
            <a:off x="609600" y="406400"/>
            <a:ext cx="7772400" cy="840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CISC vs RISC</a:t>
            </a:r>
            <a:endParaRPr/>
          </a:p>
        </p:txBody>
      </p:sp>
      <p:pic>
        <p:nvPicPr>
          <p:cNvPr id="264" name="Google Shape;264;g267c8df2395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300" y="1540175"/>
            <a:ext cx="6727601" cy="496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67c8df2395_0_29"/>
          <p:cNvSpPr txBox="1"/>
          <p:nvPr>
            <p:ph type="title"/>
          </p:nvPr>
        </p:nvSpPr>
        <p:spPr>
          <a:xfrm>
            <a:off x="609600" y="406400"/>
            <a:ext cx="7772400" cy="660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CISC vs RISC</a:t>
            </a:r>
            <a:endParaRPr/>
          </a:p>
        </p:txBody>
      </p:sp>
      <p:sp>
        <p:nvSpPr>
          <p:cNvPr id="270" name="Google Shape;270;g267c8df2395_0_29"/>
          <p:cNvSpPr txBox="1"/>
          <p:nvPr>
            <p:ph idx="1" type="body"/>
          </p:nvPr>
        </p:nvSpPr>
        <p:spPr>
          <a:xfrm>
            <a:off x="838200" y="2540000"/>
            <a:ext cx="7772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1" name="Google Shape;271;g267c8df2395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912" y="1894492"/>
            <a:ext cx="6927774" cy="426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67c8df2395_0_35"/>
          <p:cNvSpPr txBox="1"/>
          <p:nvPr>
            <p:ph type="title"/>
          </p:nvPr>
        </p:nvSpPr>
        <p:spPr>
          <a:xfrm>
            <a:off x="609600" y="406400"/>
            <a:ext cx="7772400" cy="633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CISC vs RISC</a:t>
            </a:r>
            <a:endParaRPr/>
          </a:p>
        </p:txBody>
      </p:sp>
      <p:sp>
        <p:nvSpPr>
          <p:cNvPr id="277" name="Google Shape;277;g267c8df2395_0_35"/>
          <p:cNvSpPr txBox="1"/>
          <p:nvPr>
            <p:ph idx="1" type="body"/>
          </p:nvPr>
        </p:nvSpPr>
        <p:spPr>
          <a:xfrm>
            <a:off x="373800" y="1481433"/>
            <a:ext cx="85206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https://cs.stanford.edu/people/eroberts/courses/soco/projects/risc/risccisc/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print">
  <a:themeElements>
    <a:clrScheme name="default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ECD882"/>
      </a:accent4>
      <a:accent5>
        <a:srgbClr val="B2B2B2"/>
      </a:accent5>
      <a:accent6>
        <a:srgbClr val="FFFFFF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2001-11-13T01:11:31Z</dcterms:created>
  <dc:creator>th8k</dc:creator>
</cp:coreProperties>
</file>