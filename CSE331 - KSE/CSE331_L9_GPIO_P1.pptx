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6858000" type="screen4x3"/>
  <p:notesSz cx="6858000" cy="9144000"/>
  <p:embeddedFontLst>
    <p:embeddedFont>
      <p:font typeface="Gill Sans" panose="020B0604020202020204" charset="0"/>
      <p:regular r:id="rId28"/>
      <p:bold r:id="rId29"/>
    </p:embeddedFont>
    <p:embeddedFont>
      <p:font typeface="Calibri" panose="020F0502020204030204" pitchFamily="34" charset="0"/>
      <p:regular r:id="rId30"/>
      <p:bold r:id="rId31"/>
      <p:italic r:id="rId32"/>
      <p:boldItalic r:id="rId33"/>
    </p:embeddedFont>
    <p:embeddedFont>
      <p:font typeface="Bookman Old Style" panose="02050604050505020204" pitchFamily="18" charset="0"/>
      <p:regular r:id="rId34"/>
      <p:bold r:id="rId35"/>
      <p:italic r:id="rId36"/>
      <p:boldItalic r:id="rId37"/>
    </p:embeddedFont>
    <p:embeddedFont>
      <p:font typeface="Consolas" panose="020B0609020204030204" pitchFamily="49"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2" roundtripDataSignature="AMtx7mgiax8x6Bq9PJOjDrBM3bgIH4Ng1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100F991-0736-4BFD-8C63-F958F91E5AE5}">
  <a:tblStyle styleId="{D100F991-0736-4BFD-8C63-F958F91E5AE5}"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2E87115-F825-4F5A-BB3E-333DB29A341F}" styleName="Table_1">
    <a:wholeTbl>
      <a:tcTxStyle b="off" i="off">
        <a:font>
          <a:latin typeface="Gill Sans MT"/>
          <a:ea typeface="Gill Sans MT"/>
          <a:cs typeface="Gill Sans MT"/>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Gill Sans MT"/>
          <a:ea typeface="Gill Sans MT"/>
          <a:cs typeface="Gill Sans MT"/>
        </a:font>
        <a:schemeClr val="lt1"/>
      </a:tcTxStyle>
      <a:tcStyle>
        <a:tcBdr/>
        <a:fill>
          <a:solidFill>
            <a:schemeClr val="accent1"/>
          </a:solidFill>
        </a:fill>
      </a:tcStyle>
    </a:lastCol>
    <a:firstCol>
      <a:tcTxStyle b="on" i="off">
        <a:font>
          <a:latin typeface="Gill Sans MT"/>
          <a:ea typeface="Gill Sans MT"/>
          <a:cs typeface="Gill Sans MT"/>
        </a:font>
        <a:schemeClr val="lt1"/>
      </a:tcTxStyle>
      <a:tcStyle>
        <a:tcBdr/>
        <a:fill>
          <a:solidFill>
            <a:schemeClr val="accent1"/>
          </a:solidFill>
        </a:fill>
      </a:tcStyle>
    </a:firstCol>
    <a:lastRow>
      <a:tcTxStyle b="on" i="off">
        <a:font>
          <a:latin typeface="Gill Sans MT"/>
          <a:ea typeface="Gill Sans MT"/>
          <a:cs typeface="Gill Sans MT"/>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Gill Sans MT"/>
          <a:ea typeface="Gill Sans MT"/>
          <a:cs typeface="Gill Sans MT"/>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1320" y="4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2479a032235_0_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2479a032235_0_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g2479a032235_0_17: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2479a032235_0_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2479a032235_0_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g2479a032235_0_26: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2479a032235_0_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2479a032235_0_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g2479a032235_0_35: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 name="Google Shape;143;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Usually, each on-chip peripheral device has a few registers, such as control registers, status registers, data input registers, and data output registers.  In general, there are two approaches to exchange data between the processor core, and a peripheral device, including  {{Pause=0.5}} port-mapped I/O, and  {{Pause=0.5}}  memory-mapped I/O. Port-mapped I/O uses special CPU instructions, which are designed specifically for I/O operations. {{Pause=0.5}} On the other hand, memory-mapped I/O does not need any special instructions. Each register is assigned to a memory address, in the memory address space of the microprocessor.  Memory-mapped I/O is performed by the native load and store instructions of the processor. Therefore, memory-mapped I/O is a more convenient way to interface I/O devices. </a:t>
            </a:r>
            <a:endParaRPr/>
          </a:p>
          <a:p>
            <a:pPr marL="0" marR="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r>
              <a:rPr lang="en-US"/>
              <a:t>Here is an example of memory mapped I/O. Suppose we want to set the output of a G P I O pin to high, software can use the store instruction STR to set the corresponding bit in  G P I O data output register to 1. When you write to this “special memory location”, the data you write, is sent to, the corresponding I/O device. {{Pause=0.5}} ARM Cortex-M microprocessors use memory-mapped I/O. </a:t>
            </a:r>
            <a:endParaRPr/>
          </a:p>
        </p:txBody>
      </p:sp>
      <p:sp>
        <p:nvSpPr>
          <p:cNvPr id="144" name="Google Shape;144;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 name="Google Shape;165;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marR="0" lvl="0" indent="0" algn="l" rtl="0">
              <a:lnSpc>
                <a:spcPct val="80000"/>
              </a:lnSpc>
              <a:spcBef>
                <a:spcPts val="0"/>
              </a:spcBef>
              <a:spcAft>
                <a:spcPts val="0"/>
              </a:spcAft>
              <a:buClr>
                <a:schemeClr val="dk1"/>
              </a:buClr>
              <a:buSzPts val="1300"/>
              <a:buFont typeface="Calibri"/>
              <a:buNone/>
            </a:pPr>
            <a:r>
              <a:rPr lang="en-US" sz="1300"/>
              <a:t>The memory address of ARM Cortex-M  has a total of 32 bits, supporting 4 gigabytes of memory space. The memory space is divided into six different pre-defined regions.  Each region is given for recommended usage. {{Pause=0.5}} The first region is code region. It is primarily used to store program code. It can also store data. The code region is on-chip memory, typically on-chip flash. The size of on-chip flash is limited to half a gigabyte.  The actual size of the on-chip flash varies based on different venders and different chips. {{Pause=0.5}} The second region is SRAM. It is primarily used to store data, such as heaps and stacks. We can also put code here. It supports half a gigabyte. {{Pause=0.5}} The third region is peripheral. These peripherals include Advanced High Performance Bus peripherals, such as G P I O, and A D C, or Advanced Peripheral Bus peripherals, such as timers, and USART. {{Pause=0.5}} The next region is for external device, such as SD card. {{Pause=0.5}} The next is external RAM, which is executable region for data. It is off-chip memory, primarily used to store large data blocks. It has a total of 1 gigabyte. {{Pause=0.5}} The last region is system region, which includes the N V I C, system timer, system control block, and vendor-specific memory. </a:t>
            </a:r>
            <a:endParaRPr/>
          </a:p>
          <a:p>
            <a:pPr marL="0" marR="0" lvl="0" indent="0" algn="l" rtl="0">
              <a:lnSpc>
                <a:spcPct val="80000"/>
              </a:lnSpc>
              <a:spcBef>
                <a:spcPts val="0"/>
              </a:spcBef>
              <a:spcAft>
                <a:spcPts val="0"/>
              </a:spcAft>
              <a:buClr>
                <a:schemeClr val="dk1"/>
              </a:buClr>
              <a:buSzPts val="1430"/>
              <a:buFont typeface="Calibri"/>
              <a:buNone/>
            </a:pPr>
            <a:endParaRPr sz="1430"/>
          </a:p>
        </p:txBody>
      </p:sp>
      <p:sp>
        <p:nvSpPr>
          <p:cNvPr id="166" name="Google Shape;166;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2479a032235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2479a03223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g2479a032235_0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0" name="Google Shape;230;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dk1"/>
              </a:buClr>
              <a:buSzPts val="1200"/>
              <a:buFont typeface="Calibri"/>
              <a:buNone/>
            </a:pPr>
            <a:r>
              <a:rPr lang="en-US"/>
              <a:t>{{Pause=0.5}} Let’s take a look at the peripheral region. This region covers the memory addresses of all on-chip peripherals, such as G P I O, timers, USART, S P I, and A D C. {{Pause=0.5}} Specific mapping addresses are dependent on vendors and chips. We will use G P I O on STM 32 L4  as an example to illustrate the concept of memory-mapped I/O.  For instance, on STM 32 L4, the registers of G P I O Port A, are mapped to a small memory region starting at, 48000000 in hex. </a:t>
            </a:r>
            <a:endParaRPr/>
          </a:p>
        </p:txBody>
      </p:sp>
      <p:sp>
        <p:nvSpPr>
          <p:cNvPr id="231" name="Google Shape;231;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2cd129da435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g2cd129da43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{{Pause=2}} Each</a:t>
            </a:r>
            <a:r>
              <a:rPr lang="en-US"/>
              <a:t> STM32L4 chip has eight G P I O ports, including port A, B, C, et cetera. Each G P I O port can have up to 16 pins.  All pins in a G P I O port are controlled as a group. Each pin can be configured by software at runtime to perform various functions. </a:t>
            </a:r>
            <a:endParaRPr/>
          </a:p>
        </p:txBody>
      </p:sp>
      <p:sp>
        <p:nvSpPr>
          <p:cNvPr id="290" name="Google Shape;290;g2cd129da435_0_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2cd129da435_0_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0" name="Google Shape;310;g2cd129da435_0_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{{Pause=2}}  The ARM Cortex-M4 processor core, is connected to the other components via three buses, include the data bus, the instruction bus, and the system bus. These buses are connected to the Advanced high performance bus (AHB) matrix. AHB is the backbone bus. It is used for high-performance, high clock frequency system modules, such as on-chip flash, on-chip SRAM, as well as G P I O modules. The chip also has a bridge that connects AHB to Advanced Peripheral Bus (APB). APB is for low bandwidth peripherals. APB connects most of the peripheral devices in the system, such as UART, S P I, and timer.  </a:t>
            </a:r>
            <a:endParaRPr/>
          </a:p>
          <a:p>
            <a:pPr marL="0" lvl="0" indent="0" algn="l" rtl="0">
              <a:spcBef>
                <a:spcPts val="0"/>
              </a:spcBef>
              <a:spcAft>
                <a:spcPts val="0"/>
              </a:spcAft>
              <a:buNone/>
            </a:pPr>
            <a:endParaRPr/>
          </a:p>
          <a:p>
            <a:pPr marL="0" lvl="0" indent="0" algn="l" rtl="0">
              <a:spcBef>
                <a:spcPts val="0"/>
              </a:spcBef>
              <a:spcAft>
                <a:spcPts val="0"/>
              </a:spcAft>
              <a:buNone/>
            </a:pPr>
            <a:r>
              <a:rPr lang="en-US"/>
              <a:t>{{Pause=1}} Here is the basic structure of a G P I O module. I will explain the details of this module in the next slide.</a:t>
            </a:r>
            <a:endParaRPr/>
          </a:p>
        </p:txBody>
      </p:sp>
      <p:sp>
        <p:nvSpPr>
          <p:cNvPr id="311" name="Google Shape;311;g2cd129da435_0_2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2cd129da435_0_7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5" name="Google Shape;365;g2cd129da435_0_7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{{Pause=2}}  The ARM Cortex-M4 processor core, is connected to the other components via three buses, include the data bus, the instruction bus, and the system bus. These buses are connected to the Advanced high performance bus (AHB) matrix. AHB is the backbone bus. It is used for high-performance, high clock frequency system modules, such as on-chip flash, on-chip SRAM, as well as G P I O modules. The chip also has a bridge that connects AHB to Advanced Peripheral Bus (APB). APB is for low bandwidth peripherals. APB connects most of the peripheral devices in the system, such as UART, S P I, and timer.  </a:t>
            </a:r>
            <a:endParaRPr/>
          </a:p>
          <a:p>
            <a:pPr marL="0" lvl="0" indent="0" algn="l" rtl="0">
              <a:spcBef>
                <a:spcPts val="0"/>
              </a:spcBef>
              <a:spcAft>
                <a:spcPts val="0"/>
              </a:spcAft>
              <a:buNone/>
            </a:pPr>
            <a:endParaRPr/>
          </a:p>
          <a:p>
            <a:pPr marL="0" lvl="0" indent="0" algn="l" rtl="0">
              <a:spcBef>
                <a:spcPts val="0"/>
              </a:spcBef>
              <a:spcAft>
                <a:spcPts val="0"/>
              </a:spcAft>
              <a:buNone/>
            </a:pPr>
            <a:r>
              <a:rPr lang="en-US"/>
              <a:t>{{Pause=1}} Here is the basic structure of a G P I O module. I will explain the details of this module in the next slide.</a:t>
            </a:r>
            <a:endParaRPr/>
          </a:p>
        </p:txBody>
      </p:sp>
      <p:sp>
        <p:nvSpPr>
          <p:cNvPr id="366" name="Google Shape;366;g2cd129da435_0_7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0" name="Google Shape;420;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Let’s take a closer look at the memory map, for G P I O Port A. {{Pause=0.5}} Each port has 12 registers, and each register has 4 bytes. While a total of 1 kilobyte space is reserved for Port A, only 48 bytes are used. Within this 48-byte memory region, the G P I O mode register MODE R, is mapped to the lowest memory address, and the G P I O analog switch control register, A S C R, is mapped to the highest memory address. </a:t>
            </a:r>
            <a:endParaRPr/>
          </a:p>
        </p:txBody>
      </p:sp>
      <p:sp>
        <p:nvSpPr>
          <p:cNvPr id="421" name="Google Shape;421;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4" name="Google Shape;464;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Suppose we want to set the output of pin 14 of Port A to high. To achieve this, we need to set bit 14 of the output data register (ODR) of G P I O, A, to 1. </a:t>
            </a:r>
            <a:endParaRPr/>
          </a:p>
        </p:txBody>
      </p:sp>
      <p:sp>
        <p:nvSpPr>
          <p:cNvPr id="465" name="Google Shape;465;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9" name="Google Shape;509;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As discussed previously, each register has 32 bits, that is, 4 bytes.  The output data register (ODR) of Port, A, on STM 32 L4, are mapped to the memory addresses from 48000014 to 48000017, in hex. If little endian is used, the highest memory address holds the most significant 8 bits, and the lowest memory address holds the least significant 8 bits.</a:t>
            </a:r>
            <a:endParaRPr/>
          </a:p>
        </p:txBody>
      </p:sp>
      <p:sp>
        <p:nvSpPr>
          <p:cNvPr id="510" name="Google Shape;510;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9" name="Google Shape;539;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We use this C statement to set, bit 14, of ODR to 1, by using bitwise OR. This C statement also uses dereferencing to access the memory. Dereferencing a pointer means, getting the value that is stored in the memory location pointed by the pointer. The operator asterisk is used to do this. The asterisk is called the dereferencing operator. A sequence of load, modify, and store operations are performed in this statement. This statement casts the memory address to a memory pointer, which points to an 32-bit unsigned integer. First, the dereference operator retrieves the ODR register value, as a 32-bit unsigned integer. Then, a bit-wise operation is performed to modify this unsigned integer value. Finally, the updated value is stored back to the ODR register, via the dereferencing operation. However, directly dereferencing a numeric memory address, is inconvenient to use in practice. The code uses numeric addresses directly. Accordingly, it is not very readable. The next slide will present a new approach, which uses register names instead of memory addresses,  thus greatly improving the code readability.</a:t>
            </a:r>
            <a:endParaRPr/>
          </a:p>
        </p:txBody>
      </p:sp>
      <p:sp>
        <p:nvSpPr>
          <p:cNvPr id="540" name="Google Shape;540;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4" name="Google Shape;574;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In memory-mapped I/O, all registers of a G P I O port, are mapped to a contiguous block of physical memory. This memory block can be represented by using a struct, as defined in this slide. A struct in C defines a physically grouped list of variables under one name. Note that we put volatile qualifier on each register. It informs the compiler that the variable might change spontaneously. When a variable is declared as volatile, the compiler is informed that even though no statements in the program appear to change it, the value might still change. Typically, compilers minimize the number of memory accesses, by storing the memory value in a register, and then repeatedly using it without accessing the memory. The volatile qualifier on a variable, prevents the compiler from making such optimization, on this variable. </a:t>
            </a:r>
            <a:endParaRPr/>
          </a:p>
          <a:p>
            <a:pPr marL="0" lvl="0" indent="0" algn="l" rtl="0">
              <a:spcBef>
                <a:spcPts val="0"/>
              </a:spcBef>
              <a:spcAft>
                <a:spcPts val="0"/>
              </a:spcAft>
              <a:buNone/>
            </a:pPr>
            <a:endParaRPr/>
          </a:p>
          <a:p>
            <a:pPr marL="0" lvl="0" indent="0" algn="l" rtl="0">
              <a:spcBef>
                <a:spcPts val="0"/>
              </a:spcBef>
              <a:spcAft>
                <a:spcPts val="0"/>
              </a:spcAft>
              <a:buNone/>
            </a:pPr>
            <a:r>
              <a:rPr lang="en-US"/>
              <a:t>{{Pause=0.5}} We use a macro definition here to give a name to the struct pointer. Let's name the macro G P I O A. {{Pause=0.5}} To set bit 14, we can use the membership operator to access the data output register ODR.  We can either use the arrow operator, or the dot operator, to access the output data register ODR. These two C statements are equivalent. The asterisk G P I O A gets the structure that G P I O A points to.</a:t>
            </a:r>
            <a:endParaRPr/>
          </a:p>
        </p:txBody>
      </p:sp>
      <p:sp>
        <p:nvSpPr>
          <p:cNvPr id="575" name="Google Shape;575;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0" name="Google Shape;610;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0"/>
              </a:spcBef>
              <a:spcAft>
                <a:spcPts val="0"/>
              </a:spcAft>
              <a:buNone/>
            </a:pPr>
            <a:r>
              <a:rPr lang="en-US" sz="2220"/>
              <a:t>{{Pause=2}} </a:t>
            </a:r>
            <a:r>
              <a:rPr lang="en-US" sz="2220" b="0" i="0">
                <a:solidFill>
                  <a:schemeClr val="dk1"/>
                </a:solidFill>
                <a:latin typeface="Calibri"/>
                <a:ea typeface="Calibri"/>
                <a:cs typeface="Calibri"/>
                <a:sym typeface="Calibri"/>
              </a:rPr>
              <a:t>This is the STM32L4 discovery kit. Software can control two L E Ds on board, including one red LED, and one green LED.  The red LED is connected to the microprocessor pin P B 2 via a resistor. The green LED is connected to the pin P E 8 via another resistor.  In this tutorial, we only focus on lighting up the red LED.  The process of lighting up the green LED is very similar.  To turn on the red LED, software has to set the pin P B 2 to high. To turn off the red LED, software has to set the pin PB 2 to low.  In this tutorial, I will show you how to set pin PB 2 to high.  </a:t>
            </a:r>
            <a:endParaRPr sz="2220" b="0" i="0">
              <a:solidFill>
                <a:schemeClr val="dk1"/>
              </a:solidFill>
              <a:latin typeface="Calibri"/>
              <a:ea typeface="Calibri"/>
              <a:cs typeface="Calibri"/>
              <a:sym typeface="Calibri"/>
            </a:endParaRPr>
          </a:p>
        </p:txBody>
      </p:sp>
      <p:sp>
        <p:nvSpPr>
          <p:cNvPr id="611" name="Google Shape;611;p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1" name="Google Shape;641;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0" i="0" u="none" strike="noStrike">
                <a:solidFill>
                  <a:schemeClr val="dk1"/>
                </a:solidFill>
                <a:latin typeface="Calibri"/>
                <a:ea typeface="Calibri"/>
                <a:cs typeface="Calibri"/>
                <a:sym typeface="Calibri"/>
              </a:rPr>
              <a:t>{{Pause=2}} Software can program each {{Pause=0.1}} G P I O pin as one of the following four different functions. First,  digital input, which detects, whether an external voltage signal, is higher or lower than a predetermined threshold. Second, digital output, which controls the voltage on the pin. Third, analog functions, which perform digital-to-analog, or analog-to-digital conversion. Last, other complex functions, such as S P I data pin, and timer PWM output. We call the last category of functions as alternative functions.  {{Pause=1}}</a:t>
            </a:r>
            <a:endParaRPr/>
          </a:p>
          <a:p>
            <a:pPr marL="0" marR="0" lvl="0" indent="0" algn="l" rtl="0">
              <a:lnSpc>
                <a:spcPct val="100000"/>
              </a:lnSpc>
              <a:spcBef>
                <a:spcPts val="0"/>
              </a:spcBef>
              <a:spcAft>
                <a:spcPts val="0"/>
              </a:spcAft>
              <a:buClr>
                <a:schemeClr val="dk1"/>
              </a:buClr>
              <a:buSzPts val="1200"/>
              <a:buFont typeface="Calibri"/>
              <a:buNone/>
            </a:pPr>
            <a:endParaRPr sz="1200" b="0" i="0" u="none" strike="noStrik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b="0" i="0" u="none" strike="noStrike">
                <a:solidFill>
                  <a:schemeClr val="dk1"/>
                </a:solidFill>
                <a:latin typeface="Calibri"/>
                <a:ea typeface="Calibri"/>
                <a:cs typeface="Calibri"/>
                <a:sym typeface="Calibri"/>
              </a:rPr>
              <a:t>The function of a pin is controlled by the MODE register of this port. Each mode register has 32 bits. Port B has a total of 16 pins. The function of each pin is determined by two bits of the mode register. For example, bit 5 and bit 4 control the function of pin 2.  When these two bits are zero zero, the pin is set as digital input. When these bits are zero one, this pin is used for digital output.  When they are one zero,  the pin has alternative function. Specific alternative function will be determined by the alternative function register of this port. When these two bits are one one, the pin will be used for analog-to-digital conversion (ADC), or digital-to-analog conversion (DAC). {{Pause=1}}</a:t>
            </a:r>
            <a:endParaRPr/>
          </a:p>
          <a:p>
            <a:pPr marL="0" marR="0" lvl="0" indent="0" algn="l" rtl="0">
              <a:lnSpc>
                <a:spcPct val="100000"/>
              </a:lnSpc>
              <a:spcBef>
                <a:spcPts val="0"/>
              </a:spcBef>
              <a:spcAft>
                <a:spcPts val="0"/>
              </a:spcAft>
              <a:buClr>
                <a:schemeClr val="dk1"/>
              </a:buClr>
              <a:buSzPts val="1200"/>
              <a:buFont typeface="Calibri"/>
              <a:buNone/>
            </a:pPr>
            <a:endParaRPr sz="1200" b="0" i="0" u="none" strike="noStrik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b="0" i="0" u="none" strike="noStrike">
                <a:solidFill>
                  <a:schemeClr val="dk1"/>
                </a:solidFill>
                <a:latin typeface="Calibri"/>
                <a:ea typeface="Calibri"/>
                <a:cs typeface="Calibri"/>
                <a:sym typeface="Calibri"/>
              </a:rPr>
              <a:t>In this example, pin PB 2 will be used as output to turn on the red LED. Therefore, we need to set bit 5  and bit 4 to zero and one, respectively. {{Pause=2}} Here is the C code. First, we clear bit 4 and 5. Then we set bit 4 by using bitwise OR.</a:t>
            </a: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642" name="Google Shape;642;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0" name="Google Shape;660;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{{Pause=2}} Next, we need to set the output of mode of Pin 2 as push-pull, instead of open drain. Therefore, software has to clear bit 2 of the output type register. In the following few slides, I will explain what is the difference between push pull, and open drain.</a:t>
            </a:r>
            <a:endParaRPr/>
          </a:p>
        </p:txBody>
      </p:sp>
      <p:sp>
        <p:nvSpPr>
          <p:cNvPr id="661" name="Google Shape;661;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2"/>
        <p:cNvGrpSpPr/>
        <p:nvPr/>
      </p:nvGrpSpPr>
      <p:grpSpPr>
        <a:xfrm>
          <a:off x="0" y="0"/>
          <a:ext cx="0" cy="0"/>
          <a:chOff x="0" y="0"/>
          <a:chExt cx="0" cy="0"/>
        </a:xfrm>
      </p:grpSpPr>
      <p:sp>
        <p:nvSpPr>
          <p:cNvPr id="673" name="Google Shape;673;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4" name="Google Shape;674;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g313fffb9f7d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7" name="Google Shape;687;g313fffb9f7d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8" name="Google Shape;688;g313fffb9f7d_0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5" name="Google Shape;695;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2"/>
        <p:cNvGrpSpPr/>
        <p:nvPr/>
      </p:nvGrpSpPr>
      <p:grpSpPr>
        <a:xfrm>
          <a:off x="0" y="0"/>
          <a:ext cx="0" cy="0"/>
          <a:chOff x="0" y="0"/>
          <a:chExt cx="0" cy="0"/>
        </a:xfrm>
      </p:grpSpPr>
      <p:sp>
        <p:nvSpPr>
          <p:cNvPr id="703" name="Google Shape;703;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4" name="Google Shape;704;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3" name="Google Shape;713;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2" name="Google Shape;722;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8"/>
        <p:cNvGrpSpPr/>
        <p:nvPr/>
      </p:nvGrpSpPr>
      <p:grpSpPr>
        <a:xfrm>
          <a:off x="0" y="0"/>
          <a:ext cx="0" cy="0"/>
          <a:chOff x="0" y="0"/>
          <a:chExt cx="0" cy="0"/>
        </a:xfrm>
      </p:grpSpPr>
      <p:sp>
        <p:nvSpPr>
          <p:cNvPr id="19" name="Google Shape;19;p22"/>
          <p:cNvSpPr txBox="1">
            <a:spLocks noGrp="1"/>
          </p:cNvSpPr>
          <p:nvPr>
            <p:ph type="ctrTitle"/>
          </p:nvPr>
        </p:nvSpPr>
        <p:spPr>
          <a:xfrm>
            <a:off x="1219200" y="3886200"/>
            <a:ext cx="6858000" cy="990600"/>
          </a:xfrm>
          <a:prstGeom prst="rect">
            <a:avLst/>
          </a:prstGeom>
          <a:noFill/>
          <a:ln>
            <a:noFill/>
          </a:ln>
        </p:spPr>
        <p:txBody>
          <a:bodyPr spcFirstLastPara="1" wrap="square" lIns="91425" tIns="45700" rIns="91425" bIns="45700" anchor="t" anchorCtr="0">
            <a:normAutofit/>
          </a:bodyPr>
          <a:lstStyle>
            <a:lvl1pPr lvl="0" algn="r">
              <a:spcBef>
                <a:spcPts val="0"/>
              </a:spcBef>
              <a:spcAft>
                <a:spcPts val="0"/>
              </a:spcAft>
              <a:buClr>
                <a:schemeClr val="dk1"/>
              </a:buClr>
              <a:buSzPts val="3200"/>
              <a:buFont typeface="Bookman Old Style"/>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22"/>
          <p:cNvSpPr txBox="1">
            <a:spLocks noGrp="1"/>
          </p:cNvSpPr>
          <p:nvPr>
            <p:ph type="subTitle" idx="1"/>
          </p:nvPr>
        </p:nvSpPr>
        <p:spPr>
          <a:xfrm>
            <a:off x="1219200" y="5124450"/>
            <a:ext cx="6858000" cy="533400"/>
          </a:xfrm>
          <a:prstGeom prst="rect">
            <a:avLst/>
          </a:prstGeom>
          <a:noFill/>
          <a:ln>
            <a:noFill/>
          </a:ln>
        </p:spPr>
        <p:txBody>
          <a:bodyPr spcFirstLastPara="1" wrap="square" lIns="91425" tIns="45700" rIns="91425" bIns="45700" anchor="t" anchorCtr="0">
            <a:normAutofit/>
          </a:bodyPr>
          <a:lstStyle>
            <a:lvl1pPr lvl="0" algn="r">
              <a:spcBef>
                <a:spcPts val="600"/>
              </a:spcBef>
              <a:spcAft>
                <a:spcPts val="0"/>
              </a:spcAft>
              <a:buSzPts val="1520"/>
              <a:buNone/>
              <a:defRPr sz="2000">
                <a:solidFill>
                  <a:schemeClr val="dk2"/>
                </a:solidFill>
                <a:latin typeface="Bookman Old Style"/>
                <a:ea typeface="Bookman Old Style"/>
                <a:cs typeface="Bookman Old Style"/>
                <a:sym typeface="Bookman Old Style"/>
              </a:defRPr>
            </a:lvl1pPr>
            <a:lvl2pPr lvl="1" algn="ctr">
              <a:spcBef>
                <a:spcPts val="500"/>
              </a:spcBef>
              <a:spcAft>
                <a:spcPts val="0"/>
              </a:spcAft>
              <a:buSzPts val="1368"/>
              <a:buNone/>
              <a:defRPr/>
            </a:lvl2pPr>
            <a:lvl3pPr lvl="2" algn="ctr">
              <a:spcBef>
                <a:spcPts val="500"/>
              </a:spcBef>
              <a:spcAft>
                <a:spcPts val="0"/>
              </a:spcAft>
              <a:buSzPts val="1368"/>
              <a:buNone/>
              <a:defRPr/>
            </a:lvl3pPr>
            <a:lvl4pPr lvl="3" algn="ctr">
              <a:spcBef>
                <a:spcPts val="400"/>
              </a:spcBef>
              <a:spcAft>
                <a:spcPts val="0"/>
              </a:spcAft>
              <a:buSzPts val="1260"/>
              <a:buNone/>
              <a:defRPr/>
            </a:lvl4pPr>
            <a:lvl5pPr lvl="4" algn="ctr">
              <a:spcBef>
                <a:spcPts val="300"/>
              </a:spcBef>
              <a:spcAft>
                <a:spcPts val="0"/>
              </a:spcAft>
              <a:buSzPts val="1260"/>
              <a:buNone/>
              <a:defRPr/>
            </a:lvl5pPr>
            <a:lvl6pPr lvl="5" algn="ctr">
              <a:spcBef>
                <a:spcPts val="300"/>
              </a:spcBef>
              <a:spcAft>
                <a:spcPts val="0"/>
              </a:spcAft>
              <a:buSzPts val="1350"/>
              <a:buNone/>
              <a:defRPr/>
            </a:lvl6pPr>
            <a:lvl7pPr lvl="6" algn="ctr">
              <a:spcBef>
                <a:spcPts val="300"/>
              </a:spcBef>
              <a:spcAft>
                <a:spcPts val="0"/>
              </a:spcAft>
              <a:buSzPts val="1350"/>
              <a:buNone/>
              <a:defRPr/>
            </a:lvl7pPr>
            <a:lvl8pPr lvl="7" algn="ctr">
              <a:spcBef>
                <a:spcPts val="300"/>
              </a:spcBef>
              <a:spcAft>
                <a:spcPts val="0"/>
              </a:spcAft>
              <a:buSzPts val="1350"/>
              <a:buNone/>
              <a:defRPr/>
            </a:lvl8pPr>
            <a:lvl9pPr lvl="8" algn="ctr">
              <a:spcBef>
                <a:spcPts val="300"/>
              </a:spcBef>
              <a:spcAft>
                <a:spcPts val="0"/>
              </a:spcAft>
              <a:buSzPts val="1350"/>
              <a:buNone/>
              <a:defRPr/>
            </a:lvl9pPr>
          </a:lstStyle>
          <a:p>
            <a:endParaRPr/>
          </a:p>
        </p:txBody>
      </p:sp>
      <p:sp>
        <p:nvSpPr>
          <p:cNvPr id="21" name="Google Shape;21;p22"/>
          <p:cNvSpPr txBox="1">
            <a:spLocks noGrp="1"/>
          </p:cNvSpPr>
          <p:nvPr>
            <p:ph type="dt" idx="10"/>
          </p:nvPr>
        </p:nvSpPr>
        <p:spPr>
          <a:xfrm>
            <a:off x="6400800" y="6355080"/>
            <a:ext cx="2286000"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1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2"/>
          <p:cNvSpPr txBox="1">
            <a:spLocks noGrp="1"/>
          </p:cNvSpPr>
          <p:nvPr>
            <p:ph type="ftr" idx="11"/>
          </p:nvPr>
        </p:nvSpPr>
        <p:spPr>
          <a:xfrm>
            <a:off x="2898648" y="6355080"/>
            <a:ext cx="3474720" cy="36576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22"/>
          <p:cNvSpPr txBox="1">
            <a:spLocks noGrp="1"/>
          </p:cNvSpPr>
          <p:nvPr>
            <p:ph type="sldNum" idx="12"/>
          </p:nvPr>
        </p:nvSpPr>
        <p:spPr>
          <a:xfrm>
            <a:off x="1216152" y="6355080"/>
            <a:ext cx="1219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24" name="Google Shape;24;p22"/>
          <p:cNvSpPr/>
          <p:nvPr/>
        </p:nvSpPr>
        <p:spPr>
          <a:xfrm>
            <a:off x="904875" y="3648075"/>
            <a:ext cx="7315200" cy="1280160"/>
          </a:xfrm>
          <a:prstGeom prst="rect">
            <a:avLst/>
          </a:prstGeom>
          <a:noFill/>
          <a:ln w="9525" cap="rnd"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25" name="Google Shape;25;p22"/>
          <p:cNvSpPr/>
          <p:nvPr/>
        </p:nvSpPr>
        <p:spPr>
          <a:xfrm>
            <a:off x="914400" y="5048250"/>
            <a:ext cx="7315200" cy="685800"/>
          </a:xfrm>
          <a:prstGeom prst="rect">
            <a:avLst/>
          </a:prstGeom>
          <a:noFill/>
          <a:ln w="952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26" name="Google Shape;26;p22"/>
          <p:cNvSpPr/>
          <p:nvPr/>
        </p:nvSpPr>
        <p:spPr>
          <a:xfrm>
            <a:off x="904875" y="3648075"/>
            <a:ext cx="228600" cy="128016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27" name="Google Shape;27;p22"/>
          <p:cNvSpPr/>
          <p:nvPr/>
        </p:nvSpPr>
        <p:spPr>
          <a:xfrm>
            <a:off x="914400" y="5048250"/>
            <a:ext cx="228600" cy="6858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
        <p:cNvGrpSpPr/>
        <p:nvPr/>
      </p:nvGrpSpPr>
      <p:grpSpPr>
        <a:xfrm>
          <a:off x="0" y="0"/>
          <a:ext cx="0" cy="0"/>
          <a:chOff x="0" y="0"/>
          <a:chExt cx="0" cy="0"/>
        </a:xfrm>
      </p:grpSpPr>
      <p:sp>
        <p:nvSpPr>
          <p:cNvPr id="29" name="Google Shape;29;p23"/>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23"/>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3"/>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3"/>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33" name="Google Shape;33;p23"/>
          <p:cNvSpPr txBox="1">
            <a:spLocks noGrp="1"/>
          </p:cNvSpPr>
          <p:nvPr>
            <p:ph type="body" idx="1"/>
          </p:nvPr>
        </p:nvSpPr>
        <p:spPr>
          <a:xfrm>
            <a:off x="457200" y="1219200"/>
            <a:ext cx="8229600" cy="493776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chemeClr val="dk2"/>
        </a:solidFill>
        <a:effectLst/>
      </p:bgPr>
    </p:bg>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1219200" y="2971800"/>
            <a:ext cx="6858000" cy="1066800"/>
          </a:xfrm>
          <a:prstGeom prst="rect">
            <a:avLst/>
          </a:prstGeom>
          <a:noFill/>
          <a:ln>
            <a:noFill/>
          </a:ln>
        </p:spPr>
        <p:txBody>
          <a:bodyPr spcFirstLastPara="1" wrap="square" lIns="91425" tIns="45700" rIns="91425" bIns="45700" anchor="t" anchorCtr="0">
            <a:normAutofit/>
          </a:bodyPr>
          <a:lstStyle>
            <a:lvl1pPr lvl="0" algn="r">
              <a:spcBef>
                <a:spcPts val="0"/>
              </a:spcBef>
              <a:spcAft>
                <a:spcPts val="0"/>
              </a:spcAft>
              <a:buClr>
                <a:schemeClr val="lt2"/>
              </a:buClr>
              <a:buSzPts val="3200"/>
              <a:buFont typeface="Bookman Old Style"/>
              <a:buNone/>
              <a:defRPr sz="3200" b="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24"/>
          <p:cNvSpPr txBox="1">
            <a:spLocks noGrp="1"/>
          </p:cNvSpPr>
          <p:nvPr>
            <p:ph type="body" idx="1"/>
          </p:nvPr>
        </p:nvSpPr>
        <p:spPr>
          <a:xfrm>
            <a:off x="1295400" y="4267200"/>
            <a:ext cx="6781800" cy="1143000"/>
          </a:xfrm>
          <a:prstGeom prst="rect">
            <a:avLst/>
          </a:prstGeom>
          <a:noFill/>
          <a:ln>
            <a:noFill/>
          </a:ln>
        </p:spPr>
        <p:txBody>
          <a:bodyPr spcFirstLastPara="1" wrap="square" lIns="91425" tIns="45700" rIns="91425" bIns="45700" anchor="t" anchorCtr="0">
            <a:normAutofit/>
          </a:bodyPr>
          <a:lstStyle>
            <a:lvl1pPr marL="457200" lvl="0" indent="-228600" algn="r">
              <a:spcBef>
                <a:spcPts val="600"/>
              </a:spcBef>
              <a:spcAft>
                <a:spcPts val="0"/>
              </a:spcAft>
              <a:buSzPts val="1520"/>
              <a:buNone/>
              <a:defRPr sz="2000">
                <a:solidFill>
                  <a:schemeClr val="lt1"/>
                </a:solidFill>
              </a:defRPr>
            </a:lvl1pPr>
            <a:lvl2pPr marL="914400" lvl="1" indent="-228600" algn="l">
              <a:spcBef>
                <a:spcPts val="500"/>
              </a:spcBef>
              <a:spcAft>
                <a:spcPts val="0"/>
              </a:spcAft>
              <a:buSzPts val="1368"/>
              <a:buNone/>
              <a:defRPr sz="1800">
                <a:solidFill>
                  <a:schemeClr val="lt1"/>
                </a:solidFill>
              </a:defRPr>
            </a:lvl2pPr>
            <a:lvl3pPr marL="1371600" lvl="2" indent="-228600" algn="l">
              <a:spcBef>
                <a:spcPts val="500"/>
              </a:spcBef>
              <a:spcAft>
                <a:spcPts val="0"/>
              </a:spcAft>
              <a:buSzPts val="1216"/>
              <a:buNone/>
              <a:defRPr sz="1600">
                <a:solidFill>
                  <a:schemeClr val="lt1"/>
                </a:solidFill>
              </a:defRPr>
            </a:lvl3pPr>
            <a:lvl4pPr marL="1828800" lvl="3" indent="-228600" algn="l">
              <a:spcBef>
                <a:spcPts val="400"/>
              </a:spcBef>
              <a:spcAft>
                <a:spcPts val="0"/>
              </a:spcAft>
              <a:buSzPts val="980"/>
              <a:buNone/>
              <a:defRPr sz="1400">
                <a:solidFill>
                  <a:schemeClr val="lt1"/>
                </a:solidFill>
              </a:defRPr>
            </a:lvl4pPr>
            <a:lvl5pPr marL="2286000" lvl="4" indent="-228600" algn="l">
              <a:spcBef>
                <a:spcPts val="300"/>
              </a:spcBef>
              <a:spcAft>
                <a:spcPts val="0"/>
              </a:spcAft>
              <a:buSzPts val="980"/>
              <a:buNone/>
              <a:defRPr sz="1400">
                <a:solidFill>
                  <a:schemeClr val="lt1"/>
                </a:solidFill>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37" name="Google Shape;37;p24"/>
          <p:cNvSpPr txBox="1">
            <a:spLocks noGrp="1"/>
          </p:cNvSpPr>
          <p:nvPr>
            <p:ph type="dt" idx="10"/>
          </p:nvPr>
        </p:nvSpPr>
        <p:spPr>
          <a:xfrm>
            <a:off x="6400800" y="6355080"/>
            <a:ext cx="2286000"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4"/>
          <p:cNvSpPr txBox="1">
            <a:spLocks noGrp="1"/>
          </p:cNvSpPr>
          <p:nvPr>
            <p:ph type="ftr" idx="11"/>
          </p:nvPr>
        </p:nvSpPr>
        <p:spPr>
          <a:xfrm>
            <a:off x="2898648" y="6355080"/>
            <a:ext cx="3474720" cy="36576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4"/>
          <p:cNvSpPr txBox="1">
            <a:spLocks noGrp="1"/>
          </p:cNvSpPr>
          <p:nvPr>
            <p:ph type="sldNum" idx="12"/>
          </p:nvPr>
        </p:nvSpPr>
        <p:spPr>
          <a:xfrm>
            <a:off x="1069848" y="6355080"/>
            <a:ext cx="1520952"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40" name="Google Shape;40;p24"/>
          <p:cNvSpPr/>
          <p:nvPr/>
        </p:nvSpPr>
        <p:spPr>
          <a:xfrm>
            <a:off x="914400" y="2819400"/>
            <a:ext cx="7315200" cy="1280160"/>
          </a:xfrm>
          <a:prstGeom prst="rect">
            <a:avLst/>
          </a:prstGeom>
          <a:noFill/>
          <a:ln w="9525" cap="rnd"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41" name="Google Shape;41;p24"/>
          <p:cNvSpPr/>
          <p:nvPr/>
        </p:nvSpPr>
        <p:spPr>
          <a:xfrm>
            <a:off x="914400" y="2819400"/>
            <a:ext cx="228600" cy="128016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2"/>
        <p:cNvGrpSpPr/>
        <p:nvPr/>
      </p:nvGrpSpPr>
      <p:grpSpPr>
        <a:xfrm>
          <a:off x="0" y="0"/>
          <a:ext cx="0" cy="0"/>
          <a:chOff x="0" y="0"/>
          <a:chExt cx="0" cy="0"/>
        </a:xfrm>
      </p:grpSpPr>
      <p:sp>
        <p:nvSpPr>
          <p:cNvPr id="43" name="Google Shape;43;p25"/>
          <p:cNvSpPr txBox="1">
            <a:spLocks noGrp="1"/>
          </p:cNvSpPr>
          <p:nvPr>
            <p:ph type="title"/>
          </p:nvPr>
        </p:nvSpPr>
        <p:spPr>
          <a:xfrm>
            <a:off x="457200" y="228600"/>
            <a:ext cx="8229600" cy="9144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25"/>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25"/>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25"/>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47" name="Google Shape;47;p25"/>
          <p:cNvSpPr txBox="1">
            <a:spLocks noGrp="1"/>
          </p:cNvSpPr>
          <p:nvPr>
            <p:ph type="body" idx="1"/>
          </p:nvPr>
        </p:nvSpPr>
        <p:spPr>
          <a:xfrm>
            <a:off x="457200" y="1219200"/>
            <a:ext cx="4041648" cy="493776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48" name="Google Shape;48;p25"/>
          <p:cNvSpPr txBox="1">
            <a:spLocks noGrp="1"/>
          </p:cNvSpPr>
          <p:nvPr>
            <p:ph type="body" idx="2"/>
          </p:nvPr>
        </p:nvSpPr>
        <p:spPr>
          <a:xfrm>
            <a:off x="4632198" y="1216152"/>
            <a:ext cx="4041648" cy="493776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9"/>
        <p:cNvGrpSpPr/>
        <p:nvPr/>
      </p:nvGrpSpPr>
      <p:grpSpPr>
        <a:xfrm>
          <a:off x="0" y="0"/>
          <a:ext cx="0" cy="0"/>
          <a:chOff x="0" y="0"/>
          <a:chExt cx="0" cy="0"/>
        </a:xfrm>
      </p:grpSpPr>
      <p:sp>
        <p:nvSpPr>
          <p:cNvPr id="50" name="Google Shape;50;p26"/>
          <p:cNvSpPr txBox="1">
            <a:spLocks noGrp="1"/>
          </p:cNvSpPr>
          <p:nvPr>
            <p:ph type="title"/>
          </p:nvPr>
        </p:nvSpPr>
        <p:spPr>
          <a:xfrm>
            <a:off x="457200" y="228600"/>
            <a:ext cx="8229600" cy="9144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3200"/>
              <a:buFont typeface="Bookman Old Style"/>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6"/>
          <p:cNvSpPr txBox="1">
            <a:spLocks noGrp="1"/>
          </p:cNvSpPr>
          <p:nvPr>
            <p:ph type="body" idx="1"/>
          </p:nvPr>
        </p:nvSpPr>
        <p:spPr>
          <a:xfrm>
            <a:off x="457200" y="1285875"/>
            <a:ext cx="4040188" cy="685800"/>
          </a:xfrm>
          <a:prstGeom prst="rect">
            <a:avLst/>
          </a:prstGeom>
          <a:noFill/>
          <a:ln>
            <a:noFill/>
          </a:ln>
        </p:spPr>
        <p:txBody>
          <a:bodyPr spcFirstLastPara="1" wrap="square" lIns="91425" tIns="45700" rIns="91425" bIns="45700" anchor="b" anchorCtr="0">
            <a:noAutofit/>
          </a:bodyPr>
          <a:lstStyle>
            <a:lvl1pPr marL="457200" lvl="0" indent="-228600" algn="l">
              <a:spcBef>
                <a:spcPts val="600"/>
              </a:spcBef>
              <a:spcAft>
                <a:spcPts val="0"/>
              </a:spcAft>
              <a:buSzPts val="1824"/>
              <a:buNone/>
              <a:defRPr sz="2400" b="1">
                <a:solidFill>
                  <a:schemeClr val="accent2"/>
                </a:solidFill>
              </a:defRPr>
            </a:lvl1pPr>
            <a:lvl2pPr marL="914400" lvl="1" indent="-228600" algn="l">
              <a:spcBef>
                <a:spcPts val="500"/>
              </a:spcBef>
              <a:spcAft>
                <a:spcPts val="0"/>
              </a:spcAft>
              <a:buSzPts val="1520"/>
              <a:buNone/>
              <a:defRPr sz="2000" b="1"/>
            </a:lvl2pPr>
            <a:lvl3pPr marL="1371600" lvl="2" indent="-228600" algn="l">
              <a:spcBef>
                <a:spcPts val="500"/>
              </a:spcBef>
              <a:spcAft>
                <a:spcPts val="0"/>
              </a:spcAft>
              <a:buSzPts val="1368"/>
              <a:buNone/>
              <a:defRPr sz="1800" b="1"/>
            </a:lvl3pPr>
            <a:lvl4pPr marL="1828800" lvl="3" indent="-228600" algn="l">
              <a:spcBef>
                <a:spcPts val="400"/>
              </a:spcBef>
              <a:spcAft>
                <a:spcPts val="0"/>
              </a:spcAft>
              <a:buSzPts val="1120"/>
              <a:buNone/>
              <a:defRPr sz="1600" b="1"/>
            </a:lvl4pPr>
            <a:lvl5pPr marL="2286000" lvl="4" indent="-228600" algn="l">
              <a:spcBef>
                <a:spcPts val="300"/>
              </a:spcBef>
              <a:spcAft>
                <a:spcPts val="0"/>
              </a:spcAft>
              <a:buSzPts val="1120"/>
              <a:buNone/>
              <a:defRPr sz="1600" b="1"/>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52" name="Google Shape;52;p26"/>
          <p:cNvSpPr txBox="1">
            <a:spLocks noGrp="1"/>
          </p:cNvSpPr>
          <p:nvPr>
            <p:ph type="body" idx="2"/>
          </p:nvPr>
        </p:nvSpPr>
        <p:spPr>
          <a:xfrm>
            <a:off x="4648200" y="1295400"/>
            <a:ext cx="4041775" cy="685800"/>
          </a:xfrm>
          <a:prstGeom prst="rect">
            <a:avLst/>
          </a:prstGeom>
          <a:noFill/>
          <a:ln>
            <a:noFill/>
          </a:ln>
        </p:spPr>
        <p:txBody>
          <a:bodyPr spcFirstLastPara="1" wrap="square" lIns="91425" tIns="45700" rIns="91425" bIns="45700" anchor="b" anchorCtr="0">
            <a:normAutofit/>
          </a:bodyPr>
          <a:lstStyle>
            <a:lvl1pPr marL="457200" lvl="0" indent="-228600" algn="l">
              <a:spcBef>
                <a:spcPts val="600"/>
              </a:spcBef>
              <a:spcAft>
                <a:spcPts val="0"/>
              </a:spcAft>
              <a:buSzPts val="1824"/>
              <a:buNone/>
              <a:defRPr sz="2400" b="1">
                <a:solidFill>
                  <a:schemeClr val="accent2"/>
                </a:solidFill>
              </a:defRPr>
            </a:lvl1pPr>
            <a:lvl2pPr marL="914400" lvl="1" indent="-228600" algn="l">
              <a:spcBef>
                <a:spcPts val="500"/>
              </a:spcBef>
              <a:spcAft>
                <a:spcPts val="0"/>
              </a:spcAft>
              <a:buSzPts val="1520"/>
              <a:buNone/>
              <a:defRPr sz="2000" b="1"/>
            </a:lvl2pPr>
            <a:lvl3pPr marL="1371600" lvl="2" indent="-228600" algn="l">
              <a:spcBef>
                <a:spcPts val="500"/>
              </a:spcBef>
              <a:spcAft>
                <a:spcPts val="0"/>
              </a:spcAft>
              <a:buSzPts val="1368"/>
              <a:buNone/>
              <a:defRPr sz="1800" b="1"/>
            </a:lvl3pPr>
            <a:lvl4pPr marL="1828800" lvl="3" indent="-228600" algn="l">
              <a:spcBef>
                <a:spcPts val="400"/>
              </a:spcBef>
              <a:spcAft>
                <a:spcPts val="0"/>
              </a:spcAft>
              <a:buSzPts val="1120"/>
              <a:buNone/>
              <a:defRPr sz="1600" b="1"/>
            </a:lvl4pPr>
            <a:lvl5pPr marL="2286000" lvl="4" indent="-228600" algn="l">
              <a:spcBef>
                <a:spcPts val="300"/>
              </a:spcBef>
              <a:spcAft>
                <a:spcPts val="0"/>
              </a:spcAft>
              <a:buSzPts val="1120"/>
              <a:buNone/>
              <a:defRPr sz="1600" b="1"/>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53" name="Google Shape;53;p26"/>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26"/>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26"/>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56" name="Google Shape;56;p26"/>
          <p:cNvSpPr txBox="1">
            <a:spLocks noGrp="1"/>
          </p:cNvSpPr>
          <p:nvPr>
            <p:ph type="body" idx="3"/>
          </p:nvPr>
        </p:nvSpPr>
        <p:spPr>
          <a:xfrm>
            <a:off x="457200" y="2133600"/>
            <a:ext cx="4038600" cy="403860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57" name="Google Shape;57;p26"/>
          <p:cNvSpPr txBox="1">
            <a:spLocks noGrp="1"/>
          </p:cNvSpPr>
          <p:nvPr>
            <p:ph type="body" idx="4"/>
          </p:nvPr>
        </p:nvSpPr>
        <p:spPr>
          <a:xfrm>
            <a:off x="4648200" y="2133600"/>
            <a:ext cx="4038600" cy="403860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8"/>
        <p:cNvGrpSpPr/>
        <p:nvPr/>
      </p:nvGrpSpPr>
      <p:grpSpPr>
        <a:xfrm>
          <a:off x="0" y="0"/>
          <a:ext cx="0" cy="0"/>
          <a:chOff x="0" y="0"/>
          <a:chExt cx="0" cy="0"/>
        </a:xfrm>
      </p:grpSpPr>
      <p:sp>
        <p:nvSpPr>
          <p:cNvPr id="59" name="Google Shape;59;p27"/>
          <p:cNvSpPr txBox="1">
            <a:spLocks noGrp="1"/>
          </p:cNvSpPr>
          <p:nvPr>
            <p:ph type="title"/>
          </p:nvPr>
        </p:nvSpPr>
        <p:spPr>
          <a:xfrm>
            <a:off x="457200" y="228600"/>
            <a:ext cx="8229600" cy="9144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7"/>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27"/>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27"/>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63" name="Google Shape;63;p27"/>
          <p:cNvSpPr/>
          <p:nvPr/>
        </p:nvSpPr>
        <p:spPr>
          <a:xfrm rot="5400000">
            <a:off x="419100" y="6467475"/>
            <a:ext cx="190849"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64"/>
        <p:cNvGrpSpPr/>
        <p:nvPr/>
      </p:nvGrpSpPr>
      <p:grpSpPr>
        <a:xfrm>
          <a:off x="0" y="0"/>
          <a:ext cx="0" cy="0"/>
          <a:chOff x="0" y="0"/>
          <a:chExt cx="0" cy="0"/>
        </a:xfrm>
      </p:grpSpPr>
      <p:sp>
        <p:nvSpPr>
          <p:cNvPr id="65" name="Google Shape;65;p28"/>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8"/>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8"/>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cxnSp>
        <p:nvCxnSpPr>
          <p:cNvPr id="68" name="Google Shape;68;p28"/>
          <p:cNvCxnSpPr/>
          <p:nvPr/>
        </p:nvCxnSpPr>
        <p:spPr>
          <a:xfrm>
            <a:off x="457200" y="6353175"/>
            <a:ext cx="8229600" cy="0"/>
          </a:xfrm>
          <a:prstGeom prst="straightConnector1">
            <a:avLst/>
          </a:prstGeom>
          <a:noFill/>
          <a:ln w="9525" cap="flat" cmpd="sng">
            <a:solidFill>
              <a:schemeClr val="accent2"/>
            </a:solidFill>
            <a:prstDash val="dash"/>
            <a:round/>
            <a:headEnd type="none" w="sm" len="sm"/>
            <a:tailEnd type="none" w="sm" len="sm"/>
          </a:ln>
        </p:spPr>
      </p:cxnSp>
      <p:sp>
        <p:nvSpPr>
          <p:cNvPr id="69" name="Google Shape;69;p28"/>
          <p:cNvSpPr/>
          <p:nvPr/>
        </p:nvSpPr>
        <p:spPr>
          <a:xfrm rot="5400000">
            <a:off x="419100" y="6467475"/>
            <a:ext cx="190849"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70"/>
        <p:cNvGrpSpPr/>
        <p:nvPr/>
      </p:nvGrpSpPr>
      <p:grpSpPr>
        <a:xfrm>
          <a:off x="0" y="0"/>
          <a:ext cx="0" cy="0"/>
          <a:chOff x="0" y="0"/>
          <a:chExt cx="0" cy="0"/>
        </a:xfrm>
      </p:grpSpPr>
      <p:sp>
        <p:nvSpPr>
          <p:cNvPr id="71" name="Google Shape;71;p29"/>
          <p:cNvSpPr txBox="1">
            <a:spLocks noGrp="1"/>
          </p:cNvSpPr>
          <p:nvPr>
            <p:ph type="title"/>
          </p:nvPr>
        </p:nvSpPr>
        <p:spPr>
          <a:xfrm>
            <a:off x="6324600" y="304800"/>
            <a:ext cx="2514600" cy="838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dk2"/>
              </a:buClr>
              <a:buSzPts val="2000"/>
              <a:buFont typeface="Gill Sans"/>
              <a:buNone/>
              <a:defRPr sz="2000" b="1">
                <a:solidFill>
                  <a:schemeClr val="dk2"/>
                </a:solidFill>
                <a:latin typeface="Gill Sans"/>
                <a:ea typeface="Gill Sans"/>
                <a:cs typeface="Gill Sans"/>
                <a:sym typeface="Gill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29"/>
          <p:cNvSpPr txBox="1">
            <a:spLocks noGrp="1"/>
          </p:cNvSpPr>
          <p:nvPr>
            <p:ph type="body" idx="1"/>
          </p:nvPr>
        </p:nvSpPr>
        <p:spPr>
          <a:xfrm>
            <a:off x="6324600" y="1219200"/>
            <a:ext cx="2514600" cy="4843463"/>
          </a:xfrm>
          <a:prstGeom prst="rect">
            <a:avLst/>
          </a:prstGeom>
          <a:noFill/>
          <a:ln>
            <a:noFill/>
          </a:ln>
        </p:spPr>
        <p:txBody>
          <a:bodyPr spcFirstLastPara="1" wrap="square" lIns="91425" tIns="45700" rIns="91425" bIns="45700" anchor="t" anchorCtr="0">
            <a:normAutofit/>
          </a:bodyPr>
          <a:lstStyle>
            <a:lvl1pPr marL="457200" lvl="0" indent="-228600" algn="l">
              <a:lnSpc>
                <a:spcPct val="137500"/>
              </a:lnSpc>
              <a:spcBef>
                <a:spcPts val="600"/>
              </a:spcBef>
              <a:spcAft>
                <a:spcPts val="0"/>
              </a:spcAft>
              <a:buSzPts val="1216"/>
              <a:buNone/>
              <a:defRPr sz="1600">
                <a:solidFill>
                  <a:schemeClr val="dk2"/>
                </a:solidFill>
              </a:defRPr>
            </a:lvl1pPr>
            <a:lvl2pPr marL="914400" lvl="1" indent="-228600" algn="l">
              <a:spcBef>
                <a:spcPts val="1000"/>
              </a:spcBef>
              <a:spcAft>
                <a:spcPts val="0"/>
              </a:spcAft>
              <a:buSzPts val="912"/>
              <a:buNone/>
              <a:defRPr sz="1200"/>
            </a:lvl2pPr>
            <a:lvl3pPr marL="1371600" lvl="2" indent="-228600" algn="l">
              <a:spcBef>
                <a:spcPts val="500"/>
              </a:spcBef>
              <a:spcAft>
                <a:spcPts val="0"/>
              </a:spcAft>
              <a:buSzPts val="760"/>
              <a:buNone/>
              <a:defRPr sz="1000"/>
            </a:lvl3pPr>
            <a:lvl4pPr marL="1828800" lvl="3" indent="-228600" algn="l">
              <a:spcBef>
                <a:spcPts val="400"/>
              </a:spcBef>
              <a:spcAft>
                <a:spcPts val="0"/>
              </a:spcAft>
              <a:buSzPts val="630"/>
              <a:buNone/>
              <a:defRPr sz="900"/>
            </a:lvl4pPr>
            <a:lvl5pPr marL="2286000" lvl="4" indent="-228600" algn="l">
              <a:spcBef>
                <a:spcPts val="300"/>
              </a:spcBef>
              <a:spcAft>
                <a:spcPts val="0"/>
              </a:spcAft>
              <a:buSzPts val="630"/>
              <a:buNone/>
              <a:defRPr sz="900"/>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73" name="Google Shape;73;p29"/>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29"/>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29"/>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cxnSp>
        <p:nvCxnSpPr>
          <p:cNvPr id="76" name="Google Shape;76;p29"/>
          <p:cNvCxnSpPr/>
          <p:nvPr/>
        </p:nvCxnSpPr>
        <p:spPr>
          <a:xfrm>
            <a:off x="457200" y="6353175"/>
            <a:ext cx="8229600" cy="0"/>
          </a:xfrm>
          <a:prstGeom prst="straightConnector1">
            <a:avLst/>
          </a:prstGeom>
          <a:noFill/>
          <a:ln w="9525" cap="flat" cmpd="sng">
            <a:solidFill>
              <a:schemeClr val="accent2"/>
            </a:solidFill>
            <a:prstDash val="dash"/>
            <a:round/>
            <a:headEnd type="none" w="sm" len="sm"/>
            <a:tailEnd type="none" w="sm" len="sm"/>
          </a:ln>
        </p:spPr>
      </p:cxnSp>
      <p:cxnSp>
        <p:nvCxnSpPr>
          <p:cNvPr id="77" name="Google Shape;77;p29"/>
          <p:cNvCxnSpPr/>
          <p:nvPr/>
        </p:nvCxnSpPr>
        <p:spPr>
          <a:xfrm rot="5400000">
            <a:off x="3160645" y="3324225"/>
            <a:ext cx="6035040" cy="0"/>
          </a:xfrm>
          <a:prstGeom prst="straightConnector1">
            <a:avLst/>
          </a:prstGeom>
          <a:noFill/>
          <a:ln w="9525" cap="flat" cmpd="sng">
            <a:solidFill>
              <a:schemeClr val="accent2"/>
            </a:solidFill>
            <a:prstDash val="dash"/>
            <a:round/>
            <a:headEnd type="none" w="sm" len="sm"/>
            <a:tailEnd type="none" w="sm" len="sm"/>
          </a:ln>
        </p:spPr>
      </p:cxnSp>
      <p:sp>
        <p:nvSpPr>
          <p:cNvPr id="78" name="Google Shape;78;p29"/>
          <p:cNvSpPr/>
          <p:nvPr/>
        </p:nvSpPr>
        <p:spPr>
          <a:xfrm rot="5400000">
            <a:off x="419100" y="6467475"/>
            <a:ext cx="190849"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79" name="Google Shape;79;p29"/>
          <p:cNvSpPr txBox="1">
            <a:spLocks noGrp="1"/>
          </p:cNvSpPr>
          <p:nvPr>
            <p:ph type="body" idx="2"/>
          </p:nvPr>
        </p:nvSpPr>
        <p:spPr>
          <a:xfrm>
            <a:off x="304800" y="304800"/>
            <a:ext cx="5715000" cy="571500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bg>
      <p:bgPr>
        <a:solidFill>
          <a:schemeClr val="dk2"/>
        </a:solidFill>
        <a:effectLst/>
      </p:bgPr>
    </p:bg>
    <p:spTree>
      <p:nvGrpSpPr>
        <p:cNvPr id="1" name="Shape 80"/>
        <p:cNvGrpSpPr/>
        <p:nvPr/>
      </p:nvGrpSpPr>
      <p:grpSpPr>
        <a:xfrm>
          <a:off x="0" y="0"/>
          <a:ext cx="0" cy="0"/>
          <a:chOff x="0" y="0"/>
          <a:chExt cx="0" cy="0"/>
        </a:xfrm>
      </p:grpSpPr>
      <p:sp>
        <p:nvSpPr>
          <p:cNvPr id="81" name="Google Shape;81;p30"/>
          <p:cNvSpPr txBox="1">
            <a:spLocks noGrp="1"/>
          </p:cNvSpPr>
          <p:nvPr>
            <p:ph type="title"/>
          </p:nvPr>
        </p:nvSpPr>
        <p:spPr>
          <a:xfrm>
            <a:off x="457200" y="500856"/>
            <a:ext cx="8229600" cy="674688"/>
          </a:xfrm>
          <a:prstGeom prst="rect">
            <a:avLst/>
          </a:prstGeom>
          <a:noFill/>
          <a:ln w="9525" cap="flat" cmpd="sng">
            <a:solidFill>
              <a:schemeClr val="accent1"/>
            </a:solidFill>
            <a:prstDash val="solid"/>
            <a:round/>
            <a:headEnd type="none" w="sm" len="sm"/>
            <a:tailEnd type="none" w="sm" len="sm"/>
          </a:ln>
        </p:spPr>
        <p:txBody>
          <a:bodyPr spcFirstLastPara="1" wrap="square" lIns="274300" tIns="45700" rIns="91425" bIns="45700" anchor="ctr" anchorCtr="0">
            <a:normAutofit/>
          </a:bodyPr>
          <a:lstStyle>
            <a:lvl1pPr lvl="0" algn="r">
              <a:spcBef>
                <a:spcPts val="0"/>
              </a:spcBef>
              <a:spcAft>
                <a:spcPts val="0"/>
              </a:spcAft>
              <a:buClr>
                <a:schemeClr val="lt1"/>
              </a:buClr>
              <a:buSzPts val="2000"/>
              <a:buFont typeface="Bookman Old Style"/>
              <a:buNone/>
              <a:defRPr sz="2000"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30"/>
          <p:cNvSpPr>
            <a:spLocks noGrp="1"/>
          </p:cNvSpPr>
          <p:nvPr>
            <p:ph type="pic" idx="2"/>
          </p:nvPr>
        </p:nvSpPr>
        <p:spPr>
          <a:xfrm>
            <a:off x="457200" y="1905000"/>
            <a:ext cx="8229600" cy="4270248"/>
          </a:xfrm>
          <a:prstGeom prst="rect">
            <a:avLst/>
          </a:prstGeom>
          <a:solidFill>
            <a:srgbClr val="BABABA"/>
          </a:solidFill>
          <a:ln>
            <a:noFill/>
          </a:ln>
        </p:spPr>
      </p:sp>
      <p:sp>
        <p:nvSpPr>
          <p:cNvPr id="83" name="Google Shape;83;p30"/>
          <p:cNvSpPr txBox="1">
            <a:spLocks noGrp="1"/>
          </p:cNvSpPr>
          <p:nvPr>
            <p:ph type="body" idx="1"/>
          </p:nvPr>
        </p:nvSpPr>
        <p:spPr>
          <a:xfrm>
            <a:off x="457200" y="1219200"/>
            <a:ext cx="8229600" cy="533400"/>
          </a:xfrm>
          <a:prstGeom prst="rect">
            <a:avLst/>
          </a:prstGeom>
          <a:noFill/>
          <a:ln>
            <a:noFill/>
          </a:ln>
        </p:spPr>
        <p:txBody>
          <a:bodyPr spcFirstLastPara="1" wrap="square" lIns="91425" tIns="45700" rIns="91425" bIns="45700" anchor="ctr" anchorCtr="0">
            <a:normAutofit/>
          </a:bodyPr>
          <a:lstStyle>
            <a:lvl1pPr marL="457200" lvl="0" indent="-228600" algn="l">
              <a:spcBef>
                <a:spcPts val="600"/>
              </a:spcBef>
              <a:spcAft>
                <a:spcPts val="0"/>
              </a:spcAft>
              <a:buSzPts val="1064"/>
              <a:buFont typeface="Gill Sans"/>
              <a:buNone/>
              <a:defRPr sz="1400"/>
            </a:lvl1pPr>
            <a:lvl2pPr marL="914400" lvl="1" indent="-286512" algn="l">
              <a:spcBef>
                <a:spcPts val="500"/>
              </a:spcBef>
              <a:spcAft>
                <a:spcPts val="0"/>
              </a:spcAft>
              <a:buSzPts val="912"/>
              <a:buChar char="🞂"/>
              <a:defRPr sz="1200"/>
            </a:lvl2pPr>
            <a:lvl3pPr marL="1371600" lvl="2" indent="-276860" algn="l">
              <a:spcBef>
                <a:spcPts val="500"/>
              </a:spcBef>
              <a:spcAft>
                <a:spcPts val="0"/>
              </a:spcAft>
              <a:buSzPts val="760"/>
              <a:buChar char="🞂"/>
              <a:defRPr sz="1000"/>
            </a:lvl3pPr>
            <a:lvl4pPr marL="1828800" lvl="3" indent="-268605" algn="l">
              <a:spcBef>
                <a:spcPts val="400"/>
              </a:spcBef>
              <a:spcAft>
                <a:spcPts val="0"/>
              </a:spcAft>
              <a:buSzPts val="630"/>
              <a:buChar char="◻"/>
              <a:defRPr sz="900"/>
            </a:lvl4pPr>
            <a:lvl5pPr marL="2286000" lvl="4" indent="-268604" algn="l">
              <a:spcBef>
                <a:spcPts val="300"/>
              </a:spcBef>
              <a:spcAft>
                <a:spcPts val="0"/>
              </a:spcAft>
              <a:buSzPts val="630"/>
              <a:buChar char="◻"/>
              <a:defRPr sz="900"/>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84" name="Google Shape;84;p30"/>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30"/>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30"/>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cxnSp>
        <p:nvCxnSpPr>
          <p:cNvPr id="87" name="Google Shape;87;p30"/>
          <p:cNvCxnSpPr/>
          <p:nvPr/>
        </p:nvCxnSpPr>
        <p:spPr>
          <a:xfrm>
            <a:off x="457200" y="6353175"/>
            <a:ext cx="8229600" cy="0"/>
          </a:xfrm>
          <a:prstGeom prst="straightConnector1">
            <a:avLst/>
          </a:prstGeom>
          <a:noFill/>
          <a:ln w="9525" cap="flat" cmpd="sng">
            <a:solidFill>
              <a:schemeClr val="accent2"/>
            </a:solidFill>
            <a:prstDash val="dash"/>
            <a:round/>
            <a:headEnd type="none" w="sm" len="sm"/>
            <a:tailEnd type="none" w="sm" len="sm"/>
          </a:ln>
        </p:spPr>
      </p:cxnSp>
      <p:sp>
        <p:nvSpPr>
          <p:cNvPr id="88" name="Google Shape;88;p30"/>
          <p:cNvSpPr/>
          <p:nvPr/>
        </p:nvSpPr>
        <p:spPr>
          <a:xfrm rot="5400000">
            <a:off x="419100" y="6467475"/>
            <a:ext cx="190849"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89" name="Google Shape;89;p30"/>
          <p:cNvSpPr/>
          <p:nvPr/>
        </p:nvSpPr>
        <p:spPr>
          <a:xfrm>
            <a:off x="457200" y="500856"/>
            <a:ext cx="182880" cy="6858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0"/>
        <p:cNvGrpSpPr/>
        <p:nvPr/>
      </p:nvGrpSpPr>
      <p:grpSpPr>
        <a:xfrm>
          <a:off x="0" y="0"/>
          <a:ext cx="0" cy="0"/>
          <a:chOff x="0" y="0"/>
          <a:chExt cx="0" cy="0"/>
        </a:xfrm>
      </p:grpSpPr>
      <p:sp>
        <p:nvSpPr>
          <p:cNvPr id="91" name="Google Shape;91;p31"/>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31"/>
          <p:cNvSpPr txBox="1">
            <a:spLocks noGrp="1"/>
          </p:cNvSpPr>
          <p:nvPr>
            <p:ph type="body" idx="1"/>
          </p:nvPr>
        </p:nvSpPr>
        <p:spPr>
          <a:xfrm rot="5400000">
            <a:off x="2116836" y="-440436"/>
            <a:ext cx="4910328" cy="822960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93" name="Google Shape;93;p31"/>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31"/>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31"/>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96"/>
        <p:cNvGrpSpPr/>
        <p:nvPr/>
      </p:nvGrpSpPr>
      <p:grpSpPr>
        <a:xfrm>
          <a:off x="0" y="0"/>
          <a:ext cx="0" cy="0"/>
          <a:chOff x="0" y="0"/>
          <a:chExt cx="0" cy="0"/>
        </a:xfrm>
      </p:grpSpPr>
      <p:sp>
        <p:nvSpPr>
          <p:cNvPr id="97" name="Google Shape;97;p3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p3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99" name="Google Shape;99;p32"/>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32"/>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32"/>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cxnSp>
        <p:nvCxnSpPr>
          <p:cNvPr id="102" name="Google Shape;102;p32"/>
          <p:cNvCxnSpPr/>
          <p:nvPr/>
        </p:nvCxnSpPr>
        <p:spPr>
          <a:xfrm>
            <a:off x="457200" y="6353175"/>
            <a:ext cx="8229600" cy="0"/>
          </a:xfrm>
          <a:prstGeom prst="straightConnector1">
            <a:avLst/>
          </a:prstGeom>
          <a:noFill/>
          <a:ln w="9525" cap="flat" cmpd="sng">
            <a:solidFill>
              <a:schemeClr val="accent2"/>
            </a:solidFill>
            <a:prstDash val="dash"/>
            <a:round/>
            <a:headEnd type="none" w="sm" len="sm"/>
            <a:tailEnd type="none" w="sm" len="sm"/>
          </a:ln>
        </p:spPr>
      </p:cxnSp>
      <p:sp>
        <p:nvSpPr>
          <p:cNvPr id="103" name="Google Shape;103;p32"/>
          <p:cNvSpPr/>
          <p:nvPr/>
        </p:nvSpPr>
        <p:spPr>
          <a:xfrm rot="5400000">
            <a:off x="419100" y="6467475"/>
            <a:ext cx="190849"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cxnSp>
        <p:nvCxnSpPr>
          <p:cNvPr id="104" name="Google Shape;104;p32"/>
          <p:cNvCxnSpPr/>
          <p:nvPr/>
        </p:nvCxnSpPr>
        <p:spPr>
          <a:xfrm rot="5400000">
            <a:off x="3629607" y="3201952"/>
            <a:ext cx="5852160" cy="0"/>
          </a:xfrm>
          <a:prstGeom prst="straightConnector1">
            <a:avLst/>
          </a:prstGeom>
          <a:noFill/>
          <a:ln w="9525" cap="flat" cmpd="sng">
            <a:solidFill>
              <a:schemeClr val="accent2"/>
            </a:solidFill>
            <a:prstDash val="dash"/>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1"/>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lvl1pPr marR="0" lvl="0" algn="l" rtl="0">
              <a:spcBef>
                <a:spcPts val="0"/>
              </a:spcBef>
              <a:spcAft>
                <a:spcPts val="0"/>
              </a:spcAft>
              <a:buClr>
                <a:schemeClr val="dk2"/>
              </a:buClr>
              <a:buSzPts val="3200"/>
              <a:buFont typeface="Bookman Old Style"/>
              <a:buNone/>
              <a:defRPr sz="3200" b="0" i="0" u="none" strike="noStrike" cap="none">
                <a:solidFill>
                  <a:schemeClr val="dk2"/>
                </a:solidFill>
                <a:latin typeface="Bookman Old Style"/>
                <a:ea typeface="Bookman Old Style"/>
                <a:cs typeface="Bookman Old Style"/>
                <a:sym typeface="Bookman Old Styl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1"/>
          <p:cNvSpPr txBox="1">
            <a:spLocks noGrp="1"/>
          </p:cNvSpPr>
          <p:nvPr>
            <p:ph type="body" idx="1"/>
          </p:nvPr>
        </p:nvSpPr>
        <p:spPr>
          <a:xfrm>
            <a:off x="457200" y="1219200"/>
            <a:ext cx="8229600" cy="4910328"/>
          </a:xfrm>
          <a:prstGeom prst="rect">
            <a:avLst/>
          </a:prstGeom>
          <a:noFill/>
          <a:ln>
            <a:noFill/>
          </a:ln>
        </p:spPr>
        <p:txBody>
          <a:bodyPr spcFirstLastPara="1" wrap="square" lIns="91425" tIns="45700" rIns="91425" bIns="45700" anchor="t" anchorCtr="0">
            <a:normAutofit/>
          </a:bodyPr>
          <a:lstStyle>
            <a:lvl1pPr marL="457200" marR="0" lvl="0" indent="-354076" algn="l" rtl="0">
              <a:spcBef>
                <a:spcPts val="600"/>
              </a:spcBef>
              <a:spcAft>
                <a:spcPts val="0"/>
              </a:spcAft>
              <a:buClr>
                <a:schemeClr val="accent1"/>
              </a:buClr>
              <a:buSzPts val="1976"/>
              <a:buFont typeface="Noto Sans Symbols"/>
              <a:buChar char="🞂"/>
              <a:defRPr sz="2600" b="0" i="0" u="none" strike="noStrike" cap="none">
                <a:solidFill>
                  <a:schemeClr val="dk1"/>
                </a:solidFill>
                <a:latin typeface="Gill Sans"/>
                <a:ea typeface="Gill Sans"/>
                <a:cs typeface="Gill Sans"/>
                <a:sym typeface="Gill Sans"/>
              </a:defRPr>
            </a:lvl1pPr>
            <a:lvl2pPr marL="914400" marR="0" lvl="1" indent="-339597" algn="l" rtl="0">
              <a:spcBef>
                <a:spcPts val="500"/>
              </a:spcBef>
              <a:spcAft>
                <a:spcPts val="0"/>
              </a:spcAft>
              <a:buClr>
                <a:schemeClr val="accent2"/>
              </a:buClr>
              <a:buSzPts val="1748"/>
              <a:buFont typeface="Noto Sans Symbols"/>
              <a:buChar char="🞂"/>
              <a:defRPr sz="2300" b="0" i="0" u="none" strike="noStrike" cap="none">
                <a:solidFill>
                  <a:schemeClr val="dk2"/>
                </a:solidFill>
                <a:latin typeface="Gill Sans"/>
                <a:ea typeface="Gill Sans"/>
                <a:cs typeface="Gill Sans"/>
                <a:sym typeface="Gill Sans"/>
              </a:defRPr>
            </a:lvl2pPr>
            <a:lvl3pPr marL="1371600" marR="0" lvl="2" indent="-325119" algn="l" rtl="0">
              <a:spcBef>
                <a:spcPts val="500"/>
              </a:spcBef>
              <a:spcAft>
                <a:spcPts val="0"/>
              </a:spcAft>
              <a:buClr>
                <a:srgbClr val="BABABA"/>
              </a:buClr>
              <a:buSzPts val="1520"/>
              <a:buFont typeface="Noto Sans Symbols"/>
              <a:buChar char="🞂"/>
              <a:defRPr sz="2000" b="0" i="0" u="none" strike="noStrike" cap="none">
                <a:solidFill>
                  <a:schemeClr val="dk1"/>
                </a:solidFill>
                <a:latin typeface="Gill Sans"/>
                <a:ea typeface="Gill Sans"/>
                <a:cs typeface="Gill Sans"/>
                <a:sym typeface="Gill Sans"/>
              </a:defRPr>
            </a:lvl3pPr>
            <a:lvl4pPr marL="1828800" marR="0" lvl="3" indent="-308610" algn="l" rtl="0">
              <a:spcBef>
                <a:spcPts val="400"/>
              </a:spcBef>
              <a:spcAft>
                <a:spcPts val="0"/>
              </a:spcAft>
              <a:buClr>
                <a:srgbClr val="A84643"/>
              </a:buClr>
              <a:buSzPts val="1260"/>
              <a:buFont typeface="Noto Sans Symbols"/>
              <a:buChar char="◻"/>
              <a:defRPr sz="1800" b="0" i="0" u="none" strike="noStrike" cap="none">
                <a:solidFill>
                  <a:schemeClr val="dk1"/>
                </a:solidFill>
                <a:latin typeface="Gill Sans"/>
                <a:ea typeface="Gill Sans"/>
                <a:cs typeface="Gill Sans"/>
                <a:sym typeface="Gill Sans"/>
              </a:defRPr>
            </a:lvl4pPr>
            <a:lvl5pPr marL="2286000" marR="0" lvl="4" indent="-299720" algn="l" rtl="0">
              <a:spcBef>
                <a:spcPts val="300"/>
              </a:spcBef>
              <a:spcAft>
                <a:spcPts val="0"/>
              </a:spcAft>
              <a:buClr>
                <a:schemeClr val="accent2"/>
              </a:buClr>
              <a:buSzPts val="1120"/>
              <a:buFont typeface="Noto Sans Symbols"/>
              <a:buChar char="◻"/>
              <a:defRPr sz="1600" b="0" i="0" u="none" strike="noStrike" cap="none">
                <a:solidFill>
                  <a:schemeClr val="dk1"/>
                </a:solidFill>
                <a:latin typeface="Gill Sans"/>
                <a:ea typeface="Gill Sans"/>
                <a:cs typeface="Gill Sans"/>
                <a:sym typeface="Gill Sans"/>
              </a:defRPr>
            </a:lvl5pPr>
            <a:lvl6pPr marL="2743200" marR="0" lvl="5" indent="-304800" algn="l" rtl="0">
              <a:spcBef>
                <a:spcPts val="300"/>
              </a:spcBef>
              <a:spcAft>
                <a:spcPts val="0"/>
              </a:spcAft>
              <a:buClr>
                <a:srgbClr val="8BA1B3"/>
              </a:buClr>
              <a:buSzPts val="1200"/>
              <a:buFont typeface="Noto Sans Symbols"/>
              <a:buChar char="🞂"/>
              <a:defRPr sz="1600" b="0" i="0" u="none" strike="noStrike" cap="none">
                <a:solidFill>
                  <a:schemeClr val="dk1"/>
                </a:solidFill>
                <a:latin typeface="Gill Sans"/>
                <a:ea typeface="Gill Sans"/>
                <a:cs typeface="Gill Sans"/>
                <a:sym typeface="Gill Sans"/>
              </a:defRPr>
            </a:lvl6pPr>
            <a:lvl7pPr marL="3200400" marR="0" lvl="6" indent="-295275" algn="l" rtl="0">
              <a:spcBef>
                <a:spcPts val="300"/>
              </a:spcBef>
              <a:spcAft>
                <a:spcPts val="0"/>
              </a:spcAft>
              <a:buClr>
                <a:srgbClr val="646C8F"/>
              </a:buClr>
              <a:buSzPts val="1050"/>
              <a:buFont typeface="Noto Sans Symbols"/>
              <a:buChar char="🞂"/>
              <a:defRPr sz="1400" b="0" i="0" u="none" strike="noStrike" cap="none">
                <a:solidFill>
                  <a:schemeClr val="dk1"/>
                </a:solidFill>
                <a:latin typeface="Gill Sans"/>
                <a:ea typeface="Gill Sans"/>
                <a:cs typeface="Gill Sans"/>
                <a:sym typeface="Gill Sans"/>
              </a:defRPr>
            </a:lvl7pPr>
            <a:lvl8pPr marL="3657600" marR="0" lvl="7" indent="-295275" algn="l" rtl="0">
              <a:spcBef>
                <a:spcPts val="300"/>
              </a:spcBef>
              <a:spcAft>
                <a:spcPts val="0"/>
              </a:spcAft>
              <a:buClr>
                <a:srgbClr val="BABABA"/>
              </a:buClr>
              <a:buSzPts val="1050"/>
              <a:buFont typeface="Noto Sans Symbols"/>
              <a:buChar char="🞂"/>
              <a:defRPr sz="1400" b="0" i="0" u="none" strike="noStrike" cap="none">
                <a:solidFill>
                  <a:schemeClr val="dk1"/>
                </a:solidFill>
                <a:latin typeface="Gill Sans"/>
                <a:ea typeface="Gill Sans"/>
                <a:cs typeface="Gill Sans"/>
                <a:sym typeface="Gill Sans"/>
              </a:defRPr>
            </a:lvl8pPr>
            <a:lvl9pPr marL="4114800" marR="0" lvl="8" indent="-285750" algn="l" rtl="0">
              <a:spcBef>
                <a:spcPts val="300"/>
              </a:spcBef>
              <a:spcAft>
                <a:spcPts val="0"/>
              </a:spcAft>
              <a:buClr>
                <a:srgbClr val="9FB8CD"/>
              </a:buClr>
              <a:buSzPts val="900"/>
              <a:buFont typeface="Noto Sans Symbols"/>
              <a:buChar char="🞂"/>
              <a:defRPr sz="1200" b="0" i="0" u="none" strike="noStrike" cap="none">
                <a:solidFill>
                  <a:schemeClr val="dk1"/>
                </a:solidFill>
                <a:latin typeface="Gill Sans"/>
                <a:ea typeface="Gill Sans"/>
                <a:cs typeface="Gill Sans"/>
                <a:sym typeface="Gill Sans"/>
              </a:defRPr>
            </a:lvl9pPr>
          </a:lstStyle>
          <a:p>
            <a:endParaRPr/>
          </a:p>
        </p:txBody>
      </p:sp>
      <p:sp>
        <p:nvSpPr>
          <p:cNvPr id="12" name="Google Shape;12;p21"/>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400" b="0" i="0" u="none" strike="noStrike" cap="none">
                <a:solidFill>
                  <a:schemeClr val="dk2"/>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3" name="Google Shape;13;p21"/>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400" b="0" i="0" u="none" strike="noStrike" cap="none">
                <a:solidFill>
                  <a:schemeClr val="dk2"/>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4" name="Google Shape;14;p21"/>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400" b="0" i="0" u="none" strike="noStrike" cap="none">
                <a:solidFill>
                  <a:schemeClr val="dk2"/>
                </a:solidFill>
                <a:latin typeface="Gill Sans"/>
                <a:ea typeface="Gill Sans"/>
                <a:cs typeface="Gill Sans"/>
                <a:sym typeface="Gill Sans"/>
              </a:defRPr>
            </a:lvl1pPr>
            <a:lvl2pPr marL="0" marR="0" lvl="1" indent="0" algn="l" rtl="0">
              <a:spcBef>
                <a:spcPts val="0"/>
              </a:spcBef>
              <a:buNone/>
              <a:defRPr sz="1400" b="0" i="0" u="none" strike="noStrike" cap="none">
                <a:solidFill>
                  <a:schemeClr val="dk2"/>
                </a:solidFill>
                <a:latin typeface="Gill Sans"/>
                <a:ea typeface="Gill Sans"/>
                <a:cs typeface="Gill Sans"/>
                <a:sym typeface="Gill Sans"/>
              </a:defRPr>
            </a:lvl2pPr>
            <a:lvl3pPr marL="0" marR="0" lvl="2" indent="0" algn="l" rtl="0">
              <a:spcBef>
                <a:spcPts val="0"/>
              </a:spcBef>
              <a:buNone/>
              <a:defRPr sz="1400" b="0" i="0" u="none" strike="noStrike" cap="none">
                <a:solidFill>
                  <a:schemeClr val="dk2"/>
                </a:solidFill>
                <a:latin typeface="Gill Sans"/>
                <a:ea typeface="Gill Sans"/>
                <a:cs typeface="Gill Sans"/>
                <a:sym typeface="Gill Sans"/>
              </a:defRPr>
            </a:lvl3pPr>
            <a:lvl4pPr marL="0" marR="0" lvl="3" indent="0" algn="l" rtl="0">
              <a:spcBef>
                <a:spcPts val="0"/>
              </a:spcBef>
              <a:buNone/>
              <a:defRPr sz="1400" b="0" i="0" u="none" strike="noStrike" cap="none">
                <a:solidFill>
                  <a:schemeClr val="dk2"/>
                </a:solidFill>
                <a:latin typeface="Gill Sans"/>
                <a:ea typeface="Gill Sans"/>
                <a:cs typeface="Gill Sans"/>
                <a:sym typeface="Gill Sans"/>
              </a:defRPr>
            </a:lvl4pPr>
            <a:lvl5pPr marL="0" marR="0" lvl="4" indent="0" algn="l" rtl="0">
              <a:spcBef>
                <a:spcPts val="0"/>
              </a:spcBef>
              <a:buNone/>
              <a:defRPr sz="1400" b="0" i="0" u="none" strike="noStrike" cap="none">
                <a:solidFill>
                  <a:schemeClr val="dk2"/>
                </a:solidFill>
                <a:latin typeface="Gill Sans"/>
                <a:ea typeface="Gill Sans"/>
                <a:cs typeface="Gill Sans"/>
                <a:sym typeface="Gill Sans"/>
              </a:defRPr>
            </a:lvl5pPr>
            <a:lvl6pPr marL="0" marR="0" lvl="5" indent="0" algn="l" rtl="0">
              <a:spcBef>
                <a:spcPts val="0"/>
              </a:spcBef>
              <a:buNone/>
              <a:defRPr sz="1400" b="0" i="0" u="none" strike="noStrike" cap="none">
                <a:solidFill>
                  <a:schemeClr val="dk2"/>
                </a:solidFill>
                <a:latin typeface="Gill Sans"/>
                <a:ea typeface="Gill Sans"/>
                <a:cs typeface="Gill Sans"/>
                <a:sym typeface="Gill Sans"/>
              </a:defRPr>
            </a:lvl6pPr>
            <a:lvl7pPr marL="0" marR="0" lvl="6" indent="0" algn="l" rtl="0">
              <a:spcBef>
                <a:spcPts val="0"/>
              </a:spcBef>
              <a:buNone/>
              <a:defRPr sz="1400" b="0" i="0" u="none" strike="noStrike" cap="none">
                <a:solidFill>
                  <a:schemeClr val="dk2"/>
                </a:solidFill>
                <a:latin typeface="Gill Sans"/>
                <a:ea typeface="Gill Sans"/>
                <a:cs typeface="Gill Sans"/>
                <a:sym typeface="Gill Sans"/>
              </a:defRPr>
            </a:lvl7pPr>
            <a:lvl8pPr marL="0" marR="0" lvl="7" indent="0" algn="l" rtl="0">
              <a:spcBef>
                <a:spcPts val="0"/>
              </a:spcBef>
              <a:buNone/>
              <a:defRPr sz="1400" b="0" i="0" u="none" strike="noStrike" cap="none">
                <a:solidFill>
                  <a:schemeClr val="dk2"/>
                </a:solidFill>
                <a:latin typeface="Gill Sans"/>
                <a:ea typeface="Gill Sans"/>
                <a:cs typeface="Gill Sans"/>
                <a:sym typeface="Gill Sans"/>
              </a:defRPr>
            </a:lvl8pPr>
            <a:lvl9pPr marL="0" marR="0" lvl="8" indent="0" algn="l" rtl="0">
              <a:spcBef>
                <a:spcPts val="0"/>
              </a:spcBef>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sz="1600"/>
          </a:p>
        </p:txBody>
      </p:sp>
      <p:cxnSp>
        <p:nvCxnSpPr>
          <p:cNvPr id="15" name="Google Shape;15;p21"/>
          <p:cNvCxnSpPr/>
          <p:nvPr/>
        </p:nvCxnSpPr>
        <p:spPr>
          <a:xfrm>
            <a:off x="457200" y="6353175"/>
            <a:ext cx="8229600" cy="0"/>
          </a:xfrm>
          <a:prstGeom prst="straightConnector1">
            <a:avLst/>
          </a:prstGeom>
          <a:noFill/>
          <a:ln w="9525" cap="flat" cmpd="sng">
            <a:solidFill>
              <a:schemeClr val="accent2"/>
            </a:solidFill>
            <a:prstDash val="dash"/>
            <a:round/>
            <a:headEnd type="none" w="sm" len="sm"/>
            <a:tailEnd type="none" w="sm" len="sm"/>
          </a:ln>
        </p:spPr>
      </p:cxnSp>
      <p:cxnSp>
        <p:nvCxnSpPr>
          <p:cNvPr id="16" name="Google Shape;16;p21"/>
          <p:cNvCxnSpPr/>
          <p:nvPr/>
        </p:nvCxnSpPr>
        <p:spPr>
          <a:xfrm>
            <a:off x="457200" y="1143000"/>
            <a:ext cx="8229600" cy="0"/>
          </a:xfrm>
          <a:prstGeom prst="straightConnector1">
            <a:avLst/>
          </a:prstGeom>
          <a:noFill/>
          <a:ln w="9525" cap="flat" cmpd="sng">
            <a:solidFill>
              <a:schemeClr val="accent2"/>
            </a:solidFill>
            <a:prstDash val="dash"/>
            <a:round/>
            <a:headEnd type="none" w="sm" len="sm"/>
            <a:tailEnd type="none" w="sm" len="sm"/>
          </a:ln>
        </p:spPr>
      </p:cxnSp>
      <p:sp>
        <p:nvSpPr>
          <p:cNvPr id="17" name="Google Shape;17;p21"/>
          <p:cNvSpPr/>
          <p:nvPr/>
        </p:nvSpPr>
        <p:spPr>
          <a:xfrm rot="5400000">
            <a:off x="419100" y="6467475"/>
            <a:ext cx="190849"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
          <p:cNvSpPr txBox="1">
            <a:spLocks noGrp="1"/>
          </p:cNvSpPr>
          <p:nvPr>
            <p:ph type="ctrTitle"/>
          </p:nvPr>
        </p:nvSpPr>
        <p:spPr>
          <a:xfrm>
            <a:off x="1066800" y="3785235"/>
            <a:ext cx="7239000" cy="990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rgbClr val="C00000"/>
              </a:buClr>
              <a:buSzPts val="2000"/>
              <a:buFont typeface="Bookman Old Style"/>
              <a:buNone/>
            </a:pPr>
            <a:r>
              <a:rPr lang="en-US" sz="2000" b="1" dirty="0">
                <a:solidFill>
                  <a:srgbClr val="C00000"/>
                </a:solidFill>
              </a:rPr>
              <a:t>Lecture#9: GPIO Part#1 (Chapter#14)</a:t>
            </a:r>
            <a:br>
              <a:rPr lang="en-US" sz="2000" b="1" dirty="0">
                <a:solidFill>
                  <a:srgbClr val="C00000"/>
                </a:solidFill>
              </a:rPr>
            </a:br>
            <a:r>
              <a:rPr lang="en-US" sz="1900" dirty="0"/>
              <a:t>Summer, </a:t>
            </a:r>
            <a:r>
              <a:rPr lang="en-US" sz="1900" dirty="0" smtClean="0"/>
              <a:t>2025</a:t>
            </a:r>
            <a:endParaRPr sz="2300" dirty="0"/>
          </a:p>
        </p:txBody>
      </p:sp>
      <p:sp>
        <p:nvSpPr>
          <p:cNvPr id="110" name="Google Shape;110;p1"/>
          <p:cNvSpPr txBox="1">
            <a:spLocks noGrp="1"/>
          </p:cNvSpPr>
          <p:nvPr>
            <p:ph type="subTitle" idx="1"/>
          </p:nvPr>
        </p:nvSpPr>
        <p:spPr>
          <a:xfrm>
            <a:off x="1219200" y="5124450"/>
            <a:ext cx="6858000" cy="533400"/>
          </a:xfrm>
          <a:prstGeom prst="rect">
            <a:avLst/>
          </a:prstGeom>
          <a:noFill/>
          <a:ln>
            <a:noFill/>
          </a:ln>
        </p:spPr>
        <p:txBody>
          <a:bodyPr spcFirstLastPara="1" wrap="square" lIns="91425" tIns="45700" rIns="91425" bIns="45700" anchor="t" anchorCtr="0">
            <a:normAutofit/>
          </a:bodyPr>
          <a:lstStyle/>
          <a:p>
            <a:pPr marL="0" lvl="0" indent="0" algn="r" rtl="0">
              <a:spcBef>
                <a:spcPts val="0"/>
              </a:spcBef>
              <a:spcAft>
                <a:spcPts val="0"/>
              </a:spcAft>
              <a:buSzPts val="1216"/>
              <a:buNone/>
            </a:pPr>
            <a:r>
              <a:rPr lang="en-US" sz="1600" dirty="0" smtClean="0"/>
              <a:t>Credit: </a:t>
            </a:r>
            <a:r>
              <a:rPr lang="en-US" sz="1600" smtClean="0"/>
              <a:t>Dr. Mohammad </a:t>
            </a:r>
            <a:r>
              <a:rPr lang="en-US" sz="1600" dirty="0"/>
              <a:t>A. </a:t>
            </a:r>
            <a:r>
              <a:rPr lang="en-US" sz="1600" dirty="0" err="1" smtClean="0"/>
              <a:t>Qayum</a:t>
            </a:r>
            <a:endParaRPr dirty="0"/>
          </a:p>
        </p:txBody>
      </p:sp>
      <p:sp>
        <p:nvSpPr>
          <p:cNvPr id="111" name="Google Shape;111;p1"/>
          <p:cNvSpPr txBox="1"/>
          <p:nvPr/>
        </p:nvSpPr>
        <p:spPr>
          <a:xfrm>
            <a:off x="1828800" y="337547"/>
            <a:ext cx="6477000" cy="646331"/>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800" b="1" i="0" u="none" strike="noStrike" cap="none">
                <a:solidFill>
                  <a:schemeClr val="dk1"/>
                </a:solidFill>
                <a:latin typeface="Bookman Old Style"/>
                <a:ea typeface="Bookman Old Style"/>
                <a:cs typeface="Bookman Old Style"/>
                <a:sym typeface="Bookman Old Style"/>
              </a:rPr>
              <a:t>Embedded Systems with ARM Cortex-M Microcontrollers in Assembly Language and C</a:t>
            </a:r>
            <a:endParaRPr/>
          </a:p>
        </p:txBody>
      </p:sp>
      <p:sp>
        <p:nvSpPr>
          <p:cNvPr id="112" name="Google Shape;112;p1"/>
          <p:cNvSpPr txBox="1"/>
          <p:nvPr/>
        </p:nvSpPr>
        <p:spPr>
          <a:xfrm>
            <a:off x="1401553" y="1828800"/>
            <a:ext cx="68679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endParaRPr/>
          </a:p>
        </p:txBody>
      </p:sp>
      <p:sp>
        <p:nvSpPr>
          <p:cNvPr id="113" name="Google Shape;113;p1"/>
          <p:cNvSpPr txBox="1">
            <a:spLocks noGrp="1"/>
          </p:cNvSpPr>
          <p:nvPr>
            <p:ph type="sldNum" idx="12"/>
          </p:nvPr>
        </p:nvSpPr>
        <p:spPr>
          <a:xfrm>
            <a:off x="1216152" y="6355080"/>
            <a:ext cx="1219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g2479a032235_0_17"/>
          <p:cNvSpPr txBox="1">
            <a:spLocks noGrp="1"/>
          </p:cNvSpPr>
          <p:nvPr>
            <p:ph type="title"/>
          </p:nvPr>
        </p:nvSpPr>
        <p:spPr>
          <a:xfrm>
            <a:off x="457200" y="152400"/>
            <a:ext cx="8229600" cy="9906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STM32F0 SOC map (ARM CORTEX-M0)</a:t>
            </a:r>
            <a:endParaRPr/>
          </a:p>
        </p:txBody>
      </p:sp>
      <p:sp>
        <p:nvSpPr>
          <p:cNvPr id="120" name="Google Shape;120;g2479a032235_0_17"/>
          <p:cNvSpPr txBox="1">
            <a:spLocks noGrp="1"/>
          </p:cNvSpPr>
          <p:nvPr>
            <p:ph type="sldNum" idx="12"/>
          </p:nvPr>
        </p:nvSpPr>
        <p:spPr>
          <a:xfrm>
            <a:off x="612648" y="6356350"/>
            <a:ext cx="1981200" cy="365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fld id="{00000000-1234-1234-1234-123412341234}" type="slidenum">
              <a:rPr lang="en-US"/>
              <a:t>2</a:t>
            </a:fld>
            <a:endParaRPr/>
          </a:p>
        </p:txBody>
      </p:sp>
      <p:sp>
        <p:nvSpPr>
          <p:cNvPr id="121" name="Google Shape;121;g2479a032235_0_17"/>
          <p:cNvSpPr txBox="1">
            <a:spLocks noGrp="1"/>
          </p:cNvSpPr>
          <p:nvPr>
            <p:ph type="body" idx="1"/>
          </p:nvPr>
        </p:nvSpPr>
        <p:spPr>
          <a:xfrm>
            <a:off x="457200" y="1219200"/>
            <a:ext cx="8229600" cy="4937700"/>
          </a:xfrm>
          <a:prstGeom prst="rect">
            <a:avLst/>
          </a:prstGeom>
        </p:spPr>
        <p:txBody>
          <a:bodyPr spcFirstLastPara="1" wrap="square" lIns="91425" tIns="45700" rIns="91425" bIns="45700" anchor="t" anchorCtr="0">
            <a:normAutofit/>
          </a:bodyPr>
          <a:lstStyle/>
          <a:p>
            <a:pPr marL="0" lvl="0" indent="0" algn="l" rtl="0">
              <a:spcBef>
                <a:spcPts val="600"/>
              </a:spcBef>
              <a:spcAft>
                <a:spcPts val="0"/>
              </a:spcAft>
              <a:buNone/>
            </a:pPr>
            <a:endParaRPr/>
          </a:p>
        </p:txBody>
      </p:sp>
      <p:pic>
        <p:nvPicPr>
          <p:cNvPr id="122" name="Google Shape;122;g2479a032235_0_17"/>
          <p:cNvPicPr preferRelativeResize="0"/>
          <p:nvPr/>
        </p:nvPicPr>
        <p:blipFill>
          <a:blip r:embed="rId3">
            <a:alphaModFix/>
          </a:blip>
          <a:stretch>
            <a:fillRect/>
          </a:stretch>
        </p:blipFill>
        <p:spPr>
          <a:xfrm>
            <a:off x="1869963" y="1811325"/>
            <a:ext cx="5172075" cy="38766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g2479a032235_0_26"/>
          <p:cNvSpPr txBox="1">
            <a:spLocks noGrp="1"/>
          </p:cNvSpPr>
          <p:nvPr>
            <p:ph type="title"/>
          </p:nvPr>
        </p:nvSpPr>
        <p:spPr>
          <a:xfrm>
            <a:off x="457200" y="152400"/>
            <a:ext cx="8229600" cy="7500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ARM CORTEX-M)+</a:t>
            </a:r>
            <a:endParaRPr/>
          </a:p>
        </p:txBody>
      </p:sp>
      <p:sp>
        <p:nvSpPr>
          <p:cNvPr id="129" name="Google Shape;129;g2479a032235_0_26"/>
          <p:cNvSpPr txBox="1">
            <a:spLocks noGrp="1"/>
          </p:cNvSpPr>
          <p:nvPr>
            <p:ph type="sldNum" idx="12"/>
          </p:nvPr>
        </p:nvSpPr>
        <p:spPr>
          <a:xfrm>
            <a:off x="612648" y="6356350"/>
            <a:ext cx="1981200" cy="365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fld id="{00000000-1234-1234-1234-123412341234}" type="slidenum">
              <a:rPr lang="en-US"/>
              <a:t>3</a:t>
            </a:fld>
            <a:endParaRPr/>
          </a:p>
        </p:txBody>
      </p:sp>
      <p:sp>
        <p:nvSpPr>
          <p:cNvPr id="130" name="Google Shape;130;g2479a032235_0_26"/>
          <p:cNvSpPr txBox="1">
            <a:spLocks noGrp="1"/>
          </p:cNvSpPr>
          <p:nvPr>
            <p:ph type="body" idx="1"/>
          </p:nvPr>
        </p:nvSpPr>
        <p:spPr>
          <a:xfrm>
            <a:off x="457200" y="1219200"/>
            <a:ext cx="8229600" cy="4937700"/>
          </a:xfrm>
          <a:prstGeom prst="rect">
            <a:avLst/>
          </a:prstGeom>
        </p:spPr>
        <p:txBody>
          <a:bodyPr spcFirstLastPara="1" wrap="square" lIns="91425" tIns="45700" rIns="91425" bIns="45700" anchor="t" anchorCtr="0">
            <a:normAutofit/>
          </a:bodyPr>
          <a:lstStyle/>
          <a:p>
            <a:pPr marL="0" lvl="0" indent="0" algn="l" rtl="0">
              <a:spcBef>
                <a:spcPts val="600"/>
              </a:spcBef>
              <a:spcAft>
                <a:spcPts val="0"/>
              </a:spcAft>
              <a:buNone/>
            </a:pPr>
            <a:endParaRPr/>
          </a:p>
        </p:txBody>
      </p:sp>
      <p:pic>
        <p:nvPicPr>
          <p:cNvPr id="131" name="Google Shape;131;g2479a032235_0_26"/>
          <p:cNvPicPr preferRelativeResize="0"/>
          <p:nvPr/>
        </p:nvPicPr>
        <p:blipFill>
          <a:blip r:embed="rId3">
            <a:alphaModFix/>
          </a:blip>
          <a:stretch>
            <a:fillRect/>
          </a:stretch>
        </p:blipFill>
        <p:spPr>
          <a:xfrm>
            <a:off x="1748850" y="1062575"/>
            <a:ext cx="5250925" cy="52509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g2479a032235_0_35"/>
          <p:cNvSpPr txBox="1">
            <a:spLocks noGrp="1"/>
          </p:cNvSpPr>
          <p:nvPr>
            <p:ph type="title"/>
          </p:nvPr>
        </p:nvSpPr>
        <p:spPr>
          <a:xfrm>
            <a:off x="457200" y="152400"/>
            <a:ext cx="8229600" cy="6597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ARM Cortex-M3 architecture</a:t>
            </a:r>
            <a:endParaRPr/>
          </a:p>
        </p:txBody>
      </p:sp>
      <p:sp>
        <p:nvSpPr>
          <p:cNvPr id="138" name="Google Shape;138;g2479a032235_0_35"/>
          <p:cNvSpPr txBox="1">
            <a:spLocks noGrp="1"/>
          </p:cNvSpPr>
          <p:nvPr>
            <p:ph type="sldNum" idx="12"/>
          </p:nvPr>
        </p:nvSpPr>
        <p:spPr>
          <a:xfrm>
            <a:off x="612648" y="6356350"/>
            <a:ext cx="1981200" cy="365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fld id="{00000000-1234-1234-1234-123412341234}" type="slidenum">
              <a:rPr lang="en-US"/>
              <a:t>4</a:t>
            </a:fld>
            <a:endParaRPr/>
          </a:p>
        </p:txBody>
      </p:sp>
      <p:sp>
        <p:nvSpPr>
          <p:cNvPr id="139" name="Google Shape;139;g2479a032235_0_35"/>
          <p:cNvSpPr txBox="1">
            <a:spLocks noGrp="1"/>
          </p:cNvSpPr>
          <p:nvPr>
            <p:ph type="body" idx="1"/>
          </p:nvPr>
        </p:nvSpPr>
        <p:spPr>
          <a:xfrm>
            <a:off x="457200" y="1219200"/>
            <a:ext cx="8229600" cy="4937700"/>
          </a:xfrm>
          <a:prstGeom prst="rect">
            <a:avLst/>
          </a:prstGeom>
        </p:spPr>
        <p:txBody>
          <a:bodyPr spcFirstLastPara="1" wrap="square" lIns="91425" tIns="45700" rIns="91425" bIns="45700" anchor="t" anchorCtr="0">
            <a:normAutofit/>
          </a:bodyPr>
          <a:lstStyle/>
          <a:p>
            <a:pPr marL="0" lvl="0" indent="0" algn="l" rtl="0">
              <a:spcBef>
                <a:spcPts val="600"/>
              </a:spcBef>
              <a:spcAft>
                <a:spcPts val="0"/>
              </a:spcAft>
              <a:buNone/>
            </a:pPr>
            <a:endParaRPr/>
          </a:p>
        </p:txBody>
      </p:sp>
      <p:pic>
        <p:nvPicPr>
          <p:cNvPr id="140" name="Google Shape;140;g2479a032235_0_35"/>
          <p:cNvPicPr preferRelativeResize="0"/>
          <p:nvPr/>
        </p:nvPicPr>
        <p:blipFill>
          <a:blip r:embed="rId3">
            <a:alphaModFix/>
          </a:blip>
          <a:stretch>
            <a:fillRect/>
          </a:stretch>
        </p:blipFill>
        <p:spPr>
          <a:xfrm>
            <a:off x="1131717" y="1143112"/>
            <a:ext cx="6143084" cy="487351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Interfacing Peripherals</a:t>
            </a:r>
            <a:endParaRPr/>
          </a:p>
        </p:txBody>
      </p:sp>
      <p:sp>
        <p:nvSpPr>
          <p:cNvPr id="147" name="Google Shape;147;p2"/>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5</a:t>
            </a:fld>
            <a:endParaRPr/>
          </a:p>
        </p:txBody>
      </p:sp>
      <p:sp>
        <p:nvSpPr>
          <p:cNvPr id="148" name="Google Shape;148;p2"/>
          <p:cNvSpPr txBox="1">
            <a:spLocks noGrp="1"/>
          </p:cNvSpPr>
          <p:nvPr>
            <p:ph type="body" idx="1"/>
          </p:nvPr>
        </p:nvSpPr>
        <p:spPr>
          <a:xfrm>
            <a:off x="457200" y="1219199"/>
            <a:ext cx="8229600" cy="2327375"/>
          </a:xfrm>
          <a:prstGeom prst="rect">
            <a:avLst/>
          </a:prstGeom>
          <a:noFill/>
          <a:ln>
            <a:noFill/>
          </a:ln>
        </p:spPr>
        <p:txBody>
          <a:bodyPr spcFirstLastPara="1" wrap="square" lIns="91425" tIns="45700" rIns="91425" bIns="45700" anchor="t" anchorCtr="0">
            <a:noAutofit/>
          </a:bodyPr>
          <a:lstStyle/>
          <a:p>
            <a:pPr marL="274320" lvl="0" indent="-274320" algn="l" rtl="0">
              <a:spcBef>
                <a:spcPts val="0"/>
              </a:spcBef>
              <a:spcAft>
                <a:spcPts val="0"/>
              </a:spcAft>
              <a:buSzPts val="1368"/>
              <a:buChar char="🞂"/>
            </a:pPr>
            <a:r>
              <a:rPr lang="en-US" sz="1800" b="1"/>
              <a:t>Port-mapped I/O</a:t>
            </a:r>
            <a:endParaRPr/>
          </a:p>
          <a:p>
            <a:pPr marL="548640" lvl="1" indent="-274320" algn="l" rtl="0">
              <a:spcBef>
                <a:spcPts val="500"/>
              </a:spcBef>
              <a:spcAft>
                <a:spcPts val="0"/>
              </a:spcAft>
              <a:buSzPts val="1216"/>
              <a:buChar char="🞂"/>
            </a:pPr>
            <a:r>
              <a:rPr lang="en-US" sz="1600"/>
              <a:t>Use special CPU instructions:  </a:t>
            </a:r>
            <a:r>
              <a:rPr lang="en-US" sz="1600">
                <a:solidFill>
                  <a:srgbClr val="C00000"/>
                </a:solidFill>
                <a:latin typeface="Consolas"/>
                <a:ea typeface="Consolas"/>
                <a:cs typeface="Consolas"/>
                <a:sym typeface="Consolas"/>
              </a:rPr>
              <a:t>e.g. Port</a:t>
            </a:r>
            <a:endParaRPr/>
          </a:p>
          <a:p>
            <a:pPr marL="274320" lvl="0" indent="-274320" algn="l" rtl="0">
              <a:spcBef>
                <a:spcPts val="600"/>
              </a:spcBef>
              <a:spcAft>
                <a:spcPts val="0"/>
              </a:spcAft>
              <a:buSzPts val="1368"/>
              <a:buChar char="🞂"/>
            </a:pPr>
            <a:r>
              <a:rPr lang="en-US" sz="1800" b="1"/>
              <a:t>Memory-mapped I/O</a:t>
            </a:r>
            <a:endParaRPr/>
          </a:p>
          <a:p>
            <a:pPr marL="548640" lvl="1" indent="-274320" algn="l" rtl="0">
              <a:spcBef>
                <a:spcPts val="500"/>
              </a:spcBef>
              <a:spcAft>
                <a:spcPts val="0"/>
              </a:spcAft>
              <a:buSzPts val="1216"/>
              <a:buChar char="🞂"/>
            </a:pPr>
            <a:r>
              <a:rPr lang="en-US" sz="1600"/>
              <a:t>A simpler and more convenient way to interface I/O devices</a:t>
            </a:r>
            <a:endParaRPr/>
          </a:p>
          <a:p>
            <a:pPr marL="548640" lvl="1" indent="-274320" algn="l" rtl="0">
              <a:spcBef>
                <a:spcPts val="500"/>
              </a:spcBef>
              <a:spcAft>
                <a:spcPts val="0"/>
              </a:spcAft>
              <a:buSzPts val="1216"/>
              <a:buChar char="🞂"/>
            </a:pPr>
            <a:r>
              <a:rPr lang="en-US" sz="1600"/>
              <a:t>Each device registers is assigned to a memory address in the address space of the microprocessor</a:t>
            </a:r>
            <a:endParaRPr/>
          </a:p>
          <a:p>
            <a:pPr marL="548640" lvl="1" indent="-274320" algn="l" rtl="0">
              <a:spcBef>
                <a:spcPts val="500"/>
              </a:spcBef>
              <a:spcAft>
                <a:spcPts val="0"/>
              </a:spcAft>
              <a:buSzPts val="1216"/>
              <a:buChar char="🞂"/>
            </a:pPr>
            <a:r>
              <a:rPr lang="en-US" sz="1600"/>
              <a:t>Use native CPU load/store instructions: </a:t>
            </a:r>
            <a:r>
              <a:rPr lang="en-US" sz="1600">
                <a:solidFill>
                  <a:srgbClr val="C00000"/>
                </a:solidFill>
                <a:latin typeface="Consolas"/>
                <a:ea typeface="Consolas"/>
                <a:cs typeface="Consolas"/>
                <a:sym typeface="Consolas"/>
              </a:rPr>
              <a:t>LDR/STR Reg, [Reg, #imm]</a:t>
            </a:r>
            <a:endParaRPr/>
          </a:p>
        </p:txBody>
      </p:sp>
      <p:sp>
        <p:nvSpPr>
          <p:cNvPr id="149" name="Google Shape;149;p2"/>
          <p:cNvSpPr/>
          <p:nvPr/>
        </p:nvSpPr>
        <p:spPr>
          <a:xfrm>
            <a:off x="228600" y="4366260"/>
            <a:ext cx="990600" cy="838200"/>
          </a:xfrm>
          <a:prstGeom prst="rect">
            <a:avLst/>
          </a:prstGeom>
          <a:no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0" i="0" u="none" strike="noStrike" cap="none">
                <a:solidFill>
                  <a:schemeClr val="dk1"/>
                </a:solidFill>
                <a:latin typeface="Gill Sans"/>
                <a:ea typeface="Gill Sans"/>
                <a:cs typeface="Gill Sans"/>
                <a:sym typeface="Gill Sans"/>
              </a:rPr>
              <a:t>Core</a:t>
            </a:r>
            <a:endParaRPr/>
          </a:p>
        </p:txBody>
      </p:sp>
      <p:graphicFrame>
        <p:nvGraphicFramePr>
          <p:cNvPr id="150" name="Google Shape;150;p2"/>
          <p:cNvGraphicFramePr/>
          <p:nvPr/>
        </p:nvGraphicFramePr>
        <p:xfrm>
          <a:off x="2076052" y="3657600"/>
          <a:ext cx="3000000" cy="3000000"/>
        </p:xfrm>
        <a:graphic>
          <a:graphicData uri="http://schemas.openxmlformats.org/drawingml/2006/table">
            <a:tbl>
              <a:tblPr bandRow="1">
                <a:noFill/>
                <a:tableStyleId>{D100F991-0736-4BFD-8C63-F958F91E5AE5}</a:tableStyleId>
              </a:tblPr>
              <a:tblGrid>
                <a:gridCol w="1352950">
                  <a:extLst>
                    <a:ext uri="{9D8B030D-6E8A-4147-A177-3AD203B41FA5}">
                      <a16:colId xmlns:a16="http://schemas.microsoft.com/office/drawing/2014/main" val="20000"/>
                    </a:ext>
                  </a:extLst>
                </a:gridCol>
                <a:gridCol w="2734050">
                  <a:extLst>
                    <a:ext uri="{9D8B030D-6E8A-4147-A177-3AD203B41FA5}">
                      <a16:colId xmlns:a16="http://schemas.microsoft.com/office/drawing/2014/main" val="20001"/>
                    </a:ext>
                  </a:extLst>
                </a:gridCol>
              </a:tblGrid>
              <a:tr h="375925">
                <a:tc>
                  <a:txBody>
                    <a:bodyPr/>
                    <a:lstStyle/>
                    <a:p>
                      <a:pPr marL="0" marR="0" lvl="0" indent="0" algn="ctr" rtl="0">
                        <a:spcBef>
                          <a:spcPts val="0"/>
                        </a:spcBef>
                        <a:spcAft>
                          <a:spcPts val="0"/>
                        </a:spcAft>
                        <a:buNone/>
                      </a:pPr>
                      <a:r>
                        <a:rPr lang="en-US" sz="1600" u="none" strike="noStrike" cap="none">
                          <a:latin typeface="Consolas"/>
                          <a:ea typeface="Consolas"/>
                          <a:cs typeface="Consolas"/>
                          <a:sym typeface="Consolas"/>
                        </a:rPr>
                        <a:t>0x48000024</a:t>
                      </a:r>
                      <a:endParaRPr sz="1600" u="none" strike="noStrike" cap="none"/>
                    </a:p>
                  </a:txBody>
                  <a:tcPr marL="91450" marR="91450" marT="45725" marB="45725">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75925">
                <a:tc>
                  <a:txBody>
                    <a:bodyPr/>
                    <a:lstStyle/>
                    <a:p>
                      <a:pPr marL="0" marR="0" lvl="0" indent="0" algn="ctr" rtl="0">
                        <a:spcBef>
                          <a:spcPts val="0"/>
                        </a:spcBef>
                        <a:spcAft>
                          <a:spcPts val="0"/>
                        </a:spcAft>
                        <a:buNone/>
                      </a:pPr>
                      <a:r>
                        <a:rPr lang="en-US" sz="1600">
                          <a:latin typeface="Consolas"/>
                          <a:ea typeface="Consolas"/>
                          <a:cs typeface="Consolas"/>
                          <a:sym typeface="Consolas"/>
                        </a:rPr>
                        <a:t>0x48000020</a:t>
                      </a:r>
                      <a:endParaRPr sz="1600"/>
                    </a:p>
                  </a:txBody>
                  <a:tcPr marL="91450" marR="91450" marT="45725" marB="45725">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5925">
                <a:tc>
                  <a:txBody>
                    <a:bodyPr/>
                    <a:lstStyle/>
                    <a:p>
                      <a:pPr marL="0" marR="0" lvl="0" indent="0" algn="ctr" rtl="0">
                        <a:spcBef>
                          <a:spcPts val="0"/>
                        </a:spcBef>
                        <a:spcAft>
                          <a:spcPts val="0"/>
                        </a:spcAft>
                        <a:buNone/>
                      </a:pPr>
                      <a:r>
                        <a:rPr lang="en-US" sz="1600">
                          <a:latin typeface="Consolas"/>
                          <a:ea typeface="Consolas"/>
                          <a:cs typeface="Consolas"/>
                          <a:sym typeface="Consolas"/>
                        </a:rPr>
                        <a:t>0x4800001C</a:t>
                      </a:r>
                      <a:endParaRPr sz="1600"/>
                    </a:p>
                  </a:txBody>
                  <a:tcPr marL="91450" marR="91450" marT="45725" marB="45725">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75925">
                <a:tc>
                  <a:txBody>
                    <a:bodyPr/>
                    <a:lstStyle/>
                    <a:p>
                      <a:pPr marL="0" marR="0" lvl="0" indent="0" algn="ctr" rtl="0">
                        <a:spcBef>
                          <a:spcPts val="0"/>
                        </a:spcBef>
                        <a:spcAft>
                          <a:spcPts val="0"/>
                        </a:spcAft>
                        <a:buNone/>
                      </a:pPr>
                      <a:r>
                        <a:rPr lang="en-US" sz="1600">
                          <a:latin typeface="Consolas"/>
                          <a:ea typeface="Consolas"/>
                          <a:cs typeface="Consolas"/>
                          <a:sym typeface="Consolas"/>
                        </a:rPr>
                        <a:t>0x48000018</a:t>
                      </a:r>
                      <a:endParaRPr sz="1600"/>
                    </a:p>
                  </a:txBody>
                  <a:tcPr marL="91450" marR="91450" marT="45725" marB="45725">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75925">
                <a:tc>
                  <a:txBody>
                    <a:bodyPr/>
                    <a:lstStyle/>
                    <a:p>
                      <a:pPr marL="0" marR="0" lvl="0" indent="0" algn="ctr" rtl="0">
                        <a:spcBef>
                          <a:spcPts val="0"/>
                        </a:spcBef>
                        <a:spcAft>
                          <a:spcPts val="0"/>
                        </a:spcAft>
                        <a:buNone/>
                      </a:pPr>
                      <a:r>
                        <a:rPr lang="en-US" sz="1600">
                          <a:latin typeface="Consolas"/>
                          <a:ea typeface="Consolas"/>
                          <a:cs typeface="Consolas"/>
                          <a:sym typeface="Consolas"/>
                        </a:rPr>
                        <a:t>0x48000014</a:t>
                      </a:r>
                      <a:endParaRPr sz="1600"/>
                    </a:p>
                  </a:txBody>
                  <a:tcPr marL="91450" marR="91450" marT="45725" marB="45725">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t>GPIO Data Output Register</a:t>
                      </a:r>
                      <a:endParaRPr sz="16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75925">
                <a:tc>
                  <a:txBody>
                    <a:bodyPr/>
                    <a:lstStyle/>
                    <a:p>
                      <a:pPr marL="0" marR="0" lvl="0" indent="0" algn="ctr" rtl="0">
                        <a:spcBef>
                          <a:spcPts val="0"/>
                        </a:spcBef>
                        <a:spcAft>
                          <a:spcPts val="0"/>
                        </a:spcAft>
                        <a:buNone/>
                      </a:pPr>
                      <a:r>
                        <a:rPr lang="en-US" sz="1600">
                          <a:latin typeface="Consolas"/>
                          <a:ea typeface="Consolas"/>
                          <a:cs typeface="Consolas"/>
                          <a:sym typeface="Consolas"/>
                        </a:rPr>
                        <a:t>0x48000010</a:t>
                      </a:r>
                      <a:endParaRPr sz="1600"/>
                    </a:p>
                  </a:txBody>
                  <a:tcPr marL="91450" marR="91450" marT="45725" marB="45725">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151" name="Google Shape;151;p2"/>
          <p:cNvSpPr txBox="1"/>
          <p:nvPr/>
        </p:nvSpPr>
        <p:spPr>
          <a:xfrm>
            <a:off x="3121152" y="5943600"/>
            <a:ext cx="1423467"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0" i="0" u="none" strike="noStrike" cap="none">
                <a:solidFill>
                  <a:schemeClr val="dk1"/>
                </a:solidFill>
                <a:latin typeface="Gill Sans"/>
                <a:ea typeface="Gill Sans"/>
                <a:cs typeface="Gill Sans"/>
                <a:sym typeface="Gill Sans"/>
              </a:rPr>
              <a:t>Memory Space</a:t>
            </a:r>
            <a:endParaRPr/>
          </a:p>
        </p:txBody>
      </p:sp>
      <p:sp>
        <p:nvSpPr>
          <p:cNvPr id="152" name="Google Shape;152;p2"/>
          <p:cNvSpPr/>
          <p:nvPr/>
        </p:nvSpPr>
        <p:spPr>
          <a:xfrm>
            <a:off x="6775704" y="4969250"/>
            <a:ext cx="917448" cy="838200"/>
          </a:xfrm>
          <a:prstGeom prst="rect">
            <a:avLst/>
          </a:prstGeom>
          <a:no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Gill Sans"/>
                <a:ea typeface="Gill Sans"/>
                <a:cs typeface="Gill Sans"/>
                <a:sym typeface="Gill Sans"/>
              </a:rPr>
              <a:t>GPIO Output</a:t>
            </a:r>
            <a:endParaRPr/>
          </a:p>
        </p:txBody>
      </p:sp>
      <p:cxnSp>
        <p:nvCxnSpPr>
          <p:cNvPr id="153" name="Google Shape;153;p2"/>
          <p:cNvCxnSpPr>
            <a:stCxn id="149" idx="3"/>
          </p:cNvCxnSpPr>
          <p:nvPr/>
        </p:nvCxnSpPr>
        <p:spPr>
          <a:xfrm>
            <a:off x="1219200" y="4785360"/>
            <a:ext cx="856800" cy="603000"/>
          </a:xfrm>
          <a:prstGeom prst="straightConnector1">
            <a:avLst/>
          </a:prstGeom>
          <a:noFill/>
          <a:ln w="19050" cap="flat" cmpd="sng">
            <a:solidFill>
              <a:schemeClr val="accent1"/>
            </a:solidFill>
            <a:prstDash val="solid"/>
            <a:round/>
            <a:headEnd type="none" w="sm" len="sm"/>
            <a:tailEnd type="stealth" w="med" len="med"/>
          </a:ln>
        </p:spPr>
      </p:cxnSp>
      <p:cxnSp>
        <p:nvCxnSpPr>
          <p:cNvPr id="154" name="Google Shape;154;p2"/>
          <p:cNvCxnSpPr>
            <a:stCxn id="152" idx="1"/>
          </p:cNvCxnSpPr>
          <p:nvPr/>
        </p:nvCxnSpPr>
        <p:spPr>
          <a:xfrm rot="10800000">
            <a:off x="6163104" y="5388350"/>
            <a:ext cx="612600" cy="0"/>
          </a:xfrm>
          <a:prstGeom prst="straightConnector1">
            <a:avLst/>
          </a:prstGeom>
          <a:noFill/>
          <a:ln w="19050" cap="flat" cmpd="sng">
            <a:solidFill>
              <a:schemeClr val="accent1"/>
            </a:solidFill>
            <a:prstDash val="solid"/>
            <a:round/>
            <a:headEnd type="stealth" w="med" len="med"/>
            <a:tailEnd type="none" w="sm" len="sm"/>
          </a:ln>
        </p:spPr>
      </p:cxnSp>
      <p:cxnSp>
        <p:nvCxnSpPr>
          <p:cNvPr id="155" name="Google Shape;155;p2"/>
          <p:cNvCxnSpPr/>
          <p:nvPr/>
        </p:nvCxnSpPr>
        <p:spPr>
          <a:xfrm>
            <a:off x="7924800" y="5388350"/>
            <a:ext cx="1143000" cy="0"/>
          </a:xfrm>
          <a:prstGeom prst="straightConnector1">
            <a:avLst/>
          </a:prstGeom>
          <a:noFill/>
          <a:ln w="12700" cap="flat" cmpd="sng">
            <a:solidFill>
              <a:schemeClr val="accent1"/>
            </a:solidFill>
            <a:prstDash val="solid"/>
            <a:round/>
            <a:headEnd type="none" w="sm" len="sm"/>
            <a:tailEnd type="triangle" w="med" len="med"/>
          </a:ln>
        </p:spPr>
      </p:cxnSp>
      <p:cxnSp>
        <p:nvCxnSpPr>
          <p:cNvPr id="156" name="Google Shape;156;p2"/>
          <p:cNvCxnSpPr/>
          <p:nvPr/>
        </p:nvCxnSpPr>
        <p:spPr>
          <a:xfrm>
            <a:off x="8305800" y="4969250"/>
            <a:ext cx="0" cy="685800"/>
          </a:xfrm>
          <a:prstGeom prst="straightConnector1">
            <a:avLst/>
          </a:prstGeom>
          <a:noFill/>
          <a:ln w="12700" cap="flat" cmpd="sng">
            <a:solidFill>
              <a:schemeClr val="accent1"/>
            </a:solidFill>
            <a:prstDash val="solid"/>
            <a:round/>
            <a:headEnd type="triangle" w="med" len="med"/>
            <a:tailEnd type="none" w="sm" len="sm"/>
          </a:ln>
        </p:spPr>
      </p:cxnSp>
      <p:cxnSp>
        <p:nvCxnSpPr>
          <p:cNvPr id="157" name="Google Shape;157;p2"/>
          <p:cNvCxnSpPr/>
          <p:nvPr/>
        </p:nvCxnSpPr>
        <p:spPr>
          <a:xfrm rot="10800000">
            <a:off x="8077200" y="5388350"/>
            <a:ext cx="228600" cy="0"/>
          </a:xfrm>
          <a:prstGeom prst="straightConnector1">
            <a:avLst/>
          </a:prstGeom>
          <a:noFill/>
          <a:ln w="28575" cap="flat" cmpd="sng">
            <a:solidFill>
              <a:srgbClr val="C00000"/>
            </a:solidFill>
            <a:prstDash val="solid"/>
            <a:round/>
            <a:headEnd type="none" w="sm" len="sm"/>
            <a:tailEnd type="none" w="sm" len="sm"/>
          </a:ln>
        </p:spPr>
      </p:cxnSp>
      <p:cxnSp>
        <p:nvCxnSpPr>
          <p:cNvPr id="158" name="Google Shape;158;p2"/>
          <p:cNvCxnSpPr/>
          <p:nvPr/>
        </p:nvCxnSpPr>
        <p:spPr>
          <a:xfrm rot="10800000">
            <a:off x="8305800" y="5121650"/>
            <a:ext cx="609600" cy="0"/>
          </a:xfrm>
          <a:prstGeom prst="straightConnector1">
            <a:avLst/>
          </a:prstGeom>
          <a:noFill/>
          <a:ln w="28575" cap="flat" cmpd="sng">
            <a:solidFill>
              <a:srgbClr val="C00000"/>
            </a:solidFill>
            <a:prstDash val="solid"/>
            <a:round/>
            <a:headEnd type="none" w="sm" len="sm"/>
            <a:tailEnd type="none" w="sm" len="sm"/>
          </a:ln>
        </p:spPr>
      </p:cxnSp>
      <p:cxnSp>
        <p:nvCxnSpPr>
          <p:cNvPr id="159" name="Google Shape;159;p2"/>
          <p:cNvCxnSpPr/>
          <p:nvPr/>
        </p:nvCxnSpPr>
        <p:spPr>
          <a:xfrm>
            <a:off x="8305800" y="5121650"/>
            <a:ext cx="0" cy="266700"/>
          </a:xfrm>
          <a:prstGeom prst="straightConnector1">
            <a:avLst/>
          </a:prstGeom>
          <a:noFill/>
          <a:ln w="28575" cap="flat" cmpd="sng">
            <a:solidFill>
              <a:srgbClr val="C00000"/>
            </a:solidFill>
            <a:prstDash val="solid"/>
            <a:round/>
            <a:headEnd type="none" w="sm" len="sm"/>
            <a:tailEnd type="none" w="sm" len="sm"/>
          </a:ln>
        </p:spPr>
      </p:cxnSp>
      <p:sp>
        <p:nvSpPr>
          <p:cNvPr id="160" name="Google Shape;160;p2"/>
          <p:cNvSpPr txBox="1"/>
          <p:nvPr/>
        </p:nvSpPr>
        <p:spPr>
          <a:xfrm>
            <a:off x="7932555" y="4717784"/>
            <a:ext cx="835485"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Gill Sans"/>
                <a:ea typeface="Gill Sans"/>
                <a:cs typeface="Gill Sans"/>
                <a:sym typeface="Gill Sans"/>
              </a:rPr>
              <a:t>Pin output</a:t>
            </a:r>
            <a:endParaRPr/>
          </a:p>
        </p:txBody>
      </p:sp>
      <p:sp>
        <p:nvSpPr>
          <p:cNvPr id="161" name="Google Shape;161;p2"/>
          <p:cNvSpPr txBox="1"/>
          <p:nvPr/>
        </p:nvSpPr>
        <p:spPr>
          <a:xfrm>
            <a:off x="1480071" y="4754880"/>
            <a:ext cx="769755"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C00000"/>
                </a:solidFill>
                <a:latin typeface="Gill Sans"/>
                <a:ea typeface="Gill Sans"/>
                <a:cs typeface="Gill Sans"/>
                <a:sym typeface="Gill Sans"/>
              </a:rPr>
              <a:t>STR</a:t>
            </a:r>
            <a:endParaRPr/>
          </a:p>
        </p:txBody>
      </p:sp>
      <p:sp>
        <p:nvSpPr>
          <p:cNvPr id="162" name="Google Shape;162;p2"/>
          <p:cNvSpPr/>
          <p:nvPr/>
        </p:nvSpPr>
        <p:spPr>
          <a:xfrm>
            <a:off x="1713057" y="6439727"/>
            <a:ext cx="598752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C00000"/>
                </a:solidFill>
                <a:latin typeface="Gill Sans"/>
                <a:ea typeface="Gill Sans"/>
                <a:cs typeface="Gill Sans"/>
                <a:sym typeface="Gill Sans"/>
              </a:rPr>
              <a:t>ARM Cortex-M microprocessors use memory-mapped I/O.</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5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3"/>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Memory Map of Cortex-M4</a:t>
            </a:r>
            <a:endParaRPr/>
          </a:p>
        </p:txBody>
      </p:sp>
      <p:sp>
        <p:nvSpPr>
          <p:cNvPr id="169" name="Google Shape;169;p3"/>
          <p:cNvSpPr txBox="1">
            <a:spLocks noGrp="1"/>
          </p:cNvSpPr>
          <p:nvPr>
            <p:ph type="sldNum" idx="12"/>
          </p:nvPr>
        </p:nvSpPr>
        <p:spPr>
          <a:xfrm>
            <a:off x="609600" y="6384754"/>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6</a:t>
            </a:fld>
            <a:endParaRPr/>
          </a:p>
        </p:txBody>
      </p:sp>
      <p:sp>
        <p:nvSpPr>
          <p:cNvPr id="170" name="Google Shape;170;p3"/>
          <p:cNvSpPr/>
          <p:nvPr/>
        </p:nvSpPr>
        <p:spPr>
          <a:xfrm>
            <a:off x="2134460" y="5562600"/>
            <a:ext cx="2136648" cy="558115"/>
          </a:xfrm>
          <a:prstGeom prst="rect">
            <a:avLst/>
          </a:prstGeom>
          <a:solidFill>
            <a:srgbClr val="0000FF"/>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Code</a:t>
            </a:r>
            <a:endParaRPr/>
          </a:p>
        </p:txBody>
      </p:sp>
      <p:sp>
        <p:nvSpPr>
          <p:cNvPr id="171" name="Google Shape;171;p3"/>
          <p:cNvSpPr/>
          <p:nvPr/>
        </p:nvSpPr>
        <p:spPr>
          <a:xfrm>
            <a:off x="2134460" y="4958902"/>
            <a:ext cx="2136648" cy="595882"/>
          </a:xfrm>
          <a:prstGeom prst="rect">
            <a:avLst/>
          </a:prstGeom>
          <a:solidFill>
            <a:srgbClr val="FF0000"/>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SRAM</a:t>
            </a:r>
            <a:endParaRPr/>
          </a:p>
        </p:txBody>
      </p:sp>
      <p:sp>
        <p:nvSpPr>
          <p:cNvPr id="172" name="Google Shape;172;p3"/>
          <p:cNvSpPr/>
          <p:nvPr/>
        </p:nvSpPr>
        <p:spPr>
          <a:xfrm>
            <a:off x="2134460" y="4373780"/>
            <a:ext cx="2136648" cy="568094"/>
          </a:xfrm>
          <a:prstGeom prst="rect">
            <a:avLst/>
          </a:prstGeom>
          <a:solidFill>
            <a:srgbClr val="4F6128"/>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Peripheral</a:t>
            </a:r>
            <a:endParaRPr/>
          </a:p>
        </p:txBody>
      </p:sp>
      <p:sp>
        <p:nvSpPr>
          <p:cNvPr id="173" name="Google Shape;173;p3"/>
          <p:cNvSpPr/>
          <p:nvPr/>
        </p:nvSpPr>
        <p:spPr>
          <a:xfrm>
            <a:off x="2130552" y="1945985"/>
            <a:ext cx="2136648" cy="1203853"/>
          </a:xfrm>
          <a:prstGeom prst="rect">
            <a:avLst/>
          </a:prstGeom>
          <a:solidFill>
            <a:srgbClr val="0F243E"/>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External Device</a:t>
            </a:r>
            <a:endParaRPr/>
          </a:p>
        </p:txBody>
      </p:sp>
      <p:sp>
        <p:nvSpPr>
          <p:cNvPr id="174" name="Google Shape;174;p3"/>
          <p:cNvSpPr/>
          <p:nvPr/>
        </p:nvSpPr>
        <p:spPr>
          <a:xfrm>
            <a:off x="2132680" y="3161488"/>
            <a:ext cx="2136648" cy="1212292"/>
          </a:xfrm>
          <a:prstGeom prst="rect">
            <a:avLst/>
          </a:prstGeom>
          <a:solidFill>
            <a:srgbClr val="3F3151"/>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External RAM</a:t>
            </a:r>
            <a:endParaRPr/>
          </a:p>
        </p:txBody>
      </p:sp>
      <p:sp>
        <p:nvSpPr>
          <p:cNvPr id="175" name="Google Shape;175;p3"/>
          <p:cNvSpPr/>
          <p:nvPr/>
        </p:nvSpPr>
        <p:spPr>
          <a:xfrm>
            <a:off x="2130552" y="1376822"/>
            <a:ext cx="2136648" cy="548136"/>
          </a:xfrm>
          <a:prstGeom prst="rect">
            <a:avLst/>
          </a:prstGeom>
          <a:solidFill>
            <a:srgbClr val="7030A0"/>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System</a:t>
            </a:r>
            <a:endParaRPr/>
          </a:p>
        </p:txBody>
      </p:sp>
      <p:sp>
        <p:nvSpPr>
          <p:cNvPr id="176" name="Google Shape;176;p3"/>
          <p:cNvSpPr/>
          <p:nvPr/>
        </p:nvSpPr>
        <p:spPr>
          <a:xfrm>
            <a:off x="2130552" y="1376822"/>
            <a:ext cx="2136648" cy="4743893"/>
          </a:xfrm>
          <a:prstGeom prst="rect">
            <a:avLst/>
          </a:prstGeom>
          <a:noFill/>
          <a:ln w="28575"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177" name="Google Shape;177;p3"/>
          <p:cNvSpPr txBox="1"/>
          <p:nvPr/>
        </p:nvSpPr>
        <p:spPr>
          <a:xfrm>
            <a:off x="955932" y="5944795"/>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0x00000000</a:t>
            </a:r>
            <a:endParaRPr/>
          </a:p>
        </p:txBody>
      </p:sp>
      <p:grpSp>
        <p:nvGrpSpPr>
          <p:cNvPr id="178" name="Google Shape;178;p3"/>
          <p:cNvGrpSpPr/>
          <p:nvPr/>
        </p:nvGrpSpPr>
        <p:grpSpPr>
          <a:xfrm>
            <a:off x="138346" y="5410200"/>
            <a:ext cx="1995254" cy="690090"/>
            <a:chOff x="138346" y="5410200"/>
            <a:chExt cx="1995254" cy="690090"/>
          </a:xfrm>
        </p:grpSpPr>
        <p:sp>
          <p:nvSpPr>
            <p:cNvPr id="179" name="Google Shape;179;p3"/>
            <p:cNvSpPr txBox="1"/>
            <p:nvPr/>
          </p:nvSpPr>
          <p:spPr>
            <a:xfrm>
              <a:off x="955072" y="5410200"/>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0x20000000</a:t>
              </a:r>
              <a:endParaRPr/>
            </a:p>
          </p:txBody>
        </p:sp>
        <p:sp>
          <p:nvSpPr>
            <p:cNvPr id="180" name="Google Shape;180;p3"/>
            <p:cNvSpPr/>
            <p:nvPr/>
          </p:nvSpPr>
          <p:spPr>
            <a:xfrm>
              <a:off x="762000" y="5562600"/>
              <a:ext cx="234493" cy="537690"/>
            </a:xfrm>
            <a:prstGeom prst="leftBrace">
              <a:avLst>
                <a:gd name="adj1" fmla="val 8333"/>
                <a:gd name="adj2" fmla="val 50000"/>
              </a:avLst>
            </a:prstGeom>
            <a:noFill/>
            <a:ln w="190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
          <p:nvSpPr>
            <p:cNvPr id="181" name="Google Shape;181;p3"/>
            <p:cNvSpPr txBox="1"/>
            <p:nvPr/>
          </p:nvSpPr>
          <p:spPr>
            <a:xfrm>
              <a:off x="138346" y="5697244"/>
              <a:ext cx="671979"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Arial"/>
                  <a:ea typeface="Arial"/>
                  <a:cs typeface="Arial"/>
                  <a:sym typeface="Arial"/>
                </a:rPr>
                <a:t>0.5 GB</a:t>
              </a:r>
              <a:endParaRPr/>
            </a:p>
          </p:txBody>
        </p:sp>
      </p:grpSp>
      <p:grpSp>
        <p:nvGrpSpPr>
          <p:cNvPr id="182" name="Google Shape;182;p3"/>
          <p:cNvGrpSpPr/>
          <p:nvPr/>
        </p:nvGrpSpPr>
        <p:grpSpPr>
          <a:xfrm>
            <a:off x="130971" y="4797623"/>
            <a:ext cx="1996533" cy="757161"/>
            <a:chOff x="130971" y="4797623"/>
            <a:chExt cx="1996533" cy="757161"/>
          </a:xfrm>
        </p:grpSpPr>
        <p:sp>
          <p:nvSpPr>
            <p:cNvPr id="183" name="Google Shape;183;p3"/>
            <p:cNvSpPr txBox="1"/>
            <p:nvPr/>
          </p:nvSpPr>
          <p:spPr>
            <a:xfrm>
              <a:off x="948976" y="4797623"/>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0x40000000</a:t>
              </a:r>
              <a:endParaRPr/>
            </a:p>
          </p:txBody>
        </p:sp>
        <p:sp>
          <p:nvSpPr>
            <p:cNvPr id="184" name="Google Shape;184;p3"/>
            <p:cNvSpPr/>
            <p:nvPr/>
          </p:nvSpPr>
          <p:spPr>
            <a:xfrm>
              <a:off x="762000" y="4960182"/>
              <a:ext cx="234493" cy="594602"/>
            </a:xfrm>
            <a:prstGeom prst="leftBrace">
              <a:avLst>
                <a:gd name="adj1" fmla="val 8333"/>
                <a:gd name="adj2" fmla="val 50000"/>
              </a:avLst>
            </a:prstGeom>
            <a:noFill/>
            <a:ln w="190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
          <p:nvSpPr>
            <p:cNvPr id="185" name="Google Shape;185;p3"/>
            <p:cNvSpPr txBox="1"/>
            <p:nvPr/>
          </p:nvSpPr>
          <p:spPr>
            <a:xfrm>
              <a:off x="130971" y="5121944"/>
              <a:ext cx="671979"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Arial"/>
                  <a:ea typeface="Arial"/>
                  <a:cs typeface="Arial"/>
                  <a:sym typeface="Arial"/>
                </a:rPr>
                <a:t>0.5 GB</a:t>
              </a:r>
              <a:endParaRPr/>
            </a:p>
          </p:txBody>
        </p:sp>
      </p:grpSp>
      <p:grpSp>
        <p:nvGrpSpPr>
          <p:cNvPr id="186" name="Google Shape;186;p3"/>
          <p:cNvGrpSpPr/>
          <p:nvPr/>
        </p:nvGrpSpPr>
        <p:grpSpPr>
          <a:xfrm>
            <a:off x="125533" y="4264223"/>
            <a:ext cx="2001111" cy="688777"/>
            <a:chOff x="125533" y="4264223"/>
            <a:chExt cx="2001111" cy="688777"/>
          </a:xfrm>
        </p:grpSpPr>
        <p:sp>
          <p:nvSpPr>
            <p:cNvPr id="187" name="Google Shape;187;p3"/>
            <p:cNvSpPr txBox="1"/>
            <p:nvPr/>
          </p:nvSpPr>
          <p:spPr>
            <a:xfrm>
              <a:off x="948116" y="4264223"/>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0x60000000</a:t>
              </a:r>
              <a:endParaRPr/>
            </a:p>
          </p:txBody>
        </p:sp>
        <p:sp>
          <p:nvSpPr>
            <p:cNvPr id="188" name="Google Shape;188;p3"/>
            <p:cNvSpPr/>
            <p:nvPr/>
          </p:nvSpPr>
          <p:spPr>
            <a:xfrm>
              <a:off x="756107" y="4396481"/>
              <a:ext cx="234493" cy="556519"/>
            </a:xfrm>
            <a:prstGeom prst="leftBrace">
              <a:avLst>
                <a:gd name="adj1" fmla="val 8333"/>
                <a:gd name="adj2" fmla="val 50000"/>
              </a:avLst>
            </a:prstGeom>
            <a:noFill/>
            <a:ln w="190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
          <p:nvSpPr>
            <p:cNvPr id="189" name="Google Shape;189;p3"/>
            <p:cNvSpPr txBox="1"/>
            <p:nvPr/>
          </p:nvSpPr>
          <p:spPr>
            <a:xfrm>
              <a:off x="125533" y="4532479"/>
              <a:ext cx="671979"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Arial"/>
                  <a:ea typeface="Arial"/>
                  <a:cs typeface="Arial"/>
                  <a:sym typeface="Arial"/>
                </a:rPr>
                <a:t>0.5 GB</a:t>
              </a:r>
              <a:endParaRPr/>
            </a:p>
          </p:txBody>
        </p:sp>
      </p:grpSp>
      <p:grpSp>
        <p:nvGrpSpPr>
          <p:cNvPr id="190" name="Google Shape;190;p3"/>
          <p:cNvGrpSpPr/>
          <p:nvPr/>
        </p:nvGrpSpPr>
        <p:grpSpPr>
          <a:xfrm>
            <a:off x="228600" y="3045022"/>
            <a:ext cx="1905000" cy="1351459"/>
            <a:chOff x="228600" y="3045022"/>
            <a:chExt cx="1905000" cy="1351459"/>
          </a:xfrm>
        </p:grpSpPr>
        <p:sp>
          <p:nvSpPr>
            <p:cNvPr id="191" name="Google Shape;191;p3"/>
            <p:cNvSpPr txBox="1"/>
            <p:nvPr/>
          </p:nvSpPr>
          <p:spPr>
            <a:xfrm>
              <a:off x="955072" y="3045022"/>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0xA0000000</a:t>
              </a:r>
              <a:endParaRPr/>
            </a:p>
          </p:txBody>
        </p:sp>
        <p:sp>
          <p:nvSpPr>
            <p:cNvPr id="192" name="Google Shape;192;p3"/>
            <p:cNvSpPr/>
            <p:nvPr/>
          </p:nvSpPr>
          <p:spPr>
            <a:xfrm>
              <a:off x="756106" y="3216093"/>
              <a:ext cx="234493" cy="1180388"/>
            </a:xfrm>
            <a:prstGeom prst="leftBrace">
              <a:avLst>
                <a:gd name="adj1" fmla="val 8333"/>
                <a:gd name="adj2" fmla="val 50000"/>
              </a:avLst>
            </a:prstGeom>
            <a:noFill/>
            <a:ln w="190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
          <p:nvSpPr>
            <p:cNvPr id="193" name="Google Shape;193;p3"/>
            <p:cNvSpPr txBox="1"/>
            <p:nvPr/>
          </p:nvSpPr>
          <p:spPr>
            <a:xfrm>
              <a:off x="228600" y="3655311"/>
              <a:ext cx="543739" cy="276999"/>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200" b="1">
                  <a:solidFill>
                    <a:schemeClr val="dk1"/>
                  </a:solidFill>
                  <a:latin typeface="Arial"/>
                  <a:ea typeface="Arial"/>
                  <a:cs typeface="Arial"/>
                  <a:sym typeface="Arial"/>
                </a:rPr>
                <a:t>1 GB</a:t>
              </a:r>
              <a:endParaRPr/>
            </a:p>
          </p:txBody>
        </p:sp>
      </p:grpSp>
      <p:sp>
        <p:nvSpPr>
          <p:cNvPr id="194" name="Google Shape;194;p3"/>
          <p:cNvSpPr txBox="1"/>
          <p:nvPr/>
        </p:nvSpPr>
        <p:spPr>
          <a:xfrm>
            <a:off x="955072" y="1210814"/>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0xFFFFFFFF</a:t>
            </a:r>
            <a:endParaRPr/>
          </a:p>
        </p:txBody>
      </p:sp>
      <p:grpSp>
        <p:nvGrpSpPr>
          <p:cNvPr id="195" name="Google Shape;195;p3"/>
          <p:cNvGrpSpPr/>
          <p:nvPr/>
        </p:nvGrpSpPr>
        <p:grpSpPr>
          <a:xfrm>
            <a:off x="65461" y="1286058"/>
            <a:ext cx="917211" cy="671531"/>
            <a:chOff x="65461" y="1286058"/>
            <a:chExt cx="917211" cy="671531"/>
          </a:xfrm>
        </p:grpSpPr>
        <p:sp>
          <p:nvSpPr>
            <p:cNvPr id="196" name="Google Shape;196;p3"/>
            <p:cNvSpPr/>
            <p:nvPr/>
          </p:nvSpPr>
          <p:spPr>
            <a:xfrm>
              <a:off x="748179" y="1286058"/>
              <a:ext cx="234493" cy="671531"/>
            </a:xfrm>
            <a:prstGeom prst="leftBrace">
              <a:avLst>
                <a:gd name="adj1" fmla="val 8333"/>
                <a:gd name="adj2" fmla="val 50000"/>
              </a:avLst>
            </a:prstGeom>
            <a:noFill/>
            <a:ln w="190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
          <p:nvSpPr>
            <p:cNvPr id="197" name="Google Shape;197;p3"/>
            <p:cNvSpPr txBox="1"/>
            <p:nvPr/>
          </p:nvSpPr>
          <p:spPr>
            <a:xfrm>
              <a:off x="65461" y="1547906"/>
              <a:ext cx="671979"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Arial"/>
                  <a:ea typeface="Arial"/>
                  <a:cs typeface="Arial"/>
                  <a:sym typeface="Arial"/>
                </a:rPr>
                <a:t>0.5 GB</a:t>
              </a:r>
              <a:endParaRPr/>
            </a:p>
          </p:txBody>
        </p:sp>
      </p:grpSp>
      <p:grpSp>
        <p:nvGrpSpPr>
          <p:cNvPr id="198" name="Google Shape;198;p3"/>
          <p:cNvGrpSpPr/>
          <p:nvPr/>
        </p:nvGrpSpPr>
        <p:grpSpPr>
          <a:xfrm>
            <a:off x="218261" y="1803701"/>
            <a:ext cx="1908383" cy="1404575"/>
            <a:chOff x="218261" y="1803701"/>
            <a:chExt cx="1908383" cy="1404575"/>
          </a:xfrm>
        </p:grpSpPr>
        <p:sp>
          <p:nvSpPr>
            <p:cNvPr id="199" name="Google Shape;199;p3"/>
            <p:cNvSpPr txBox="1"/>
            <p:nvPr/>
          </p:nvSpPr>
          <p:spPr>
            <a:xfrm>
              <a:off x="948116" y="1803701"/>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0xE0000000</a:t>
              </a:r>
              <a:endParaRPr/>
            </a:p>
          </p:txBody>
        </p:sp>
        <p:sp>
          <p:nvSpPr>
            <p:cNvPr id="200" name="Google Shape;200;p3"/>
            <p:cNvSpPr/>
            <p:nvPr/>
          </p:nvSpPr>
          <p:spPr>
            <a:xfrm>
              <a:off x="756107" y="1981199"/>
              <a:ext cx="234493" cy="1227077"/>
            </a:xfrm>
            <a:prstGeom prst="leftBrace">
              <a:avLst>
                <a:gd name="adj1" fmla="val 8333"/>
                <a:gd name="adj2" fmla="val 50000"/>
              </a:avLst>
            </a:prstGeom>
            <a:noFill/>
            <a:ln w="190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
          <p:nvSpPr>
            <p:cNvPr id="201" name="Google Shape;201;p3"/>
            <p:cNvSpPr txBox="1"/>
            <p:nvPr/>
          </p:nvSpPr>
          <p:spPr>
            <a:xfrm>
              <a:off x="218261" y="2477623"/>
              <a:ext cx="543739" cy="276999"/>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200" b="1">
                  <a:solidFill>
                    <a:schemeClr val="dk1"/>
                  </a:solidFill>
                  <a:latin typeface="Arial"/>
                  <a:ea typeface="Arial"/>
                  <a:cs typeface="Arial"/>
                  <a:sym typeface="Arial"/>
                </a:rPr>
                <a:t>1 GB</a:t>
              </a:r>
              <a:endParaRPr/>
            </a:p>
          </p:txBody>
        </p:sp>
      </p:grpSp>
      <p:sp>
        <p:nvSpPr>
          <p:cNvPr id="202" name="Google Shape;202;p3"/>
          <p:cNvSpPr/>
          <p:nvPr/>
        </p:nvSpPr>
        <p:spPr>
          <a:xfrm rot="5400000">
            <a:off x="3075500" y="5230300"/>
            <a:ext cx="260197" cy="2143998"/>
          </a:xfrm>
          <a:prstGeom prst="rightBrace">
            <a:avLst>
              <a:gd name="adj1" fmla="val 8333"/>
              <a:gd name="adj2" fmla="val 50000"/>
            </a:avLst>
          </a:prstGeom>
          <a:noFill/>
          <a:ln w="190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
        <p:nvSpPr>
          <p:cNvPr id="203" name="Google Shape;203;p3"/>
          <p:cNvSpPr txBox="1"/>
          <p:nvPr/>
        </p:nvSpPr>
        <p:spPr>
          <a:xfrm>
            <a:off x="2590800" y="6428601"/>
            <a:ext cx="1268296"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Gill Sans"/>
                <a:ea typeface="Gill Sans"/>
                <a:cs typeface="Gill Sans"/>
                <a:sym typeface="Gill Sans"/>
              </a:rPr>
              <a:t>One Byte (8 bits)</a:t>
            </a:r>
            <a:endParaRPr/>
          </a:p>
        </p:txBody>
      </p:sp>
      <p:grpSp>
        <p:nvGrpSpPr>
          <p:cNvPr id="204" name="Google Shape;204;p3"/>
          <p:cNvGrpSpPr/>
          <p:nvPr/>
        </p:nvGrpSpPr>
        <p:grpSpPr>
          <a:xfrm>
            <a:off x="4373188" y="1319169"/>
            <a:ext cx="864591" cy="4807498"/>
            <a:chOff x="4373188" y="1319169"/>
            <a:chExt cx="864591" cy="4807498"/>
          </a:xfrm>
        </p:grpSpPr>
        <p:sp>
          <p:nvSpPr>
            <p:cNvPr id="205" name="Google Shape;205;p3"/>
            <p:cNvSpPr/>
            <p:nvPr/>
          </p:nvSpPr>
          <p:spPr>
            <a:xfrm>
              <a:off x="4373188" y="1319169"/>
              <a:ext cx="304800" cy="4807498"/>
            </a:xfrm>
            <a:prstGeom prst="rightBrace">
              <a:avLst>
                <a:gd name="adj1" fmla="val 8333"/>
                <a:gd name="adj2" fmla="val 50000"/>
              </a:avLst>
            </a:prstGeom>
            <a:noFill/>
            <a:ln w="190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
          <p:nvSpPr>
            <p:cNvPr id="206" name="Google Shape;206;p3"/>
            <p:cNvSpPr txBox="1"/>
            <p:nvPr/>
          </p:nvSpPr>
          <p:spPr>
            <a:xfrm>
              <a:off x="4694040" y="3582567"/>
              <a:ext cx="543739"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Arial"/>
                  <a:ea typeface="Arial"/>
                  <a:cs typeface="Arial"/>
                  <a:sym typeface="Arial"/>
                </a:rPr>
                <a:t>4 GB</a:t>
              </a:r>
              <a:endParaRPr/>
            </a:p>
          </p:txBody>
        </p:sp>
      </p:grpSp>
      <p:cxnSp>
        <p:nvCxnSpPr>
          <p:cNvPr id="207" name="Google Shape;207;p3"/>
          <p:cNvCxnSpPr/>
          <p:nvPr/>
        </p:nvCxnSpPr>
        <p:spPr>
          <a:xfrm>
            <a:off x="4277598" y="5791200"/>
            <a:ext cx="1056402" cy="0"/>
          </a:xfrm>
          <a:prstGeom prst="straightConnector1">
            <a:avLst/>
          </a:prstGeom>
          <a:noFill/>
          <a:ln w="19050" cap="flat" cmpd="sng">
            <a:solidFill>
              <a:schemeClr val="accent1"/>
            </a:solidFill>
            <a:prstDash val="dot"/>
            <a:round/>
            <a:headEnd type="none" w="sm" len="sm"/>
            <a:tailEnd type="triangle" w="med" len="med"/>
          </a:ln>
        </p:spPr>
      </p:cxnSp>
      <p:sp>
        <p:nvSpPr>
          <p:cNvPr id="208" name="Google Shape;208;p3"/>
          <p:cNvSpPr txBox="1"/>
          <p:nvPr/>
        </p:nvSpPr>
        <p:spPr>
          <a:xfrm>
            <a:off x="5393825" y="5608628"/>
            <a:ext cx="302230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On-chip Flash, for code &amp; data</a:t>
            </a:r>
            <a:endParaRPr/>
          </a:p>
        </p:txBody>
      </p:sp>
      <p:cxnSp>
        <p:nvCxnSpPr>
          <p:cNvPr id="209" name="Google Shape;209;p3"/>
          <p:cNvCxnSpPr/>
          <p:nvPr/>
        </p:nvCxnSpPr>
        <p:spPr>
          <a:xfrm>
            <a:off x="4301432" y="5235786"/>
            <a:ext cx="1056402" cy="0"/>
          </a:xfrm>
          <a:prstGeom prst="straightConnector1">
            <a:avLst/>
          </a:prstGeom>
          <a:noFill/>
          <a:ln w="19050" cap="flat" cmpd="sng">
            <a:solidFill>
              <a:schemeClr val="accent1"/>
            </a:solidFill>
            <a:prstDash val="dot"/>
            <a:round/>
            <a:headEnd type="none" w="sm" len="sm"/>
            <a:tailEnd type="triangle" w="med" len="med"/>
          </a:ln>
        </p:spPr>
      </p:cxnSp>
      <p:sp>
        <p:nvSpPr>
          <p:cNvPr id="210" name="Google Shape;210;p3"/>
          <p:cNvSpPr txBox="1"/>
          <p:nvPr/>
        </p:nvSpPr>
        <p:spPr>
          <a:xfrm>
            <a:off x="5417659" y="5053214"/>
            <a:ext cx="366914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On-chip RAM, for heap, stack, &amp; code</a:t>
            </a:r>
            <a:endParaRPr/>
          </a:p>
        </p:txBody>
      </p:sp>
      <p:cxnSp>
        <p:nvCxnSpPr>
          <p:cNvPr id="211" name="Google Shape;211;p3"/>
          <p:cNvCxnSpPr/>
          <p:nvPr/>
        </p:nvCxnSpPr>
        <p:spPr>
          <a:xfrm>
            <a:off x="4310282" y="4682231"/>
            <a:ext cx="1056402" cy="0"/>
          </a:xfrm>
          <a:prstGeom prst="straightConnector1">
            <a:avLst/>
          </a:prstGeom>
          <a:noFill/>
          <a:ln w="19050" cap="flat" cmpd="sng">
            <a:solidFill>
              <a:schemeClr val="accent1"/>
            </a:solidFill>
            <a:prstDash val="dot"/>
            <a:round/>
            <a:headEnd type="none" w="sm" len="sm"/>
            <a:tailEnd type="triangle" w="med" len="med"/>
          </a:ln>
        </p:spPr>
      </p:cxnSp>
      <p:sp>
        <p:nvSpPr>
          <p:cNvPr id="212" name="Google Shape;212;p3"/>
          <p:cNvSpPr txBox="1"/>
          <p:nvPr/>
        </p:nvSpPr>
        <p:spPr>
          <a:xfrm>
            <a:off x="5426509" y="4499659"/>
            <a:ext cx="333905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AHB &amp; APB, such as timers, GPIO</a:t>
            </a:r>
            <a:endParaRPr/>
          </a:p>
        </p:txBody>
      </p:sp>
      <p:cxnSp>
        <p:nvCxnSpPr>
          <p:cNvPr id="213" name="Google Shape;213;p3"/>
          <p:cNvCxnSpPr/>
          <p:nvPr/>
        </p:nvCxnSpPr>
        <p:spPr>
          <a:xfrm>
            <a:off x="4319748" y="3859566"/>
            <a:ext cx="1056402" cy="0"/>
          </a:xfrm>
          <a:prstGeom prst="straightConnector1">
            <a:avLst/>
          </a:prstGeom>
          <a:noFill/>
          <a:ln w="19050" cap="flat" cmpd="sng">
            <a:solidFill>
              <a:schemeClr val="accent1"/>
            </a:solidFill>
            <a:prstDash val="dot"/>
            <a:round/>
            <a:headEnd type="none" w="sm" len="sm"/>
            <a:tailEnd type="triangle" w="med" len="med"/>
          </a:ln>
        </p:spPr>
      </p:cxnSp>
      <p:sp>
        <p:nvSpPr>
          <p:cNvPr id="214" name="Google Shape;214;p3"/>
          <p:cNvSpPr txBox="1"/>
          <p:nvPr/>
        </p:nvSpPr>
        <p:spPr>
          <a:xfrm>
            <a:off x="5435975" y="3676994"/>
            <a:ext cx="259699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Off-chip memory for data</a:t>
            </a:r>
            <a:endParaRPr/>
          </a:p>
        </p:txBody>
      </p:sp>
      <p:cxnSp>
        <p:nvCxnSpPr>
          <p:cNvPr id="215" name="Google Shape;215;p3"/>
          <p:cNvCxnSpPr/>
          <p:nvPr/>
        </p:nvCxnSpPr>
        <p:spPr>
          <a:xfrm>
            <a:off x="4274692" y="2635734"/>
            <a:ext cx="1056402" cy="0"/>
          </a:xfrm>
          <a:prstGeom prst="straightConnector1">
            <a:avLst/>
          </a:prstGeom>
          <a:noFill/>
          <a:ln w="19050" cap="flat" cmpd="sng">
            <a:solidFill>
              <a:schemeClr val="accent1"/>
            </a:solidFill>
            <a:prstDash val="dot"/>
            <a:round/>
            <a:headEnd type="none" w="sm" len="sm"/>
            <a:tailEnd type="triangle" w="med" len="med"/>
          </a:ln>
        </p:spPr>
      </p:cxnSp>
      <p:sp>
        <p:nvSpPr>
          <p:cNvPr id="216" name="Google Shape;216;p3"/>
          <p:cNvSpPr txBox="1"/>
          <p:nvPr/>
        </p:nvSpPr>
        <p:spPr>
          <a:xfrm>
            <a:off x="5390919" y="2453162"/>
            <a:ext cx="168321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Such as SD card</a:t>
            </a:r>
            <a:endParaRPr/>
          </a:p>
        </p:txBody>
      </p:sp>
      <p:cxnSp>
        <p:nvCxnSpPr>
          <p:cNvPr id="217" name="Google Shape;217;p3"/>
          <p:cNvCxnSpPr/>
          <p:nvPr/>
        </p:nvCxnSpPr>
        <p:spPr>
          <a:xfrm>
            <a:off x="4261530" y="1656581"/>
            <a:ext cx="1056402" cy="0"/>
          </a:xfrm>
          <a:prstGeom prst="straightConnector1">
            <a:avLst/>
          </a:prstGeom>
          <a:noFill/>
          <a:ln w="19050" cap="flat" cmpd="sng">
            <a:solidFill>
              <a:schemeClr val="accent1"/>
            </a:solidFill>
            <a:prstDash val="dot"/>
            <a:round/>
            <a:headEnd type="none" w="sm" len="sm"/>
            <a:tailEnd type="triangle" w="med" len="med"/>
          </a:ln>
        </p:spPr>
      </p:cxnSp>
      <p:sp>
        <p:nvSpPr>
          <p:cNvPr id="218" name="Google Shape;218;p3"/>
          <p:cNvSpPr txBox="1"/>
          <p:nvPr/>
        </p:nvSpPr>
        <p:spPr>
          <a:xfrm>
            <a:off x="5377757" y="1334869"/>
            <a:ext cx="3073425"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NVIC, System Timer, SCB, vendor-specific memory</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0"/>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1"/>
                                          </p:stCondLst>
                                        </p:cTn>
                                        <p:tgtEl>
                                          <p:spTgt spid="204"/>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17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8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7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8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1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9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1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1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7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9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1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1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7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95"/>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17"/>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2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g2479a032235_0_0"/>
          <p:cNvSpPr txBox="1">
            <a:spLocks noGrp="1"/>
          </p:cNvSpPr>
          <p:nvPr>
            <p:ph type="title"/>
          </p:nvPr>
        </p:nvSpPr>
        <p:spPr>
          <a:xfrm>
            <a:off x="457200" y="152400"/>
            <a:ext cx="8229600" cy="9906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SzPts val="990"/>
              <a:buNone/>
            </a:pPr>
            <a:r>
              <a:rPr lang="en-US" sz="2480"/>
              <a:t>Advanced Microcontroller Bus Architecture (AMBA)</a:t>
            </a:r>
            <a:endParaRPr sz="2480"/>
          </a:p>
        </p:txBody>
      </p:sp>
      <p:sp>
        <p:nvSpPr>
          <p:cNvPr id="225" name="Google Shape;225;g2479a032235_0_0"/>
          <p:cNvSpPr txBox="1">
            <a:spLocks noGrp="1"/>
          </p:cNvSpPr>
          <p:nvPr>
            <p:ph type="sldNum" idx="12"/>
          </p:nvPr>
        </p:nvSpPr>
        <p:spPr>
          <a:xfrm>
            <a:off x="612648" y="6356350"/>
            <a:ext cx="1981200" cy="365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fld id="{00000000-1234-1234-1234-123412341234}" type="slidenum">
              <a:rPr lang="en-US"/>
              <a:t>7</a:t>
            </a:fld>
            <a:endParaRPr/>
          </a:p>
        </p:txBody>
      </p:sp>
      <p:sp>
        <p:nvSpPr>
          <p:cNvPr id="226" name="Google Shape;226;g2479a032235_0_0"/>
          <p:cNvSpPr txBox="1">
            <a:spLocks noGrp="1"/>
          </p:cNvSpPr>
          <p:nvPr>
            <p:ph type="body" idx="1"/>
          </p:nvPr>
        </p:nvSpPr>
        <p:spPr>
          <a:xfrm>
            <a:off x="457200" y="1219200"/>
            <a:ext cx="8229600" cy="4937700"/>
          </a:xfrm>
          <a:prstGeom prst="rect">
            <a:avLst/>
          </a:prstGeom>
        </p:spPr>
        <p:txBody>
          <a:bodyPr spcFirstLastPara="1" wrap="square" lIns="91425" tIns="45700" rIns="91425" bIns="45700" anchor="t" anchorCtr="0">
            <a:normAutofit/>
          </a:bodyPr>
          <a:lstStyle/>
          <a:p>
            <a:pPr marL="0" lvl="0" indent="0" algn="l" rtl="0">
              <a:spcBef>
                <a:spcPts val="600"/>
              </a:spcBef>
              <a:spcAft>
                <a:spcPts val="0"/>
              </a:spcAft>
              <a:buNone/>
            </a:pPr>
            <a:r>
              <a:rPr lang="en-US"/>
              <a:t>APB: Advanced Peripheral Bus</a:t>
            </a:r>
            <a:endParaRPr/>
          </a:p>
          <a:p>
            <a:pPr marL="0" lvl="0" indent="0" algn="l" rtl="0">
              <a:spcBef>
                <a:spcPts val="600"/>
              </a:spcBef>
              <a:spcAft>
                <a:spcPts val="0"/>
              </a:spcAft>
              <a:buNone/>
            </a:pPr>
            <a:r>
              <a:rPr lang="en-US"/>
              <a:t>AHB: Advanced High-performance Bus</a:t>
            </a:r>
            <a:endParaRPr/>
          </a:p>
          <a:p>
            <a:pPr marL="0" lvl="0" indent="0" algn="l" rtl="0">
              <a:spcBef>
                <a:spcPts val="600"/>
              </a:spcBef>
              <a:spcAft>
                <a:spcPts val="0"/>
              </a:spcAft>
              <a:buNone/>
            </a:pPr>
            <a:r>
              <a:rPr lang="en-US"/>
              <a:t>ASB: Advanced System Bus</a:t>
            </a:r>
            <a:endParaRPr/>
          </a:p>
          <a:p>
            <a:pPr marL="0" lvl="0" indent="0" algn="l" rtl="0">
              <a:spcBef>
                <a:spcPts val="600"/>
              </a:spcBef>
              <a:spcAft>
                <a:spcPts val="0"/>
              </a:spcAft>
              <a:buClr>
                <a:schemeClr val="dk1"/>
              </a:buClr>
              <a:buSzPts val="1100"/>
              <a:buFont typeface="Arial"/>
              <a:buNone/>
            </a:pPr>
            <a:r>
              <a:rPr lang="en-US"/>
              <a:t>MTB: Micro Trace Buffer</a:t>
            </a:r>
            <a:endParaRPr/>
          </a:p>
          <a:p>
            <a:pPr marL="0" lvl="0" indent="0" algn="l" rtl="0">
              <a:spcBef>
                <a:spcPts val="600"/>
              </a:spcBef>
              <a:spcAft>
                <a:spcPts val="0"/>
              </a:spcAft>
              <a:buClr>
                <a:schemeClr val="dk1"/>
              </a:buClr>
              <a:buSzPts val="1100"/>
              <a:buFont typeface="Arial"/>
              <a:buNone/>
            </a:pPr>
            <a:r>
              <a:rPr lang="en-US"/>
              <a:t>SCB: System Control Block</a:t>
            </a:r>
            <a:endParaRPr/>
          </a:p>
          <a:p>
            <a:pPr marL="0" lvl="0" indent="0" algn="l" rtl="0">
              <a:spcBef>
                <a:spcPts val="600"/>
              </a:spcBef>
              <a:spcAft>
                <a:spcPts val="0"/>
              </a:spcAft>
              <a:buNone/>
            </a:pPr>
            <a:endParaRPr/>
          </a:p>
        </p:txBody>
      </p:sp>
      <p:pic>
        <p:nvPicPr>
          <p:cNvPr id="227" name="Google Shape;227;g2479a032235_0_0"/>
          <p:cNvPicPr preferRelativeResize="0"/>
          <p:nvPr/>
        </p:nvPicPr>
        <p:blipFill>
          <a:blip r:embed="rId3">
            <a:alphaModFix/>
          </a:blip>
          <a:stretch>
            <a:fillRect/>
          </a:stretch>
        </p:blipFill>
        <p:spPr>
          <a:xfrm>
            <a:off x="1190375" y="3751298"/>
            <a:ext cx="6157200" cy="26587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4"/>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Memory Map of STM32L4</a:t>
            </a:r>
            <a:endParaRPr/>
          </a:p>
        </p:txBody>
      </p:sp>
      <p:sp>
        <p:nvSpPr>
          <p:cNvPr id="234" name="Google Shape;234;p4"/>
          <p:cNvSpPr txBox="1">
            <a:spLocks noGrp="1"/>
          </p:cNvSpPr>
          <p:nvPr>
            <p:ph type="sldNum" idx="12"/>
          </p:nvPr>
        </p:nvSpPr>
        <p:spPr>
          <a:xfrm>
            <a:off x="609600" y="6384754"/>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8</a:t>
            </a:fld>
            <a:endParaRPr/>
          </a:p>
        </p:txBody>
      </p:sp>
      <p:sp>
        <p:nvSpPr>
          <p:cNvPr id="235" name="Google Shape;235;p4"/>
          <p:cNvSpPr/>
          <p:nvPr/>
        </p:nvSpPr>
        <p:spPr>
          <a:xfrm>
            <a:off x="2134460" y="5562600"/>
            <a:ext cx="2136648" cy="558115"/>
          </a:xfrm>
          <a:prstGeom prst="rect">
            <a:avLst/>
          </a:prstGeom>
          <a:solidFill>
            <a:srgbClr val="0000FF"/>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Code</a:t>
            </a:r>
            <a:endParaRPr/>
          </a:p>
        </p:txBody>
      </p:sp>
      <p:sp>
        <p:nvSpPr>
          <p:cNvPr id="236" name="Google Shape;236;p4"/>
          <p:cNvSpPr/>
          <p:nvPr/>
        </p:nvSpPr>
        <p:spPr>
          <a:xfrm>
            <a:off x="2134460" y="4958902"/>
            <a:ext cx="2136648" cy="595882"/>
          </a:xfrm>
          <a:prstGeom prst="rect">
            <a:avLst/>
          </a:prstGeom>
          <a:solidFill>
            <a:srgbClr val="FF0000"/>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SRAM</a:t>
            </a:r>
            <a:endParaRPr/>
          </a:p>
        </p:txBody>
      </p:sp>
      <p:sp>
        <p:nvSpPr>
          <p:cNvPr id="237" name="Google Shape;237;p4"/>
          <p:cNvSpPr/>
          <p:nvPr/>
        </p:nvSpPr>
        <p:spPr>
          <a:xfrm>
            <a:off x="2134460" y="4373780"/>
            <a:ext cx="2136648" cy="568094"/>
          </a:xfrm>
          <a:prstGeom prst="rect">
            <a:avLst/>
          </a:prstGeom>
          <a:solidFill>
            <a:srgbClr val="4F6128"/>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Peripheral</a:t>
            </a:r>
            <a:endParaRPr/>
          </a:p>
        </p:txBody>
      </p:sp>
      <p:sp>
        <p:nvSpPr>
          <p:cNvPr id="238" name="Google Shape;238;p4"/>
          <p:cNvSpPr/>
          <p:nvPr/>
        </p:nvSpPr>
        <p:spPr>
          <a:xfrm>
            <a:off x="2130552" y="1945985"/>
            <a:ext cx="2136648" cy="1203853"/>
          </a:xfrm>
          <a:prstGeom prst="rect">
            <a:avLst/>
          </a:prstGeom>
          <a:solidFill>
            <a:srgbClr val="0F243E"/>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External Device</a:t>
            </a:r>
            <a:endParaRPr/>
          </a:p>
        </p:txBody>
      </p:sp>
      <p:sp>
        <p:nvSpPr>
          <p:cNvPr id="239" name="Google Shape;239;p4"/>
          <p:cNvSpPr/>
          <p:nvPr/>
        </p:nvSpPr>
        <p:spPr>
          <a:xfrm>
            <a:off x="2132680" y="3161488"/>
            <a:ext cx="2136648" cy="1212292"/>
          </a:xfrm>
          <a:prstGeom prst="rect">
            <a:avLst/>
          </a:prstGeom>
          <a:solidFill>
            <a:srgbClr val="3F3151"/>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External RAM</a:t>
            </a:r>
            <a:endParaRPr/>
          </a:p>
        </p:txBody>
      </p:sp>
      <p:sp>
        <p:nvSpPr>
          <p:cNvPr id="240" name="Google Shape;240;p4"/>
          <p:cNvSpPr/>
          <p:nvPr/>
        </p:nvSpPr>
        <p:spPr>
          <a:xfrm>
            <a:off x="2130552" y="1376822"/>
            <a:ext cx="2136648" cy="548136"/>
          </a:xfrm>
          <a:prstGeom prst="rect">
            <a:avLst/>
          </a:prstGeom>
          <a:solidFill>
            <a:srgbClr val="7030A0"/>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System</a:t>
            </a:r>
            <a:endParaRPr/>
          </a:p>
        </p:txBody>
      </p:sp>
      <p:sp>
        <p:nvSpPr>
          <p:cNvPr id="241" name="Google Shape;241;p4"/>
          <p:cNvSpPr/>
          <p:nvPr/>
        </p:nvSpPr>
        <p:spPr>
          <a:xfrm>
            <a:off x="2130552" y="1376822"/>
            <a:ext cx="2136648" cy="4743893"/>
          </a:xfrm>
          <a:prstGeom prst="rect">
            <a:avLst/>
          </a:prstGeom>
          <a:noFill/>
          <a:ln w="28575"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242" name="Google Shape;242;p4"/>
          <p:cNvSpPr txBox="1"/>
          <p:nvPr/>
        </p:nvSpPr>
        <p:spPr>
          <a:xfrm>
            <a:off x="955932" y="5944795"/>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0x00000000</a:t>
            </a:r>
            <a:endParaRPr/>
          </a:p>
        </p:txBody>
      </p:sp>
      <p:cxnSp>
        <p:nvCxnSpPr>
          <p:cNvPr id="243" name="Google Shape;243;p4"/>
          <p:cNvCxnSpPr>
            <a:endCxn id="244" idx="1"/>
          </p:cNvCxnSpPr>
          <p:nvPr/>
        </p:nvCxnSpPr>
        <p:spPr>
          <a:xfrm>
            <a:off x="4275153" y="4969004"/>
            <a:ext cx="1294200" cy="1089600"/>
          </a:xfrm>
          <a:prstGeom prst="straightConnector1">
            <a:avLst/>
          </a:prstGeom>
          <a:noFill/>
          <a:ln w="28575" cap="flat" cmpd="sng">
            <a:solidFill>
              <a:schemeClr val="accent1"/>
            </a:solidFill>
            <a:prstDash val="solid"/>
            <a:round/>
            <a:headEnd type="none" w="sm" len="sm"/>
            <a:tailEnd type="triangle" w="med" len="med"/>
          </a:ln>
        </p:spPr>
      </p:cxnSp>
      <p:cxnSp>
        <p:nvCxnSpPr>
          <p:cNvPr id="245" name="Google Shape;245;p4"/>
          <p:cNvCxnSpPr>
            <a:endCxn id="246" idx="1"/>
          </p:cNvCxnSpPr>
          <p:nvPr/>
        </p:nvCxnSpPr>
        <p:spPr>
          <a:xfrm rot="10800000" flipH="1">
            <a:off x="4274916" y="3085396"/>
            <a:ext cx="1276800" cy="1275000"/>
          </a:xfrm>
          <a:prstGeom prst="straightConnector1">
            <a:avLst/>
          </a:prstGeom>
          <a:noFill/>
          <a:ln w="28575" cap="flat" cmpd="sng">
            <a:solidFill>
              <a:schemeClr val="accent1"/>
            </a:solidFill>
            <a:prstDash val="solid"/>
            <a:round/>
            <a:headEnd type="none" w="sm" len="sm"/>
            <a:tailEnd type="triangle" w="med" len="med"/>
          </a:ln>
        </p:spPr>
      </p:cxnSp>
      <p:grpSp>
        <p:nvGrpSpPr>
          <p:cNvPr id="247" name="Google Shape;247;p4"/>
          <p:cNvGrpSpPr/>
          <p:nvPr/>
        </p:nvGrpSpPr>
        <p:grpSpPr>
          <a:xfrm>
            <a:off x="5551716" y="2931507"/>
            <a:ext cx="3286824" cy="3280985"/>
            <a:chOff x="5551716" y="2931507"/>
            <a:chExt cx="3286824" cy="3280985"/>
          </a:xfrm>
        </p:grpSpPr>
        <p:grpSp>
          <p:nvGrpSpPr>
            <p:cNvPr id="248" name="Google Shape;248;p4"/>
            <p:cNvGrpSpPr/>
            <p:nvPr/>
          </p:nvGrpSpPr>
          <p:grpSpPr>
            <a:xfrm>
              <a:off x="5551716" y="2931507"/>
              <a:ext cx="3286824" cy="3280985"/>
              <a:chOff x="4717224" y="1376822"/>
              <a:chExt cx="3286824" cy="3280985"/>
            </a:xfrm>
          </p:grpSpPr>
          <p:sp>
            <p:nvSpPr>
              <p:cNvPr id="249" name="Google Shape;249;p4"/>
              <p:cNvSpPr/>
              <p:nvPr/>
            </p:nvSpPr>
            <p:spPr>
              <a:xfrm>
                <a:off x="5867400" y="1518591"/>
                <a:ext cx="2136648" cy="2977209"/>
              </a:xfrm>
              <a:prstGeom prst="rect">
                <a:avLst/>
              </a:prstGeom>
              <a:solidFill>
                <a:srgbClr val="4F6128"/>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250" name="Google Shape;250;p4"/>
              <p:cNvSpPr/>
              <p:nvPr/>
            </p:nvSpPr>
            <p:spPr>
              <a:xfrm>
                <a:off x="5867400" y="3810000"/>
                <a:ext cx="2136648" cy="454222"/>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rgbClr val="C00000"/>
                    </a:solidFill>
                    <a:latin typeface="Gill Sans"/>
                    <a:ea typeface="Gill Sans"/>
                    <a:cs typeface="Gill Sans"/>
                    <a:sym typeface="Gill Sans"/>
                  </a:rPr>
                  <a:t>GPIO A (</a:t>
                </a:r>
                <a:r>
                  <a:rPr lang="en-US" sz="1800">
                    <a:solidFill>
                      <a:srgbClr val="C00000"/>
                    </a:solidFill>
                    <a:latin typeface="Consolas"/>
                    <a:ea typeface="Consolas"/>
                    <a:cs typeface="Consolas"/>
                    <a:sym typeface="Consolas"/>
                  </a:rPr>
                  <a:t>1</a:t>
                </a:r>
                <a:r>
                  <a:rPr lang="en-US" sz="1800">
                    <a:solidFill>
                      <a:srgbClr val="C00000"/>
                    </a:solidFill>
                    <a:latin typeface="Gill Sans"/>
                    <a:ea typeface="Gill Sans"/>
                    <a:cs typeface="Gill Sans"/>
                    <a:sym typeface="Gill Sans"/>
                  </a:rPr>
                  <a:t> KB)</a:t>
                </a:r>
                <a:endParaRPr/>
              </a:p>
            </p:txBody>
          </p:sp>
          <p:sp>
            <p:nvSpPr>
              <p:cNvPr id="251" name="Google Shape;251;p4"/>
              <p:cNvSpPr/>
              <p:nvPr/>
            </p:nvSpPr>
            <p:spPr>
              <a:xfrm>
                <a:off x="5867400" y="3352799"/>
                <a:ext cx="2136648" cy="454222"/>
              </a:xfrm>
              <a:prstGeom prst="rect">
                <a:avLst/>
              </a:prstGeom>
              <a:solidFill>
                <a:srgbClr val="4F6128"/>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GPIO B (</a:t>
                </a:r>
                <a:r>
                  <a:rPr lang="en-US" sz="1800">
                    <a:solidFill>
                      <a:schemeClr val="lt1"/>
                    </a:solidFill>
                    <a:latin typeface="Consolas"/>
                    <a:ea typeface="Consolas"/>
                    <a:cs typeface="Consolas"/>
                    <a:sym typeface="Consolas"/>
                  </a:rPr>
                  <a:t>1</a:t>
                </a:r>
                <a:r>
                  <a:rPr lang="en-US" sz="1800">
                    <a:solidFill>
                      <a:schemeClr val="lt1"/>
                    </a:solidFill>
                    <a:latin typeface="Gill Sans"/>
                    <a:ea typeface="Gill Sans"/>
                    <a:cs typeface="Gill Sans"/>
                    <a:sym typeface="Gill Sans"/>
                  </a:rPr>
                  <a:t> KB)</a:t>
                </a:r>
                <a:endParaRPr/>
              </a:p>
            </p:txBody>
          </p:sp>
          <p:sp>
            <p:nvSpPr>
              <p:cNvPr id="252" name="Google Shape;252;p4"/>
              <p:cNvSpPr txBox="1"/>
              <p:nvPr/>
            </p:nvSpPr>
            <p:spPr>
              <a:xfrm>
                <a:off x="4726577" y="4131749"/>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rgbClr val="C00000"/>
                    </a:solidFill>
                    <a:latin typeface="Consolas"/>
                    <a:ea typeface="Consolas"/>
                    <a:cs typeface="Consolas"/>
                    <a:sym typeface="Consolas"/>
                  </a:rPr>
                  <a:t>0x48000000</a:t>
                </a:r>
                <a:endParaRPr/>
              </a:p>
            </p:txBody>
          </p:sp>
          <p:sp>
            <p:nvSpPr>
              <p:cNvPr id="253" name="Google Shape;253;p4"/>
              <p:cNvSpPr txBox="1"/>
              <p:nvPr/>
            </p:nvSpPr>
            <p:spPr>
              <a:xfrm>
                <a:off x="4726577" y="3634734"/>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0x48000400</a:t>
                </a:r>
                <a:endParaRPr/>
              </a:p>
            </p:txBody>
          </p:sp>
          <p:sp>
            <p:nvSpPr>
              <p:cNvPr id="254" name="Google Shape;254;p4"/>
              <p:cNvSpPr txBox="1"/>
              <p:nvPr/>
            </p:nvSpPr>
            <p:spPr>
              <a:xfrm>
                <a:off x="4726577" y="3203019"/>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0x48000800</a:t>
                </a:r>
                <a:endParaRPr/>
              </a:p>
            </p:txBody>
          </p:sp>
          <p:sp>
            <p:nvSpPr>
              <p:cNvPr id="255" name="Google Shape;255;p4"/>
              <p:cNvSpPr txBox="1"/>
              <p:nvPr/>
            </p:nvSpPr>
            <p:spPr>
              <a:xfrm>
                <a:off x="4733108" y="2731071"/>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0x48000C00</a:t>
                </a:r>
                <a:endParaRPr/>
              </a:p>
            </p:txBody>
          </p:sp>
          <p:sp>
            <p:nvSpPr>
              <p:cNvPr id="256" name="Google Shape;256;p4"/>
              <p:cNvSpPr/>
              <p:nvPr/>
            </p:nvSpPr>
            <p:spPr>
              <a:xfrm>
                <a:off x="5867400" y="2886449"/>
                <a:ext cx="2136648" cy="454222"/>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GPIO C (</a:t>
                </a:r>
                <a:r>
                  <a:rPr lang="en-US" sz="1800">
                    <a:solidFill>
                      <a:schemeClr val="lt1"/>
                    </a:solidFill>
                    <a:latin typeface="Consolas"/>
                    <a:ea typeface="Consolas"/>
                    <a:cs typeface="Consolas"/>
                    <a:sym typeface="Consolas"/>
                  </a:rPr>
                  <a:t>1</a:t>
                </a:r>
                <a:r>
                  <a:rPr lang="en-US" sz="1800">
                    <a:solidFill>
                      <a:schemeClr val="lt1"/>
                    </a:solidFill>
                    <a:latin typeface="Gill Sans"/>
                    <a:ea typeface="Gill Sans"/>
                    <a:cs typeface="Gill Sans"/>
                    <a:sym typeface="Gill Sans"/>
                  </a:rPr>
                  <a:t> KB)</a:t>
                </a:r>
                <a:endParaRPr/>
              </a:p>
            </p:txBody>
          </p:sp>
          <p:sp>
            <p:nvSpPr>
              <p:cNvPr id="257" name="Google Shape;257;p4"/>
              <p:cNvSpPr/>
              <p:nvPr/>
            </p:nvSpPr>
            <p:spPr>
              <a:xfrm>
                <a:off x="5867400" y="2415990"/>
                <a:ext cx="2136648" cy="454222"/>
              </a:xfrm>
              <a:prstGeom prst="rect">
                <a:avLst/>
              </a:prstGeom>
              <a:solidFill>
                <a:srgbClr val="4F6128"/>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GPIO D (</a:t>
                </a:r>
                <a:r>
                  <a:rPr lang="en-US" sz="1800">
                    <a:solidFill>
                      <a:schemeClr val="lt1"/>
                    </a:solidFill>
                    <a:latin typeface="Consolas"/>
                    <a:ea typeface="Consolas"/>
                    <a:cs typeface="Consolas"/>
                    <a:sym typeface="Consolas"/>
                  </a:rPr>
                  <a:t>1</a:t>
                </a:r>
                <a:r>
                  <a:rPr lang="en-US" sz="1800">
                    <a:solidFill>
                      <a:schemeClr val="lt1"/>
                    </a:solidFill>
                    <a:latin typeface="Gill Sans"/>
                    <a:ea typeface="Gill Sans"/>
                    <a:cs typeface="Gill Sans"/>
                    <a:sym typeface="Gill Sans"/>
                  </a:rPr>
                  <a:t> KB)</a:t>
                </a:r>
                <a:endParaRPr/>
              </a:p>
            </p:txBody>
          </p:sp>
          <p:sp>
            <p:nvSpPr>
              <p:cNvPr id="258" name="Google Shape;258;p4"/>
              <p:cNvSpPr txBox="1"/>
              <p:nvPr/>
            </p:nvSpPr>
            <p:spPr>
              <a:xfrm>
                <a:off x="4724400" y="2245864"/>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0x48001000</a:t>
                </a:r>
                <a:endParaRPr/>
              </a:p>
            </p:txBody>
          </p:sp>
          <p:sp>
            <p:nvSpPr>
              <p:cNvPr id="244" name="Google Shape;244;p4"/>
              <p:cNvSpPr txBox="1"/>
              <p:nvPr/>
            </p:nvSpPr>
            <p:spPr>
              <a:xfrm>
                <a:off x="4734861" y="4350030"/>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0x40000000</a:t>
                </a:r>
                <a:endParaRPr/>
              </a:p>
            </p:txBody>
          </p:sp>
          <p:sp>
            <p:nvSpPr>
              <p:cNvPr id="246" name="Google Shape;246;p4"/>
              <p:cNvSpPr txBox="1"/>
              <p:nvPr/>
            </p:nvSpPr>
            <p:spPr>
              <a:xfrm>
                <a:off x="4717224" y="1376822"/>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0x60000000</a:t>
                </a:r>
                <a:endParaRPr/>
              </a:p>
            </p:txBody>
          </p:sp>
          <p:sp>
            <p:nvSpPr>
              <p:cNvPr id="259" name="Google Shape;259;p4"/>
              <p:cNvSpPr txBox="1"/>
              <p:nvPr/>
            </p:nvSpPr>
            <p:spPr>
              <a:xfrm>
                <a:off x="6686849" y="4022385"/>
                <a:ext cx="543739"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chemeClr val="lt1"/>
                    </a:solidFill>
                    <a:latin typeface="Gill Sans"/>
                    <a:ea typeface="Gill Sans"/>
                    <a:cs typeface="Gill Sans"/>
                    <a:sym typeface="Gill Sans"/>
                  </a:rPr>
                  <a:t>…</a:t>
                </a:r>
                <a:endParaRPr/>
              </a:p>
            </p:txBody>
          </p:sp>
        </p:grpSp>
        <p:sp>
          <p:nvSpPr>
            <p:cNvPr id="260" name="Google Shape;260;p4"/>
            <p:cNvSpPr/>
            <p:nvPr/>
          </p:nvSpPr>
          <p:spPr>
            <a:xfrm>
              <a:off x="6701892" y="3085397"/>
              <a:ext cx="2136648" cy="877004"/>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a:solidFill>
                    <a:schemeClr val="lt1"/>
                  </a:solidFill>
                  <a:latin typeface="Gill Sans"/>
                  <a:ea typeface="Gill Sans"/>
                  <a:cs typeface="Gill Sans"/>
                  <a:sym typeface="Gill Sans"/>
                </a:rPr>
                <a:t>…</a:t>
              </a:r>
              <a:endParaRPr/>
            </a:p>
          </p:txBody>
        </p:sp>
      </p:grpSp>
      <p:grpSp>
        <p:nvGrpSpPr>
          <p:cNvPr id="261" name="Google Shape;261;p4"/>
          <p:cNvGrpSpPr/>
          <p:nvPr/>
        </p:nvGrpSpPr>
        <p:grpSpPr>
          <a:xfrm>
            <a:off x="138346" y="5410200"/>
            <a:ext cx="1995254" cy="690090"/>
            <a:chOff x="138346" y="5410200"/>
            <a:chExt cx="1995254" cy="690090"/>
          </a:xfrm>
        </p:grpSpPr>
        <p:sp>
          <p:nvSpPr>
            <p:cNvPr id="262" name="Google Shape;262;p4"/>
            <p:cNvSpPr txBox="1"/>
            <p:nvPr/>
          </p:nvSpPr>
          <p:spPr>
            <a:xfrm>
              <a:off x="955072" y="5410200"/>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0x20000000</a:t>
              </a:r>
              <a:endParaRPr/>
            </a:p>
          </p:txBody>
        </p:sp>
        <p:sp>
          <p:nvSpPr>
            <p:cNvPr id="263" name="Google Shape;263;p4"/>
            <p:cNvSpPr/>
            <p:nvPr/>
          </p:nvSpPr>
          <p:spPr>
            <a:xfrm>
              <a:off x="762000" y="5562600"/>
              <a:ext cx="234493" cy="537690"/>
            </a:xfrm>
            <a:prstGeom prst="leftBrace">
              <a:avLst>
                <a:gd name="adj1" fmla="val 8333"/>
                <a:gd name="adj2" fmla="val 50000"/>
              </a:avLst>
            </a:prstGeom>
            <a:noFill/>
            <a:ln w="190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
          <p:nvSpPr>
            <p:cNvPr id="264" name="Google Shape;264;p4"/>
            <p:cNvSpPr txBox="1"/>
            <p:nvPr/>
          </p:nvSpPr>
          <p:spPr>
            <a:xfrm>
              <a:off x="138346" y="5697244"/>
              <a:ext cx="671979"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Arial"/>
                  <a:ea typeface="Arial"/>
                  <a:cs typeface="Arial"/>
                  <a:sym typeface="Arial"/>
                </a:rPr>
                <a:t>0.5 GB</a:t>
              </a:r>
              <a:endParaRPr/>
            </a:p>
          </p:txBody>
        </p:sp>
      </p:grpSp>
      <p:grpSp>
        <p:nvGrpSpPr>
          <p:cNvPr id="265" name="Google Shape;265;p4"/>
          <p:cNvGrpSpPr/>
          <p:nvPr/>
        </p:nvGrpSpPr>
        <p:grpSpPr>
          <a:xfrm>
            <a:off x="130971" y="4797623"/>
            <a:ext cx="1996533" cy="757161"/>
            <a:chOff x="130971" y="4797623"/>
            <a:chExt cx="1996533" cy="757161"/>
          </a:xfrm>
        </p:grpSpPr>
        <p:sp>
          <p:nvSpPr>
            <p:cNvPr id="266" name="Google Shape;266;p4"/>
            <p:cNvSpPr txBox="1"/>
            <p:nvPr/>
          </p:nvSpPr>
          <p:spPr>
            <a:xfrm>
              <a:off x="948976" y="4797623"/>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0x40000000</a:t>
              </a:r>
              <a:endParaRPr/>
            </a:p>
          </p:txBody>
        </p:sp>
        <p:sp>
          <p:nvSpPr>
            <p:cNvPr id="267" name="Google Shape;267;p4"/>
            <p:cNvSpPr/>
            <p:nvPr/>
          </p:nvSpPr>
          <p:spPr>
            <a:xfrm>
              <a:off x="762000" y="4960182"/>
              <a:ext cx="234493" cy="594602"/>
            </a:xfrm>
            <a:prstGeom prst="leftBrace">
              <a:avLst>
                <a:gd name="adj1" fmla="val 8333"/>
                <a:gd name="adj2" fmla="val 50000"/>
              </a:avLst>
            </a:prstGeom>
            <a:noFill/>
            <a:ln w="190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
          <p:nvSpPr>
            <p:cNvPr id="268" name="Google Shape;268;p4"/>
            <p:cNvSpPr txBox="1"/>
            <p:nvPr/>
          </p:nvSpPr>
          <p:spPr>
            <a:xfrm>
              <a:off x="130971" y="5121944"/>
              <a:ext cx="671979"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Arial"/>
                  <a:ea typeface="Arial"/>
                  <a:cs typeface="Arial"/>
                  <a:sym typeface="Arial"/>
                </a:rPr>
                <a:t>0.5 GB</a:t>
              </a:r>
              <a:endParaRPr/>
            </a:p>
          </p:txBody>
        </p:sp>
      </p:grpSp>
      <p:grpSp>
        <p:nvGrpSpPr>
          <p:cNvPr id="269" name="Google Shape;269;p4"/>
          <p:cNvGrpSpPr/>
          <p:nvPr/>
        </p:nvGrpSpPr>
        <p:grpSpPr>
          <a:xfrm>
            <a:off x="125533" y="4264223"/>
            <a:ext cx="2001111" cy="688777"/>
            <a:chOff x="125533" y="4264223"/>
            <a:chExt cx="2001111" cy="688777"/>
          </a:xfrm>
        </p:grpSpPr>
        <p:sp>
          <p:nvSpPr>
            <p:cNvPr id="270" name="Google Shape;270;p4"/>
            <p:cNvSpPr txBox="1"/>
            <p:nvPr/>
          </p:nvSpPr>
          <p:spPr>
            <a:xfrm>
              <a:off x="948116" y="4264223"/>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0x60000000</a:t>
              </a:r>
              <a:endParaRPr/>
            </a:p>
          </p:txBody>
        </p:sp>
        <p:sp>
          <p:nvSpPr>
            <p:cNvPr id="271" name="Google Shape;271;p4"/>
            <p:cNvSpPr/>
            <p:nvPr/>
          </p:nvSpPr>
          <p:spPr>
            <a:xfrm>
              <a:off x="756107" y="4396481"/>
              <a:ext cx="234493" cy="556519"/>
            </a:xfrm>
            <a:prstGeom prst="leftBrace">
              <a:avLst>
                <a:gd name="adj1" fmla="val 8333"/>
                <a:gd name="adj2" fmla="val 50000"/>
              </a:avLst>
            </a:prstGeom>
            <a:noFill/>
            <a:ln w="190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
          <p:nvSpPr>
            <p:cNvPr id="272" name="Google Shape;272;p4"/>
            <p:cNvSpPr txBox="1"/>
            <p:nvPr/>
          </p:nvSpPr>
          <p:spPr>
            <a:xfrm>
              <a:off x="125533" y="4532479"/>
              <a:ext cx="671979"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Arial"/>
                  <a:ea typeface="Arial"/>
                  <a:cs typeface="Arial"/>
                  <a:sym typeface="Arial"/>
                </a:rPr>
                <a:t>0.5 GB</a:t>
              </a:r>
              <a:endParaRPr/>
            </a:p>
          </p:txBody>
        </p:sp>
      </p:grpSp>
      <p:grpSp>
        <p:nvGrpSpPr>
          <p:cNvPr id="273" name="Google Shape;273;p4"/>
          <p:cNvGrpSpPr/>
          <p:nvPr/>
        </p:nvGrpSpPr>
        <p:grpSpPr>
          <a:xfrm>
            <a:off x="228600" y="3045022"/>
            <a:ext cx="1905000" cy="1351459"/>
            <a:chOff x="228600" y="3045022"/>
            <a:chExt cx="1905000" cy="1351459"/>
          </a:xfrm>
        </p:grpSpPr>
        <p:sp>
          <p:nvSpPr>
            <p:cNvPr id="274" name="Google Shape;274;p4"/>
            <p:cNvSpPr txBox="1"/>
            <p:nvPr/>
          </p:nvSpPr>
          <p:spPr>
            <a:xfrm>
              <a:off x="955072" y="3045022"/>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0xA0000000</a:t>
              </a:r>
              <a:endParaRPr/>
            </a:p>
          </p:txBody>
        </p:sp>
        <p:sp>
          <p:nvSpPr>
            <p:cNvPr id="275" name="Google Shape;275;p4"/>
            <p:cNvSpPr/>
            <p:nvPr/>
          </p:nvSpPr>
          <p:spPr>
            <a:xfrm>
              <a:off x="756106" y="3216093"/>
              <a:ext cx="234493" cy="1180388"/>
            </a:xfrm>
            <a:prstGeom prst="leftBrace">
              <a:avLst>
                <a:gd name="adj1" fmla="val 8333"/>
                <a:gd name="adj2" fmla="val 50000"/>
              </a:avLst>
            </a:prstGeom>
            <a:noFill/>
            <a:ln w="190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
          <p:nvSpPr>
            <p:cNvPr id="276" name="Google Shape;276;p4"/>
            <p:cNvSpPr txBox="1"/>
            <p:nvPr/>
          </p:nvSpPr>
          <p:spPr>
            <a:xfrm>
              <a:off x="228600" y="3655311"/>
              <a:ext cx="543739" cy="276999"/>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200" b="1">
                  <a:solidFill>
                    <a:schemeClr val="dk1"/>
                  </a:solidFill>
                  <a:latin typeface="Arial"/>
                  <a:ea typeface="Arial"/>
                  <a:cs typeface="Arial"/>
                  <a:sym typeface="Arial"/>
                </a:rPr>
                <a:t>1 GB</a:t>
              </a:r>
              <a:endParaRPr/>
            </a:p>
          </p:txBody>
        </p:sp>
      </p:grpSp>
      <p:sp>
        <p:nvSpPr>
          <p:cNvPr id="277" name="Google Shape;277;p4"/>
          <p:cNvSpPr txBox="1"/>
          <p:nvPr/>
        </p:nvSpPr>
        <p:spPr>
          <a:xfrm>
            <a:off x="955072" y="1210814"/>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0xFFFFFFFF</a:t>
            </a:r>
            <a:endParaRPr/>
          </a:p>
        </p:txBody>
      </p:sp>
      <p:grpSp>
        <p:nvGrpSpPr>
          <p:cNvPr id="278" name="Google Shape;278;p4"/>
          <p:cNvGrpSpPr/>
          <p:nvPr/>
        </p:nvGrpSpPr>
        <p:grpSpPr>
          <a:xfrm>
            <a:off x="65461" y="1286058"/>
            <a:ext cx="917211" cy="671531"/>
            <a:chOff x="65461" y="1286058"/>
            <a:chExt cx="917211" cy="671531"/>
          </a:xfrm>
        </p:grpSpPr>
        <p:sp>
          <p:nvSpPr>
            <p:cNvPr id="279" name="Google Shape;279;p4"/>
            <p:cNvSpPr/>
            <p:nvPr/>
          </p:nvSpPr>
          <p:spPr>
            <a:xfrm>
              <a:off x="748179" y="1286058"/>
              <a:ext cx="234493" cy="671531"/>
            </a:xfrm>
            <a:prstGeom prst="leftBrace">
              <a:avLst>
                <a:gd name="adj1" fmla="val 8333"/>
                <a:gd name="adj2" fmla="val 50000"/>
              </a:avLst>
            </a:prstGeom>
            <a:noFill/>
            <a:ln w="190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
          <p:nvSpPr>
            <p:cNvPr id="280" name="Google Shape;280;p4"/>
            <p:cNvSpPr txBox="1"/>
            <p:nvPr/>
          </p:nvSpPr>
          <p:spPr>
            <a:xfrm>
              <a:off x="65461" y="1547906"/>
              <a:ext cx="671979"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Arial"/>
                  <a:ea typeface="Arial"/>
                  <a:cs typeface="Arial"/>
                  <a:sym typeface="Arial"/>
                </a:rPr>
                <a:t>0.5 GB</a:t>
              </a:r>
              <a:endParaRPr/>
            </a:p>
          </p:txBody>
        </p:sp>
      </p:grpSp>
      <p:grpSp>
        <p:nvGrpSpPr>
          <p:cNvPr id="281" name="Google Shape;281;p4"/>
          <p:cNvGrpSpPr/>
          <p:nvPr/>
        </p:nvGrpSpPr>
        <p:grpSpPr>
          <a:xfrm>
            <a:off x="218261" y="1803701"/>
            <a:ext cx="1908383" cy="1404575"/>
            <a:chOff x="218261" y="1803701"/>
            <a:chExt cx="1908383" cy="1404575"/>
          </a:xfrm>
        </p:grpSpPr>
        <p:sp>
          <p:nvSpPr>
            <p:cNvPr id="282" name="Google Shape;282;p4"/>
            <p:cNvSpPr txBox="1"/>
            <p:nvPr/>
          </p:nvSpPr>
          <p:spPr>
            <a:xfrm>
              <a:off x="948116" y="1803701"/>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0xE0000000</a:t>
              </a:r>
              <a:endParaRPr/>
            </a:p>
          </p:txBody>
        </p:sp>
        <p:sp>
          <p:nvSpPr>
            <p:cNvPr id="283" name="Google Shape;283;p4"/>
            <p:cNvSpPr/>
            <p:nvPr/>
          </p:nvSpPr>
          <p:spPr>
            <a:xfrm>
              <a:off x="756107" y="1981199"/>
              <a:ext cx="234493" cy="1227077"/>
            </a:xfrm>
            <a:prstGeom prst="leftBrace">
              <a:avLst>
                <a:gd name="adj1" fmla="val 8333"/>
                <a:gd name="adj2" fmla="val 50000"/>
              </a:avLst>
            </a:prstGeom>
            <a:noFill/>
            <a:ln w="190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
          <p:nvSpPr>
            <p:cNvPr id="284" name="Google Shape;284;p4"/>
            <p:cNvSpPr txBox="1"/>
            <p:nvPr/>
          </p:nvSpPr>
          <p:spPr>
            <a:xfrm>
              <a:off x="218261" y="2477623"/>
              <a:ext cx="543739" cy="276999"/>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200" b="1">
                  <a:solidFill>
                    <a:schemeClr val="dk1"/>
                  </a:solidFill>
                  <a:latin typeface="Arial"/>
                  <a:ea typeface="Arial"/>
                  <a:cs typeface="Arial"/>
                  <a:sym typeface="Arial"/>
                </a:rPr>
                <a:t>1 GB</a:t>
              </a:r>
              <a:endParaRPr/>
            </a:p>
          </p:txBody>
        </p:sp>
      </p:grpSp>
      <p:sp>
        <p:nvSpPr>
          <p:cNvPr id="285" name="Google Shape;285;p4"/>
          <p:cNvSpPr/>
          <p:nvPr/>
        </p:nvSpPr>
        <p:spPr>
          <a:xfrm rot="5400000">
            <a:off x="3075500" y="5230300"/>
            <a:ext cx="260197" cy="2143998"/>
          </a:xfrm>
          <a:prstGeom prst="rightBrace">
            <a:avLst>
              <a:gd name="adj1" fmla="val 8333"/>
              <a:gd name="adj2" fmla="val 50000"/>
            </a:avLst>
          </a:prstGeom>
          <a:noFill/>
          <a:ln w="190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
        <p:nvSpPr>
          <p:cNvPr id="286" name="Google Shape;286;p4"/>
          <p:cNvSpPr txBox="1"/>
          <p:nvPr/>
        </p:nvSpPr>
        <p:spPr>
          <a:xfrm>
            <a:off x="2590800" y="6428601"/>
            <a:ext cx="1268296"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Gill Sans"/>
                <a:ea typeface="Gill Sans"/>
                <a:cs typeface="Gill Sans"/>
                <a:sym typeface="Gill Sans"/>
              </a:rPr>
              <a:t>One Byte (8 bits)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4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g2cd129da435_0_0"/>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General Purpose Input/Output (GPIO)</a:t>
            </a:r>
            <a:endParaRPr/>
          </a:p>
        </p:txBody>
      </p:sp>
      <p:sp>
        <p:nvSpPr>
          <p:cNvPr id="293" name="Google Shape;293;g2cd129da435_0_0"/>
          <p:cNvSpPr txBox="1">
            <a:spLocks noGrp="1"/>
          </p:cNvSpPr>
          <p:nvPr>
            <p:ph type="sldNum" idx="12"/>
          </p:nvPr>
        </p:nvSpPr>
        <p:spPr>
          <a:xfrm>
            <a:off x="612648" y="6356350"/>
            <a:ext cx="1981200" cy="3657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9</a:t>
            </a:fld>
            <a:endParaRPr/>
          </a:p>
        </p:txBody>
      </p:sp>
      <p:sp>
        <p:nvSpPr>
          <p:cNvPr id="294" name="Google Shape;294;g2cd129da435_0_0"/>
          <p:cNvSpPr txBox="1">
            <a:spLocks noGrp="1"/>
          </p:cNvSpPr>
          <p:nvPr>
            <p:ph type="body" idx="1"/>
          </p:nvPr>
        </p:nvSpPr>
        <p:spPr>
          <a:xfrm>
            <a:off x="5342001" y="2057400"/>
            <a:ext cx="3621900" cy="283680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1520"/>
              <a:buChar char="🞂"/>
            </a:pPr>
            <a:r>
              <a:rPr lang="en-US" sz="2000">
                <a:latin typeface="Arial"/>
                <a:ea typeface="Arial"/>
                <a:cs typeface="Arial"/>
                <a:sym typeface="Arial"/>
              </a:rPr>
              <a:t>8 GPIO Ports: </a:t>
            </a:r>
            <a:endParaRPr/>
          </a:p>
          <a:p>
            <a:pPr marL="0" lvl="0" indent="0" algn="l" rtl="0">
              <a:spcBef>
                <a:spcPts val="600"/>
              </a:spcBef>
              <a:spcAft>
                <a:spcPts val="0"/>
              </a:spcAft>
              <a:buSzPts val="1520"/>
              <a:buNone/>
            </a:pPr>
            <a:r>
              <a:rPr lang="en-US" sz="2000">
                <a:latin typeface="Arial"/>
                <a:ea typeface="Arial"/>
                <a:cs typeface="Arial"/>
                <a:sym typeface="Arial"/>
              </a:rPr>
              <a:t>    A, B, C, D, E, F, G, H</a:t>
            </a:r>
            <a:endParaRPr/>
          </a:p>
          <a:p>
            <a:pPr marL="274320" lvl="0" indent="-177800" algn="l" rtl="0">
              <a:spcBef>
                <a:spcPts val="600"/>
              </a:spcBef>
              <a:spcAft>
                <a:spcPts val="0"/>
              </a:spcAft>
              <a:buSzPts val="1520"/>
              <a:buNone/>
            </a:pPr>
            <a:endParaRPr sz="2000">
              <a:latin typeface="Arial"/>
              <a:ea typeface="Arial"/>
              <a:cs typeface="Arial"/>
              <a:sym typeface="Arial"/>
            </a:endParaRPr>
          </a:p>
          <a:p>
            <a:pPr marL="274320" lvl="0" indent="-274320" algn="l" rtl="0">
              <a:spcBef>
                <a:spcPts val="600"/>
              </a:spcBef>
              <a:spcAft>
                <a:spcPts val="0"/>
              </a:spcAft>
              <a:buSzPts val="1520"/>
              <a:buChar char="🞂"/>
            </a:pPr>
            <a:r>
              <a:rPr lang="en-US" sz="2000">
                <a:latin typeface="Arial"/>
                <a:ea typeface="Arial"/>
                <a:cs typeface="Arial"/>
                <a:sym typeface="Arial"/>
              </a:rPr>
              <a:t>Up to 16 pins in each port</a:t>
            </a:r>
            <a:endParaRPr/>
          </a:p>
        </p:txBody>
      </p:sp>
      <p:grpSp>
        <p:nvGrpSpPr>
          <p:cNvPr id="295" name="Google Shape;295;g2cd129da435_0_0"/>
          <p:cNvGrpSpPr/>
          <p:nvPr/>
        </p:nvGrpSpPr>
        <p:grpSpPr>
          <a:xfrm>
            <a:off x="152377" y="1339246"/>
            <a:ext cx="5429331" cy="4409986"/>
            <a:chOff x="1943944" y="1219200"/>
            <a:chExt cx="5904656" cy="4680520"/>
          </a:xfrm>
        </p:grpSpPr>
        <p:pic>
          <p:nvPicPr>
            <p:cNvPr id="296" name="Google Shape;296;g2cd129da435_0_0"/>
            <p:cNvPicPr preferRelativeResize="0"/>
            <p:nvPr/>
          </p:nvPicPr>
          <p:blipFill rotWithShape="1">
            <a:blip r:embed="rId3">
              <a:alphaModFix/>
            </a:blip>
            <a:srcRect/>
            <a:stretch/>
          </p:blipFill>
          <p:spPr>
            <a:xfrm>
              <a:off x="1943944" y="1219200"/>
              <a:ext cx="5904656" cy="4680520"/>
            </a:xfrm>
            <a:prstGeom prst="rect">
              <a:avLst/>
            </a:prstGeom>
            <a:noFill/>
            <a:ln>
              <a:noFill/>
            </a:ln>
          </p:spPr>
        </p:pic>
        <p:sp>
          <p:nvSpPr>
            <p:cNvPr id="297" name="Google Shape;297;g2cd129da435_0_0"/>
            <p:cNvSpPr txBox="1"/>
            <p:nvPr/>
          </p:nvSpPr>
          <p:spPr>
            <a:xfrm rot="-217910">
              <a:off x="4439349" y="4811895"/>
              <a:ext cx="1217144" cy="6862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lt1"/>
                  </a:solidFill>
                  <a:latin typeface="Gill Sans"/>
                  <a:ea typeface="Gill Sans"/>
                  <a:cs typeface="Gill Sans"/>
                  <a:sym typeface="Gill Sans"/>
                </a:rPr>
                <a:t>STM32L4</a:t>
              </a:r>
              <a:endParaRPr/>
            </a:p>
          </p:txBody>
        </p:sp>
        <p:grpSp>
          <p:nvGrpSpPr>
            <p:cNvPr id="298" name="Google Shape;298;g2cd129da435_0_0"/>
            <p:cNvGrpSpPr/>
            <p:nvPr/>
          </p:nvGrpSpPr>
          <p:grpSpPr>
            <a:xfrm rot="275998">
              <a:off x="3469378" y="2276146"/>
              <a:ext cx="1757317" cy="2592255"/>
              <a:chOff x="284527" y="2497314"/>
              <a:chExt cx="1757280" cy="2592200"/>
            </a:xfrm>
          </p:grpSpPr>
          <p:sp>
            <p:nvSpPr>
              <p:cNvPr id="299" name="Google Shape;299;g2cd129da435_0_0"/>
              <p:cNvSpPr/>
              <p:nvPr/>
            </p:nvSpPr>
            <p:spPr>
              <a:xfrm>
                <a:off x="284527" y="2497314"/>
                <a:ext cx="1420500" cy="477900"/>
              </a:xfrm>
              <a:prstGeom prst="roundRect">
                <a:avLst>
                  <a:gd name="adj" fmla="val 16667"/>
                </a:avLst>
              </a:prstGeom>
              <a:gradFill>
                <a:gsLst>
                  <a:gs pos="0">
                    <a:srgbClr val="9B403E"/>
                  </a:gs>
                  <a:gs pos="30000">
                    <a:srgbClr val="BC4643"/>
                  </a:gs>
                  <a:gs pos="45000">
                    <a:srgbClr val="CA4642"/>
                  </a:gs>
                  <a:gs pos="55000">
                    <a:srgbClr val="CA4642"/>
                  </a:gs>
                  <a:gs pos="73000">
                    <a:srgbClr val="BC4643"/>
                  </a:gs>
                  <a:gs pos="100000">
                    <a:srgbClr val="9B403E"/>
                  </a:gs>
                </a:gsLst>
                <a:lin ang="949849" scaled="0"/>
              </a:gradFill>
              <a:ln>
                <a:noFill/>
              </a:ln>
              <a:effectLst>
                <a:outerShdw blurRad="50800" dist="25400" dir="5400000" rotWithShape="0">
                  <a:srgbClr val="000000">
                    <a:alpha val="498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Gill Sans"/>
                    <a:ea typeface="Gill Sans"/>
                    <a:cs typeface="Gill Sans"/>
                    <a:sym typeface="Gill Sans"/>
                  </a:rPr>
                  <a:t>Port A</a:t>
                </a:r>
                <a:endParaRPr/>
              </a:p>
            </p:txBody>
          </p:sp>
          <p:sp>
            <p:nvSpPr>
              <p:cNvPr id="300" name="Google Shape;300;g2cd129da435_0_0"/>
              <p:cNvSpPr/>
              <p:nvPr/>
            </p:nvSpPr>
            <p:spPr>
              <a:xfrm rot="-12745">
                <a:off x="370901" y="3197518"/>
                <a:ext cx="1456510" cy="477903"/>
              </a:xfrm>
              <a:prstGeom prst="roundRect">
                <a:avLst>
                  <a:gd name="adj" fmla="val 16667"/>
                </a:avLst>
              </a:prstGeom>
              <a:gradFill>
                <a:gsLst>
                  <a:gs pos="0">
                    <a:srgbClr val="9B403E"/>
                  </a:gs>
                  <a:gs pos="30000">
                    <a:srgbClr val="BC4643"/>
                  </a:gs>
                  <a:gs pos="45000">
                    <a:srgbClr val="CA4642"/>
                  </a:gs>
                  <a:gs pos="55000">
                    <a:srgbClr val="CA4642"/>
                  </a:gs>
                  <a:gs pos="73000">
                    <a:srgbClr val="BC4643"/>
                  </a:gs>
                  <a:gs pos="100000">
                    <a:srgbClr val="9B403E"/>
                  </a:gs>
                </a:gsLst>
                <a:lin ang="949849" scaled="0"/>
              </a:gradFill>
              <a:ln>
                <a:noFill/>
              </a:ln>
              <a:effectLst>
                <a:outerShdw blurRad="50800" dist="25400" dir="5400000" rotWithShape="0">
                  <a:srgbClr val="000000">
                    <a:alpha val="498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Gill Sans"/>
                    <a:ea typeface="Gill Sans"/>
                    <a:cs typeface="Gill Sans"/>
                    <a:sym typeface="Gill Sans"/>
                  </a:rPr>
                  <a:t>Port B</a:t>
                </a:r>
                <a:endParaRPr/>
              </a:p>
            </p:txBody>
          </p:sp>
          <p:sp>
            <p:nvSpPr>
              <p:cNvPr id="301" name="Google Shape;301;g2cd129da435_0_0"/>
              <p:cNvSpPr/>
              <p:nvPr/>
            </p:nvSpPr>
            <p:spPr>
              <a:xfrm rot="-116153">
                <a:off x="518658" y="3873089"/>
                <a:ext cx="1456431" cy="477875"/>
              </a:xfrm>
              <a:prstGeom prst="roundRect">
                <a:avLst>
                  <a:gd name="adj" fmla="val 16667"/>
                </a:avLst>
              </a:prstGeom>
              <a:gradFill>
                <a:gsLst>
                  <a:gs pos="0">
                    <a:srgbClr val="9B403E"/>
                  </a:gs>
                  <a:gs pos="30000">
                    <a:srgbClr val="BC4643"/>
                  </a:gs>
                  <a:gs pos="45000">
                    <a:srgbClr val="CA4642"/>
                  </a:gs>
                  <a:gs pos="55000">
                    <a:srgbClr val="CA4642"/>
                  </a:gs>
                  <a:gs pos="73000">
                    <a:srgbClr val="BC4643"/>
                  </a:gs>
                  <a:gs pos="100000">
                    <a:srgbClr val="9B403E"/>
                  </a:gs>
                </a:gsLst>
                <a:lin ang="949849" scaled="0"/>
              </a:gradFill>
              <a:ln>
                <a:noFill/>
              </a:ln>
              <a:effectLst>
                <a:outerShdw blurRad="50800" dist="25400" dir="5400000" rotWithShape="0">
                  <a:srgbClr val="000000">
                    <a:alpha val="498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Gill Sans"/>
                    <a:ea typeface="Gill Sans"/>
                    <a:cs typeface="Gill Sans"/>
                    <a:sym typeface="Gill Sans"/>
                  </a:rPr>
                  <a:t>Port C</a:t>
                </a:r>
                <a:endParaRPr/>
              </a:p>
            </p:txBody>
          </p:sp>
          <p:sp>
            <p:nvSpPr>
              <p:cNvPr id="302" name="Google Shape;302;g2cd129da435_0_0"/>
              <p:cNvSpPr/>
              <p:nvPr/>
            </p:nvSpPr>
            <p:spPr>
              <a:xfrm rot="-276230">
                <a:off x="604616" y="4555641"/>
                <a:ext cx="1420283" cy="477646"/>
              </a:xfrm>
              <a:prstGeom prst="roundRect">
                <a:avLst>
                  <a:gd name="adj" fmla="val 16667"/>
                </a:avLst>
              </a:prstGeom>
              <a:gradFill>
                <a:gsLst>
                  <a:gs pos="0">
                    <a:srgbClr val="9B403E"/>
                  </a:gs>
                  <a:gs pos="30000">
                    <a:srgbClr val="BC4643"/>
                  </a:gs>
                  <a:gs pos="45000">
                    <a:srgbClr val="CA4642"/>
                  </a:gs>
                  <a:gs pos="55000">
                    <a:srgbClr val="CA4642"/>
                  </a:gs>
                  <a:gs pos="73000">
                    <a:srgbClr val="BC4643"/>
                  </a:gs>
                  <a:gs pos="100000">
                    <a:srgbClr val="9B403E"/>
                  </a:gs>
                </a:gsLst>
                <a:lin ang="949849" scaled="0"/>
              </a:gradFill>
              <a:ln>
                <a:noFill/>
              </a:ln>
              <a:effectLst>
                <a:outerShdw blurRad="50800" dist="25400" dir="5400000" rotWithShape="0">
                  <a:srgbClr val="000000">
                    <a:alpha val="498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Gill Sans"/>
                    <a:ea typeface="Gill Sans"/>
                    <a:cs typeface="Gill Sans"/>
                    <a:sym typeface="Gill Sans"/>
                  </a:rPr>
                  <a:t>Port D</a:t>
                </a:r>
                <a:endParaRPr/>
              </a:p>
            </p:txBody>
          </p:sp>
        </p:grpSp>
        <p:grpSp>
          <p:nvGrpSpPr>
            <p:cNvPr id="303" name="Google Shape;303;g2cd129da435_0_0"/>
            <p:cNvGrpSpPr/>
            <p:nvPr/>
          </p:nvGrpSpPr>
          <p:grpSpPr>
            <a:xfrm rot="318133">
              <a:off x="4759417" y="2084537"/>
              <a:ext cx="1632829" cy="2501645"/>
              <a:chOff x="6669090" y="1840687"/>
              <a:chExt cx="1785659" cy="2501699"/>
            </a:xfrm>
          </p:grpSpPr>
          <p:sp>
            <p:nvSpPr>
              <p:cNvPr id="304" name="Google Shape;304;g2cd129da435_0_0"/>
              <p:cNvSpPr/>
              <p:nvPr/>
            </p:nvSpPr>
            <p:spPr>
              <a:xfrm>
                <a:off x="6669090" y="1840687"/>
                <a:ext cx="1420500" cy="477900"/>
              </a:xfrm>
              <a:prstGeom prst="roundRect">
                <a:avLst>
                  <a:gd name="adj" fmla="val 16667"/>
                </a:avLst>
              </a:prstGeom>
              <a:gradFill>
                <a:gsLst>
                  <a:gs pos="0">
                    <a:srgbClr val="9B403E"/>
                  </a:gs>
                  <a:gs pos="30000">
                    <a:srgbClr val="BC4643"/>
                  </a:gs>
                  <a:gs pos="45000">
                    <a:srgbClr val="CA4642"/>
                  </a:gs>
                  <a:gs pos="55000">
                    <a:srgbClr val="CA4642"/>
                  </a:gs>
                  <a:gs pos="73000">
                    <a:srgbClr val="BC4643"/>
                  </a:gs>
                  <a:gs pos="100000">
                    <a:srgbClr val="9B403E"/>
                  </a:gs>
                </a:gsLst>
                <a:lin ang="949849" scaled="0"/>
              </a:gradFill>
              <a:ln>
                <a:noFill/>
              </a:ln>
              <a:effectLst>
                <a:outerShdw blurRad="50800" dist="25400" dir="5400000" rotWithShape="0">
                  <a:srgbClr val="000000">
                    <a:alpha val="498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Gill Sans"/>
                    <a:ea typeface="Gill Sans"/>
                    <a:cs typeface="Gill Sans"/>
                    <a:sym typeface="Gill Sans"/>
                  </a:rPr>
                  <a:t>Port E</a:t>
                </a:r>
                <a:endParaRPr/>
              </a:p>
            </p:txBody>
          </p:sp>
          <p:sp>
            <p:nvSpPr>
              <p:cNvPr id="305" name="Google Shape;305;g2cd129da435_0_0"/>
              <p:cNvSpPr/>
              <p:nvPr/>
            </p:nvSpPr>
            <p:spPr>
              <a:xfrm rot="-90651">
                <a:off x="6734589" y="2490656"/>
                <a:ext cx="1456406" cy="477766"/>
              </a:xfrm>
              <a:prstGeom prst="roundRect">
                <a:avLst>
                  <a:gd name="adj" fmla="val 16667"/>
                </a:avLst>
              </a:prstGeom>
              <a:gradFill>
                <a:gsLst>
                  <a:gs pos="0">
                    <a:srgbClr val="9B403E"/>
                  </a:gs>
                  <a:gs pos="30000">
                    <a:srgbClr val="BC4643"/>
                  </a:gs>
                  <a:gs pos="45000">
                    <a:srgbClr val="CA4642"/>
                  </a:gs>
                  <a:gs pos="55000">
                    <a:srgbClr val="CA4642"/>
                  </a:gs>
                  <a:gs pos="73000">
                    <a:srgbClr val="BC4643"/>
                  </a:gs>
                  <a:gs pos="100000">
                    <a:srgbClr val="9B403E"/>
                  </a:gs>
                </a:gsLst>
                <a:lin ang="949849" scaled="0"/>
              </a:gradFill>
              <a:ln>
                <a:noFill/>
              </a:ln>
              <a:effectLst>
                <a:outerShdw blurRad="50800" dist="25400" dir="5400000" rotWithShape="0">
                  <a:srgbClr val="000000">
                    <a:alpha val="498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Gill Sans"/>
                    <a:ea typeface="Gill Sans"/>
                    <a:cs typeface="Gill Sans"/>
                    <a:sym typeface="Gill Sans"/>
                  </a:rPr>
                  <a:t>Port F</a:t>
                </a:r>
                <a:endParaRPr/>
              </a:p>
            </p:txBody>
          </p:sp>
          <p:sp>
            <p:nvSpPr>
              <p:cNvPr id="306" name="Google Shape;306;g2cd129da435_0_0"/>
              <p:cNvSpPr/>
              <p:nvPr/>
            </p:nvSpPr>
            <p:spPr>
              <a:xfrm rot="-317692">
                <a:off x="6870818" y="3160660"/>
                <a:ext cx="1456415" cy="477839"/>
              </a:xfrm>
              <a:prstGeom prst="roundRect">
                <a:avLst>
                  <a:gd name="adj" fmla="val 16667"/>
                </a:avLst>
              </a:prstGeom>
              <a:gradFill>
                <a:gsLst>
                  <a:gs pos="0">
                    <a:srgbClr val="9B403E"/>
                  </a:gs>
                  <a:gs pos="30000">
                    <a:srgbClr val="BC4643"/>
                  </a:gs>
                  <a:gs pos="45000">
                    <a:srgbClr val="CA4642"/>
                  </a:gs>
                  <a:gs pos="55000">
                    <a:srgbClr val="CA4642"/>
                  </a:gs>
                  <a:gs pos="73000">
                    <a:srgbClr val="BC4643"/>
                  </a:gs>
                  <a:gs pos="100000">
                    <a:srgbClr val="9B403E"/>
                  </a:gs>
                </a:gsLst>
                <a:lin ang="949849" scaled="0"/>
              </a:gradFill>
              <a:ln>
                <a:noFill/>
              </a:ln>
              <a:effectLst>
                <a:outerShdw blurRad="50800" dist="25400" dir="5400000" rotWithShape="0">
                  <a:srgbClr val="000000">
                    <a:alpha val="498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Gill Sans"/>
                    <a:ea typeface="Gill Sans"/>
                    <a:cs typeface="Gill Sans"/>
                    <a:sym typeface="Gill Sans"/>
                  </a:rPr>
                  <a:t>Port G</a:t>
                </a:r>
                <a:endParaRPr/>
              </a:p>
            </p:txBody>
          </p:sp>
          <p:sp>
            <p:nvSpPr>
              <p:cNvPr id="307" name="Google Shape;307;g2cd129da435_0_0"/>
              <p:cNvSpPr/>
              <p:nvPr/>
            </p:nvSpPr>
            <p:spPr>
              <a:xfrm rot="-317780">
                <a:off x="7015467" y="3800017"/>
                <a:ext cx="1420264" cy="477839"/>
              </a:xfrm>
              <a:prstGeom prst="roundRect">
                <a:avLst>
                  <a:gd name="adj" fmla="val 16667"/>
                </a:avLst>
              </a:prstGeom>
              <a:gradFill>
                <a:gsLst>
                  <a:gs pos="0">
                    <a:srgbClr val="9B403E"/>
                  </a:gs>
                  <a:gs pos="30000">
                    <a:srgbClr val="BC4643"/>
                  </a:gs>
                  <a:gs pos="45000">
                    <a:srgbClr val="CA4642"/>
                  </a:gs>
                  <a:gs pos="55000">
                    <a:srgbClr val="CA4642"/>
                  </a:gs>
                  <a:gs pos="73000">
                    <a:srgbClr val="BC4643"/>
                  </a:gs>
                  <a:gs pos="100000">
                    <a:srgbClr val="9B403E"/>
                  </a:gs>
                </a:gsLst>
                <a:lin ang="949849" scaled="0"/>
              </a:gradFill>
              <a:ln>
                <a:noFill/>
              </a:ln>
              <a:effectLst>
                <a:outerShdw blurRad="50800" dist="25400" dir="5400000" rotWithShape="0">
                  <a:srgbClr val="000000">
                    <a:alpha val="498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Gill Sans"/>
                    <a:ea typeface="Gill Sans"/>
                    <a:cs typeface="Gill Sans"/>
                    <a:sym typeface="Gill Sans"/>
                  </a:rPr>
                  <a:t>Port H</a:t>
                </a:r>
                <a:endParaRPr/>
              </a:p>
            </p:txBody>
          </p:sp>
        </p:gr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g2cd129da435_0_20"/>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General Purpose Input/Output (GPIO)</a:t>
            </a:r>
            <a:endParaRPr/>
          </a:p>
        </p:txBody>
      </p:sp>
      <p:sp>
        <p:nvSpPr>
          <p:cNvPr id="314" name="Google Shape;314;g2cd129da435_0_20"/>
          <p:cNvSpPr txBox="1">
            <a:spLocks noGrp="1"/>
          </p:cNvSpPr>
          <p:nvPr>
            <p:ph type="sldNum" idx="12"/>
          </p:nvPr>
        </p:nvSpPr>
        <p:spPr>
          <a:xfrm>
            <a:off x="612648" y="6356350"/>
            <a:ext cx="1981200" cy="3657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10</a:t>
            </a:fld>
            <a:endParaRPr/>
          </a:p>
        </p:txBody>
      </p:sp>
      <p:pic>
        <p:nvPicPr>
          <p:cNvPr id="315" name="Google Shape;315;g2cd129da435_0_20"/>
          <p:cNvPicPr preferRelativeResize="0"/>
          <p:nvPr/>
        </p:nvPicPr>
        <p:blipFill rotWithShape="1">
          <a:blip r:embed="rId3">
            <a:alphaModFix/>
          </a:blip>
          <a:srcRect/>
          <a:stretch/>
        </p:blipFill>
        <p:spPr>
          <a:xfrm>
            <a:off x="2057400" y="1211766"/>
            <a:ext cx="7315200" cy="5798634"/>
          </a:xfrm>
          <a:prstGeom prst="rect">
            <a:avLst/>
          </a:prstGeom>
          <a:noFill/>
          <a:ln>
            <a:noFill/>
          </a:ln>
        </p:spPr>
      </p:pic>
      <p:sp>
        <p:nvSpPr>
          <p:cNvPr id="316" name="Google Shape;316;g2cd129da435_0_20"/>
          <p:cNvSpPr/>
          <p:nvPr/>
        </p:nvSpPr>
        <p:spPr>
          <a:xfrm>
            <a:off x="3613265" y="2438400"/>
            <a:ext cx="1774800" cy="762000"/>
          </a:xfrm>
          <a:prstGeom prst="rect">
            <a:avLst/>
          </a:prstGeom>
          <a:solidFill>
            <a:schemeClr val="accent1"/>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ARM Cortex-M4</a:t>
            </a:r>
            <a:endParaRPr/>
          </a:p>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FPU</a:t>
            </a:r>
            <a:endParaRPr/>
          </a:p>
        </p:txBody>
      </p:sp>
      <p:cxnSp>
        <p:nvCxnSpPr>
          <p:cNvPr id="317" name="Google Shape;317;g2cd129da435_0_20"/>
          <p:cNvCxnSpPr/>
          <p:nvPr/>
        </p:nvCxnSpPr>
        <p:spPr>
          <a:xfrm rot="10800000">
            <a:off x="5388131" y="2480440"/>
            <a:ext cx="595800" cy="0"/>
          </a:xfrm>
          <a:prstGeom prst="straightConnector1">
            <a:avLst/>
          </a:prstGeom>
          <a:noFill/>
          <a:ln w="38100" cap="flat" cmpd="sng">
            <a:solidFill>
              <a:srgbClr val="C2D59B"/>
            </a:solidFill>
            <a:prstDash val="solid"/>
            <a:round/>
            <a:headEnd type="triangle" w="med" len="med"/>
            <a:tailEnd type="triangle" w="med" len="med"/>
          </a:ln>
        </p:spPr>
      </p:cxnSp>
      <p:cxnSp>
        <p:nvCxnSpPr>
          <p:cNvPr id="318" name="Google Shape;318;g2cd129da435_0_20"/>
          <p:cNvCxnSpPr/>
          <p:nvPr/>
        </p:nvCxnSpPr>
        <p:spPr>
          <a:xfrm rot="10800000">
            <a:off x="5388131" y="2791599"/>
            <a:ext cx="595800" cy="0"/>
          </a:xfrm>
          <a:prstGeom prst="straightConnector1">
            <a:avLst/>
          </a:prstGeom>
          <a:noFill/>
          <a:ln w="38100" cap="flat" cmpd="sng">
            <a:solidFill>
              <a:schemeClr val="accent3"/>
            </a:solidFill>
            <a:prstDash val="solid"/>
            <a:round/>
            <a:headEnd type="triangle" w="med" len="med"/>
            <a:tailEnd type="triangle" w="med" len="med"/>
          </a:ln>
        </p:spPr>
      </p:cxnSp>
      <p:cxnSp>
        <p:nvCxnSpPr>
          <p:cNvPr id="319" name="Google Shape;319;g2cd129da435_0_20"/>
          <p:cNvCxnSpPr/>
          <p:nvPr/>
        </p:nvCxnSpPr>
        <p:spPr>
          <a:xfrm rot="10800000">
            <a:off x="5388131" y="3124200"/>
            <a:ext cx="595800" cy="0"/>
          </a:xfrm>
          <a:prstGeom prst="straightConnector1">
            <a:avLst/>
          </a:prstGeom>
          <a:noFill/>
          <a:ln w="38100" cap="flat" cmpd="sng">
            <a:solidFill>
              <a:srgbClr val="B2A0C7"/>
            </a:solidFill>
            <a:prstDash val="solid"/>
            <a:round/>
            <a:headEnd type="triangle" w="med" len="med"/>
            <a:tailEnd type="triangle" w="med" len="med"/>
          </a:ln>
        </p:spPr>
      </p:cxnSp>
      <p:sp>
        <p:nvSpPr>
          <p:cNvPr id="320" name="Google Shape;320;g2cd129da435_0_20"/>
          <p:cNvSpPr txBox="1"/>
          <p:nvPr/>
        </p:nvSpPr>
        <p:spPr>
          <a:xfrm>
            <a:off x="5388009" y="2187265"/>
            <a:ext cx="6144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rgbClr val="C2D59B"/>
                </a:solidFill>
                <a:latin typeface="Gill Sans"/>
                <a:ea typeface="Gill Sans"/>
                <a:cs typeface="Gill Sans"/>
                <a:sym typeface="Gill Sans"/>
              </a:rPr>
              <a:t>D Bus</a:t>
            </a:r>
            <a:endParaRPr/>
          </a:p>
        </p:txBody>
      </p:sp>
      <p:sp>
        <p:nvSpPr>
          <p:cNvPr id="321" name="Google Shape;321;g2cd129da435_0_20"/>
          <p:cNvSpPr txBox="1"/>
          <p:nvPr/>
        </p:nvSpPr>
        <p:spPr>
          <a:xfrm>
            <a:off x="5379384" y="2514600"/>
            <a:ext cx="613200" cy="2769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b="1">
                <a:solidFill>
                  <a:schemeClr val="accent3"/>
                </a:solidFill>
                <a:latin typeface="Gill Sans"/>
                <a:ea typeface="Gill Sans"/>
                <a:cs typeface="Gill Sans"/>
                <a:sym typeface="Gill Sans"/>
              </a:rPr>
              <a:t>I Bus</a:t>
            </a:r>
            <a:endParaRPr/>
          </a:p>
        </p:txBody>
      </p:sp>
      <p:sp>
        <p:nvSpPr>
          <p:cNvPr id="322" name="Google Shape;322;g2cd129da435_0_20"/>
          <p:cNvSpPr txBox="1"/>
          <p:nvPr/>
        </p:nvSpPr>
        <p:spPr>
          <a:xfrm>
            <a:off x="5400750" y="2870579"/>
            <a:ext cx="5838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rgbClr val="B2A0C7"/>
                </a:solidFill>
                <a:latin typeface="Gill Sans"/>
                <a:ea typeface="Gill Sans"/>
                <a:cs typeface="Gill Sans"/>
                <a:sym typeface="Gill Sans"/>
              </a:rPr>
              <a:t>S Bus</a:t>
            </a:r>
            <a:endParaRPr/>
          </a:p>
        </p:txBody>
      </p:sp>
      <p:sp>
        <p:nvSpPr>
          <p:cNvPr id="323" name="Google Shape;323;g2cd129da435_0_20"/>
          <p:cNvSpPr/>
          <p:nvPr/>
        </p:nvSpPr>
        <p:spPr>
          <a:xfrm>
            <a:off x="6965488" y="2667000"/>
            <a:ext cx="928800" cy="304800"/>
          </a:xfrm>
          <a:prstGeom prst="rect">
            <a:avLst/>
          </a:prstGeom>
          <a:solidFill>
            <a:schemeClr val="accent1"/>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SRAM</a:t>
            </a:r>
            <a:endParaRPr/>
          </a:p>
        </p:txBody>
      </p:sp>
      <p:sp>
        <p:nvSpPr>
          <p:cNvPr id="324" name="Google Shape;324;g2cd129da435_0_20"/>
          <p:cNvSpPr/>
          <p:nvPr/>
        </p:nvSpPr>
        <p:spPr>
          <a:xfrm>
            <a:off x="6964565" y="2286000"/>
            <a:ext cx="928800" cy="300600"/>
          </a:xfrm>
          <a:prstGeom prst="rect">
            <a:avLst/>
          </a:prstGeom>
          <a:solidFill>
            <a:schemeClr val="accent1"/>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FLASH</a:t>
            </a:r>
            <a:endParaRPr/>
          </a:p>
        </p:txBody>
      </p:sp>
      <p:sp>
        <p:nvSpPr>
          <p:cNvPr id="325" name="Google Shape;325;g2cd129da435_0_20"/>
          <p:cNvSpPr/>
          <p:nvPr/>
        </p:nvSpPr>
        <p:spPr>
          <a:xfrm rot="-5400000">
            <a:off x="5633827" y="2717841"/>
            <a:ext cx="1092900" cy="382500"/>
          </a:xfrm>
          <a:prstGeom prst="rect">
            <a:avLst/>
          </a:prstGeom>
          <a:solidFill>
            <a:schemeClr val="accent2"/>
          </a:solidFill>
          <a:ln w="1905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lt1"/>
                </a:solidFill>
                <a:latin typeface="Gill Sans"/>
                <a:ea typeface="Gill Sans"/>
                <a:cs typeface="Gill Sans"/>
                <a:sym typeface="Gill Sans"/>
              </a:rPr>
              <a:t>AHB Bus Matrix</a:t>
            </a:r>
            <a:endParaRPr/>
          </a:p>
        </p:txBody>
      </p:sp>
      <p:cxnSp>
        <p:nvCxnSpPr>
          <p:cNvPr id="326" name="Google Shape;326;g2cd129da435_0_20"/>
          <p:cNvCxnSpPr/>
          <p:nvPr/>
        </p:nvCxnSpPr>
        <p:spPr>
          <a:xfrm rot="10800000">
            <a:off x="6378731" y="2438400"/>
            <a:ext cx="595800" cy="0"/>
          </a:xfrm>
          <a:prstGeom prst="straightConnector1">
            <a:avLst/>
          </a:prstGeom>
          <a:noFill/>
          <a:ln w="38100" cap="flat" cmpd="sng">
            <a:solidFill>
              <a:srgbClr val="C4BD97"/>
            </a:solidFill>
            <a:prstDash val="solid"/>
            <a:round/>
            <a:headEnd type="triangle" w="med" len="med"/>
            <a:tailEnd type="triangle" w="med" len="med"/>
          </a:ln>
        </p:spPr>
      </p:cxnSp>
      <p:cxnSp>
        <p:nvCxnSpPr>
          <p:cNvPr id="327" name="Google Shape;327;g2cd129da435_0_20"/>
          <p:cNvCxnSpPr/>
          <p:nvPr/>
        </p:nvCxnSpPr>
        <p:spPr>
          <a:xfrm rot="10800000">
            <a:off x="6373599" y="2819400"/>
            <a:ext cx="595800" cy="0"/>
          </a:xfrm>
          <a:prstGeom prst="straightConnector1">
            <a:avLst/>
          </a:prstGeom>
          <a:noFill/>
          <a:ln w="38100" cap="flat" cmpd="sng">
            <a:solidFill>
              <a:srgbClr val="92CCDC"/>
            </a:solidFill>
            <a:prstDash val="solid"/>
            <a:round/>
            <a:headEnd type="triangle" w="med" len="med"/>
            <a:tailEnd type="triangle" w="med" len="med"/>
          </a:ln>
        </p:spPr>
      </p:cxnSp>
      <p:sp>
        <p:nvSpPr>
          <p:cNvPr id="328" name="Google Shape;328;g2cd129da435_0_20"/>
          <p:cNvSpPr/>
          <p:nvPr/>
        </p:nvSpPr>
        <p:spPr>
          <a:xfrm>
            <a:off x="6075287" y="3756372"/>
            <a:ext cx="1092900" cy="382500"/>
          </a:xfrm>
          <a:prstGeom prst="rect">
            <a:avLst/>
          </a:prstGeom>
          <a:solidFill>
            <a:srgbClr val="31859B"/>
          </a:solidFill>
          <a:ln w="19050" cap="flat" cmpd="sng">
            <a:solidFill>
              <a:srgbClr val="31859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lt1"/>
                </a:solidFill>
                <a:latin typeface="Gill Sans"/>
                <a:ea typeface="Gill Sans"/>
                <a:cs typeface="Gill Sans"/>
                <a:sym typeface="Gill Sans"/>
              </a:rPr>
              <a:t>APB Bus Matrix</a:t>
            </a:r>
            <a:endParaRPr/>
          </a:p>
        </p:txBody>
      </p:sp>
      <p:cxnSp>
        <p:nvCxnSpPr>
          <p:cNvPr id="329" name="Google Shape;329;g2cd129da435_0_20"/>
          <p:cNvCxnSpPr/>
          <p:nvPr/>
        </p:nvCxnSpPr>
        <p:spPr>
          <a:xfrm>
            <a:off x="6620878" y="4534951"/>
            <a:ext cx="465900" cy="0"/>
          </a:xfrm>
          <a:prstGeom prst="straightConnector1">
            <a:avLst/>
          </a:prstGeom>
          <a:noFill/>
          <a:ln w="38100" cap="flat" cmpd="sng">
            <a:solidFill>
              <a:schemeClr val="accent1"/>
            </a:solidFill>
            <a:prstDash val="solid"/>
            <a:round/>
            <a:headEnd type="none" w="sm" len="sm"/>
            <a:tailEnd type="triangle" w="med" len="med"/>
          </a:ln>
        </p:spPr>
      </p:cxnSp>
      <p:cxnSp>
        <p:nvCxnSpPr>
          <p:cNvPr id="330" name="Google Shape;330;g2cd129da435_0_20"/>
          <p:cNvCxnSpPr/>
          <p:nvPr/>
        </p:nvCxnSpPr>
        <p:spPr>
          <a:xfrm rot="10800000">
            <a:off x="6378544" y="3200400"/>
            <a:ext cx="258000" cy="0"/>
          </a:xfrm>
          <a:prstGeom prst="straightConnector1">
            <a:avLst/>
          </a:prstGeom>
          <a:noFill/>
          <a:ln w="38100" cap="flat" cmpd="sng">
            <a:solidFill>
              <a:schemeClr val="accent1"/>
            </a:solidFill>
            <a:prstDash val="solid"/>
            <a:round/>
            <a:headEnd type="none" w="sm" len="sm"/>
            <a:tailEnd type="triangle" w="med" len="med"/>
          </a:ln>
        </p:spPr>
      </p:cxnSp>
      <p:cxnSp>
        <p:nvCxnSpPr>
          <p:cNvPr id="331" name="Google Shape;331;g2cd129da435_0_20"/>
          <p:cNvCxnSpPr>
            <a:stCxn id="328" idx="0"/>
          </p:cNvCxnSpPr>
          <p:nvPr/>
        </p:nvCxnSpPr>
        <p:spPr>
          <a:xfrm rot="10800000">
            <a:off x="6621737" y="3200472"/>
            <a:ext cx="0" cy="555900"/>
          </a:xfrm>
          <a:prstGeom prst="straightConnector1">
            <a:avLst/>
          </a:prstGeom>
          <a:noFill/>
          <a:ln w="38100" cap="flat" cmpd="sng">
            <a:solidFill>
              <a:schemeClr val="accent1"/>
            </a:solidFill>
            <a:prstDash val="solid"/>
            <a:round/>
            <a:headEnd type="none" w="sm" len="sm"/>
            <a:tailEnd type="none" w="sm" len="sm"/>
          </a:ln>
        </p:spPr>
      </p:cxnSp>
      <p:grpSp>
        <p:nvGrpSpPr>
          <p:cNvPr id="332" name="Google Shape;332;g2cd129da435_0_20"/>
          <p:cNvGrpSpPr/>
          <p:nvPr/>
        </p:nvGrpSpPr>
        <p:grpSpPr>
          <a:xfrm>
            <a:off x="4260912" y="3345717"/>
            <a:ext cx="1416115" cy="1875097"/>
            <a:chOff x="4091125" y="3332903"/>
            <a:chExt cx="1416115" cy="1875097"/>
          </a:xfrm>
        </p:grpSpPr>
        <p:cxnSp>
          <p:nvCxnSpPr>
            <p:cNvPr id="333" name="Google Shape;333;g2cd129da435_0_20"/>
            <p:cNvCxnSpPr/>
            <p:nvPr/>
          </p:nvCxnSpPr>
          <p:spPr>
            <a:xfrm>
              <a:off x="5500640" y="3332903"/>
              <a:ext cx="6600" cy="1852500"/>
            </a:xfrm>
            <a:prstGeom prst="straightConnector1">
              <a:avLst/>
            </a:prstGeom>
            <a:noFill/>
            <a:ln w="38100" cap="flat" cmpd="sng">
              <a:solidFill>
                <a:srgbClr val="E36C09"/>
              </a:solidFill>
              <a:prstDash val="solid"/>
              <a:round/>
              <a:headEnd type="none" w="sm" len="sm"/>
              <a:tailEnd type="none" w="sm" len="sm"/>
            </a:ln>
            <a:effectLst>
              <a:outerShdw blurRad="50800" dist="43000" dir="5400000" rotWithShape="0">
                <a:srgbClr val="000000">
                  <a:alpha val="40000"/>
                </a:srgbClr>
              </a:outerShdw>
            </a:effectLst>
          </p:spPr>
        </p:cxnSp>
        <p:sp>
          <p:nvSpPr>
            <p:cNvPr id="334" name="Google Shape;334;g2cd129da435_0_20"/>
            <p:cNvSpPr/>
            <p:nvPr/>
          </p:nvSpPr>
          <p:spPr>
            <a:xfrm>
              <a:off x="4101018" y="3657600"/>
              <a:ext cx="928800" cy="178800"/>
            </a:xfrm>
            <a:prstGeom prst="rect">
              <a:avLst/>
            </a:prstGeom>
            <a:solidFill>
              <a:srgbClr val="7030A0"/>
            </a:solidFill>
            <a:ln w="19050" cap="flat" cmpd="sng">
              <a:solidFill>
                <a:srgbClr val="7030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lt1"/>
                  </a:solidFill>
                  <a:latin typeface="Gill Sans"/>
                  <a:ea typeface="Gill Sans"/>
                  <a:cs typeface="Gill Sans"/>
                  <a:sym typeface="Gill Sans"/>
                </a:rPr>
                <a:t>GPIO B</a:t>
              </a:r>
              <a:endParaRPr/>
            </a:p>
          </p:txBody>
        </p:sp>
        <p:sp>
          <p:nvSpPr>
            <p:cNvPr id="335" name="Google Shape;335;g2cd129da435_0_20"/>
            <p:cNvSpPr/>
            <p:nvPr/>
          </p:nvSpPr>
          <p:spPr>
            <a:xfrm>
              <a:off x="4093231" y="3886200"/>
              <a:ext cx="928800" cy="178800"/>
            </a:xfrm>
            <a:prstGeom prst="rect">
              <a:avLst/>
            </a:prstGeom>
            <a:solidFill>
              <a:srgbClr val="7030A0"/>
            </a:solidFill>
            <a:ln w="19050" cap="flat" cmpd="sng">
              <a:solidFill>
                <a:srgbClr val="7030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lt1"/>
                  </a:solidFill>
                  <a:latin typeface="Gill Sans"/>
                  <a:ea typeface="Gill Sans"/>
                  <a:cs typeface="Gill Sans"/>
                  <a:sym typeface="Gill Sans"/>
                </a:rPr>
                <a:t>GPIO C</a:t>
              </a:r>
              <a:endParaRPr/>
            </a:p>
          </p:txBody>
        </p:sp>
        <p:sp>
          <p:nvSpPr>
            <p:cNvPr id="336" name="Google Shape;336;g2cd129da435_0_20"/>
            <p:cNvSpPr/>
            <p:nvPr/>
          </p:nvSpPr>
          <p:spPr>
            <a:xfrm>
              <a:off x="4091125" y="4114800"/>
              <a:ext cx="928800" cy="178800"/>
            </a:xfrm>
            <a:prstGeom prst="rect">
              <a:avLst/>
            </a:prstGeom>
            <a:solidFill>
              <a:srgbClr val="7030A0"/>
            </a:solidFill>
            <a:ln w="19050" cap="flat" cmpd="sng">
              <a:solidFill>
                <a:srgbClr val="7030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lt1"/>
                  </a:solidFill>
                  <a:latin typeface="Gill Sans"/>
                  <a:ea typeface="Gill Sans"/>
                  <a:cs typeface="Gill Sans"/>
                  <a:sym typeface="Gill Sans"/>
                </a:rPr>
                <a:t>GPIO D</a:t>
              </a:r>
              <a:endParaRPr/>
            </a:p>
          </p:txBody>
        </p:sp>
        <p:sp>
          <p:nvSpPr>
            <p:cNvPr id="337" name="Google Shape;337;g2cd129da435_0_20"/>
            <p:cNvSpPr/>
            <p:nvPr/>
          </p:nvSpPr>
          <p:spPr>
            <a:xfrm>
              <a:off x="4107531" y="3402663"/>
              <a:ext cx="928800" cy="178800"/>
            </a:xfrm>
            <a:prstGeom prst="rect">
              <a:avLst/>
            </a:prstGeom>
            <a:solidFill>
              <a:srgbClr val="7030A0"/>
            </a:solidFill>
            <a:ln w="19050" cap="flat" cmpd="sng">
              <a:solidFill>
                <a:srgbClr val="7030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lt1"/>
                  </a:solidFill>
                  <a:latin typeface="Gill Sans"/>
                  <a:ea typeface="Gill Sans"/>
                  <a:cs typeface="Gill Sans"/>
                  <a:sym typeface="Gill Sans"/>
                </a:rPr>
                <a:t>GPIO A</a:t>
              </a:r>
              <a:endParaRPr/>
            </a:p>
          </p:txBody>
        </p:sp>
        <p:sp>
          <p:nvSpPr>
            <p:cNvPr id="338" name="Google Shape;338;g2cd129da435_0_20"/>
            <p:cNvSpPr/>
            <p:nvPr/>
          </p:nvSpPr>
          <p:spPr>
            <a:xfrm>
              <a:off x="4103248" y="4572000"/>
              <a:ext cx="928800" cy="178800"/>
            </a:xfrm>
            <a:prstGeom prst="rect">
              <a:avLst/>
            </a:prstGeom>
            <a:solidFill>
              <a:srgbClr val="7030A0"/>
            </a:solidFill>
            <a:ln w="19050" cap="flat" cmpd="sng">
              <a:solidFill>
                <a:srgbClr val="7030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lt1"/>
                  </a:solidFill>
                  <a:latin typeface="Gill Sans"/>
                  <a:ea typeface="Gill Sans"/>
                  <a:cs typeface="Gill Sans"/>
                  <a:sym typeface="Gill Sans"/>
                </a:rPr>
                <a:t>GPIO F</a:t>
              </a:r>
              <a:endParaRPr/>
            </a:p>
          </p:txBody>
        </p:sp>
        <p:sp>
          <p:nvSpPr>
            <p:cNvPr id="339" name="Google Shape;339;g2cd129da435_0_20"/>
            <p:cNvSpPr/>
            <p:nvPr/>
          </p:nvSpPr>
          <p:spPr>
            <a:xfrm>
              <a:off x="4095461" y="4800600"/>
              <a:ext cx="928800" cy="178800"/>
            </a:xfrm>
            <a:prstGeom prst="rect">
              <a:avLst/>
            </a:prstGeom>
            <a:solidFill>
              <a:srgbClr val="7030A0"/>
            </a:solidFill>
            <a:ln w="19050" cap="flat" cmpd="sng">
              <a:solidFill>
                <a:srgbClr val="7030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lt1"/>
                  </a:solidFill>
                  <a:latin typeface="Gill Sans"/>
                  <a:ea typeface="Gill Sans"/>
                  <a:cs typeface="Gill Sans"/>
                  <a:sym typeface="Gill Sans"/>
                </a:rPr>
                <a:t>GPIO G</a:t>
              </a:r>
              <a:endParaRPr/>
            </a:p>
          </p:txBody>
        </p:sp>
        <p:sp>
          <p:nvSpPr>
            <p:cNvPr id="340" name="Google Shape;340;g2cd129da435_0_20"/>
            <p:cNvSpPr/>
            <p:nvPr/>
          </p:nvSpPr>
          <p:spPr>
            <a:xfrm>
              <a:off x="4093355" y="5029200"/>
              <a:ext cx="928800" cy="178800"/>
            </a:xfrm>
            <a:prstGeom prst="rect">
              <a:avLst/>
            </a:prstGeom>
            <a:solidFill>
              <a:srgbClr val="7030A0"/>
            </a:solidFill>
            <a:ln w="19050" cap="flat" cmpd="sng">
              <a:solidFill>
                <a:srgbClr val="7030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lt1"/>
                  </a:solidFill>
                  <a:latin typeface="Gill Sans"/>
                  <a:ea typeface="Gill Sans"/>
                  <a:cs typeface="Gill Sans"/>
                  <a:sym typeface="Gill Sans"/>
                </a:rPr>
                <a:t>GPIO H</a:t>
              </a:r>
              <a:endParaRPr/>
            </a:p>
          </p:txBody>
        </p:sp>
        <p:sp>
          <p:nvSpPr>
            <p:cNvPr id="341" name="Google Shape;341;g2cd129da435_0_20"/>
            <p:cNvSpPr/>
            <p:nvPr/>
          </p:nvSpPr>
          <p:spPr>
            <a:xfrm>
              <a:off x="4109761" y="4343400"/>
              <a:ext cx="928800" cy="178800"/>
            </a:xfrm>
            <a:prstGeom prst="rect">
              <a:avLst/>
            </a:prstGeom>
            <a:solidFill>
              <a:srgbClr val="7030A0"/>
            </a:solidFill>
            <a:ln w="19050" cap="flat" cmpd="sng">
              <a:solidFill>
                <a:srgbClr val="7030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lt1"/>
                  </a:solidFill>
                  <a:latin typeface="Gill Sans"/>
                  <a:ea typeface="Gill Sans"/>
                  <a:cs typeface="Gill Sans"/>
                  <a:sym typeface="Gill Sans"/>
                </a:rPr>
                <a:t>GPIO E</a:t>
              </a:r>
              <a:endParaRPr/>
            </a:p>
          </p:txBody>
        </p:sp>
      </p:grpSp>
      <p:sp>
        <p:nvSpPr>
          <p:cNvPr id="342" name="Google Shape;342;g2cd129da435_0_20"/>
          <p:cNvSpPr txBox="1"/>
          <p:nvPr/>
        </p:nvSpPr>
        <p:spPr>
          <a:xfrm>
            <a:off x="5019205" y="5701209"/>
            <a:ext cx="1104900" cy="33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lt1"/>
                </a:solidFill>
                <a:latin typeface="Gill Sans"/>
                <a:ea typeface="Gill Sans"/>
                <a:cs typeface="Gill Sans"/>
                <a:sym typeface="Gill Sans"/>
              </a:rPr>
              <a:t>STM32L4</a:t>
            </a:r>
            <a:endParaRPr/>
          </a:p>
        </p:txBody>
      </p:sp>
      <p:cxnSp>
        <p:nvCxnSpPr>
          <p:cNvPr id="343" name="Google Shape;343;g2cd129da435_0_20"/>
          <p:cNvCxnSpPr/>
          <p:nvPr/>
        </p:nvCxnSpPr>
        <p:spPr>
          <a:xfrm flipH="1">
            <a:off x="5203932" y="3504845"/>
            <a:ext cx="461400" cy="1200"/>
          </a:xfrm>
          <a:prstGeom prst="straightConnector1">
            <a:avLst/>
          </a:prstGeom>
          <a:noFill/>
          <a:ln w="38100" cap="flat" cmpd="sng">
            <a:solidFill>
              <a:srgbClr val="E36C09"/>
            </a:solidFill>
            <a:prstDash val="solid"/>
            <a:round/>
            <a:headEnd type="none" w="sm" len="sm"/>
            <a:tailEnd type="triangle" w="med" len="med"/>
          </a:ln>
        </p:spPr>
      </p:cxnSp>
      <p:cxnSp>
        <p:nvCxnSpPr>
          <p:cNvPr id="344" name="Google Shape;344;g2cd129da435_0_20"/>
          <p:cNvCxnSpPr/>
          <p:nvPr/>
        </p:nvCxnSpPr>
        <p:spPr>
          <a:xfrm flipH="1">
            <a:off x="5206535" y="3755573"/>
            <a:ext cx="461400" cy="1200"/>
          </a:xfrm>
          <a:prstGeom prst="straightConnector1">
            <a:avLst/>
          </a:prstGeom>
          <a:noFill/>
          <a:ln w="38100" cap="flat" cmpd="sng">
            <a:solidFill>
              <a:srgbClr val="E36C09"/>
            </a:solidFill>
            <a:prstDash val="solid"/>
            <a:round/>
            <a:headEnd type="none" w="sm" len="sm"/>
            <a:tailEnd type="triangle" w="med" len="med"/>
          </a:ln>
        </p:spPr>
      </p:cxnSp>
      <p:cxnSp>
        <p:nvCxnSpPr>
          <p:cNvPr id="345" name="Google Shape;345;g2cd129da435_0_20"/>
          <p:cNvCxnSpPr/>
          <p:nvPr/>
        </p:nvCxnSpPr>
        <p:spPr>
          <a:xfrm flipH="1">
            <a:off x="5195610" y="3975451"/>
            <a:ext cx="461400" cy="1200"/>
          </a:xfrm>
          <a:prstGeom prst="straightConnector1">
            <a:avLst/>
          </a:prstGeom>
          <a:noFill/>
          <a:ln w="38100" cap="flat" cmpd="sng">
            <a:solidFill>
              <a:srgbClr val="E36C09"/>
            </a:solidFill>
            <a:prstDash val="solid"/>
            <a:round/>
            <a:headEnd type="none" w="sm" len="sm"/>
            <a:tailEnd type="triangle" w="med" len="med"/>
          </a:ln>
        </p:spPr>
      </p:cxnSp>
      <p:cxnSp>
        <p:nvCxnSpPr>
          <p:cNvPr id="346" name="Google Shape;346;g2cd129da435_0_20"/>
          <p:cNvCxnSpPr/>
          <p:nvPr/>
        </p:nvCxnSpPr>
        <p:spPr>
          <a:xfrm flipH="1">
            <a:off x="5198213" y="4226179"/>
            <a:ext cx="461400" cy="1200"/>
          </a:xfrm>
          <a:prstGeom prst="straightConnector1">
            <a:avLst/>
          </a:prstGeom>
          <a:noFill/>
          <a:ln w="38100" cap="flat" cmpd="sng">
            <a:solidFill>
              <a:srgbClr val="E36C09"/>
            </a:solidFill>
            <a:prstDash val="solid"/>
            <a:round/>
            <a:headEnd type="none" w="sm" len="sm"/>
            <a:tailEnd type="triangle" w="med" len="med"/>
          </a:ln>
        </p:spPr>
      </p:cxnSp>
      <p:cxnSp>
        <p:nvCxnSpPr>
          <p:cNvPr id="347" name="Google Shape;347;g2cd129da435_0_20"/>
          <p:cNvCxnSpPr/>
          <p:nvPr/>
        </p:nvCxnSpPr>
        <p:spPr>
          <a:xfrm flipH="1">
            <a:off x="5198752" y="4444812"/>
            <a:ext cx="461400" cy="1200"/>
          </a:xfrm>
          <a:prstGeom prst="straightConnector1">
            <a:avLst/>
          </a:prstGeom>
          <a:noFill/>
          <a:ln w="38100" cap="flat" cmpd="sng">
            <a:solidFill>
              <a:srgbClr val="E36C09"/>
            </a:solidFill>
            <a:prstDash val="solid"/>
            <a:round/>
            <a:headEnd type="none" w="sm" len="sm"/>
            <a:tailEnd type="triangle" w="med" len="med"/>
          </a:ln>
        </p:spPr>
      </p:cxnSp>
      <p:cxnSp>
        <p:nvCxnSpPr>
          <p:cNvPr id="348" name="Google Shape;348;g2cd129da435_0_20"/>
          <p:cNvCxnSpPr/>
          <p:nvPr/>
        </p:nvCxnSpPr>
        <p:spPr>
          <a:xfrm flipH="1">
            <a:off x="5201355" y="4695540"/>
            <a:ext cx="461400" cy="1200"/>
          </a:xfrm>
          <a:prstGeom prst="straightConnector1">
            <a:avLst/>
          </a:prstGeom>
          <a:noFill/>
          <a:ln w="38100" cap="flat" cmpd="sng">
            <a:solidFill>
              <a:srgbClr val="E36C09"/>
            </a:solidFill>
            <a:prstDash val="solid"/>
            <a:round/>
            <a:headEnd type="none" w="sm" len="sm"/>
            <a:tailEnd type="triangle" w="med" len="med"/>
          </a:ln>
        </p:spPr>
      </p:cxnSp>
      <p:cxnSp>
        <p:nvCxnSpPr>
          <p:cNvPr id="349" name="Google Shape;349;g2cd129da435_0_20"/>
          <p:cNvCxnSpPr/>
          <p:nvPr/>
        </p:nvCxnSpPr>
        <p:spPr>
          <a:xfrm flipH="1">
            <a:off x="5203635" y="4893862"/>
            <a:ext cx="461400" cy="1200"/>
          </a:xfrm>
          <a:prstGeom prst="straightConnector1">
            <a:avLst/>
          </a:prstGeom>
          <a:noFill/>
          <a:ln w="38100" cap="flat" cmpd="sng">
            <a:solidFill>
              <a:srgbClr val="E36C09"/>
            </a:solidFill>
            <a:prstDash val="solid"/>
            <a:round/>
            <a:headEnd type="none" w="sm" len="sm"/>
            <a:tailEnd type="triangle" w="med" len="med"/>
          </a:ln>
        </p:spPr>
      </p:cxnSp>
      <p:cxnSp>
        <p:nvCxnSpPr>
          <p:cNvPr id="350" name="Google Shape;350;g2cd129da435_0_20"/>
          <p:cNvCxnSpPr/>
          <p:nvPr/>
        </p:nvCxnSpPr>
        <p:spPr>
          <a:xfrm flipH="1">
            <a:off x="5206238" y="5144590"/>
            <a:ext cx="461400" cy="1200"/>
          </a:xfrm>
          <a:prstGeom prst="straightConnector1">
            <a:avLst/>
          </a:prstGeom>
          <a:noFill/>
          <a:ln w="38100" cap="flat" cmpd="sng">
            <a:solidFill>
              <a:srgbClr val="E36C09"/>
            </a:solidFill>
            <a:prstDash val="solid"/>
            <a:round/>
            <a:headEnd type="none" w="sm" len="sm"/>
            <a:tailEnd type="triangle" w="med" len="med"/>
          </a:ln>
        </p:spPr>
      </p:cxnSp>
      <p:cxnSp>
        <p:nvCxnSpPr>
          <p:cNvPr id="351" name="Google Shape;351;g2cd129da435_0_20"/>
          <p:cNvCxnSpPr/>
          <p:nvPr/>
        </p:nvCxnSpPr>
        <p:spPr>
          <a:xfrm rot="10800000" flipH="1">
            <a:off x="5657010" y="3345743"/>
            <a:ext cx="345300" cy="5400"/>
          </a:xfrm>
          <a:prstGeom prst="straightConnector1">
            <a:avLst/>
          </a:prstGeom>
          <a:noFill/>
          <a:ln w="38100" cap="flat" cmpd="sng">
            <a:solidFill>
              <a:srgbClr val="E36C09"/>
            </a:solidFill>
            <a:prstDash val="solid"/>
            <a:round/>
            <a:headEnd type="none" w="sm" len="sm"/>
            <a:tailEnd type="triangle" w="med" len="med"/>
          </a:ln>
        </p:spPr>
      </p:cxnSp>
      <p:sp>
        <p:nvSpPr>
          <p:cNvPr id="352" name="Google Shape;352;g2cd129da435_0_20"/>
          <p:cNvSpPr/>
          <p:nvPr/>
        </p:nvSpPr>
        <p:spPr>
          <a:xfrm>
            <a:off x="7072062" y="5198135"/>
            <a:ext cx="928800" cy="304800"/>
          </a:xfrm>
          <a:prstGeom prst="rect">
            <a:avLst/>
          </a:prstGeom>
          <a:solidFill>
            <a:schemeClr val="accent1"/>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Timer</a:t>
            </a:r>
            <a:endParaRPr/>
          </a:p>
        </p:txBody>
      </p:sp>
      <p:sp>
        <p:nvSpPr>
          <p:cNvPr id="353" name="Google Shape;353;g2cd129da435_0_20"/>
          <p:cNvSpPr/>
          <p:nvPr/>
        </p:nvSpPr>
        <p:spPr>
          <a:xfrm>
            <a:off x="7072062" y="4779888"/>
            <a:ext cx="928800" cy="304800"/>
          </a:xfrm>
          <a:prstGeom prst="rect">
            <a:avLst/>
          </a:prstGeom>
          <a:solidFill>
            <a:schemeClr val="accent1"/>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SPI</a:t>
            </a:r>
            <a:endParaRPr/>
          </a:p>
        </p:txBody>
      </p:sp>
      <p:sp>
        <p:nvSpPr>
          <p:cNvPr id="354" name="Google Shape;354;g2cd129da435_0_20"/>
          <p:cNvSpPr/>
          <p:nvPr/>
        </p:nvSpPr>
        <p:spPr>
          <a:xfrm>
            <a:off x="7072062" y="4356214"/>
            <a:ext cx="928800" cy="304800"/>
          </a:xfrm>
          <a:prstGeom prst="rect">
            <a:avLst/>
          </a:prstGeom>
          <a:solidFill>
            <a:schemeClr val="accent1"/>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UART</a:t>
            </a:r>
            <a:endParaRPr/>
          </a:p>
        </p:txBody>
      </p:sp>
      <p:sp>
        <p:nvSpPr>
          <p:cNvPr id="355" name="Google Shape;355;g2cd129da435_0_20"/>
          <p:cNvSpPr txBox="1"/>
          <p:nvPr/>
        </p:nvSpPr>
        <p:spPr>
          <a:xfrm>
            <a:off x="7287986" y="5367076"/>
            <a:ext cx="5436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chemeClr val="lt1"/>
                </a:solidFill>
                <a:latin typeface="Gill Sans"/>
                <a:ea typeface="Gill Sans"/>
                <a:cs typeface="Gill Sans"/>
                <a:sym typeface="Gill Sans"/>
              </a:rPr>
              <a:t>…</a:t>
            </a:r>
            <a:endParaRPr/>
          </a:p>
        </p:txBody>
      </p:sp>
      <p:cxnSp>
        <p:nvCxnSpPr>
          <p:cNvPr id="356" name="Google Shape;356;g2cd129da435_0_20"/>
          <p:cNvCxnSpPr/>
          <p:nvPr/>
        </p:nvCxnSpPr>
        <p:spPr>
          <a:xfrm rot="10800000" flipH="1">
            <a:off x="6620878" y="4127546"/>
            <a:ext cx="900" cy="1706100"/>
          </a:xfrm>
          <a:prstGeom prst="straightConnector1">
            <a:avLst/>
          </a:prstGeom>
          <a:noFill/>
          <a:ln w="38100" cap="flat" cmpd="sng">
            <a:solidFill>
              <a:schemeClr val="accent1"/>
            </a:solidFill>
            <a:prstDash val="solid"/>
            <a:round/>
            <a:headEnd type="none" w="sm" len="sm"/>
            <a:tailEnd type="none" w="sm" len="sm"/>
          </a:ln>
        </p:spPr>
      </p:cxnSp>
      <p:cxnSp>
        <p:nvCxnSpPr>
          <p:cNvPr id="357" name="Google Shape;357;g2cd129da435_0_20"/>
          <p:cNvCxnSpPr/>
          <p:nvPr/>
        </p:nvCxnSpPr>
        <p:spPr>
          <a:xfrm>
            <a:off x="6606088" y="4932347"/>
            <a:ext cx="465900" cy="0"/>
          </a:xfrm>
          <a:prstGeom prst="straightConnector1">
            <a:avLst/>
          </a:prstGeom>
          <a:noFill/>
          <a:ln w="38100" cap="flat" cmpd="sng">
            <a:solidFill>
              <a:schemeClr val="accent1"/>
            </a:solidFill>
            <a:prstDash val="solid"/>
            <a:round/>
            <a:headEnd type="none" w="sm" len="sm"/>
            <a:tailEnd type="triangle" w="med" len="med"/>
          </a:ln>
        </p:spPr>
      </p:cxnSp>
      <p:cxnSp>
        <p:nvCxnSpPr>
          <p:cNvPr id="358" name="Google Shape;358;g2cd129da435_0_20"/>
          <p:cNvCxnSpPr/>
          <p:nvPr/>
        </p:nvCxnSpPr>
        <p:spPr>
          <a:xfrm>
            <a:off x="6606088" y="5350594"/>
            <a:ext cx="465900" cy="0"/>
          </a:xfrm>
          <a:prstGeom prst="straightConnector1">
            <a:avLst/>
          </a:prstGeom>
          <a:noFill/>
          <a:ln w="38100" cap="flat" cmpd="sng">
            <a:solidFill>
              <a:schemeClr val="accent1"/>
            </a:solidFill>
            <a:prstDash val="solid"/>
            <a:round/>
            <a:headEnd type="none" w="sm" len="sm"/>
            <a:tailEnd type="triangle" w="med" len="med"/>
          </a:ln>
        </p:spPr>
      </p:cxnSp>
      <p:cxnSp>
        <p:nvCxnSpPr>
          <p:cNvPr id="359" name="Google Shape;359;g2cd129da435_0_20"/>
          <p:cNvCxnSpPr/>
          <p:nvPr/>
        </p:nvCxnSpPr>
        <p:spPr>
          <a:xfrm>
            <a:off x="6620878" y="5715000"/>
            <a:ext cx="465900" cy="0"/>
          </a:xfrm>
          <a:prstGeom prst="straightConnector1">
            <a:avLst/>
          </a:prstGeom>
          <a:noFill/>
          <a:ln w="38100" cap="flat" cmpd="sng">
            <a:solidFill>
              <a:schemeClr val="accent1"/>
            </a:solidFill>
            <a:prstDash val="solid"/>
            <a:round/>
            <a:headEnd type="none" w="sm" len="sm"/>
            <a:tailEnd type="triangle" w="med" len="med"/>
          </a:ln>
        </p:spPr>
      </p:cxnSp>
      <p:grpSp>
        <p:nvGrpSpPr>
          <p:cNvPr id="360" name="Google Shape;360;g2cd129da435_0_20"/>
          <p:cNvGrpSpPr/>
          <p:nvPr/>
        </p:nvGrpSpPr>
        <p:grpSpPr>
          <a:xfrm>
            <a:off x="76200" y="2743200"/>
            <a:ext cx="4173511" cy="1981832"/>
            <a:chOff x="76200" y="2743200"/>
            <a:chExt cx="4173511" cy="1981832"/>
          </a:xfrm>
        </p:grpSpPr>
        <p:pic>
          <p:nvPicPr>
            <p:cNvPr id="361" name="Google Shape;361;g2cd129da435_0_20"/>
            <p:cNvPicPr preferRelativeResize="0"/>
            <p:nvPr/>
          </p:nvPicPr>
          <p:blipFill rotWithShape="1">
            <a:blip r:embed="rId4">
              <a:alphaModFix/>
            </a:blip>
            <a:srcRect/>
            <a:stretch/>
          </p:blipFill>
          <p:spPr>
            <a:xfrm>
              <a:off x="76200" y="2743200"/>
              <a:ext cx="2650884" cy="1981832"/>
            </a:xfrm>
            <a:prstGeom prst="rect">
              <a:avLst/>
            </a:prstGeom>
            <a:solidFill>
              <a:schemeClr val="lt1"/>
            </a:solidFill>
            <a:ln w="28575" cap="flat" cmpd="sng">
              <a:solidFill>
                <a:srgbClr val="0070C0"/>
              </a:solidFill>
              <a:prstDash val="solid"/>
              <a:round/>
              <a:headEnd type="none" w="sm" len="sm"/>
              <a:tailEnd type="none" w="sm" len="sm"/>
            </a:ln>
          </p:spPr>
        </p:pic>
        <p:sp>
          <p:nvSpPr>
            <p:cNvPr id="362" name="Google Shape;362;g2cd129da435_0_20"/>
            <p:cNvSpPr/>
            <p:nvPr/>
          </p:nvSpPr>
          <p:spPr>
            <a:xfrm rot="5400000">
              <a:off x="2598961" y="2997560"/>
              <a:ext cx="1779000" cy="1522500"/>
            </a:xfrm>
            <a:prstGeom prst="trapezoid">
              <a:avLst>
                <a:gd name="adj" fmla="val 52401"/>
              </a:avLst>
            </a:prstGeom>
            <a:solidFill>
              <a:schemeClr val="accent1">
                <a:alpha val="80000"/>
              </a:schemeClr>
            </a:solidFill>
            <a:ln w="19050" cap="flat" cmpd="sng">
              <a:solidFill>
                <a:srgbClr val="395E89">
                  <a:alpha val="98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g2cd129da435_0_74"/>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General Purpose Input/Output (GPIO)</a:t>
            </a:r>
            <a:endParaRPr/>
          </a:p>
        </p:txBody>
      </p:sp>
      <p:sp>
        <p:nvSpPr>
          <p:cNvPr id="369" name="Google Shape;369;g2cd129da435_0_74"/>
          <p:cNvSpPr txBox="1">
            <a:spLocks noGrp="1"/>
          </p:cNvSpPr>
          <p:nvPr>
            <p:ph type="sldNum" idx="12"/>
          </p:nvPr>
        </p:nvSpPr>
        <p:spPr>
          <a:xfrm>
            <a:off x="612648" y="6356350"/>
            <a:ext cx="1981200" cy="3657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11</a:t>
            </a:fld>
            <a:endParaRPr/>
          </a:p>
        </p:txBody>
      </p:sp>
      <p:pic>
        <p:nvPicPr>
          <p:cNvPr id="370" name="Google Shape;370;g2cd129da435_0_74"/>
          <p:cNvPicPr preferRelativeResize="0"/>
          <p:nvPr/>
        </p:nvPicPr>
        <p:blipFill rotWithShape="1">
          <a:blip r:embed="rId3">
            <a:alphaModFix/>
          </a:blip>
          <a:srcRect/>
          <a:stretch/>
        </p:blipFill>
        <p:spPr>
          <a:xfrm>
            <a:off x="2057400" y="1211766"/>
            <a:ext cx="7315200" cy="5798634"/>
          </a:xfrm>
          <a:prstGeom prst="rect">
            <a:avLst/>
          </a:prstGeom>
          <a:noFill/>
          <a:ln>
            <a:noFill/>
          </a:ln>
        </p:spPr>
      </p:pic>
      <p:sp>
        <p:nvSpPr>
          <p:cNvPr id="371" name="Google Shape;371;g2cd129da435_0_74"/>
          <p:cNvSpPr/>
          <p:nvPr/>
        </p:nvSpPr>
        <p:spPr>
          <a:xfrm>
            <a:off x="3613265" y="2438400"/>
            <a:ext cx="1774800" cy="762000"/>
          </a:xfrm>
          <a:prstGeom prst="rect">
            <a:avLst/>
          </a:prstGeom>
          <a:solidFill>
            <a:schemeClr val="accent1"/>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ARM Cortex-M4</a:t>
            </a:r>
            <a:endParaRPr/>
          </a:p>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FPU</a:t>
            </a:r>
            <a:endParaRPr/>
          </a:p>
        </p:txBody>
      </p:sp>
      <p:cxnSp>
        <p:nvCxnSpPr>
          <p:cNvPr id="372" name="Google Shape;372;g2cd129da435_0_74"/>
          <p:cNvCxnSpPr/>
          <p:nvPr/>
        </p:nvCxnSpPr>
        <p:spPr>
          <a:xfrm rot="10800000">
            <a:off x="5388131" y="2480440"/>
            <a:ext cx="595800" cy="0"/>
          </a:xfrm>
          <a:prstGeom prst="straightConnector1">
            <a:avLst/>
          </a:prstGeom>
          <a:noFill/>
          <a:ln w="38100" cap="flat" cmpd="sng">
            <a:solidFill>
              <a:srgbClr val="C2D59B"/>
            </a:solidFill>
            <a:prstDash val="solid"/>
            <a:round/>
            <a:headEnd type="triangle" w="med" len="med"/>
            <a:tailEnd type="triangle" w="med" len="med"/>
          </a:ln>
        </p:spPr>
      </p:cxnSp>
      <p:cxnSp>
        <p:nvCxnSpPr>
          <p:cNvPr id="373" name="Google Shape;373;g2cd129da435_0_74"/>
          <p:cNvCxnSpPr/>
          <p:nvPr/>
        </p:nvCxnSpPr>
        <p:spPr>
          <a:xfrm rot="10800000">
            <a:off x="5388131" y="2791599"/>
            <a:ext cx="595800" cy="0"/>
          </a:xfrm>
          <a:prstGeom prst="straightConnector1">
            <a:avLst/>
          </a:prstGeom>
          <a:noFill/>
          <a:ln w="38100" cap="flat" cmpd="sng">
            <a:solidFill>
              <a:schemeClr val="accent3"/>
            </a:solidFill>
            <a:prstDash val="solid"/>
            <a:round/>
            <a:headEnd type="triangle" w="med" len="med"/>
            <a:tailEnd type="triangle" w="med" len="med"/>
          </a:ln>
        </p:spPr>
      </p:cxnSp>
      <p:cxnSp>
        <p:nvCxnSpPr>
          <p:cNvPr id="374" name="Google Shape;374;g2cd129da435_0_74"/>
          <p:cNvCxnSpPr/>
          <p:nvPr/>
        </p:nvCxnSpPr>
        <p:spPr>
          <a:xfrm rot="10800000">
            <a:off x="5388131" y="3124200"/>
            <a:ext cx="595800" cy="0"/>
          </a:xfrm>
          <a:prstGeom prst="straightConnector1">
            <a:avLst/>
          </a:prstGeom>
          <a:noFill/>
          <a:ln w="38100" cap="flat" cmpd="sng">
            <a:solidFill>
              <a:srgbClr val="B2A0C7"/>
            </a:solidFill>
            <a:prstDash val="solid"/>
            <a:round/>
            <a:headEnd type="triangle" w="med" len="med"/>
            <a:tailEnd type="triangle" w="med" len="med"/>
          </a:ln>
        </p:spPr>
      </p:cxnSp>
      <p:sp>
        <p:nvSpPr>
          <p:cNvPr id="375" name="Google Shape;375;g2cd129da435_0_74"/>
          <p:cNvSpPr txBox="1"/>
          <p:nvPr/>
        </p:nvSpPr>
        <p:spPr>
          <a:xfrm>
            <a:off x="5388009" y="2187265"/>
            <a:ext cx="6144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rgbClr val="C2D59B"/>
                </a:solidFill>
                <a:latin typeface="Gill Sans"/>
                <a:ea typeface="Gill Sans"/>
                <a:cs typeface="Gill Sans"/>
                <a:sym typeface="Gill Sans"/>
              </a:rPr>
              <a:t>D Bus</a:t>
            </a:r>
            <a:endParaRPr/>
          </a:p>
        </p:txBody>
      </p:sp>
      <p:sp>
        <p:nvSpPr>
          <p:cNvPr id="376" name="Google Shape;376;g2cd129da435_0_74"/>
          <p:cNvSpPr txBox="1"/>
          <p:nvPr/>
        </p:nvSpPr>
        <p:spPr>
          <a:xfrm>
            <a:off x="5379384" y="2514600"/>
            <a:ext cx="613200" cy="2769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b="1">
                <a:solidFill>
                  <a:schemeClr val="accent3"/>
                </a:solidFill>
                <a:latin typeface="Gill Sans"/>
                <a:ea typeface="Gill Sans"/>
                <a:cs typeface="Gill Sans"/>
                <a:sym typeface="Gill Sans"/>
              </a:rPr>
              <a:t>I Bus</a:t>
            </a:r>
            <a:endParaRPr/>
          </a:p>
        </p:txBody>
      </p:sp>
      <p:sp>
        <p:nvSpPr>
          <p:cNvPr id="377" name="Google Shape;377;g2cd129da435_0_74"/>
          <p:cNvSpPr txBox="1"/>
          <p:nvPr/>
        </p:nvSpPr>
        <p:spPr>
          <a:xfrm>
            <a:off x="5400750" y="2870579"/>
            <a:ext cx="5838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rgbClr val="B2A0C7"/>
                </a:solidFill>
                <a:latin typeface="Gill Sans"/>
                <a:ea typeface="Gill Sans"/>
                <a:cs typeface="Gill Sans"/>
                <a:sym typeface="Gill Sans"/>
              </a:rPr>
              <a:t>S Bus</a:t>
            </a:r>
            <a:endParaRPr/>
          </a:p>
        </p:txBody>
      </p:sp>
      <p:sp>
        <p:nvSpPr>
          <p:cNvPr id="378" name="Google Shape;378;g2cd129da435_0_74"/>
          <p:cNvSpPr/>
          <p:nvPr/>
        </p:nvSpPr>
        <p:spPr>
          <a:xfrm>
            <a:off x="6965488" y="2667000"/>
            <a:ext cx="928800" cy="304800"/>
          </a:xfrm>
          <a:prstGeom prst="rect">
            <a:avLst/>
          </a:prstGeom>
          <a:solidFill>
            <a:schemeClr val="accent1"/>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SRAM</a:t>
            </a:r>
            <a:endParaRPr/>
          </a:p>
        </p:txBody>
      </p:sp>
      <p:sp>
        <p:nvSpPr>
          <p:cNvPr id="379" name="Google Shape;379;g2cd129da435_0_74"/>
          <p:cNvSpPr/>
          <p:nvPr/>
        </p:nvSpPr>
        <p:spPr>
          <a:xfrm>
            <a:off x="6964565" y="2286000"/>
            <a:ext cx="928800" cy="300600"/>
          </a:xfrm>
          <a:prstGeom prst="rect">
            <a:avLst/>
          </a:prstGeom>
          <a:solidFill>
            <a:schemeClr val="accent1"/>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FLASH</a:t>
            </a:r>
            <a:endParaRPr/>
          </a:p>
        </p:txBody>
      </p:sp>
      <p:sp>
        <p:nvSpPr>
          <p:cNvPr id="380" name="Google Shape;380;g2cd129da435_0_74"/>
          <p:cNvSpPr/>
          <p:nvPr/>
        </p:nvSpPr>
        <p:spPr>
          <a:xfrm rot="-5400000">
            <a:off x="5633827" y="2717841"/>
            <a:ext cx="1092900" cy="382500"/>
          </a:xfrm>
          <a:prstGeom prst="rect">
            <a:avLst/>
          </a:prstGeom>
          <a:solidFill>
            <a:schemeClr val="accent2"/>
          </a:solidFill>
          <a:ln w="1905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lt1"/>
                </a:solidFill>
                <a:latin typeface="Gill Sans"/>
                <a:ea typeface="Gill Sans"/>
                <a:cs typeface="Gill Sans"/>
                <a:sym typeface="Gill Sans"/>
              </a:rPr>
              <a:t>AHB Bus Matrix</a:t>
            </a:r>
            <a:endParaRPr/>
          </a:p>
        </p:txBody>
      </p:sp>
      <p:cxnSp>
        <p:nvCxnSpPr>
          <p:cNvPr id="381" name="Google Shape;381;g2cd129da435_0_74"/>
          <p:cNvCxnSpPr/>
          <p:nvPr/>
        </p:nvCxnSpPr>
        <p:spPr>
          <a:xfrm rot="10800000">
            <a:off x="6378731" y="2438400"/>
            <a:ext cx="595800" cy="0"/>
          </a:xfrm>
          <a:prstGeom prst="straightConnector1">
            <a:avLst/>
          </a:prstGeom>
          <a:noFill/>
          <a:ln w="38100" cap="flat" cmpd="sng">
            <a:solidFill>
              <a:srgbClr val="C4BD97"/>
            </a:solidFill>
            <a:prstDash val="solid"/>
            <a:round/>
            <a:headEnd type="triangle" w="med" len="med"/>
            <a:tailEnd type="triangle" w="med" len="med"/>
          </a:ln>
        </p:spPr>
      </p:cxnSp>
      <p:cxnSp>
        <p:nvCxnSpPr>
          <p:cNvPr id="382" name="Google Shape;382;g2cd129da435_0_74"/>
          <p:cNvCxnSpPr/>
          <p:nvPr/>
        </p:nvCxnSpPr>
        <p:spPr>
          <a:xfrm rot="10800000">
            <a:off x="6373599" y="2819400"/>
            <a:ext cx="595800" cy="0"/>
          </a:xfrm>
          <a:prstGeom prst="straightConnector1">
            <a:avLst/>
          </a:prstGeom>
          <a:noFill/>
          <a:ln w="38100" cap="flat" cmpd="sng">
            <a:solidFill>
              <a:srgbClr val="92CCDC"/>
            </a:solidFill>
            <a:prstDash val="solid"/>
            <a:round/>
            <a:headEnd type="triangle" w="med" len="med"/>
            <a:tailEnd type="triangle" w="med" len="med"/>
          </a:ln>
        </p:spPr>
      </p:cxnSp>
      <p:sp>
        <p:nvSpPr>
          <p:cNvPr id="383" name="Google Shape;383;g2cd129da435_0_74"/>
          <p:cNvSpPr/>
          <p:nvPr/>
        </p:nvSpPr>
        <p:spPr>
          <a:xfrm>
            <a:off x="6075287" y="3756372"/>
            <a:ext cx="1092900" cy="382500"/>
          </a:xfrm>
          <a:prstGeom prst="rect">
            <a:avLst/>
          </a:prstGeom>
          <a:solidFill>
            <a:srgbClr val="31859B"/>
          </a:solidFill>
          <a:ln w="19050" cap="flat" cmpd="sng">
            <a:solidFill>
              <a:srgbClr val="31859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lt1"/>
                </a:solidFill>
                <a:latin typeface="Gill Sans"/>
                <a:ea typeface="Gill Sans"/>
                <a:cs typeface="Gill Sans"/>
                <a:sym typeface="Gill Sans"/>
              </a:rPr>
              <a:t>APB Bus Matrix</a:t>
            </a:r>
            <a:endParaRPr/>
          </a:p>
        </p:txBody>
      </p:sp>
      <p:cxnSp>
        <p:nvCxnSpPr>
          <p:cNvPr id="384" name="Google Shape;384;g2cd129da435_0_74"/>
          <p:cNvCxnSpPr/>
          <p:nvPr/>
        </p:nvCxnSpPr>
        <p:spPr>
          <a:xfrm>
            <a:off x="6620878" y="4534951"/>
            <a:ext cx="465900" cy="0"/>
          </a:xfrm>
          <a:prstGeom prst="straightConnector1">
            <a:avLst/>
          </a:prstGeom>
          <a:noFill/>
          <a:ln w="38100" cap="flat" cmpd="sng">
            <a:solidFill>
              <a:schemeClr val="accent1"/>
            </a:solidFill>
            <a:prstDash val="solid"/>
            <a:round/>
            <a:headEnd type="none" w="sm" len="sm"/>
            <a:tailEnd type="triangle" w="med" len="med"/>
          </a:ln>
        </p:spPr>
      </p:cxnSp>
      <p:cxnSp>
        <p:nvCxnSpPr>
          <p:cNvPr id="385" name="Google Shape;385;g2cd129da435_0_74"/>
          <p:cNvCxnSpPr/>
          <p:nvPr/>
        </p:nvCxnSpPr>
        <p:spPr>
          <a:xfrm rot="10800000">
            <a:off x="6378544" y="3200400"/>
            <a:ext cx="258000" cy="0"/>
          </a:xfrm>
          <a:prstGeom prst="straightConnector1">
            <a:avLst/>
          </a:prstGeom>
          <a:noFill/>
          <a:ln w="38100" cap="flat" cmpd="sng">
            <a:solidFill>
              <a:schemeClr val="accent1"/>
            </a:solidFill>
            <a:prstDash val="solid"/>
            <a:round/>
            <a:headEnd type="none" w="sm" len="sm"/>
            <a:tailEnd type="triangle" w="med" len="med"/>
          </a:ln>
        </p:spPr>
      </p:cxnSp>
      <p:cxnSp>
        <p:nvCxnSpPr>
          <p:cNvPr id="386" name="Google Shape;386;g2cd129da435_0_74"/>
          <p:cNvCxnSpPr>
            <a:stCxn id="383" idx="0"/>
          </p:cNvCxnSpPr>
          <p:nvPr/>
        </p:nvCxnSpPr>
        <p:spPr>
          <a:xfrm rot="10800000">
            <a:off x="6621737" y="3200472"/>
            <a:ext cx="0" cy="555900"/>
          </a:xfrm>
          <a:prstGeom prst="straightConnector1">
            <a:avLst/>
          </a:prstGeom>
          <a:noFill/>
          <a:ln w="38100" cap="flat" cmpd="sng">
            <a:solidFill>
              <a:schemeClr val="accent1"/>
            </a:solidFill>
            <a:prstDash val="solid"/>
            <a:round/>
            <a:headEnd type="none" w="sm" len="sm"/>
            <a:tailEnd type="none" w="sm" len="sm"/>
          </a:ln>
        </p:spPr>
      </p:cxnSp>
      <p:grpSp>
        <p:nvGrpSpPr>
          <p:cNvPr id="387" name="Google Shape;387;g2cd129da435_0_74"/>
          <p:cNvGrpSpPr/>
          <p:nvPr/>
        </p:nvGrpSpPr>
        <p:grpSpPr>
          <a:xfrm>
            <a:off x="4260912" y="3345717"/>
            <a:ext cx="1416115" cy="1875097"/>
            <a:chOff x="4091125" y="3332903"/>
            <a:chExt cx="1416115" cy="1875097"/>
          </a:xfrm>
        </p:grpSpPr>
        <p:cxnSp>
          <p:nvCxnSpPr>
            <p:cNvPr id="388" name="Google Shape;388;g2cd129da435_0_74"/>
            <p:cNvCxnSpPr/>
            <p:nvPr/>
          </p:nvCxnSpPr>
          <p:spPr>
            <a:xfrm>
              <a:off x="5500640" y="3332903"/>
              <a:ext cx="6600" cy="1852500"/>
            </a:xfrm>
            <a:prstGeom prst="straightConnector1">
              <a:avLst/>
            </a:prstGeom>
            <a:noFill/>
            <a:ln w="38100" cap="flat" cmpd="sng">
              <a:solidFill>
                <a:srgbClr val="E36C09"/>
              </a:solidFill>
              <a:prstDash val="solid"/>
              <a:round/>
              <a:headEnd type="none" w="sm" len="sm"/>
              <a:tailEnd type="none" w="sm" len="sm"/>
            </a:ln>
            <a:effectLst>
              <a:outerShdw blurRad="50800" dist="43000" dir="5400000" rotWithShape="0">
                <a:srgbClr val="000000">
                  <a:alpha val="40000"/>
                </a:srgbClr>
              </a:outerShdw>
            </a:effectLst>
          </p:spPr>
        </p:cxnSp>
        <p:sp>
          <p:nvSpPr>
            <p:cNvPr id="389" name="Google Shape;389;g2cd129da435_0_74"/>
            <p:cNvSpPr/>
            <p:nvPr/>
          </p:nvSpPr>
          <p:spPr>
            <a:xfrm>
              <a:off x="4101018" y="3657600"/>
              <a:ext cx="928800" cy="178800"/>
            </a:xfrm>
            <a:prstGeom prst="rect">
              <a:avLst/>
            </a:prstGeom>
            <a:solidFill>
              <a:srgbClr val="7030A0"/>
            </a:solidFill>
            <a:ln w="19050" cap="flat" cmpd="sng">
              <a:solidFill>
                <a:srgbClr val="7030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lt1"/>
                  </a:solidFill>
                  <a:latin typeface="Gill Sans"/>
                  <a:ea typeface="Gill Sans"/>
                  <a:cs typeface="Gill Sans"/>
                  <a:sym typeface="Gill Sans"/>
                </a:rPr>
                <a:t>GPIO B</a:t>
              </a:r>
              <a:endParaRPr/>
            </a:p>
          </p:txBody>
        </p:sp>
        <p:sp>
          <p:nvSpPr>
            <p:cNvPr id="390" name="Google Shape;390;g2cd129da435_0_74"/>
            <p:cNvSpPr/>
            <p:nvPr/>
          </p:nvSpPr>
          <p:spPr>
            <a:xfrm>
              <a:off x="4093231" y="3886200"/>
              <a:ext cx="928800" cy="178800"/>
            </a:xfrm>
            <a:prstGeom prst="rect">
              <a:avLst/>
            </a:prstGeom>
            <a:solidFill>
              <a:srgbClr val="7030A0"/>
            </a:solidFill>
            <a:ln w="19050" cap="flat" cmpd="sng">
              <a:solidFill>
                <a:srgbClr val="7030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lt1"/>
                  </a:solidFill>
                  <a:latin typeface="Gill Sans"/>
                  <a:ea typeface="Gill Sans"/>
                  <a:cs typeface="Gill Sans"/>
                  <a:sym typeface="Gill Sans"/>
                </a:rPr>
                <a:t>GPIO C</a:t>
              </a:r>
              <a:endParaRPr/>
            </a:p>
          </p:txBody>
        </p:sp>
        <p:sp>
          <p:nvSpPr>
            <p:cNvPr id="391" name="Google Shape;391;g2cd129da435_0_74"/>
            <p:cNvSpPr/>
            <p:nvPr/>
          </p:nvSpPr>
          <p:spPr>
            <a:xfrm>
              <a:off x="4091125" y="4114800"/>
              <a:ext cx="928800" cy="178800"/>
            </a:xfrm>
            <a:prstGeom prst="rect">
              <a:avLst/>
            </a:prstGeom>
            <a:solidFill>
              <a:srgbClr val="7030A0"/>
            </a:solidFill>
            <a:ln w="19050" cap="flat" cmpd="sng">
              <a:solidFill>
                <a:srgbClr val="7030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lt1"/>
                  </a:solidFill>
                  <a:latin typeface="Gill Sans"/>
                  <a:ea typeface="Gill Sans"/>
                  <a:cs typeface="Gill Sans"/>
                  <a:sym typeface="Gill Sans"/>
                </a:rPr>
                <a:t>GPIO D</a:t>
              </a:r>
              <a:endParaRPr/>
            </a:p>
          </p:txBody>
        </p:sp>
        <p:sp>
          <p:nvSpPr>
            <p:cNvPr id="392" name="Google Shape;392;g2cd129da435_0_74"/>
            <p:cNvSpPr/>
            <p:nvPr/>
          </p:nvSpPr>
          <p:spPr>
            <a:xfrm>
              <a:off x="4107531" y="3402663"/>
              <a:ext cx="928800" cy="178800"/>
            </a:xfrm>
            <a:prstGeom prst="rect">
              <a:avLst/>
            </a:prstGeom>
            <a:solidFill>
              <a:srgbClr val="7030A0"/>
            </a:solidFill>
            <a:ln w="19050" cap="flat" cmpd="sng">
              <a:solidFill>
                <a:srgbClr val="7030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lt1"/>
                  </a:solidFill>
                  <a:latin typeface="Gill Sans"/>
                  <a:ea typeface="Gill Sans"/>
                  <a:cs typeface="Gill Sans"/>
                  <a:sym typeface="Gill Sans"/>
                </a:rPr>
                <a:t>GPIO A</a:t>
              </a:r>
              <a:endParaRPr/>
            </a:p>
          </p:txBody>
        </p:sp>
        <p:sp>
          <p:nvSpPr>
            <p:cNvPr id="393" name="Google Shape;393;g2cd129da435_0_74"/>
            <p:cNvSpPr/>
            <p:nvPr/>
          </p:nvSpPr>
          <p:spPr>
            <a:xfrm>
              <a:off x="4103248" y="4572000"/>
              <a:ext cx="928800" cy="178800"/>
            </a:xfrm>
            <a:prstGeom prst="rect">
              <a:avLst/>
            </a:prstGeom>
            <a:solidFill>
              <a:srgbClr val="7030A0"/>
            </a:solidFill>
            <a:ln w="19050" cap="flat" cmpd="sng">
              <a:solidFill>
                <a:srgbClr val="7030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lt1"/>
                  </a:solidFill>
                  <a:latin typeface="Gill Sans"/>
                  <a:ea typeface="Gill Sans"/>
                  <a:cs typeface="Gill Sans"/>
                  <a:sym typeface="Gill Sans"/>
                </a:rPr>
                <a:t>GPIO F</a:t>
              </a:r>
              <a:endParaRPr/>
            </a:p>
          </p:txBody>
        </p:sp>
        <p:sp>
          <p:nvSpPr>
            <p:cNvPr id="394" name="Google Shape;394;g2cd129da435_0_74"/>
            <p:cNvSpPr/>
            <p:nvPr/>
          </p:nvSpPr>
          <p:spPr>
            <a:xfrm>
              <a:off x="4095461" y="4800600"/>
              <a:ext cx="928800" cy="178800"/>
            </a:xfrm>
            <a:prstGeom prst="rect">
              <a:avLst/>
            </a:prstGeom>
            <a:solidFill>
              <a:srgbClr val="7030A0"/>
            </a:solidFill>
            <a:ln w="19050" cap="flat" cmpd="sng">
              <a:solidFill>
                <a:srgbClr val="7030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lt1"/>
                  </a:solidFill>
                  <a:latin typeface="Gill Sans"/>
                  <a:ea typeface="Gill Sans"/>
                  <a:cs typeface="Gill Sans"/>
                  <a:sym typeface="Gill Sans"/>
                </a:rPr>
                <a:t>GPIO G</a:t>
              </a:r>
              <a:endParaRPr/>
            </a:p>
          </p:txBody>
        </p:sp>
        <p:sp>
          <p:nvSpPr>
            <p:cNvPr id="395" name="Google Shape;395;g2cd129da435_0_74"/>
            <p:cNvSpPr/>
            <p:nvPr/>
          </p:nvSpPr>
          <p:spPr>
            <a:xfrm>
              <a:off x="4093355" y="5029200"/>
              <a:ext cx="928800" cy="178800"/>
            </a:xfrm>
            <a:prstGeom prst="rect">
              <a:avLst/>
            </a:prstGeom>
            <a:solidFill>
              <a:srgbClr val="7030A0"/>
            </a:solidFill>
            <a:ln w="19050" cap="flat" cmpd="sng">
              <a:solidFill>
                <a:srgbClr val="7030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lt1"/>
                  </a:solidFill>
                  <a:latin typeface="Gill Sans"/>
                  <a:ea typeface="Gill Sans"/>
                  <a:cs typeface="Gill Sans"/>
                  <a:sym typeface="Gill Sans"/>
                </a:rPr>
                <a:t>GPIO H</a:t>
              </a:r>
              <a:endParaRPr/>
            </a:p>
          </p:txBody>
        </p:sp>
        <p:sp>
          <p:nvSpPr>
            <p:cNvPr id="396" name="Google Shape;396;g2cd129da435_0_74"/>
            <p:cNvSpPr/>
            <p:nvPr/>
          </p:nvSpPr>
          <p:spPr>
            <a:xfrm>
              <a:off x="4109761" y="4343400"/>
              <a:ext cx="928800" cy="178800"/>
            </a:xfrm>
            <a:prstGeom prst="rect">
              <a:avLst/>
            </a:prstGeom>
            <a:solidFill>
              <a:srgbClr val="7030A0"/>
            </a:solidFill>
            <a:ln w="19050" cap="flat" cmpd="sng">
              <a:solidFill>
                <a:srgbClr val="7030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lt1"/>
                  </a:solidFill>
                  <a:latin typeface="Gill Sans"/>
                  <a:ea typeface="Gill Sans"/>
                  <a:cs typeface="Gill Sans"/>
                  <a:sym typeface="Gill Sans"/>
                </a:rPr>
                <a:t>GPIO E</a:t>
              </a:r>
              <a:endParaRPr/>
            </a:p>
          </p:txBody>
        </p:sp>
      </p:grpSp>
      <p:sp>
        <p:nvSpPr>
          <p:cNvPr id="397" name="Google Shape;397;g2cd129da435_0_74"/>
          <p:cNvSpPr txBox="1"/>
          <p:nvPr/>
        </p:nvSpPr>
        <p:spPr>
          <a:xfrm>
            <a:off x="5019205" y="5701209"/>
            <a:ext cx="1104900" cy="33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lt1"/>
                </a:solidFill>
                <a:latin typeface="Gill Sans"/>
                <a:ea typeface="Gill Sans"/>
                <a:cs typeface="Gill Sans"/>
                <a:sym typeface="Gill Sans"/>
              </a:rPr>
              <a:t>STM32L4</a:t>
            </a:r>
            <a:endParaRPr/>
          </a:p>
        </p:txBody>
      </p:sp>
      <p:cxnSp>
        <p:nvCxnSpPr>
          <p:cNvPr id="398" name="Google Shape;398;g2cd129da435_0_74"/>
          <p:cNvCxnSpPr/>
          <p:nvPr/>
        </p:nvCxnSpPr>
        <p:spPr>
          <a:xfrm flipH="1">
            <a:off x="5203932" y="3504845"/>
            <a:ext cx="461400" cy="1200"/>
          </a:xfrm>
          <a:prstGeom prst="straightConnector1">
            <a:avLst/>
          </a:prstGeom>
          <a:noFill/>
          <a:ln w="38100" cap="flat" cmpd="sng">
            <a:solidFill>
              <a:srgbClr val="E36C09"/>
            </a:solidFill>
            <a:prstDash val="solid"/>
            <a:round/>
            <a:headEnd type="none" w="sm" len="sm"/>
            <a:tailEnd type="triangle" w="med" len="med"/>
          </a:ln>
        </p:spPr>
      </p:cxnSp>
      <p:cxnSp>
        <p:nvCxnSpPr>
          <p:cNvPr id="399" name="Google Shape;399;g2cd129da435_0_74"/>
          <p:cNvCxnSpPr/>
          <p:nvPr/>
        </p:nvCxnSpPr>
        <p:spPr>
          <a:xfrm flipH="1">
            <a:off x="5206535" y="3755573"/>
            <a:ext cx="461400" cy="1200"/>
          </a:xfrm>
          <a:prstGeom prst="straightConnector1">
            <a:avLst/>
          </a:prstGeom>
          <a:noFill/>
          <a:ln w="38100" cap="flat" cmpd="sng">
            <a:solidFill>
              <a:srgbClr val="E36C09"/>
            </a:solidFill>
            <a:prstDash val="solid"/>
            <a:round/>
            <a:headEnd type="none" w="sm" len="sm"/>
            <a:tailEnd type="triangle" w="med" len="med"/>
          </a:ln>
        </p:spPr>
      </p:cxnSp>
      <p:cxnSp>
        <p:nvCxnSpPr>
          <p:cNvPr id="400" name="Google Shape;400;g2cd129da435_0_74"/>
          <p:cNvCxnSpPr/>
          <p:nvPr/>
        </p:nvCxnSpPr>
        <p:spPr>
          <a:xfrm flipH="1">
            <a:off x="5195610" y="3975451"/>
            <a:ext cx="461400" cy="1200"/>
          </a:xfrm>
          <a:prstGeom prst="straightConnector1">
            <a:avLst/>
          </a:prstGeom>
          <a:noFill/>
          <a:ln w="38100" cap="flat" cmpd="sng">
            <a:solidFill>
              <a:srgbClr val="E36C09"/>
            </a:solidFill>
            <a:prstDash val="solid"/>
            <a:round/>
            <a:headEnd type="none" w="sm" len="sm"/>
            <a:tailEnd type="triangle" w="med" len="med"/>
          </a:ln>
        </p:spPr>
      </p:cxnSp>
      <p:cxnSp>
        <p:nvCxnSpPr>
          <p:cNvPr id="401" name="Google Shape;401;g2cd129da435_0_74"/>
          <p:cNvCxnSpPr/>
          <p:nvPr/>
        </p:nvCxnSpPr>
        <p:spPr>
          <a:xfrm flipH="1">
            <a:off x="5198213" y="4226179"/>
            <a:ext cx="461400" cy="1200"/>
          </a:xfrm>
          <a:prstGeom prst="straightConnector1">
            <a:avLst/>
          </a:prstGeom>
          <a:noFill/>
          <a:ln w="38100" cap="flat" cmpd="sng">
            <a:solidFill>
              <a:srgbClr val="E36C09"/>
            </a:solidFill>
            <a:prstDash val="solid"/>
            <a:round/>
            <a:headEnd type="none" w="sm" len="sm"/>
            <a:tailEnd type="triangle" w="med" len="med"/>
          </a:ln>
        </p:spPr>
      </p:cxnSp>
      <p:cxnSp>
        <p:nvCxnSpPr>
          <p:cNvPr id="402" name="Google Shape;402;g2cd129da435_0_74"/>
          <p:cNvCxnSpPr/>
          <p:nvPr/>
        </p:nvCxnSpPr>
        <p:spPr>
          <a:xfrm flipH="1">
            <a:off x="5198752" y="4444812"/>
            <a:ext cx="461400" cy="1200"/>
          </a:xfrm>
          <a:prstGeom prst="straightConnector1">
            <a:avLst/>
          </a:prstGeom>
          <a:noFill/>
          <a:ln w="38100" cap="flat" cmpd="sng">
            <a:solidFill>
              <a:srgbClr val="E36C09"/>
            </a:solidFill>
            <a:prstDash val="solid"/>
            <a:round/>
            <a:headEnd type="none" w="sm" len="sm"/>
            <a:tailEnd type="triangle" w="med" len="med"/>
          </a:ln>
        </p:spPr>
      </p:cxnSp>
      <p:cxnSp>
        <p:nvCxnSpPr>
          <p:cNvPr id="403" name="Google Shape;403;g2cd129da435_0_74"/>
          <p:cNvCxnSpPr/>
          <p:nvPr/>
        </p:nvCxnSpPr>
        <p:spPr>
          <a:xfrm flipH="1">
            <a:off x="5201355" y="4695540"/>
            <a:ext cx="461400" cy="1200"/>
          </a:xfrm>
          <a:prstGeom prst="straightConnector1">
            <a:avLst/>
          </a:prstGeom>
          <a:noFill/>
          <a:ln w="38100" cap="flat" cmpd="sng">
            <a:solidFill>
              <a:srgbClr val="E36C09"/>
            </a:solidFill>
            <a:prstDash val="solid"/>
            <a:round/>
            <a:headEnd type="none" w="sm" len="sm"/>
            <a:tailEnd type="triangle" w="med" len="med"/>
          </a:ln>
        </p:spPr>
      </p:cxnSp>
      <p:cxnSp>
        <p:nvCxnSpPr>
          <p:cNvPr id="404" name="Google Shape;404;g2cd129da435_0_74"/>
          <p:cNvCxnSpPr/>
          <p:nvPr/>
        </p:nvCxnSpPr>
        <p:spPr>
          <a:xfrm flipH="1">
            <a:off x="5203635" y="4893862"/>
            <a:ext cx="461400" cy="1200"/>
          </a:xfrm>
          <a:prstGeom prst="straightConnector1">
            <a:avLst/>
          </a:prstGeom>
          <a:noFill/>
          <a:ln w="38100" cap="flat" cmpd="sng">
            <a:solidFill>
              <a:srgbClr val="E36C09"/>
            </a:solidFill>
            <a:prstDash val="solid"/>
            <a:round/>
            <a:headEnd type="none" w="sm" len="sm"/>
            <a:tailEnd type="triangle" w="med" len="med"/>
          </a:ln>
        </p:spPr>
      </p:cxnSp>
      <p:cxnSp>
        <p:nvCxnSpPr>
          <p:cNvPr id="405" name="Google Shape;405;g2cd129da435_0_74"/>
          <p:cNvCxnSpPr/>
          <p:nvPr/>
        </p:nvCxnSpPr>
        <p:spPr>
          <a:xfrm flipH="1">
            <a:off x="5206238" y="5144590"/>
            <a:ext cx="461400" cy="1200"/>
          </a:xfrm>
          <a:prstGeom prst="straightConnector1">
            <a:avLst/>
          </a:prstGeom>
          <a:noFill/>
          <a:ln w="38100" cap="flat" cmpd="sng">
            <a:solidFill>
              <a:srgbClr val="E36C09"/>
            </a:solidFill>
            <a:prstDash val="solid"/>
            <a:round/>
            <a:headEnd type="none" w="sm" len="sm"/>
            <a:tailEnd type="triangle" w="med" len="med"/>
          </a:ln>
        </p:spPr>
      </p:cxnSp>
      <p:cxnSp>
        <p:nvCxnSpPr>
          <p:cNvPr id="406" name="Google Shape;406;g2cd129da435_0_74"/>
          <p:cNvCxnSpPr/>
          <p:nvPr/>
        </p:nvCxnSpPr>
        <p:spPr>
          <a:xfrm rot="10800000" flipH="1">
            <a:off x="5657010" y="3345743"/>
            <a:ext cx="345300" cy="5400"/>
          </a:xfrm>
          <a:prstGeom prst="straightConnector1">
            <a:avLst/>
          </a:prstGeom>
          <a:noFill/>
          <a:ln w="38100" cap="flat" cmpd="sng">
            <a:solidFill>
              <a:srgbClr val="E36C09"/>
            </a:solidFill>
            <a:prstDash val="solid"/>
            <a:round/>
            <a:headEnd type="none" w="sm" len="sm"/>
            <a:tailEnd type="triangle" w="med" len="med"/>
          </a:ln>
        </p:spPr>
      </p:cxnSp>
      <p:sp>
        <p:nvSpPr>
          <p:cNvPr id="407" name="Google Shape;407;g2cd129da435_0_74"/>
          <p:cNvSpPr/>
          <p:nvPr/>
        </p:nvSpPr>
        <p:spPr>
          <a:xfrm>
            <a:off x="7072062" y="5198135"/>
            <a:ext cx="928800" cy="304800"/>
          </a:xfrm>
          <a:prstGeom prst="rect">
            <a:avLst/>
          </a:prstGeom>
          <a:solidFill>
            <a:schemeClr val="accent1"/>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Timer</a:t>
            </a:r>
            <a:endParaRPr/>
          </a:p>
        </p:txBody>
      </p:sp>
      <p:sp>
        <p:nvSpPr>
          <p:cNvPr id="408" name="Google Shape;408;g2cd129da435_0_74"/>
          <p:cNvSpPr/>
          <p:nvPr/>
        </p:nvSpPr>
        <p:spPr>
          <a:xfrm>
            <a:off x="7072062" y="4779888"/>
            <a:ext cx="928800" cy="304800"/>
          </a:xfrm>
          <a:prstGeom prst="rect">
            <a:avLst/>
          </a:prstGeom>
          <a:solidFill>
            <a:schemeClr val="accent1"/>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SPI</a:t>
            </a:r>
            <a:endParaRPr/>
          </a:p>
        </p:txBody>
      </p:sp>
      <p:sp>
        <p:nvSpPr>
          <p:cNvPr id="409" name="Google Shape;409;g2cd129da435_0_74"/>
          <p:cNvSpPr/>
          <p:nvPr/>
        </p:nvSpPr>
        <p:spPr>
          <a:xfrm>
            <a:off x="7072062" y="4356214"/>
            <a:ext cx="928800" cy="304800"/>
          </a:xfrm>
          <a:prstGeom prst="rect">
            <a:avLst/>
          </a:prstGeom>
          <a:solidFill>
            <a:schemeClr val="accent1"/>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UART</a:t>
            </a:r>
            <a:endParaRPr/>
          </a:p>
        </p:txBody>
      </p:sp>
      <p:sp>
        <p:nvSpPr>
          <p:cNvPr id="410" name="Google Shape;410;g2cd129da435_0_74"/>
          <p:cNvSpPr txBox="1"/>
          <p:nvPr/>
        </p:nvSpPr>
        <p:spPr>
          <a:xfrm>
            <a:off x="7287986" y="5367076"/>
            <a:ext cx="5436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chemeClr val="lt1"/>
                </a:solidFill>
                <a:latin typeface="Gill Sans"/>
                <a:ea typeface="Gill Sans"/>
                <a:cs typeface="Gill Sans"/>
                <a:sym typeface="Gill Sans"/>
              </a:rPr>
              <a:t>…</a:t>
            </a:r>
            <a:endParaRPr/>
          </a:p>
        </p:txBody>
      </p:sp>
      <p:cxnSp>
        <p:nvCxnSpPr>
          <p:cNvPr id="411" name="Google Shape;411;g2cd129da435_0_74"/>
          <p:cNvCxnSpPr/>
          <p:nvPr/>
        </p:nvCxnSpPr>
        <p:spPr>
          <a:xfrm rot="10800000" flipH="1">
            <a:off x="6620878" y="4127546"/>
            <a:ext cx="900" cy="1706100"/>
          </a:xfrm>
          <a:prstGeom prst="straightConnector1">
            <a:avLst/>
          </a:prstGeom>
          <a:noFill/>
          <a:ln w="38100" cap="flat" cmpd="sng">
            <a:solidFill>
              <a:schemeClr val="accent1"/>
            </a:solidFill>
            <a:prstDash val="solid"/>
            <a:round/>
            <a:headEnd type="none" w="sm" len="sm"/>
            <a:tailEnd type="none" w="sm" len="sm"/>
          </a:ln>
        </p:spPr>
      </p:cxnSp>
      <p:cxnSp>
        <p:nvCxnSpPr>
          <p:cNvPr id="412" name="Google Shape;412;g2cd129da435_0_74"/>
          <p:cNvCxnSpPr/>
          <p:nvPr/>
        </p:nvCxnSpPr>
        <p:spPr>
          <a:xfrm>
            <a:off x="6606088" y="4932347"/>
            <a:ext cx="465900" cy="0"/>
          </a:xfrm>
          <a:prstGeom prst="straightConnector1">
            <a:avLst/>
          </a:prstGeom>
          <a:noFill/>
          <a:ln w="38100" cap="flat" cmpd="sng">
            <a:solidFill>
              <a:schemeClr val="accent1"/>
            </a:solidFill>
            <a:prstDash val="solid"/>
            <a:round/>
            <a:headEnd type="none" w="sm" len="sm"/>
            <a:tailEnd type="triangle" w="med" len="med"/>
          </a:ln>
        </p:spPr>
      </p:cxnSp>
      <p:cxnSp>
        <p:nvCxnSpPr>
          <p:cNvPr id="413" name="Google Shape;413;g2cd129da435_0_74"/>
          <p:cNvCxnSpPr/>
          <p:nvPr/>
        </p:nvCxnSpPr>
        <p:spPr>
          <a:xfrm>
            <a:off x="6606088" y="5350594"/>
            <a:ext cx="465900" cy="0"/>
          </a:xfrm>
          <a:prstGeom prst="straightConnector1">
            <a:avLst/>
          </a:prstGeom>
          <a:noFill/>
          <a:ln w="38100" cap="flat" cmpd="sng">
            <a:solidFill>
              <a:schemeClr val="accent1"/>
            </a:solidFill>
            <a:prstDash val="solid"/>
            <a:round/>
            <a:headEnd type="none" w="sm" len="sm"/>
            <a:tailEnd type="triangle" w="med" len="med"/>
          </a:ln>
        </p:spPr>
      </p:cxnSp>
      <p:cxnSp>
        <p:nvCxnSpPr>
          <p:cNvPr id="414" name="Google Shape;414;g2cd129da435_0_74"/>
          <p:cNvCxnSpPr/>
          <p:nvPr/>
        </p:nvCxnSpPr>
        <p:spPr>
          <a:xfrm>
            <a:off x="6620878" y="5715000"/>
            <a:ext cx="465900" cy="0"/>
          </a:xfrm>
          <a:prstGeom prst="straightConnector1">
            <a:avLst/>
          </a:prstGeom>
          <a:noFill/>
          <a:ln w="38100" cap="flat" cmpd="sng">
            <a:solidFill>
              <a:schemeClr val="accent1"/>
            </a:solidFill>
            <a:prstDash val="solid"/>
            <a:round/>
            <a:headEnd type="none" w="sm" len="sm"/>
            <a:tailEnd type="triangle" w="med" len="med"/>
          </a:ln>
        </p:spPr>
      </p:cxnSp>
      <p:grpSp>
        <p:nvGrpSpPr>
          <p:cNvPr id="415" name="Google Shape;415;g2cd129da435_0_74"/>
          <p:cNvGrpSpPr/>
          <p:nvPr/>
        </p:nvGrpSpPr>
        <p:grpSpPr>
          <a:xfrm>
            <a:off x="76200" y="2743200"/>
            <a:ext cx="4173511" cy="1981832"/>
            <a:chOff x="76200" y="2743200"/>
            <a:chExt cx="4173511" cy="1981832"/>
          </a:xfrm>
        </p:grpSpPr>
        <p:pic>
          <p:nvPicPr>
            <p:cNvPr id="416" name="Google Shape;416;g2cd129da435_0_74"/>
            <p:cNvPicPr preferRelativeResize="0"/>
            <p:nvPr/>
          </p:nvPicPr>
          <p:blipFill rotWithShape="1">
            <a:blip r:embed="rId4">
              <a:alphaModFix/>
            </a:blip>
            <a:srcRect/>
            <a:stretch/>
          </p:blipFill>
          <p:spPr>
            <a:xfrm>
              <a:off x="76200" y="2743200"/>
              <a:ext cx="2650884" cy="1981832"/>
            </a:xfrm>
            <a:prstGeom prst="rect">
              <a:avLst/>
            </a:prstGeom>
            <a:solidFill>
              <a:schemeClr val="lt1"/>
            </a:solidFill>
            <a:ln w="28575" cap="flat" cmpd="sng">
              <a:solidFill>
                <a:srgbClr val="0070C0"/>
              </a:solidFill>
              <a:prstDash val="solid"/>
              <a:round/>
              <a:headEnd type="none" w="sm" len="sm"/>
              <a:tailEnd type="none" w="sm" len="sm"/>
            </a:ln>
          </p:spPr>
        </p:pic>
        <p:sp>
          <p:nvSpPr>
            <p:cNvPr id="417" name="Google Shape;417;g2cd129da435_0_74"/>
            <p:cNvSpPr/>
            <p:nvPr/>
          </p:nvSpPr>
          <p:spPr>
            <a:xfrm rot="5400000">
              <a:off x="2598961" y="2997560"/>
              <a:ext cx="1779000" cy="1522500"/>
            </a:xfrm>
            <a:prstGeom prst="trapezoid">
              <a:avLst>
                <a:gd name="adj" fmla="val 52401"/>
              </a:avLst>
            </a:prstGeom>
            <a:solidFill>
              <a:schemeClr val="accent1">
                <a:alpha val="80000"/>
              </a:schemeClr>
            </a:solidFill>
            <a:ln w="19050" cap="flat" cmpd="sng">
              <a:solidFill>
                <a:srgbClr val="395E89">
                  <a:alpha val="98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5"/>
          <p:cNvSpPr/>
          <p:nvPr/>
        </p:nvSpPr>
        <p:spPr>
          <a:xfrm>
            <a:off x="5715000" y="1301336"/>
            <a:ext cx="2136648" cy="4815955"/>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424" name="Google Shape;424;p5"/>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GPIO Memory Map</a:t>
            </a:r>
            <a:endParaRPr/>
          </a:p>
        </p:txBody>
      </p:sp>
      <p:sp>
        <p:nvSpPr>
          <p:cNvPr id="425" name="Google Shape;425;p5"/>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12</a:t>
            </a:fld>
            <a:endParaRPr/>
          </a:p>
        </p:txBody>
      </p:sp>
      <p:grpSp>
        <p:nvGrpSpPr>
          <p:cNvPr id="426" name="Google Shape;426;p5"/>
          <p:cNvGrpSpPr/>
          <p:nvPr/>
        </p:nvGrpSpPr>
        <p:grpSpPr>
          <a:xfrm>
            <a:off x="152400" y="3657600"/>
            <a:ext cx="3277471" cy="804792"/>
            <a:chOff x="314153" y="4162912"/>
            <a:chExt cx="3277471" cy="804792"/>
          </a:xfrm>
        </p:grpSpPr>
        <p:sp>
          <p:nvSpPr>
            <p:cNvPr id="427" name="Google Shape;427;p5"/>
            <p:cNvSpPr/>
            <p:nvPr/>
          </p:nvSpPr>
          <p:spPr>
            <a:xfrm>
              <a:off x="1454976" y="4338178"/>
              <a:ext cx="2136648" cy="454222"/>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GPIO A (</a:t>
              </a:r>
              <a:r>
                <a:rPr lang="en-US" sz="1800">
                  <a:solidFill>
                    <a:schemeClr val="lt1"/>
                  </a:solidFill>
                  <a:latin typeface="Consolas"/>
                  <a:ea typeface="Consolas"/>
                  <a:cs typeface="Consolas"/>
                  <a:sym typeface="Consolas"/>
                </a:rPr>
                <a:t>1</a:t>
              </a:r>
              <a:r>
                <a:rPr lang="en-US" sz="1800">
                  <a:solidFill>
                    <a:schemeClr val="lt1"/>
                  </a:solidFill>
                  <a:latin typeface="Gill Sans"/>
                  <a:ea typeface="Gill Sans"/>
                  <a:cs typeface="Gill Sans"/>
                  <a:sym typeface="Gill Sans"/>
                </a:rPr>
                <a:t> KB)</a:t>
              </a:r>
              <a:endParaRPr/>
            </a:p>
          </p:txBody>
        </p:sp>
        <p:sp>
          <p:nvSpPr>
            <p:cNvPr id="428" name="Google Shape;428;p5"/>
            <p:cNvSpPr txBox="1"/>
            <p:nvPr/>
          </p:nvSpPr>
          <p:spPr>
            <a:xfrm>
              <a:off x="314153" y="4659927"/>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0x48000000</a:t>
              </a:r>
              <a:endParaRPr/>
            </a:p>
          </p:txBody>
        </p:sp>
        <p:sp>
          <p:nvSpPr>
            <p:cNvPr id="429" name="Google Shape;429;p5"/>
            <p:cNvSpPr txBox="1"/>
            <p:nvPr/>
          </p:nvSpPr>
          <p:spPr>
            <a:xfrm>
              <a:off x="314153" y="4162912"/>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0x48000400</a:t>
              </a:r>
              <a:endParaRPr/>
            </a:p>
          </p:txBody>
        </p:sp>
      </p:grpSp>
      <p:sp>
        <p:nvSpPr>
          <p:cNvPr id="430" name="Google Shape;430;p5"/>
          <p:cNvSpPr/>
          <p:nvPr/>
        </p:nvSpPr>
        <p:spPr>
          <a:xfrm>
            <a:off x="5718243" y="4572000"/>
            <a:ext cx="2136648" cy="307065"/>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IDR</a:t>
            </a:r>
            <a:endParaRPr/>
          </a:p>
        </p:txBody>
      </p:sp>
      <p:sp>
        <p:nvSpPr>
          <p:cNvPr id="431" name="Google Shape;431;p5"/>
          <p:cNvSpPr/>
          <p:nvPr/>
        </p:nvSpPr>
        <p:spPr>
          <a:xfrm>
            <a:off x="5716621" y="4264934"/>
            <a:ext cx="2135027" cy="307065"/>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ODR</a:t>
            </a:r>
            <a:endParaRPr/>
          </a:p>
        </p:txBody>
      </p:sp>
      <p:sp>
        <p:nvSpPr>
          <p:cNvPr id="432" name="Google Shape;432;p5"/>
          <p:cNvSpPr/>
          <p:nvPr/>
        </p:nvSpPr>
        <p:spPr>
          <a:xfrm>
            <a:off x="5718243" y="3959968"/>
            <a:ext cx="2136648" cy="307065"/>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BSRR</a:t>
            </a:r>
            <a:endParaRPr/>
          </a:p>
        </p:txBody>
      </p:sp>
      <p:sp>
        <p:nvSpPr>
          <p:cNvPr id="433" name="Google Shape;433;p5"/>
          <p:cNvSpPr/>
          <p:nvPr/>
        </p:nvSpPr>
        <p:spPr>
          <a:xfrm>
            <a:off x="5718243" y="3658319"/>
            <a:ext cx="2136648" cy="295973"/>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LCKR</a:t>
            </a:r>
            <a:endParaRPr/>
          </a:p>
        </p:txBody>
      </p:sp>
      <p:sp>
        <p:nvSpPr>
          <p:cNvPr id="434" name="Google Shape;434;p5"/>
          <p:cNvSpPr/>
          <p:nvPr/>
        </p:nvSpPr>
        <p:spPr>
          <a:xfrm>
            <a:off x="5718243" y="5801572"/>
            <a:ext cx="2136648" cy="307065"/>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MODER</a:t>
            </a:r>
            <a:endParaRPr/>
          </a:p>
        </p:txBody>
      </p:sp>
      <p:sp>
        <p:nvSpPr>
          <p:cNvPr id="435" name="Google Shape;435;p5"/>
          <p:cNvSpPr/>
          <p:nvPr/>
        </p:nvSpPr>
        <p:spPr>
          <a:xfrm>
            <a:off x="5718243" y="5494507"/>
            <a:ext cx="2136648" cy="307065"/>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OTYPER</a:t>
            </a:r>
            <a:endParaRPr/>
          </a:p>
        </p:txBody>
      </p:sp>
      <p:sp>
        <p:nvSpPr>
          <p:cNvPr id="436" name="Google Shape;436;p5"/>
          <p:cNvSpPr/>
          <p:nvPr/>
        </p:nvSpPr>
        <p:spPr>
          <a:xfrm>
            <a:off x="5718243" y="5186786"/>
            <a:ext cx="2136648" cy="307065"/>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OSPEEDR</a:t>
            </a:r>
            <a:endParaRPr/>
          </a:p>
        </p:txBody>
      </p:sp>
      <p:sp>
        <p:nvSpPr>
          <p:cNvPr id="437" name="Google Shape;437;p5"/>
          <p:cNvSpPr/>
          <p:nvPr/>
        </p:nvSpPr>
        <p:spPr>
          <a:xfrm>
            <a:off x="5718243" y="4876965"/>
            <a:ext cx="2136648" cy="307065"/>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PUPDR</a:t>
            </a:r>
            <a:endParaRPr/>
          </a:p>
        </p:txBody>
      </p:sp>
      <p:sp>
        <p:nvSpPr>
          <p:cNvPr id="438" name="Google Shape;438;p5"/>
          <p:cNvSpPr/>
          <p:nvPr/>
        </p:nvSpPr>
        <p:spPr>
          <a:xfrm>
            <a:off x="5718243" y="3332386"/>
            <a:ext cx="2136648" cy="320257"/>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AFR[0]</a:t>
            </a:r>
            <a:endParaRPr/>
          </a:p>
        </p:txBody>
      </p:sp>
      <p:sp>
        <p:nvSpPr>
          <p:cNvPr id="439" name="Google Shape;439;p5"/>
          <p:cNvSpPr/>
          <p:nvPr/>
        </p:nvSpPr>
        <p:spPr>
          <a:xfrm>
            <a:off x="5718243" y="3026288"/>
            <a:ext cx="2136648" cy="325886"/>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AFR[1]</a:t>
            </a:r>
            <a:endParaRPr/>
          </a:p>
        </p:txBody>
      </p:sp>
      <p:sp>
        <p:nvSpPr>
          <p:cNvPr id="440" name="Google Shape;440;p5"/>
          <p:cNvSpPr/>
          <p:nvPr/>
        </p:nvSpPr>
        <p:spPr>
          <a:xfrm>
            <a:off x="5716621" y="2694890"/>
            <a:ext cx="2136648" cy="332529"/>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BRR</a:t>
            </a:r>
            <a:endParaRPr/>
          </a:p>
        </p:txBody>
      </p:sp>
      <p:sp>
        <p:nvSpPr>
          <p:cNvPr id="441" name="Google Shape;441;p5"/>
          <p:cNvSpPr/>
          <p:nvPr/>
        </p:nvSpPr>
        <p:spPr>
          <a:xfrm>
            <a:off x="5716621" y="2371120"/>
            <a:ext cx="2136648" cy="322823"/>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ASCR</a:t>
            </a:r>
            <a:endParaRPr/>
          </a:p>
        </p:txBody>
      </p:sp>
      <p:sp>
        <p:nvSpPr>
          <p:cNvPr id="442" name="Google Shape;442;p5"/>
          <p:cNvSpPr txBox="1"/>
          <p:nvPr/>
        </p:nvSpPr>
        <p:spPr>
          <a:xfrm>
            <a:off x="4572988" y="5940623"/>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0x48000000</a:t>
            </a:r>
            <a:endParaRPr/>
          </a:p>
        </p:txBody>
      </p:sp>
      <p:sp>
        <p:nvSpPr>
          <p:cNvPr id="443" name="Google Shape;443;p5"/>
          <p:cNvSpPr txBox="1"/>
          <p:nvPr/>
        </p:nvSpPr>
        <p:spPr>
          <a:xfrm>
            <a:off x="4572000" y="5624248"/>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0x48000004</a:t>
            </a:r>
            <a:endParaRPr/>
          </a:p>
        </p:txBody>
      </p:sp>
      <p:sp>
        <p:nvSpPr>
          <p:cNvPr id="444" name="Google Shape;444;p5"/>
          <p:cNvSpPr txBox="1"/>
          <p:nvPr/>
        </p:nvSpPr>
        <p:spPr>
          <a:xfrm>
            <a:off x="4581474" y="5335147"/>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0x48000008</a:t>
            </a:r>
            <a:endParaRPr/>
          </a:p>
        </p:txBody>
      </p:sp>
      <p:sp>
        <p:nvSpPr>
          <p:cNvPr id="445" name="Google Shape;445;p5"/>
          <p:cNvSpPr txBox="1"/>
          <p:nvPr/>
        </p:nvSpPr>
        <p:spPr>
          <a:xfrm>
            <a:off x="4580486" y="5018772"/>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0x4800000C</a:t>
            </a:r>
            <a:endParaRPr/>
          </a:p>
        </p:txBody>
      </p:sp>
      <p:sp>
        <p:nvSpPr>
          <p:cNvPr id="446" name="Google Shape;446;p5"/>
          <p:cNvSpPr txBox="1"/>
          <p:nvPr/>
        </p:nvSpPr>
        <p:spPr>
          <a:xfrm>
            <a:off x="4573005" y="4716727"/>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0x48000010</a:t>
            </a:r>
            <a:endParaRPr/>
          </a:p>
        </p:txBody>
      </p:sp>
      <p:sp>
        <p:nvSpPr>
          <p:cNvPr id="447" name="Google Shape;447;p5"/>
          <p:cNvSpPr txBox="1"/>
          <p:nvPr/>
        </p:nvSpPr>
        <p:spPr>
          <a:xfrm>
            <a:off x="4572017" y="4400352"/>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0x48000014</a:t>
            </a:r>
            <a:endParaRPr/>
          </a:p>
        </p:txBody>
      </p:sp>
      <p:sp>
        <p:nvSpPr>
          <p:cNvPr id="448" name="Google Shape;448;p5"/>
          <p:cNvSpPr txBox="1"/>
          <p:nvPr/>
        </p:nvSpPr>
        <p:spPr>
          <a:xfrm>
            <a:off x="4581491" y="4111251"/>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0x48000018</a:t>
            </a:r>
            <a:endParaRPr/>
          </a:p>
        </p:txBody>
      </p:sp>
      <p:sp>
        <p:nvSpPr>
          <p:cNvPr id="449" name="Google Shape;449;p5"/>
          <p:cNvSpPr txBox="1"/>
          <p:nvPr/>
        </p:nvSpPr>
        <p:spPr>
          <a:xfrm>
            <a:off x="4580503" y="3794876"/>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0x4800001C</a:t>
            </a:r>
            <a:endParaRPr/>
          </a:p>
        </p:txBody>
      </p:sp>
      <p:sp>
        <p:nvSpPr>
          <p:cNvPr id="450" name="Google Shape;450;p5"/>
          <p:cNvSpPr txBox="1"/>
          <p:nvPr/>
        </p:nvSpPr>
        <p:spPr>
          <a:xfrm>
            <a:off x="4572988" y="3476976"/>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0x48000020</a:t>
            </a:r>
            <a:endParaRPr/>
          </a:p>
        </p:txBody>
      </p:sp>
      <p:sp>
        <p:nvSpPr>
          <p:cNvPr id="451" name="Google Shape;451;p5"/>
          <p:cNvSpPr txBox="1"/>
          <p:nvPr/>
        </p:nvSpPr>
        <p:spPr>
          <a:xfrm>
            <a:off x="4572000" y="3160601"/>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0x48000024</a:t>
            </a:r>
            <a:endParaRPr/>
          </a:p>
        </p:txBody>
      </p:sp>
      <p:sp>
        <p:nvSpPr>
          <p:cNvPr id="452" name="Google Shape;452;p5"/>
          <p:cNvSpPr txBox="1"/>
          <p:nvPr/>
        </p:nvSpPr>
        <p:spPr>
          <a:xfrm>
            <a:off x="4581474" y="2871500"/>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0x48000028</a:t>
            </a:r>
            <a:endParaRPr/>
          </a:p>
        </p:txBody>
      </p:sp>
      <p:sp>
        <p:nvSpPr>
          <p:cNvPr id="453" name="Google Shape;453;p5"/>
          <p:cNvSpPr txBox="1"/>
          <p:nvPr/>
        </p:nvSpPr>
        <p:spPr>
          <a:xfrm>
            <a:off x="4580486" y="2555125"/>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0x4800002C</a:t>
            </a:r>
            <a:endParaRPr/>
          </a:p>
        </p:txBody>
      </p:sp>
      <p:sp>
        <p:nvSpPr>
          <p:cNvPr id="454" name="Google Shape;454;p5"/>
          <p:cNvSpPr/>
          <p:nvPr/>
        </p:nvSpPr>
        <p:spPr>
          <a:xfrm>
            <a:off x="7924800" y="2371120"/>
            <a:ext cx="228600" cy="3746171"/>
          </a:xfrm>
          <a:prstGeom prst="rightBrace">
            <a:avLst>
              <a:gd name="adj1" fmla="val 8333"/>
              <a:gd name="adj2" fmla="val 50000"/>
            </a:avLst>
          </a:prstGeom>
          <a:noFill/>
          <a:ln w="190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
        <p:nvSpPr>
          <p:cNvPr id="455" name="Google Shape;455;p5"/>
          <p:cNvSpPr txBox="1"/>
          <p:nvPr/>
        </p:nvSpPr>
        <p:spPr>
          <a:xfrm>
            <a:off x="8174504" y="4049134"/>
            <a:ext cx="96949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48 bytes</a:t>
            </a:r>
            <a:endParaRPr/>
          </a:p>
        </p:txBody>
      </p:sp>
      <p:cxnSp>
        <p:nvCxnSpPr>
          <p:cNvPr id="456" name="Google Shape;456;p5"/>
          <p:cNvCxnSpPr>
            <a:endCxn id="442" idx="1"/>
          </p:cNvCxnSpPr>
          <p:nvPr/>
        </p:nvCxnSpPr>
        <p:spPr>
          <a:xfrm>
            <a:off x="3428188" y="4287012"/>
            <a:ext cx="1144800" cy="1807500"/>
          </a:xfrm>
          <a:prstGeom prst="straightConnector1">
            <a:avLst/>
          </a:prstGeom>
          <a:noFill/>
          <a:ln w="28575" cap="flat" cmpd="sng">
            <a:solidFill>
              <a:schemeClr val="accent1"/>
            </a:solidFill>
            <a:prstDash val="solid"/>
            <a:round/>
            <a:headEnd type="none" w="sm" len="sm"/>
            <a:tailEnd type="triangle" w="med" len="med"/>
          </a:ln>
        </p:spPr>
      </p:cxnSp>
      <p:cxnSp>
        <p:nvCxnSpPr>
          <p:cNvPr id="457" name="Google Shape;457;p5"/>
          <p:cNvCxnSpPr>
            <a:endCxn id="458" idx="1"/>
          </p:cNvCxnSpPr>
          <p:nvPr/>
        </p:nvCxnSpPr>
        <p:spPr>
          <a:xfrm rot="10800000" flipH="1">
            <a:off x="3428363" y="1342389"/>
            <a:ext cx="1170600" cy="2490600"/>
          </a:xfrm>
          <a:prstGeom prst="straightConnector1">
            <a:avLst/>
          </a:prstGeom>
          <a:noFill/>
          <a:ln w="28575" cap="flat" cmpd="sng">
            <a:solidFill>
              <a:schemeClr val="accent1"/>
            </a:solidFill>
            <a:prstDash val="solid"/>
            <a:round/>
            <a:headEnd type="none" w="sm" len="sm"/>
            <a:tailEnd type="triangle" w="med" len="med"/>
          </a:ln>
        </p:spPr>
      </p:cxnSp>
      <p:sp>
        <p:nvSpPr>
          <p:cNvPr id="458" name="Google Shape;458;p5"/>
          <p:cNvSpPr/>
          <p:nvPr/>
        </p:nvSpPr>
        <p:spPr>
          <a:xfrm>
            <a:off x="4598963" y="1188501"/>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0x48000400</a:t>
            </a:r>
            <a:endParaRPr sz="1800">
              <a:solidFill>
                <a:schemeClr val="dk1"/>
              </a:solidFill>
              <a:latin typeface="Gill Sans"/>
              <a:ea typeface="Gill Sans"/>
              <a:cs typeface="Gill Sans"/>
              <a:sym typeface="Gill Sans"/>
            </a:endParaRPr>
          </a:p>
        </p:txBody>
      </p:sp>
      <p:sp>
        <p:nvSpPr>
          <p:cNvPr id="459" name="Google Shape;459;p5"/>
          <p:cNvSpPr/>
          <p:nvPr/>
        </p:nvSpPr>
        <p:spPr>
          <a:xfrm>
            <a:off x="5718244" y="1742743"/>
            <a:ext cx="2133404" cy="367425"/>
          </a:xfrm>
          <a:prstGeom prst="flowChartPunchedTape">
            <a:avLst/>
          </a:prstGeom>
          <a:solidFill>
            <a:schemeClr val="lt1"/>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460" name="Google Shape;460;p5"/>
          <p:cNvSpPr/>
          <p:nvPr/>
        </p:nvSpPr>
        <p:spPr>
          <a:xfrm rot="-5400000" flipH="1">
            <a:off x="6665905" y="5291254"/>
            <a:ext cx="228600" cy="2142895"/>
          </a:xfrm>
          <a:prstGeom prst="rightBrace">
            <a:avLst>
              <a:gd name="adj1" fmla="val 8333"/>
              <a:gd name="adj2" fmla="val 50000"/>
            </a:avLst>
          </a:prstGeom>
          <a:noFill/>
          <a:ln w="190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
        <p:nvSpPr>
          <p:cNvPr id="461" name="Google Shape;461;p5"/>
          <p:cNvSpPr txBox="1"/>
          <p:nvPr/>
        </p:nvSpPr>
        <p:spPr>
          <a:xfrm>
            <a:off x="5509869" y="6448689"/>
            <a:ext cx="24911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Each register has 4 bytes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6"/>
          <p:cNvSpPr/>
          <p:nvPr/>
        </p:nvSpPr>
        <p:spPr>
          <a:xfrm>
            <a:off x="5715000" y="1301336"/>
            <a:ext cx="2136648" cy="4815955"/>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468" name="Google Shape;468;p6"/>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GPIO Memory Map</a:t>
            </a:r>
            <a:endParaRPr/>
          </a:p>
        </p:txBody>
      </p:sp>
      <p:sp>
        <p:nvSpPr>
          <p:cNvPr id="469" name="Google Shape;469;p6"/>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13</a:t>
            </a:fld>
            <a:endParaRPr/>
          </a:p>
        </p:txBody>
      </p:sp>
      <p:grpSp>
        <p:nvGrpSpPr>
          <p:cNvPr id="470" name="Google Shape;470;p6"/>
          <p:cNvGrpSpPr/>
          <p:nvPr/>
        </p:nvGrpSpPr>
        <p:grpSpPr>
          <a:xfrm>
            <a:off x="152400" y="3657600"/>
            <a:ext cx="3277471" cy="804792"/>
            <a:chOff x="314153" y="4162912"/>
            <a:chExt cx="3277471" cy="804792"/>
          </a:xfrm>
        </p:grpSpPr>
        <p:sp>
          <p:nvSpPr>
            <p:cNvPr id="471" name="Google Shape;471;p6"/>
            <p:cNvSpPr/>
            <p:nvPr/>
          </p:nvSpPr>
          <p:spPr>
            <a:xfrm>
              <a:off x="1454976" y="4338178"/>
              <a:ext cx="2136648" cy="454222"/>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GPIO A (</a:t>
              </a:r>
              <a:r>
                <a:rPr lang="en-US" sz="1800">
                  <a:solidFill>
                    <a:schemeClr val="lt1"/>
                  </a:solidFill>
                  <a:latin typeface="Consolas"/>
                  <a:ea typeface="Consolas"/>
                  <a:cs typeface="Consolas"/>
                  <a:sym typeface="Consolas"/>
                </a:rPr>
                <a:t>1</a:t>
              </a:r>
              <a:r>
                <a:rPr lang="en-US" sz="1800">
                  <a:solidFill>
                    <a:schemeClr val="lt1"/>
                  </a:solidFill>
                  <a:latin typeface="Gill Sans"/>
                  <a:ea typeface="Gill Sans"/>
                  <a:cs typeface="Gill Sans"/>
                  <a:sym typeface="Gill Sans"/>
                </a:rPr>
                <a:t> KB)</a:t>
              </a:r>
              <a:endParaRPr/>
            </a:p>
          </p:txBody>
        </p:sp>
        <p:sp>
          <p:nvSpPr>
            <p:cNvPr id="472" name="Google Shape;472;p6"/>
            <p:cNvSpPr txBox="1"/>
            <p:nvPr/>
          </p:nvSpPr>
          <p:spPr>
            <a:xfrm>
              <a:off x="314153" y="4659927"/>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0x48000000</a:t>
              </a:r>
              <a:endParaRPr/>
            </a:p>
          </p:txBody>
        </p:sp>
        <p:sp>
          <p:nvSpPr>
            <p:cNvPr id="473" name="Google Shape;473;p6"/>
            <p:cNvSpPr txBox="1"/>
            <p:nvPr/>
          </p:nvSpPr>
          <p:spPr>
            <a:xfrm>
              <a:off x="314153" y="4162912"/>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0x48000400</a:t>
              </a:r>
              <a:endParaRPr/>
            </a:p>
          </p:txBody>
        </p:sp>
      </p:grpSp>
      <p:sp>
        <p:nvSpPr>
          <p:cNvPr id="474" name="Google Shape;474;p6"/>
          <p:cNvSpPr/>
          <p:nvPr/>
        </p:nvSpPr>
        <p:spPr>
          <a:xfrm>
            <a:off x="5718243" y="4572000"/>
            <a:ext cx="2136648" cy="307065"/>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IDR</a:t>
            </a:r>
            <a:endParaRPr/>
          </a:p>
        </p:txBody>
      </p:sp>
      <p:sp>
        <p:nvSpPr>
          <p:cNvPr id="475" name="Google Shape;475;p6"/>
          <p:cNvSpPr/>
          <p:nvPr/>
        </p:nvSpPr>
        <p:spPr>
          <a:xfrm>
            <a:off x="5716621" y="4264934"/>
            <a:ext cx="2141513" cy="307065"/>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rgbClr val="C00000"/>
                </a:solidFill>
                <a:latin typeface="Gill Sans"/>
                <a:ea typeface="Gill Sans"/>
                <a:cs typeface="Gill Sans"/>
                <a:sym typeface="Gill Sans"/>
              </a:rPr>
              <a:t>ODR</a:t>
            </a:r>
            <a:endParaRPr/>
          </a:p>
        </p:txBody>
      </p:sp>
      <p:sp>
        <p:nvSpPr>
          <p:cNvPr id="476" name="Google Shape;476;p6"/>
          <p:cNvSpPr/>
          <p:nvPr/>
        </p:nvSpPr>
        <p:spPr>
          <a:xfrm>
            <a:off x="5718243" y="3959968"/>
            <a:ext cx="2136648" cy="307065"/>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BSRR</a:t>
            </a:r>
            <a:endParaRPr/>
          </a:p>
        </p:txBody>
      </p:sp>
      <p:sp>
        <p:nvSpPr>
          <p:cNvPr id="477" name="Google Shape;477;p6"/>
          <p:cNvSpPr/>
          <p:nvPr/>
        </p:nvSpPr>
        <p:spPr>
          <a:xfrm>
            <a:off x="5718243" y="3658319"/>
            <a:ext cx="2136648" cy="295973"/>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LCKR</a:t>
            </a:r>
            <a:endParaRPr/>
          </a:p>
        </p:txBody>
      </p:sp>
      <p:sp>
        <p:nvSpPr>
          <p:cNvPr id="478" name="Google Shape;478;p6"/>
          <p:cNvSpPr/>
          <p:nvPr/>
        </p:nvSpPr>
        <p:spPr>
          <a:xfrm>
            <a:off x="5718243" y="5801572"/>
            <a:ext cx="2136648" cy="307065"/>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MODER</a:t>
            </a:r>
            <a:endParaRPr/>
          </a:p>
        </p:txBody>
      </p:sp>
      <p:sp>
        <p:nvSpPr>
          <p:cNvPr id="479" name="Google Shape;479;p6"/>
          <p:cNvSpPr/>
          <p:nvPr/>
        </p:nvSpPr>
        <p:spPr>
          <a:xfrm>
            <a:off x="5718243" y="5494507"/>
            <a:ext cx="2136648" cy="307065"/>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OTYPER</a:t>
            </a:r>
            <a:endParaRPr/>
          </a:p>
        </p:txBody>
      </p:sp>
      <p:sp>
        <p:nvSpPr>
          <p:cNvPr id="480" name="Google Shape;480;p6"/>
          <p:cNvSpPr/>
          <p:nvPr/>
        </p:nvSpPr>
        <p:spPr>
          <a:xfrm>
            <a:off x="5718243" y="5186786"/>
            <a:ext cx="2136648" cy="307065"/>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OSPEEDR</a:t>
            </a:r>
            <a:endParaRPr/>
          </a:p>
        </p:txBody>
      </p:sp>
      <p:sp>
        <p:nvSpPr>
          <p:cNvPr id="481" name="Google Shape;481;p6"/>
          <p:cNvSpPr/>
          <p:nvPr/>
        </p:nvSpPr>
        <p:spPr>
          <a:xfrm>
            <a:off x="5718243" y="4876965"/>
            <a:ext cx="2136648" cy="307065"/>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PUPDR</a:t>
            </a:r>
            <a:endParaRPr/>
          </a:p>
        </p:txBody>
      </p:sp>
      <p:sp>
        <p:nvSpPr>
          <p:cNvPr id="482" name="Google Shape;482;p6"/>
          <p:cNvSpPr/>
          <p:nvPr/>
        </p:nvSpPr>
        <p:spPr>
          <a:xfrm>
            <a:off x="5718243" y="3332386"/>
            <a:ext cx="2136648" cy="320257"/>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AFR[0]</a:t>
            </a:r>
            <a:endParaRPr/>
          </a:p>
        </p:txBody>
      </p:sp>
      <p:sp>
        <p:nvSpPr>
          <p:cNvPr id="483" name="Google Shape;483;p6"/>
          <p:cNvSpPr/>
          <p:nvPr/>
        </p:nvSpPr>
        <p:spPr>
          <a:xfrm>
            <a:off x="5718243" y="3026288"/>
            <a:ext cx="2136648" cy="325886"/>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AFR[1]</a:t>
            </a:r>
            <a:endParaRPr/>
          </a:p>
        </p:txBody>
      </p:sp>
      <p:sp>
        <p:nvSpPr>
          <p:cNvPr id="484" name="Google Shape;484;p6"/>
          <p:cNvSpPr/>
          <p:nvPr/>
        </p:nvSpPr>
        <p:spPr>
          <a:xfrm>
            <a:off x="5716621" y="2694890"/>
            <a:ext cx="2136648" cy="332529"/>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BRR</a:t>
            </a:r>
            <a:endParaRPr/>
          </a:p>
        </p:txBody>
      </p:sp>
      <p:sp>
        <p:nvSpPr>
          <p:cNvPr id="485" name="Google Shape;485;p6"/>
          <p:cNvSpPr/>
          <p:nvPr/>
        </p:nvSpPr>
        <p:spPr>
          <a:xfrm>
            <a:off x="5716621" y="2371120"/>
            <a:ext cx="2136648" cy="322823"/>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ASCR</a:t>
            </a:r>
            <a:endParaRPr/>
          </a:p>
        </p:txBody>
      </p:sp>
      <p:sp>
        <p:nvSpPr>
          <p:cNvPr id="486" name="Google Shape;486;p6"/>
          <p:cNvSpPr txBox="1"/>
          <p:nvPr/>
        </p:nvSpPr>
        <p:spPr>
          <a:xfrm>
            <a:off x="4572988" y="5940623"/>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0x48000000</a:t>
            </a:r>
            <a:endParaRPr/>
          </a:p>
        </p:txBody>
      </p:sp>
      <p:sp>
        <p:nvSpPr>
          <p:cNvPr id="487" name="Google Shape;487;p6"/>
          <p:cNvSpPr txBox="1"/>
          <p:nvPr/>
        </p:nvSpPr>
        <p:spPr>
          <a:xfrm>
            <a:off x="4572000" y="5624248"/>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0x48000004</a:t>
            </a:r>
            <a:endParaRPr/>
          </a:p>
        </p:txBody>
      </p:sp>
      <p:sp>
        <p:nvSpPr>
          <p:cNvPr id="488" name="Google Shape;488;p6"/>
          <p:cNvSpPr txBox="1"/>
          <p:nvPr/>
        </p:nvSpPr>
        <p:spPr>
          <a:xfrm>
            <a:off x="4581474" y="5335147"/>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0x48000008</a:t>
            </a:r>
            <a:endParaRPr/>
          </a:p>
        </p:txBody>
      </p:sp>
      <p:sp>
        <p:nvSpPr>
          <p:cNvPr id="489" name="Google Shape;489;p6"/>
          <p:cNvSpPr txBox="1"/>
          <p:nvPr/>
        </p:nvSpPr>
        <p:spPr>
          <a:xfrm>
            <a:off x="4580486" y="5018772"/>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0x4800000C</a:t>
            </a:r>
            <a:endParaRPr/>
          </a:p>
        </p:txBody>
      </p:sp>
      <p:sp>
        <p:nvSpPr>
          <p:cNvPr id="490" name="Google Shape;490;p6"/>
          <p:cNvSpPr txBox="1"/>
          <p:nvPr/>
        </p:nvSpPr>
        <p:spPr>
          <a:xfrm>
            <a:off x="4573005" y="4716727"/>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0x48000010</a:t>
            </a:r>
            <a:endParaRPr/>
          </a:p>
        </p:txBody>
      </p:sp>
      <p:sp>
        <p:nvSpPr>
          <p:cNvPr id="491" name="Google Shape;491;p6"/>
          <p:cNvSpPr txBox="1"/>
          <p:nvPr/>
        </p:nvSpPr>
        <p:spPr>
          <a:xfrm>
            <a:off x="4572017" y="4400352"/>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C00000"/>
                </a:solidFill>
                <a:latin typeface="Consolas"/>
                <a:ea typeface="Consolas"/>
                <a:cs typeface="Consolas"/>
                <a:sym typeface="Consolas"/>
              </a:rPr>
              <a:t>0x48000014</a:t>
            </a:r>
            <a:endParaRPr/>
          </a:p>
        </p:txBody>
      </p:sp>
      <p:sp>
        <p:nvSpPr>
          <p:cNvPr id="492" name="Google Shape;492;p6"/>
          <p:cNvSpPr txBox="1"/>
          <p:nvPr/>
        </p:nvSpPr>
        <p:spPr>
          <a:xfrm>
            <a:off x="4581491" y="4111251"/>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0x48000018</a:t>
            </a:r>
            <a:endParaRPr/>
          </a:p>
        </p:txBody>
      </p:sp>
      <p:sp>
        <p:nvSpPr>
          <p:cNvPr id="493" name="Google Shape;493;p6"/>
          <p:cNvSpPr txBox="1"/>
          <p:nvPr/>
        </p:nvSpPr>
        <p:spPr>
          <a:xfrm>
            <a:off x="4580503" y="3794876"/>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0x4800001C</a:t>
            </a:r>
            <a:endParaRPr/>
          </a:p>
        </p:txBody>
      </p:sp>
      <p:sp>
        <p:nvSpPr>
          <p:cNvPr id="494" name="Google Shape;494;p6"/>
          <p:cNvSpPr txBox="1"/>
          <p:nvPr/>
        </p:nvSpPr>
        <p:spPr>
          <a:xfrm>
            <a:off x="4572988" y="3476976"/>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0x48000020</a:t>
            </a:r>
            <a:endParaRPr/>
          </a:p>
        </p:txBody>
      </p:sp>
      <p:sp>
        <p:nvSpPr>
          <p:cNvPr id="495" name="Google Shape;495;p6"/>
          <p:cNvSpPr txBox="1"/>
          <p:nvPr/>
        </p:nvSpPr>
        <p:spPr>
          <a:xfrm>
            <a:off x="4572000" y="3160601"/>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0x48000024</a:t>
            </a:r>
            <a:endParaRPr/>
          </a:p>
        </p:txBody>
      </p:sp>
      <p:sp>
        <p:nvSpPr>
          <p:cNvPr id="496" name="Google Shape;496;p6"/>
          <p:cNvSpPr txBox="1"/>
          <p:nvPr/>
        </p:nvSpPr>
        <p:spPr>
          <a:xfrm>
            <a:off x="4581474" y="2871500"/>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0x48000028</a:t>
            </a:r>
            <a:endParaRPr/>
          </a:p>
        </p:txBody>
      </p:sp>
      <p:sp>
        <p:nvSpPr>
          <p:cNvPr id="497" name="Google Shape;497;p6"/>
          <p:cNvSpPr txBox="1"/>
          <p:nvPr/>
        </p:nvSpPr>
        <p:spPr>
          <a:xfrm>
            <a:off x="4580486" y="2555125"/>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0x4800002C</a:t>
            </a:r>
            <a:endParaRPr/>
          </a:p>
        </p:txBody>
      </p:sp>
      <p:sp>
        <p:nvSpPr>
          <p:cNvPr id="498" name="Google Shape;498;p6"/>
          <p:cNvSpPr/>
          <p:nvPr/>
        </p:nvSpPr>
        <p:spPr>
          <a:xfrm>
            <a:off x="7924800" y="2371120"/>
            <a:ext cx="228600" cy="3746171"/>
          </a:xfrm>
          <a:prstGeom prst="rightBrace">
            <a:avLst>
              <a:gd name="adj1" fmla="val 8333"/>
              <a:gd name="adj2" fmla="val 50000"/>
            </a:avLst>
          </a:prstGeom>
          <a:noFill/>
          <a:ln w="190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
        <p:nvSpPr>
          <p:cNvPr id="499" name="Google Shape;499;p6"/>
          <p:cNvSpPr txBox="1"/>
          <p:nvPr/>
        </p:nvSpPr>
        <p:spPr>
          <a:xfrm>
            <a:off x="8174504" y="4049134"/>
            <a:ext cx="96949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48 bytes</a:t>
            </a:r>
            <a:endParaRPr/>
          </a:p>
        </p:txBody>
      </p:sp>
      <p:cxnSp>
        <p:nvCxnSpPr>
          <p:cNvPr id="500" name="Google Shape;500;p6"/>
          <p:cNvCxnSpPr>
            <a:endCxn id="486" idx="1"/>
          </p:cNvCxnSpPr>
          <p:nvPr/>
        </p:nvCxnSpPr>
        <p:spPr>
          <a:xfrm>
            <a:off x="3429988" y="4418112"/>
            <a:ext cx="1143000" cy="1676400"/>
          </a:xfrm>
          <a:prstGeom prst="straightConnector1">
            <a:avLst/>
          </a:prstGeom>
          <a:noFill/>
          <a:ln w="28575" cap="flat" cmpd="sng">
            <a:solidFill>
              <a:schemeClr val="accent1"/>
            </a:solidFill>
            <a:prstDash val="solid"/>
            <a:round/>
            <a:headEnd type="none" w="sm" len="sm"/>
            <a:tailEnd type="triangle" w="med" len="med"/>
          </a:ln>
        </p:spPr>
      </p:cxnSp>
      <p:cxnSp>
        <p:nvCxnSpPr>
          <p:cNvPr id="501" name="Google Shape;501;p6"/>
          <p:cNvCxnSpPr>
            <a:endCxn id="502" idx="1"/>
          </p:cNvCxnSpPr>
          <p:nvPr/>
        </p:nvCxnSpPr>
        <p:spPr>
          <a:xfrm rot="10800000" flipH="1">
            <a:off x="3428363" y="1342389"/>
            <a:ext cx="1170600" cy="2490600"/>
          </a:xfrm>
          <a:prstGeom prst="straightConnector1">
            <a:avLst/>
          </a:prstGeom>
          <a:noFill/>
          <a:ln w="28575" cap="flat" cmpd="sng">
            <a:solidFill>
              <a:schemeClr val="accent1"/>
            </a:solidFill>
            <a:prstDash val="solid"/>
            <a:round/>
            <a:headEnd type="none" w="sm" len="sm"/>
            <a:tailEnd type="triangle" w="med" len="med"/>
          </a:ln>
        </p:spPr>
      </p:cxnSp>
      <p:sp>
        <p:nvSpPr>
          <p:cNvPr id="502" name="Google Shape;502;p6"/>
          <p:cNvSpPr/>
          <p:nvPr/>
        </p:nvSpPr>
        <p:spPr>
          <a:xfrm>
            <a:off x="4598963" y="1188501"/>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0x48000400</a:t>
            </a:r>
            <a:endParaRPr sz="1800">
              <a:solidFill>
                <a:schemeClr val="dk1"/>
              </a:solidFill>
              <a:latin typeface="Gill Sans"/>
              <a:ea typeface="Gill Sans"/>
              <a:cs typeface="Gill Sans"/>
              <a:sym typeface="Gill Sans"/>
            </a:endParaRPr>
          </a:p>
        </p:txBody>
      </p:sp>
      <p:sp>
        <p:nvSpPr>
          <p:cNvPr id="503" name="Google Shape;503;p6"/>
          <p:cNvSpPr/>
          <p:nvPr/>
        </p:nvSpPr>
        <p:spPr>
          <a:xfrm>
            <a:off x="5718244" y="1742743"/>
            <a:ext cx="2133404" cy="367425"/>
          </a:xfrm>
          <a:prstGeom prst="flowChartPunchedTape">
            <a:avLst/>
          </a:prstGeom>
          <a:solidFill>
            <a:schemeClr val="lt1"/>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504" name="Google Shape;504;p6"/>
          <p:cNvSpPr txBox="1"/>
          <p:nvPr/>
        </p:nvSpPr>
        <p:spPr>
          <a:xfrm>
            <a:off x="457200" y="2110168"/>
            <a:ext cx="218534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C00000"/>
                </a:solidFill>
                <a:latin typeface="Arial"/>
                <a:ea typeface="Arial"/>
                <a:cs typeface="Arial"/>
                <a:sym typeface="Arial"/>
              </a:rPr>
              <a:t>Set pin A.14 to high</a:t>
            </a:r>
            <a:endParaRPr/>
          </a:p>
        </p:txBody>
      </p:sp>
      <p:sp>
        <p:nvSpPr>
          <p:cNvPr id="505" name="Google Shape;505;p6"/>
          <p:cNvSpPr txBox="1"/>
          <p:nvPr/>
        </p:nvSpPr>
        <p:spPr>
          <a:xfrm>
            <a:off x="8044143" y="5031774"/>
            <a:ext cx="1176057"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C00000"/>
                </a:solidFill>
                <a:latin typeface="Arial"/>
                <a:ea typeface="Arial"/>
                <a:cs typeface="Arial"/>
                <a:sym typeface="Arial"/>
              </a:rPr>
              <a:t>Set bit 14 of ODR to high</a:t>
            </a:r>
            <a:endParaRPr/>
          </a:p>
        </p:txBody>
      </p:sp>
      <p:cxnSp>
        <p:nvCxnSpPr>
          <p:cNvPr id="506" name="Google Shape;506;p6"/>
          <p:cNvCxnSpPr/>
          <p:nvPr/>
        </p:nvCxnSpPr>
        <p:spPr>
          <a:xfrm rot="10800000">
            <a:off x="7162800" y="4462392"/>
            <a:ext cx="1063752" cy="552803"/>
          </a:xfrm>
          <a:prstGeom prst="straightConnector1">
            <a:avLst/>
          </a:prstGeom>
          <a:noFill/>
          <a:ln w="28575" cap="flat" cmpd="sng">
            <a:solidFill>
              <a:srgbClr val="C00000"/>
            </a:solidFill>
            <a:prstDash val="solid"/>
            <a:round/>
            <a:headEnd type="none" w="sm" len="sm"/>
            <a:tailEnd type="triangle" w="med" len="med"/>
          </a:ln>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p7"/>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Output Data Register (ODR)</a:t>
            </a:r>
            <a:endParaRPr/>
          </a:p>
        </p:txBody>
      </p:sp>
      <p:sp>
        <p:nvSpPr>
          <p:cNvPr id="513" name="Google Shape;513;p7"/>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14</a:t>
            </a:fld>
            <a:endParaRPr/>
          </a:p>
        </p:txBody>
      </p:sp>
      <p:graphicFrame>
        <p:nvGraphicFramePr>
          <p:cNvPr id="514" name="Google Shape;514;p7"/>
          <p:cNvGraphicFramePr/>
          <p:nvPr/>
        </p:nvGraphicFramePr>
        <p:xfrm>
          <a:off x="7044" y="5092950"/>
          <a:ext cx="3000000" cy="3000000"/>
        </p:xfrm>
        <a:graphic>
          <a:graphicData uri="http://schemas.openxmlformats.org/drawingml/2006/table">
            <a:tbl>
              <a:tblPr firstRow="1" bandRow="1">
                <a:noFill/>
                <a:tableStyleId>{52E87115-F825-4F5A-BB3E-333DB29A341F}</a:tableStyleId>
              </a:tblPr>
              <a:tblGrid>
                <a:gridCol w="280975">
                  <a:extLst>
                    <a:ext uri="{9D8B030D-6E8A-4147-A177-3AD203B41FA5}">
                      <a16:colId xmlns:a16="http://schemas.microsoft.com/office/drawing/2014/main" val="20000"/>
                    </a:ext>
                  </a:extLst>
                </a:gridCol>
                <a:gridCol w="280975">
                  <a:extLst>
                    <a:ext uri="{9D8B030D-6E8A-4147-A177-3AD203B41FA5}">
                      <a16:colId xmlns:a16="http://schemas.microsoft.com/office/drawing/2014/main" val="20001"/>
                    </a:ext>
                  </a:extLst>
                </a:gridCol>
                <a:gridCol w="280975">
                  <a:extLst>
                    <a:ext uri="{9D8B030D-6E8A-4147-A177-3AD203B41FA5}">
                      <a16:colId xmlns:a16="http://schemas.microsoft.com/office/drawing/2014/main" val="20002"/>
                    </a:ext>
                  </a:extLst>
                </a:gridCol>
                <a:gridCol w="280975">
                  <a:extLst>
                    <a:ext uri="{9D8B030D-6E8A-4147-A177-3AD203B41FA5}">
                      <a16:colId xmlns:a16="http://schemas.microsoft.com/office/drawing/2014/main" val="20003"/>
                    </a:ext>
                  </a:extLst>
                </a:gridCol>
                <a:gridCol w="280975">
                  <a:extLst>
                    <a:ext uri="{9D8B030D-6E8A-4147-A177-3AD203B41FA5}">
                      <a16:colId xmlns:a16="http://schemas.microsoft.com/office/drawing/2014/main" val="20004"/>
                    </a:ext>
                  </a:extLst>
                </a:gridCol>
                <a:gridCol w="280975">
                  <a:extLst>
                    <a:ext uri="{9D8B030D-6E8A-4147-A177-3AD203B41FA5}">
                      <a16:colId xmlns:a16="http://schemas.microsoft.com/office/drawing/2014/main" val="20005"/>
                    </a:ext>
                  </a:extLst>
                </a:gridCol>
                <a:gridCol w="280975">
                  <a:extLst>
                    <a:ext uri="{9D8B030D-6E8A-4147-A177-3AD203B41FA5}">
                      <a16:colId xmlns:a16="http://schemas.microsoft.com/office/drawing/2014/main" val="20006"/>
                    </a:ext>
                  </a:extLst>
                </a:gridCol>
                <a:gridCol w="280975">
                  <a:extLst>
                    <a:ext uri="{9D8B030D-6E8A-4147-A177-3AD203B41FA5}">
                      <a16:colId xmlns:a16="http://schemas.microsoft.com/office/drawing/2014/main" val="20007"/>
                    </a:ext>
                  </a:extLst>
                </a:gridCol>
                <a:gridCol w="280975">
                  <a:extLst>
                    <a:ext uri="{9D8B030D-6E8A-4147-A177-3AD203B41FA5}">
                      <a16:colId xmlns:a16="http://schemas.microsoft.com/office/drawing/2014/main" val="20008"/>
                    </a:ext>
                  </a:extLst>
                </a:gridCol>
                <a:gridCol w="280975">
                  <a:extLst>
                    <a:ext uri="{9D8B030D-6E8A-4147-A177-3AD203B41FA5}">
                      <a16:colId xmlns:a16="http://schemas.microsoft.com/office/drawing/2014/main" val="20009"/>
                    </a:ext>
                  </a:extLst>
                </a:gridCol>
                <a:gridCol w="280975">
                  <a:extLst>
                    <a:ext uri="{9D8B030D-6E8A-4147-A177-3AD203B41FA5}">
                      <a16:colId xmlns:a16="http://schemas.microsoft.com/office/drawing/2014/main" val="20010"/>
                    </a:ext>
                  </a:extLst>
                </a:gridCol>
                <a:gridCol w="280975">
                  <a:extLst>
                    <a:ext uri="{9D8B030D-6E8A-4147-A177-3AD203B41FA5}">
                      <a16:colId xmlns:a16="http://schemas.microsoft.com/office/drawing/2014/main" val="20011"/>
                    </a:ext>
                  </a:extLst>
                </a:gridCol>
                <a:gridCol w="280975">
                  <a:extLst>
                    <a:ext uri="{9D8B030D-6E8A-4147-A177-3AD203B41FA5}">
                      <a16:colId xmlns:a16="http://schemas.microsoft.com/office/drawing/2014/main" val="20012"/>
                    </a:ext>
                  </a:extLst>
                </a:gridCol>
                <a:gridCol w="280975">
                  <a:extLst>
                    <a:ext uri="{9D8B030D-6E8A-4147-A177-3AD203B41FA5}">
                      <a16:colId xmlns:a16="http://schemas.microsoft.com/office/drawing/2014/main" val="20013"/>
                    </a:ext>
                  </a:extLst>
                </a:gridCol>
                <a:gridCol w="280975">
                  <a:extLst>
                    <a:ext uri="{9D8B030D-6E8A-4147-A177-3AD203B41FA5}">
                      <a16:colId xmlns:a16="http://schemas.microsoft.com/office/drawing/2014/main" val="20014"/>
                    </a:ext>
                  </a:extLst>
                </a:gridCol>
                <a:gridCol w="280975">
                  <a:extLst>
                    <a:ext uri="{9D8B030D-6E8A-4147-A177-3AD203B41FA5}">
                      <a16:colId xmlns:a16="http://schemas.microsoft.com/office/drawing/2014/main" val="20015"/>
                    </a:ext>
                  </a:extLst>
                </a:gridCol>
                <a:gridCol w="280975">
                  <a:extLst>
                    <a:ext uri="{9D8B030D-6E8A-4147-A177-3AD203B41FA5}">
                      <a16:colId xmlns:a16="http://schemas.microsoft.com/office/drawing/2014/main" val="20016"/>
                    </a:ext>
                  </a:extLst>
                </a:gridCol>
                <a:gridCol w="280975">
                  <a:extLst>
                    <a:ext uri="{9D8B030D-6E8A-4147-A177-3AD203B41FA5}">
                      <a16:colId xmlns:a16="http://schemas.microsoft.com/office/drawing/2014/main" val="20017"/>
                    </a:ext>
                  </a:extLst>
                </a:gridCol>
                <a:gridCol w="280975">
                  <a:extLst>
                    <a:ext uri="{9D8B030D-6E8A-4147-A177-3AD203B41FA5}">
                      <a16:colId xmlns:a16="http://schemas.microsoft.com/office/drawing/2014/main" val="20018"/>
                    </a:ext>
                  </a:extLst>
                </a:gridCol>
                <a:gridCol w="280975">
                  <a:extLst>
                    <a:ext uri="{9D8B030D-6E8A-4147-A177-3AD203B41FA5}">
                      <a16:colId xmlns:a16="http://schemas.microsoft.com/office/drawing/2014/main" val="20019"/>
                    </a:ext>
                  </a:extLst>
                </a:gridCol>
                <a:gridCol w="280975">
                  <a:extLst>
                    <a:ext uri="{9D8B030D-6E8A-4147-A177-3AD203B41FA5}">
                      <a16:colId xmlns:a16="http://schemas.microsoft.com/office/drawing/2014/main" val="20020"/>
                    </a:ext>
                  </a:extLst>
                </a:gridCol>
                <a:gridCol w="280975">
                  <a:extLst>
                    <a:ext uri="{9D8B030D-6E8A-4147-A177-3AD203B41FA5}">
                      <a16:colId xmlns:a16="http://schemas.microsoft.com/office/drawing/2014/main" val="20021"/>
                    </a:ext>
                  </a:extLst>
                </a:gridCol>
                <a:gridCol w="280975">
                  <a:extLst>
                    <a:ext uri="{9D8B030D-6E8A-4147-A177-3AD203B41FA5}">
                      <a16:colId xmlns:a16="http://schemas.microsoft.com/office/drawing/2014/main" val="20022"/>
                    </a:ext>
                  </a:extLst>
                </a:gridCol>
                <a:gridCol w="280975">
                  <a:extLst>
                    <a:ext uri="{9D8B030D-6E8A-4147-A177-3AD203B41FA5}">
                      <a16:colId xmlns:a16="http://schemas.microsoft.com/office/drawing/2014/main" val="20023"/>
                    </a:ext>
                  </a:extLst>
                </a:gridCol>
                <a:gridCol w="280975">
                  <a:extLst>
                    <a:ext uri="{9D8B030D-6E8A-4147-A177-3AD203B41FA5}">
                      <a16:colId xmlns:a16="http://schemas.microsoft.com/office/drawing/2014/main" val="20024"/>
                    </a:ext>
                  </a:extLst>
                </a:gridCol>
                <a:gridCol w="280975">
                  <a:extLst>
                    <a:ext uri="{9D8B030D-6E8A-4147-A177-3AD203B41FA5}">
                      <a16:colId xmlns:a16="http://schemas.microsoft.com/office/drawing/2014/main" val="20025"/>
                    </a:ext>
                  </a:extLst>
                </a:gridCol>
                <a:gridCol w="280975">
                  <a:extLst>
                    <a:ext uri="{9D8B030D-6E8A-4147-A177-3AD203B41FA5}">
                      <a16:colId xmlns:a16="http://schemas.microsoft.com/office/drawing/2014/main" val="20026"/>
                    </a:ext>
                  </a:extLst>
                </a:gridCol>
                <a:gridCol w="280975">
                  <a:extLst>
                    <a:ext uri="{9D8B030D-6E8A-4147-A177-3AD203B41FA5}">
                      <a16:colId xmlns:a16="http://schemas.microsoft.com/office/drawing/2014/main" val="20027"/>
                    </a:ext>
                  </a:extLst>
                </a:gridCol>
                <a:gridCol w="280975">
                  <a:extLst>
                    <a:ext uri="{9D8B030D-6E8A-4147-A177-3AD203B41FA5}">
                      <a16:colId xmlns:a16="http://schemas.microsoft.com/office/drawing/2014/main" val="20028"/>
                    </a:ext>
                  </a:extLst>
                </a:gridCol>
                <a:gridCol w="280975">
                  <a:extLst>
                    <a:ext uri="{9D8B030D-6E8A-4147-A177-3AD203B41FA5}">
                      <a16:colId xmlns:a16="http://schemas.microsoft.com/office/drawing/2014/main" val="20029"/>
                    </a:ext>
                  </a:extLst>
                </a:gridCol>
                <a:gridCol w="280975">
                  <a:extLst>
                    <a:ext uri="{9D8B030D-6E8A-4147-A177-3AD203B41FA5}">
                      <a16:colId xmlns:a16="http://schemas.microsoft.com/office/drawing/2014/main" val="20030"/>
                    </a:ext>
                  </a:extLst>
                </a:gridCol>
                <a:gridCol w="280975">
                  <a:extLst>
                    <a:ext uri="{9D8B030D-6E8A-4147-A177-3AD203B41FA5}">
                      <a16:colId xmlns:a16="http://schemas.microsoft.com/office/drawing/2014/main" val="20031"/>
                    </a:ext>
                  </a:extLst>
                </a:gridCol>
              </a:tblGrid>
              <a:tr h="175375">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31</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30</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29</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28</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27</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26</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25</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24</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23</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22</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21</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20</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19</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18</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17</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16</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15</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14</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13</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12</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11</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10</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9</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8</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7</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6</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5</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4</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3</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2</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1</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0</a:t>
                      </a:r>
                      <a:endParaRPr/>
                    </a:p>
                  </a:txBody>
                  <a:tcPr marL="0" marR="0" marT="0" marB="0" anchor="ctr" anchorCtr="1">
                    <a:solidFill>
                      <a:schemeClr val="lt1"/>
                    </a:solidFill>
                  </a:tcPr>
                </a:tc>
                <a:extLst>
                  <a:ext uri="{0D108BD9-81ED-4DB2-BD59-A6C34878D82A}">
                    <a16:rowId xmlns:a16="http://schemas.microsoft.com/office/drawing/2014/main" val="10000"/>
                  </a:ext>
                </a:extLst>
              </a:tr>
              <a:tr h="205625">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extLst>
                  <a:ext uri="{0D108BD9-81ED-4DB2-BD59-A6C34878D82A}">
                    <a16:rowId xmlns:a16="http://schemas.microsoft.com/office/drawing/2014/main" val="10001"/>
                  </a:ext>
                </a:extLst>
              </a:tr>
            </a:tbl>
          </a:graphicData>
        </a:graphic>
      </p:graphicFrame>
      <p:sp>
        <p:nvSpPr>
          <p:cNvPr id="515" name="Google Shape;515;p7"/>
          <p:cNvSpPr/>
          <p:nvPr/>
        </p:nvSpPr>
        <p:spPr>
          <a:xfrm>
            <a:off x="3505200" y="1453669"/>
            <a:ext cx="2135027" cy="307065"/>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ODR</a:t>
            </a:r>
            <a:endParaRPr/>
          </a:p>
        </p:txBody>
      </p:sp>
      <p:sp>
        <p:nvSpPr>
          <p:cNvPr id="516" name="Google Shape;516;p7"/>
          <p:cNvSpPr txBox="1"/>
          <p:nvPr/>
        </p:nvSpPr>
        <p:spPr>
          <a:xfrm>
            <a:off x="2331795" y="1597223"/>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0x48000014</a:t>
            </a:r>
            <a:endParaRPr/>
          </a:p>
        </p:txBody>
      </p:sp>
      <p:sp>
        <p:nvSpPr>
          <p:cNvPr id="517" name="Google Shape;517;p7"/>
          <p:cNvSpPr/>
          <p:nvPr/>
        </p:nvSpPr>
        <p:spPr>
          <a:xfrm>
            <a:off x="4419592" y="1905000"/>
            <a:ext cx="304800" cy="609600"/>
          </a:xfrm>
          <a:prstGeom prst="downArrow">
            <a:avLst>
              <a:gd name="adj1" fmla="val 50000"/>
              <a:gd name="adj2" fmla="val 50000"/>
            </a:avLst>
          </a:prstGeom>
          <a:solidFill>
            <a:schemeClr val="accent1"/>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518" name="Google Shape;518;p7"/>
          <p:cNvSpPr txBox="1"/>
          <p:nvPr/>
        </p:nvSpPr>
        <p:spPr>
          <a:xfrm>
            <a:off x="5740261" y="1417704"/>
            <a:ext cx="214674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1 word (i.e. 32 bits)</a:t>
            </a:r>
            <a:endParaRPr/>
          </a:p>
        </p:txBody>
      </p:sp>
      <p:sp>
        <p:nvSpPr>
          <p:cNvPr id="519" name="Google Shape;519;p7"/>
          <p:cNvSpPr/>
          <p:nvPr/>
        </p:nvSpPr>
        <p:spPr>
          <a:xfrm>
            <a:off x="4419590" y="4193487"/>
            <a:ext cx="304800" cy="609600"/>
          </a:xfrm>
          <a:prstGeom prst="downArrow">
            <a:avLst>
              <a:gd name="adj1" fmla="val 50000"/>
              <a:gd name="adj2" fmla="val 50000"/>
            </a:avLst>
          </a:prstGeom>
          <a:solidFill>
            <a:schemeClr val="accent1"/>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grpSp>
        <p:nvGrpSpPr>
          <p:cNvPr id="520" name="Google Shape;520;p7"/>
          <p:cNvGrpSpPr/>
          <p:nvPr/>
        </p:nvGrpSpPr>
        <p:grpSpPr>
          <a:xfrm>
            <a:off x="3095065" y="2658866"/>
            <a:ext cx="3014994" cy="1230311"/>
            <a:chOff x="3095065" y="2658866"/>
            <a:chExt cx="3014994" cy="1230311"/>
          </a:xfrm>
        </p:grpSpPr>
        <p:sp>
          <p:nvSpPr>
            <p:cNvPr id="521" name="Google Shape;521;p7"/>
            <p:cNvSpPr/>
            <p:nvPr/>
          </p:nvSpPr>
          <p:spPr>
            <a:xfrm>
              <a:off x="4273595" y="2658866"/>
              <a:ext cx="596793" cy="307065"/>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522" name="Google Shape;522;p7"/>
            <p:cNvSpPr/>
            <p:nvPr/>
          </p:nvSpPr>
          <p:spPr>
            <a:xfrm>
              <a:off x="4273595" y="2965931"/>
              <a:ext cx="596793" cy="307065"/>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523" name="Google Shape;523;p7"/>
            <p:cNvSpPr/>
            <p:nvPr/>
          </p:nvSpPr>
          <p:spPr>
            <a:xfrm>
              <a:off x="4273595" y="3272996"/>
              <a:ext cx="596793" cy="307065"/>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524" name="Google Shape;524;p7"/>
            <p:cNvSpPr/>
            <p:nvPr/>
          </p:nvSpPr>
          <p:spPr>
            <a:xfrm>
              <a:off x="4273594" y="3580061"/>
              <a:ext cx="596793" cy="307065"/>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525" name="Google Shape;525;p7"/>
            <p:cNvSpPr txBox="1"/>
            <p:nvPr/>
          </p:nvSpPr>
          <p:spPr>
            <a:xfrm>
              <a:off x="3095065" y="3581400"/>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0x48000014</a:t>
              </a:r>
              <a:endParaRPr/>
            </a:p>
          </p:txBody>
        </p:sp>
        <p:sp>
          <p:nvSpPr>
            <p:cNvPr id="526" name="Google Shape;526;p7"/>
            <p:cNvSpPr txBox="1"/>
            <p:nvPr/>
          </p:nvSpPr>
          <p:spPr>
            <a:xfrm>
              <a:off x="3102596" y="3276600"/>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0x48000015</a:t>
              </a:r>
              <a:endParaRPr/>
            </a:p>
          </p:txBody>
        </p:sp>
        <p:sp>
          <p:nvSpPr>
            <p:cNvPr id="527" name="Google Shape;527;p7"/>
            <p:cNvSpPr txBox="1"/>
            <p:nvPr/>
          </p:nvSpPr>
          <p:spPr>
            <a:xfrm>
              <a:off x="3101788" y="2983351"/>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0x48000016</a:t>
              </a:r>
              <a:endParaRPr/>
            </a:p>
          </p:txBody>
        </p:sp>
        <p:sp>
          <p:nvSpPr>
            <p:cNvPr id="528" name="Google Shape;528;p7"/>
            <p:cNvSpPr txBox="1"/>
            <p:nvPr/>
          </p:nvSpPr>
          <p:spPr>
            <a:xfrm>
              <a:off x="3101788" y="2661530"/>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0x48000017</a:t>
              </a:r>
              <a:endParaRPr/>
            </a:p>
          </p:txBody>
        </p:sp>
        <p:sp>
          <p:nvSpPr>
            <p:cNvPr id="529" name="Google Shape;529;p7"/>
            <p:cNvSpPr/>
            <p:nvPr/>
          </p:nvSpPr>
          <p:spPr>
            <a:xfrm>
              <a:off x="5029200" y="2658866"/>
              <a:ext cx="152400" cy="1228260"/>
            </a:xfrm>
            <a:prstGeom prst="rightBrace">
              <a:avLst>
                <a:gd name="adj1" fmla="val 8333"/>
                <a:gd name="adj2" fmla="val 50000"/>
              </a:avLst>
            </a:prstGeom>
            <a:noFill/>
            <a:ln w="190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
          <p:nvSpPr>
            <p:cNvPr id="530" name="Google Shape;530;p7"/>
            <p:cNvSpPr txBox="1"/>
            <p:nvPr/>
          </p:nvSpPr>
          <p:spPr>
            <a:xfrm>
              <a:off x="5181600" y="3070661"/>
              <a:ext cx="92845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4 bytes</a:t>
              </a:r>
              <a:endParaRPr/>
            </a:p>
          </p:txBody>
        </p:sp>
      </p:grpSp>
      <p:sp>
        <p:nvSpPr>
          <p:cNvPr id="531" name="Google Shape;531;p7"/>
          <p:cNvSpPr txBox="1"/>
          <p:nvPr/>
        </p:nvSpPr>
        <p:spPr>
          <a:xfrm>
            <a:off x="4724390" y="4229706"/>
            <a:ext cx="134203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Little Endian</a:t>
            </a:r>
            <a:endParaRPr/>
          </a:p>
        </p:txBody>
      </p:sp>
      <p:sp>
        <p:nvSpPr>
          <p:cNvPr id="532" name="Google Shape;532;p7"/>
          <p:cNvSpPr txBox="1"/>
          <p:nvPr/>
        </p:nvSpPr>
        <p:spPr>
          <a:xfrm>
            <a:off x="2326672" y="1295400"/>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0x48000017</a:t>
            </a:r>
            <a:endParaRPr/>
          </a:p>
        </p:txBody>
      </p:sp>
      <p:sp>
        <p:nvSpPr>
          <p:cNvPr id="533" name="Google Shape;533;p7"/>
          <p:cNvSpPr/>
          <p:nvPr/>
        </p:nvSpPr>
        <p:spPr>
          <a:xfrm rot="-5400000">
            <a:off x="1017149" y="3887780"/>
            <a:ext cx="289328" cy="2171225"/>
          </a:xfrm>
          <a:prstGeom prst="rightBrace">
            <a:avLst>
              <a:gd name="adj1" fmla="val 8333"/>
              <a:gd name="adj2" fmla="val 50000"/>
            </a:avLst>
          </a:prstGeom>
          <a:noFill/>
          <a:ln w="1905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
        <p:nvSpPr>
          <p:cNvPr id="534" name="Google Shape;534;p7"/>
          <p:cNvSpPr/>
          <p:nvPr/>
        </p:nvSpPr>
        <p:spPr>
          <a:xfrm flipH="1">
            <a:off x="1167247" y="2803132"/>
            <a:ext cx="3709553" cy="4283468"/>
          </a:xfrm>
          <a:prstGeom prst="arc">
            <a:avLst>
              <a:gd name="adj1" fmla="val 16200000"/>
              <a:gd name="adj2" fmla="val 21432403"/>
            </a:avLst>
          </a:prstGeom>
          <a:noFill/>
          <a:ln w="19050" cap="flat" cmpd="sng">
            <a:solidFill>
              <a:srgbClr val="C00000"/>
            </a:solidFill>
            <a:prstDash val="solid"/>
            <a:round/>
            <a:headEnd type="stealth" w="med" len="med"/>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
        <p:nvSpPr>
          <p:cNvPr id="535" name="Google Shape;535;p7"/>
          <p:cNvSpPr/>
          <p:nvPr/>
        </p:nvSpPr>
        <p:spPr>
          <a:xfrm rot="-5400000">
            <a:off x="7722749" y="3875123"/>
            <a:ext cx="289328" cy="2171225"/>
          </a:xfrm>
          <a:prstGeom prst="rightBrace">
            <a:avLst>
              <a:gd name="adj1" fmla="val 8333"/>
              <a:gd name="adj2" fmla="val 50000"/>
            </a:avLst>
          </a:prstGeom>
          <a:noFill/>
          <a:ln w="1905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
        <p:nvSpPr>
          <p:cNvPr id="536" name="Google Shape;536;p7"/>
          <p:cNvSpPr/>
          <p:nvPr/>
        </p:nvSpPr>
        <p:spPr>
          <a:xfrm>
            <a:off x="1905001" y="3743454"/>
            <a:ext cx="5969494" cy="2248406"/>
          </a:xfrm>
          <a:prstGeom prst="arc">
            <a:avLst>
              <a:gd name="adj1" fmla="val 16200000"/>
              <a:gd name="adj2" fmla="val 21578120"/>
            </a:avLst>
          </a:prstGeom>
          <a:noFill/>
          <a:ln w="19050" cap="flat" cmpd="sng">
            <a:solidFill>
              <a:srgbClr val="C00000"/>
            </a:solidFill>
            <a:prstDash val="solid"/>
            <a:round/>
            <a:headEnd type="stealth" w="med" len="med"/>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1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3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3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3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Google Shape;542;p8"/>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Output Data Register (ODR)</a:t>
            </a:r>
            <a:endParaRPr/>
          </a:p>
        </p:txBody>
      </p:sp>
      <p:sp>
        <p:nvSpPr>
          <p:cNvPr id="543" name="Google Shape;543;p8"/>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15</a:t>
            </a:fld>
            <a:endParaRPr/>
          </a:p>
        </p:txBody>
      </p:sp>
      <p:graphicFrame>
        <p:nvGraphicFramePr>
          <p:cNvPr id="544" name="Google Shape;544;p8"/>
          <p:cNvGraphicFramePr/>
          <p:nvPr/>
        </p:nvGraphicFramePr>
        <p:xfrm>
          <a:off x="7044" y="5092950"/>
          <a:ext cx="3000000" cy="3000000"/>
        </p:xfrm>
        <a:graphic>
          <a:graphicData uri="http://schemas.openxmlformats.org/drawingml/2006/table">
            <a:tbl>
              <a:tblPr firstRow="1" bandRow="1">
                <a:noFill/>
                <a:tableStyleId>{52E87115-F825-4F5A-BB3E-333DB29A341F}</a:tableStyleId>
              </a:tblPr>
              <a:tblGrid>
                <a:gridCol w="280975">
                  <a:extLst>
                    <a:ext uri="{9D8B030D-6E8A-4147-A177-3AD203B41FA5}">
                      <a16:colId xmlns:a16="http://schemas.microsoft.com/office/drawing/2014/main" val="20000"/>
                    </a:ext>
                  </a:extLst>
                </a:gridCol>
                <a:gridCol w="280975">
                  <a:extLst>
                    <a:ext uri="{9D8B030D-6E8A-4147-A177-3AD203B41FA5}">
                      <a16:colId xmlns:a16="http://schemas.microsoft.com/office/drawing/2014/main" val="20001"/>
                    </a:ext>
                  </a:extLst>
                </a:gridCol>
                <a:gridCol w="280975">
                  <a:extLst>
                    <a:ext uri="{9D8B030D-6E8A-4147-A177-3AD203B41FA5}">
                      <a16:colId xmlns:a16="http://schemas.microsoft.com/office/drawing/2014/main" val="20002"/>
                    </a:ext>
                  </a:extLst>
                </a:gridCol>
                <a:gridCol w="280975">
                  <a:extLst>
                    <a:ext uri="{9D8B030D-6E8A-4147-A177-3AD203B41FA5}">
                      <a16:colId xmlns:a16="http://schemas.microsoft.com/office/drawing/2014/main" val="20003"/>
                    </a:ext>
                  </a:extLst>
                </a:gridCol>
                <a:gridCol w="280975">
                  <a:extLst>
                    <a:ext uri="{9D8B030D-6E8A-4147-A177-3AD203B41FA5}">
                      <a16:colId xmlns:a16="http://schemas.microsoft.com/office/drawing/2014/main" val="20004"/>
                    </a:ext>
                  </a:extLst>
                </a:gridCol>
                <a:gridCol w="280975">
                  <a:extLst>
                    <a:ext uri="{9D8B030D-6E8A-4147-A177-3AD203B41FA5}">
                      <a16:colId xmlns:a16="http://schemas.microsoft.com/office/drawing/2014/main" val="20005"/>
                    </a:ext>
                  </a:extLst>
                </a:gridCol>
                <a:gridCol w="280975">
                  <a:extLst>
                    <a:ext uri="{9D8B030D-6E8A-4147-A177-3AD203B41FA5}">
                      <a16:colId xmlns:a16="http://schemas.microsoft.com/office/drawing/2014/main" val="20006"/>
                    </a:ext>
                  </a:extLst>
                </a:gridCol>
                <a:gridCol w="280975">
                  <a:extLst>
                    <a:ext uri="{9D8B030D-6E8A-4147-A177-3AD203B41FA5}">
                      <a16:colId xmlns:a16="http://schemas.microsoft.com/office/drawing/2014/main" val="20007"/>
                    </a:ext>
                  </a:extLst>
                </a:gridCol>
                <a:gridCol w="280975">
                  <a:extLst>
                    <a:ext uri="{9D8B030D-6E8A-4147-A177-3AD203B41FA5}">
                      <a16:colId xmlns:a16="http://schemas.microsoft.com/office/drawing/2014/main" val="20008"/>
                    </a:ext>
                  </a:extLst>
                </a:gridCol>
                <a:gridCol w="280975">
                  <a:extLst>
                    <a:ext uri="{9D8B030D-6E8A-4147-A177-3AD203B41FA5}">
                      <a16:colId xmlns:a16="http://schemas.microsoft.com/office/drawing/2014/main" val="20009"/>
                    </a:ext>
                  </a:extLst>
                </a:gridCol>
                <a:gridCol w="280975">
                  <a:extLst>
                    <a:ext uri="{9D8B030D-6E8A-4147-A177-3AD203B41FA5}">
                      <a16:colId xmlns:a16="http://schemas.microsoft.com/office/drawing/2014/main" val="20010"/>
                    </a:ext>
                  </a:extLst>
                </a:gridCol>
                <a:gridCol w="280975">
                  <a:extLst>
                    <a:ext uri="{9D8B030D-6E8A-4147-A177-3AD203B41FA5}">
                      <a16:colId xmlns:a16="http://schemas.microsoft.com/office/drawing/2014/main" val="20011"/>
                    </a:ext>
                  </a:extLst>
                </a:gridCol>
                <a:gridCol w="280975">
                  <a:extLst>
                    <a:ext uri="{9D8B030D-6E8A-4147-A177-3AD203B41FA5}">
                      <a16:colId xmlns:a16="http://schemas.microsoft.com/office/drawing/2014/main" val="20012"/>
                    </a:ext>
                  </a:extLst>
                </a:gridCol>
                <a:gridCol w="280975">
                  <a:extLst>
                    <a:ext uri="{9D8B030D-6E8A-4147-A177-3AD203B41FA5}">
                      <a16:colId xmlns:a16="http://schemas.microsoft.com/office/drawing/2014/main" val="20013"/>
                    </a:ext>
                  </a:extLst>
                </a:gridCol>
                <a:gridCol w="280975">
                  <a:extLst>
                    <a:ext uri="{9D8B030D-6E8A-4147-A177-3AD203B41FA5}">
                      <a16:colId xmlns:a16="http://schemas.microsoft.com/office/drawing/2014/main" val="20014"/>
                    </a:ext>
                  </a:extLst>
                </a:gridCol>
                <a:gridCol w="280975">
                  <a:extLst>
                    <a:ext uri="{9D8B030D-6E8A-4147-A177-3AD203B41FA5}">
                      <a16:colId xmlns:a16="http://schemas.microsoft.com/office/drawing/2014/main" val="20015"/>
                    </a:ext>
                  </a:extLst>
                </a:gridCol>
                <a:gridCol w="280975">
                  <a:extLst>
                    <a:ext uri="{9D8B030D-6E8A-4147-A177-3AD203B41FA5}">
                      <a16:colId xmlns:a16="http://schemas.microsoft.com/office/drawing/2014/main" val="20016"/>
                    </a:ext>
                  </a:extLst>
                </a:gridCol>
                <a:gridCol w="280975">
                  <a:extLst>
                    <a:ext uri="{9D8B030D-6E8A-4147-A177-3AD203B41FA5}">
                      <a16:colId xmlns:a16="http://schemas.microsoft.com/office/drawing/2014/main" val="20017"/>
                    </a:ext>
                  </a:extLst>
                </a:gridCol>
                <a:gridCol w="280975">
                  <a:extLst>
                    <a:ext uri="{9D8B030D-6E8A-4147-A177-3AD203B41FA5}">
                      <a16:colId xmlns:a16="http://schemas.microsoft.com/office/drawing/2014/main" val="20018"/>
                    </a:ext>
                  </a:extLst>
                </a:gridCol>
                <a:gridCol w="280975">
                  <a:extLst>
                    <a:ext uri="{9D8B030D-6E8A-4147-A177-3AD203B41FA5}">
                      <a16:colId xmlns:a16="http://schemas.microsoft.com/office/drawing/2014/main" val="20019"/>
                    </a:ext>
                  </a:extLst>
                </a:gridCol>
                <a:gridCol w="280975">
                  <a:extLst>
                    <a:ext uri="{9D8B030D-6E8A-4147-A177-3AD203B41FA5}">
                      <a16:colId xmlns:a16="http://schemas.microsoft.com/office/drawing/2014/main" val="20020"/>
                    </a:ext>
                  </a:extLst>
                </a:gridCol>
                <a:gridCol w="280975">
                  <a:extLst>
                    <a:ext uri="{9D8B030D-6E8A-4147-A177-3AD203B41FA5}">
                      <a16:colId xmlns:a16="http://schemas.microsoft.com/office/drawing/2014/main" val="20021"/>
                    </a:ext>
                  </a:extLst>
                </a:gridCol>
                <a:gridCol w="280975">
                  <a:extLst>
                    <a:ext uri="{9D8B030D-6E8A-4147-A177-3AD203B41FA5}">
                      <a16:colId xmlns:a16="http://schemas.microsoft.com/office/drawing/2014/main" val="20022"/>
                    </a:ext>
                  </a:extLst>
                </a:gridCol>
                <a:gridCol w="280975">
                  <a:extLst>
                    <a:ext uri="{9D8B030D-6E8A-4147-A177-3AD203B41FA5}">
                      <a16:colId xmlns:a16="http://schemas.microsoft.com/office/drawing/2014/main" val="20023"/>
                    </a:ext>
                  </a:extLst>
                </a:gridCol>
                <a:gridCol w="280975">
                  <a:extLst>
                    <a:ext uri="{9D8B030D-6E8A-4147-A177-3AD203B41FA5}">
                      <a16:colId xmlns:a16="http://schemas.microsoft.com/office/drawing/2014/main" val="20024"/>
                    </a:ext>
                  </a:extLst>
                </a:gridCol>
                <a:gridCol w="280975">
                  <a:extLst>
                    <a:ext uri="{9D8B030D-6E8A-4147-A177-3AD203B41FA5}">
                      <a16:colId xmlns:a16="http://schemas.microsoft.com/office/drawing/2014/main" val="20025"/>
                    </a:ext>
                  </a:extLst>
                </a:gridCol>
                <a:gridCol w="280975">
                  <a:extLst>
                    <a:ext uri="{9D8B030D-6E8A-4147-A177-3AD203B41FA5}">
                      <a16:colId xmlns:a16="http://schemas.microsoft.com/office/drawing/2014/main" val="20026"/>
                    </a:ext>
                  </a:extLst>
                </a:gridCol>
                <a:gridCol w="280975">
                  <a:extLst>
                    <a:ext uri="{9D8B030D-6E8A-4147-A177-3AD203B41FA5}">
                      <a16:colId xmlns:a16="http://schemas.microsoft.com/office/drawing/2014/main" val="20027"/>
                    </a:ext>
                  </a:extLst>
                </a:gridCol>
                <a:gridCol w="280975">
                  <a:extLst>
                    <a:ext uri="{9D8B030D-6E8A-4147-A177-3AD203B41FA5}">
                      <a16:colId xmlns:a16="http://schemas.microsoft.com/office/drawing/2014/main" val="20028"/>
                    </a:ext>
                  </a:extLst>
                </a:gridCol>
                <a:gridCol w="280975">
                  <a:extLst>
                    <a:ext uri="{9D8B030D-6E8A-4147-A177-3AD203B41FA5}">
                      <a16:colId xmlns:a16="http://schemas.microsoft.com/office/drawing/2014/main" val="20029"/>
                    </a:ext>
                  </a:extLst>
                </a:gridCol>
                <a:gridCol w="280975">
                  <a:extLst>
                    <a:ext uri="{9D8B030D-6E8A-4147-A177-3AD203B41FA5}">
                      <a16:colId xmlns:a16="http://schemas.microsoft.com/office/drawing/2014/main" val="20030"/>
                    </a:ext>
                  </a:extLst>
                </a:gridCol>
                <a:gridCol w="280975">
                  <a:extLst>
                    <a:ext uri="{9D8B030D-6E8A-4147-A177-3AD203B41FA5}">
                      <a16:colId xmlns:a16="http://schemas.microsoft.com/office/drawing/2014/main" val="20031"/>
                    </a:ext>
                  </a:extLst>
                </a:gridCol>
              </a:tblGrid>
              <a:tr h="175375">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31</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30</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29</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28</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27</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26</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25</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24</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23</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22</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21</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20</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19</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18</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17</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16</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15</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14</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13</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12</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11</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10</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9</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8</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7</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6</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5</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4</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3</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2</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1</a:t>
                      </a:r>
                      <a:endParaRPr/>
                    </a:p>
                  </a:txBody>
                  <a:tcPr marL="0" marR="0" marT="0" marB="0" anchor="ctr" anchorCtr="1">
                    <a:solidFill>
                      <a:schemeClr val="lt1"/>
                    </a:solidFill>
                  </a:tcPr>
                </a:tc>
                <a:tc>
                  <a:txBody>
                    <a:bodyPr/>
                    <a:lstStyle/>
                    <a:p>
                      <a:pPr marL="0" marR="0" lvl="0" indent="0" algn="ctr" rtl="0">
                        <a:spcBef>
                          <a:spcPts val="0"/>
                        </a:spcBef>
                        <a:spcAft>
                          <a:spcPts val="0"/>
                        </a:spcAft>
                        <a:buNone/>
                      </a:pPr>
                      <a:r>
                        <a:rPr lang="en-US" sz="1200" b="1">
                          <a:solidFill>
                            <a:srgbClr val="244061"/>
                          </a:solidFill>
                          <a:latin typeface="Arial"/>
                          <a:ea typeface="Arial"/>
                          <a:cs typeface="Arial"/>
                          <a:sym typeface="Arial"/>
                        </a:rPr>
                        <a:t>0</a:t>
                      </a:r>
                      <a:endParaRPr/>
                    </a:p>
                  </a:txBody>
                  <a:tcPr marL="0" marR="0" marT="0" marB="0" anchor="ctr" anchorCtr="1">
                    <a:solidFill>
                      <a:schemeClr val="lt1"/>
                    </a:solidFill>
                  </a:tcPr>
                </a:tc>
                <a:extLst>
                  <a:ext uri="{0D108BD9-81ED-4DB2-BD59-A6C34878D82A}">
                    <a16:rowId xmlns:a16="http://schemas.microsoft.com/office/drawing/2014/main" val="10000"/>
                  </a:ext>
                </a:extLst>
              </a:tr>
              <a:tr h="205625">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r>
                        <a:rPr lang="en-US" sz="1800" b="1">
                          <a:solidFill>
                            <a:srgbClr val="C00000"/>
                          </a:solidFill>
                          <a:latin typeface="Arial"/>
                          <a:ea typeface="Arial"/>
                          <a:cs typeface="Arial"/>
                          <a:sym typeface="Arial"/>
                        </a:rPr>
                        <a:t>1</a:t>
                      </a: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tc>
                  <a:txBody>
                    <a:bodyPr/>
                    <a:lstStyle/>
                    <a:p>
                      <a:pPr marL="0" marR="0" lvl="0" indent="0" algn="l" rtl="0">
                        <a:spcBef>
                          <a:spcPts val="0"/>
                        </a:spcBef>
                        <a:spcAft>
                          <a:spcPts val="0"/>
                        </a:spcAft>
                        <a:buNone/>
                      </a:pPr>
                      <a:endParaRPr sz="1800">
                        <a:solidFill>
                          <a:srgbClr val="244061"/>
                        </a:solidFill>
                      </a:endParaRPr>
                    </a:p>
                  </a:txBody>
                  <a:tcPr marL="0" marR="0" marT="0" marB="0" anchor="ctr" anchorCtr="1">
                    <a:solidFill>
                      <a:srgbClr val="76923C"/>
                    </a:solidFill>
                  </a:tcPr>
                </a:tc>
                <a:extLst>
                  <a:ext uri="{0D108BD9-81ED-4DB2-BD59-A6C34878D82A}">
                    <a16:rowId xmlns:a16="http://schemas.microsoft.com/office/drawing/2014/main" val="10001"/>
                  </a:ext>
                </a:extLst>
              </a:tr>
            </a:tbl>
          </a:graphicData>
        </a:graphic>
      </p:graphicFrame>
      <p:sp>
        <p:nvSpPr>
          <p:cNvPr id="545" name="Google Shape;545;p8"/>
          <p:cNvSpPr/>
          <p:nvPr/>
        </p:nvSpPr>
        <p:spPr>
          <a:xfrm>
            <a:off x="3505200" y="1453669"/>
            <a:ext cx="2135027" cy="307065"/>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ODR</a:t>
            </a:r>
            <a:endParaRPr/>
          </a:p>
        </p:txBody>
      </p:sp>
      <p:sp>
        <p:nvSpPr>
          <p:cNvPr id="546" name="Google Shape;546;p8"/>
          <p:cNvSpPr txBox="1"/>
          <p:nvPr/>
        </p:nvSpPr>
        <p:spPr>
          <a:xfrm>
            <a:off x="2331795" y="1597223"/>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0x48000014</a:t>
            </a:r>
            <a:endParaRPr/>
          </a:p>
        </p:txBody>
      </p:sp>
      <p:sp>
        <p:nvSpPr>
          <p:cNvPr id="547" name="Google Shape;547;p8"/>
          <p:cNvSpPr/>
          <p:nvPr/>
        </p:nvSpPr>
        <p:spPr>
          <a:xfrm>
            <a:off x="4419592" y="1905000"/>
            <a:ext cx="304800" cy="609600"/>
          </a:xfrm>
          <a:prstGeom prst="downArrow">
            <a:avLst>
              <a:gd name="adj1" fmla="val 50000"/>
              <a:gd name="adj2" fmla="val 50000"/>
            </a:avLst>
          </a:prstGeom>
          <a:solidFill>
            <a:schemeClr val="accent1"/>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548" name="Google Shape;548;p8"/>
          <p:cNvSpPr txBox="1"/>
          <p:nvPr/>
        </p:nvSpPr>
        <p:spPr>
          <a:xfrm>
            <a:off x="5740261" y="1417704"/>
            <a:ext cx="214674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1 word (i.e. 32 bits)</a:t>
            </a:r>
            <a:endParaRPr/>
          </a:p>
        </p:txBody>
      </p:sp>
      <p:sp>
        <p:nvSpPr>
          <p:cNvPr id="549" name="Google Shape;549;p8"/>
          <p:cNvSpPr/>
          <p:nvPr/>
        </p:nvSpPr>
        <p:spPr>
          <a:xfrm>
            <a:off x="4419590" y="4193487"/>
            <a:ext cx="304800" cy="609600"/>
          </a:xfrm>
          <a:prstGeom prst="downArrow">
            <a:avLst>
              <a:gd name="adj1" fmla="val 50000"/>
              <a:gd name="adj2" fmla="val 50000"/>
            </a:avLst>
          </a:prstGeom>
          <a:solidFill>
            <a:schemeClr val="accent1"/>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grpSp>
        <p:nvGrpSpPr>
          <p:cNvPr id="550" name="Google Shape;550;p8"/>
          <p:cNvGrpSpPr/>
          <p:nvPr/>
        </p:nvGrpSpPr>
        <p:grpSpPr>
          <a:xfrm>
            <a:off x="3095065" y="2658866"/>
            <a:ext cx="3014994" cy="1230311"/>
            <a:chOff x="3095065" y="2658866"/>
            <a:chExt cx="3014994" cy="1230311"/>
          </a:xfrm>
        </p:grpSpPr>
        <p:sp>
          <p:nvSpPr>
            <p:cNvPr id="551" name="Google Shape;551;p8"/>
            <p:cNvSpPr/>
            <p:nvPr/>
          </p:nvSpPr>
          <p:spPr>
            <a:xfrm>
              <a:off x="4273595" y="2658866"/>
              <a:ext cx="596793" cy="307065"/>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552" name="Google Shape;552;p8"/>
            <p:cNvSpPr/>
            <p:nvPr/>
          </p:nvSpPr>
          <p:spPr>
            <a:xfrm>
              <a:off x="4273595" y="2965931"/>
              <a:ext cx="596793" cy="307065"/>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553" name="Google Shape;553;p8"/>
            <p:cNvSpPr/>
            <p:nvPr/>
          </p:nvSpPr>
          <p:spPr>
            <a:xfrm>
              <a:off x="4273595" y="3272996"/>
              <a:ext cx="596793" cy="307065"/>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554" name="Google Shape;554;p8"/>
            <p:cNvSpPr/>
            <p:nvPr/>
          </p:nvSpPr>
          <p:spPr>
            <a:xfrm>
              <a:off x="4273594" y="3580061"/>
              <a:ext cx="596793" cy="307065"/>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555" name="Google Shape;555;p8"/>
            <p:cNvSpPr txBox="1"/>
            <p:nvPr/>
          </p:nvSpPr>
          <p:spPr>
            <a:xfrm>
              <a:off x="3095065" y="3581400"/>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0x48000014</a:t>
              </a:r>
              <a:endParaRPr/>
            </a:p>
          </p:txBody>
        </p:sp>
        <p:sp>
          <p:nvSpPr>
            <p:cNvPr id="556" name="Google Shape;556;p8"/>
            <p:cNvSpPr txBox="1"/>
            <p:nvPr/>
          </p:nvSpPr>
          <p:spPr>
            <a:xfrm>
              <a:off x="3102596" y="3276600"/>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0x48000015</a:t>
              </a:r>
              <a:endParaRPr/>
            </a:p>
          </p:txBody>
        </p:sp>
        <p:sp>
          <p:nvSpPr>
            <p:cNvPr id="557" name="Google Shape;557;p8"/>
            <p:cNvSpPr txBox="1"/>
            <p:nvPr/>
          </p:nvSpPr>
          <p:spPr>
            <a:xfrm>
              <a:off x="3101788" y="2983351"/>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0x48000016</a:t>
              </a:r>
              <a:endParaRPr/>
            </a:p>
          </p:txBody>
        </p:sp>
        <p:sp>
          <p:nvSpPr>
            <p:cNvPr id="558" name="Google Shape;558;p8"/>
            <p:cNvSpPr txBox="1"/>
            <p:nvPr/>
          </p:nvSpPr>
          <p:spPr>
            <a:xfrm>
              <a:off x="3101788" y="2661530"/>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0x48000017</a:t>
              </a:r>
              <a:endParaRPr/>
            </a:p>
          </p:txBody>
        </p:sp>
        <p:sp>
          <p:nvSpPr>
            <p:cNvPr id="559" name="Google Shape;559;p8"/>
            <p:cNvSpPr/>
            <p:nvPr/>
          </p:nvSpPr>
          <p:spPr>
            <a:xfrm>
              <a:off x="5029200" y="2658866"/>
              <a:ext cx="152400" cy="1228260"/>
            </a:xfrm>
            <a:prstGeom prst="rightBrace">
              <a:avLst>
                <a:gd name="adj1" fmla="val 8333"/>
                <a:gd name="adj2" fmla="val 50000"/>
              </a:avLst>
            </a:prstGeom>
            <a:noFill/>
            <a:ln w="190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
          <p:nvSpPr>
            <p:cNvPr id="560" name="Google Shape;560;p8"/>
            <p:cNvSpPr txBox="1"/>
            <p:nvPr/>
          </p:nvSpPr>
          <p:spPr>
            <a:xfrm>
              <a:off x="5181600" y="3070661"/>
              <a:ext cx="92845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4 bytes</a:t>
              </a:r>
              <a:endParaRPr/>
            </a:p>
          </p:txBody>
        </p:sp>
      </p:grpSp>
      <p:sp>
        <p:nvSpPr>
          <p:cNvPr id="561" name="Google Shape;561;p8"/>
          <p:cNvSpPr txBox="1"/>
          <p:nvPr/>
        </p:nvSpPr>
        <p:spPr>
          <a:xfrm>
            <a:off x="4724390" y="4229706"/>
            <a:ext cx="134203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Little Endian</a:t>
            </a:r>
            <a:endParaRPr/>
          </a:p>
        </p:txBody>
      </p:sp>
      <p:sp>
        <p:nvSpPr>
          <p:cNvPr id="562" name="Google Shape;562;p8"/>
          <p:cNvSpPr txBox="1"/>
          <p:nvPr/>
        </p:nvSpPr>
        <p:spPr>
          <a:xfrm>
            <a:off x="2326672" y="1295400"/>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0x48000017</a:t>
            </a:r>
            <a:endParaRPr/>
          </a:p>
        </p:txBody>
      </p:sp>
      <p:sp>
        <p:nvSpPr>
          <p:cNvPr id="563" name="Google Shape;563;p8"/>
          <p:cNvSpPr/>
          <p:nvPr/>
        </p:nvSpPr>
        <p:spPr>
          <a:xfrm rot="-5400000">
            <a:off x="1017149" y="3887780"/>
            <a:ext cx="289328" cy="2171225"/>
          </a:xfrm>
          <a:prstGeom prst="rightBrace">
            <a:avLst>
              <a:gd name="adj1" fmla="val 8333"/>
              <a:gd name="adj2" fmla="val 50000"/>
            </a:avLst>
          </a:prstGeom>
          <a:noFill/>
          <a:ln w="1905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
        <p:nvSpPr>
          <p:cNvPr id="564" name="Google Shape;564;p8"/>
          <p:cNvSpPr/>
          <p:nvPr/>
        </p:nvSpPr>
        <p:spPr>
          <a:xfrm flipH="1">
            <a:off x="1167247" y="2803132"/>
            <a:ext cx="3709553" cy="4283468"/>
          </a:xfrm>
          <a:prstGeom prst="arc">
            <a:avLst>
              <a:gd name="adj1" fmla="val 16200000"/>
              <a:gd name="adj2" fmla="val 21432403"/>
            </a:avLst>
          </a:prstGeom>
          <a:noFill/>
          <a:ln w="19050" cap="flat" cmpd="sng">
            <a:solidFill>
              <a:srgbClr val="C00000"/>
            </a:solidFill>
            <a:prstDash val="solid"/>
            <a:round/>
            <a:headEnd type="stealth" w="med" len="med"/>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
        <p:nvSpPr>
          <p:cNvPr id="565" name="Google Shape;565;p8"/>
          <p:cNvSpPr/>
          <p:nvPr/>
        </p:nvSpPr>
        <p:spPr>
          <a:xfrm rot="-5400000">
            <a:off x="7722749" y="3875123"/>
            <a:ext cx="289328" cy="2171225"/>
          </a:xfrm>
          <a:prstGeom prst="rightBrace">
            <a:avLst>
              <a:gd name="adj1" fmla="val 8333"/>
              <a:gd name="adj2" fmla="val 50000"/>
            </a:avLst>
          </a:prstGeom>
          <a:noFill/>
          <a:ln w="1905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
        <p:nvSpPr>
          <p:cNvPr id="566" name="Google Shape;566;p8"/>
          <p:cNvSpPr/>
          <p:nvPr/>
        </p:nvSpPr>
        <p:spPr>
          <a:xfrm>
            <a:off x="1905001" y="3743454"/>
            <a:ext cx="5969494" cy="2248406"/>
          </a:xfrm>
          <a:prstGeom prst="arc">
            <a:avLst>
              <a:gd name="adj1" fmla="val 16200000"/>
              <a:gd name="adj2" fmla="val 21578120"/>
            </a:avLst>
          </a:prstGeom>
          <a:noFill/>
          <a:ln w="19050" cap="flat" cmpd="sng">
            <a:solidFill>
              <a:srgbClr val="C00000"/>
            </a:solidFill>
            <a:prstDash val="solid"/>
            <a:round/>
            <a:headEnd type="stealth" w="med" len="med"/>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
        <p:nvSpPr>
          <p:cNvPr id="567" name="Google Shape;567;p8"/>
          <p:cNvSpPr/>
          <p:nvPr/>
        </p:nvSpPr>
        <p:spPr>
          <a:xfrm>
            <a:off x="1828800" y="5784241"/>
            <a:ext cx="512351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C00000"/>
                </a:solidFill>
                <a:latin typeface="Consolas"/>
                <a:ea typeface="Consolas"/>
                <a:cs typeface="Consolas"/>
                <a:sym typeface="Consolas"/>
              </a:rPr>
              <a:t>*((uint32_t *) 0x48000014) |= 1UL&lt;&lt;14; </a:t>
            </a:r>
            <a:endParaRPr sz="1800">
              <a:solidFill>
                <a:srgbClr val="C00000"/>
              </a:solidFill>
              <a:latin typeface="Gill Sans"/>
              <a:ea typeface="Gill Sans"/>
              <a:cs typeface="Gill Sans"/>
              <a:sym typeface="Gill Sans"/>
            </a:endParaRPr>
          </a:p>
        </p:txBody>
      </p:sp>
      <p:sp>
        <p:nvSpPr>
          <p:cNvPr id="568" name="Google Shape;568;p8"/>
          <p:cNvSpPr/>
          <p:nvPr/>
        </p:nvSpPr>
        <p:spPr>
          <a:xfrm rot="5400000">
            <a:off x="5902079" y="5584144"/>
            <a:ext cx="234090" cy="1372952"/>
          </a:xfrm>
          <a:prstGeom prst="rightBrace">
            <a:avLst>
              <a:gd name="adj1" fmla="val 8333"/>
              <a:gd name="adj2" fmla="val 50000"/>
            </a:avLst>
          </a:prstGeom>
          <a:noFill/>
          <a:ln w="190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
        <p:nvSpPr>
          <p:cNvPr id="569" name="Google Shape;569;p8"/>
          <p:cNvSpPr txBox="1"/>
          <p:nvPr/>
        </p:nvSpPr>
        <p:spPr>
          <a:xfrm>
            <a:off x="5483124" y="6426908"/>
            <a:ext cx="125386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Bitwise OR</a:t>
            </a:r>
            <a:endParaRPr/>
          </a:p>
        </p:txBody>
      </p:sp>
      <p:sp>
        <p:nvSpPr>
          <p:cNvPr id="570" name="Google Shape;570;p8"/>
          <p:cNvSpPr/>
          <p:nvPr/>
        </p:nvSpPr>
        <p:spPr>
          <a:xfrm rot="5400000">
            <a:off x="3416159" y="4647119"/>
            <a:ext cx="198075" cy="3220392"/>
          </a:xfrm>
          <a:prstGeom prst="rightBrace">
            <a:avLst>
              <a:gd name="adj1" fmla="val 8333"/>
              <a:gd name="adj2" fmla="val 50000"/>
            </a:avLst>
          </a:prstGeom>
          <a:noFill/>
          <a:ln w="190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
        <p:nvSpPr>
          <p:cNvPr id="571" name="Google Shape;571;p8"/>
          <p:cNvSpPr txBox="1"/>
          <p:nvPr/>
        </p:nvSpPr>
        <p:spPr>
          <a:xfrm>
            <a:off x="2300403" y="6351646"/>
            <a:ext cx="242399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Dereferencing a pointer</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sp>
        <p:nvSpPr>
          <p:cNvPr id="577" name="Google Shape;577;p9"/>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Dereferencing a Memory Address</a:t>
            </a:r>
            <a:endParaRPr/>
          </a:p>
        </p:txBody>
      </p:sp>
      <p:sp>
        <p:nvSpPr>
          <p:cNvPr id="578" name="Google Shape;578;p9"/>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16</a:t>
            </a:fld>
            <a:endParaRPr/>
          </a:p>
        </p:txBody>
      </p:sp>
      <p:sp>
        <p:nvSpPr>
          <p:cNvPr id="579" name="Google Shape;579;p9"/>
          <p:cNvSpPr/>
          <p:nvPr/>
        </p:nvSpPr>
        <p:spPr>
          <a:xfrm>
            <a:off x="3542742" y="1905000"/>
            <a:ext cx="5486400" cy="3231654"/>
          </a:xfrm>
          <a:prstGeom prst="rect">
            <a:avLst/>
          </a:prstGeom>
          <a:solidFill>
            <a:schemeClr val="lt1"/>
          </a:solidFill>
          <a:ln w="19050"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Consolas"/>
                <a:ea typeface="Consolas"/>
                <a:cs typeface="Consolas"/>
                <a:sym typeface="Consolas"/>
              </a:rPr>
              <a:t>typedef struct {</a:t>
            </a:r>
            <a:endParaRPr/>
          </a:p>
          <a:p>
            <a:pPr marL="0" marR="0" lvl="0" indent="0" algn="l" rtl="0">
              <a:spcBef>
                <a:spcPts val="0"/>
              </a:spcBef>
              <a:spcAft>
                <a:spcPts val="0"/>
              </a:spcAft>
              <a:buNone/>
            </a:pPr>
            <a:r>
              <a:rPr lang="en-US" sz="1200" b="1">
                <a:solidFill>
                  <a:schemeClr val="dk1"/>
                </a:solidFill>
                <a:latin typeface="Consolas"/>
                <a:ea typeface="Consolas"/>
                <a:cs typeface="Consolas"/>
                <a:sym typeface="Consolas"/>
              </a:rPr>
              <a:t>  volatile uint32_t MODER;    </a:t>
            </a:r>
            <a:r>
              <a:rPr lang="en-US" sz="1200" b="1">
                <a:solidFill>
                  <a:srgbClr val="7F7F7F"/>
                </a:solidFill>
                <a:latin typeface="Consolas"/>
                <a:ea typeface="Consolas"/>
                <a:cs typeface="Consolas"/>
                <a:sym typeface="Consolas"/>
              </a:rPr>
              <a:t>// Mode register</a:t>
            </a:r>
            <a:endParaRPr/>
          </a:p>
          <a:p>
            <a:pPr marL="0" marR="0" lvl="0" indent="0" algn="l" rtl="0">
              <a:spcBef>
                <a:spcPts val="0"/>
              </a:spcBef>
              <a:spcAft>
                <a:spcPts val="0"/>
              </a:spcAft>
              <a:buNone/>
            </a:pPr>
            <a:r>
              <a:rPr lang="en-US" sz="1200" b="1">
                <a:solidFill>
                  <a:schemeClr val="dk1"/>
                </a:solidFill>
                <a:latin typeface="Consolas"/>
                <a:ea typeface="Consolas"/>
                <a:cs typeface="Consolas"/>
                <a:sym typeface="Consolas"/>
              </a:rPr>
              <a:t>  volatile uint32_t OTYPER;   </a:t>
            </a:r>
            <a:r>
              <a:rPr lang="en-US" sz="1200" b="1">
                <a:solidFill>
                  <a:srgbClr val="7F7F7F"/>
                </a:solidFill>
                <a:latin typeface="Consolas"/>
                <a:ea typeface="Consolas"/>
                <a:cs typeface="Consolas"/>
                <a:sym typeface="Consolas"/>
              </a:rPr>
              <a:t>// Output type register</a:t>
            </a:r>
            <a:endParaRPr/>
          </a:p>
          <a:p>
            <a:pPr marL="0" marR="0" lvl="0" indent="0" algn="l" rtl="0">
              <a:spcBef>
                <a:spcPts val="0"/>
              </a:spcBef>
              <a:spcAft>
                <a:spcPts val="0"/>
              </a:spcAft>
              <a:buNone/>
            </a:pPr>
            <a:r>
              <a:rPr lang="en-US" sz="1200" b="1">
                <a:solidFill>
                  <a:schemeClr val="dk1"/>
                </a:solidFill>
                <a:latin typeface="Consolas"/>
                <a:ea typeface="Consolas"/>
                <a:cs typeface="Consolas"/>
                <a:sym typeface="Consolas"/>
              </a:rPr>
              <a:t>  volatile uint32_t OSPEEDR;  </a:t>
            </a:r>
            <a:r>
              <a:rPr lang="en-US" sz="1200" b="1">
                <a:solidFill>
                  <a:srgbClr val="7F7F7F"/>
                </a:solidFill>
                <a:latin typeface="Consolas"/>
                <a:ea typeface="Consolas"/>
                <a:cs typeface="Consolas"/>
                <a:sym typeface="Consolas"/>
              </a:rPr>
              <a:t>// Output speed register</a:t>
            </a:r>
            <a:endParaRPr/>
          </a:p>
          <a:p>
            <a:pPr marL="0" marR="0" lvl="0" indent="0" algn="l" rtl="0">
              <a:spcBef>
                <a:spcPts val="0"/>
              </a:spcBef>
              <a:spcAft>
                <a:spcPts val="0"/>
              </a:spcAft>
              <a:buNone/>
            </a:pPr>
            <a:r>
              <a:rPr lang="en-US" sz="1200" b="1">
                <a:solidFill>
                  <a:schemeClr val="dk1"/>
                </a:solidFill>
                <a:latin typeface="Consolas"/>
                <a:ea typeface="Consolas"/>
                <a:cs typeface="Consolas"/>
                <a:sym typeface="Consolas"/>
              </a:rPr>
              <a:t>  volatile uint32_t PUPDR;    </a:t>
            </a:r>
            <a:r>
              <a:rPr lang="en-US" sz="1200" b="1">
                <a:solidFill>
                  <a:srgbClr val="7F7F7F"/>
                </a:solidFill>
                <a:latin typeface="Consolas"/>
                <a:ea typeface="Consolas"/>
                <a:cs typeface="Consolas"/>
                <a:sym typeface="Consolas"/>
              </a:rPr>
              <a:t>// Pull-up/pull-down register</a:t>
            </a:r>
            <a:endParaRPr/>
          </a:p>
          <a:p>
            <a:pPr marL="0" marR="0" lvl="0" indent="0" algn="l" rtl="0">
              <a:spcBef>
                <a:spcPts val="0"/>
              </a:spcBef>
              <a:spcAft>
                <a:spcPts val="0"/>
              </a:spcAft>
              <a:buNone/>
            </a:pPr>
            <a:r>
              <a:rPr lang="en-US" sz="1200" b="1">
                <a:solidFill>
                  <a:schemeClr val="dk1"/>
                </a:solidFill>
                <a:latin typeface="Consolas"/>
                <a:ea typeface="Consolas"/>
                <a:cs typeface="Consolas"/>
                <a:sym typeface="Consolas"/>
              </a:rPr>
              <a:t>  volatile uint32_t IDR;     </a:t>
            </a:r>
            <a:r>
              <a:rPr lang="en-US" sz="1200" b="1">
                <a:solidFill>
                  <a:srgbClr val="7F7F7F"/>
                </a:solidFill>
                <a:latin typeface="Consolas"/>
                <a:ea typeface="Consolas"/>
                <a:cs typeface="Consolas"/>
                <a:sym typeface="Consolas"/>
              </a:rPr>
              <a:t> // Input data register</a:t>
            </a:r>
            <a:endParaRPr/>
          </a:p>
          <a:p>
            <a:pPr marL="0" marR="0" lvl="0" indent="0" algn="l" rtl="0">
              <a:spcBef>
                <a:spcPts val="0"/>
              </a:spcBef>
              <a:spcAft>
                <a:spcPts val="0"/>
              </a:spcAft>
              <a:buNone/>
            </a:pPr>
            <a:r>
              <a:rPr lang="en-US" sz="1200" b="1">
                <a:solidFill>
                  <a:schemeClr val="dk1"/>
                </a:solidFill>
                <a:latin typeface="Consolas"/>
                <a:ea typeface="Consolas"/>
                <a:cs typeface="Consolas"/>
                <a:sym typeface="Consolas"/>
              </a:rPr>
              <a:t>  </a:t>
            </a:r>
            <a:r>
              <a:rPr lang="en-US" sz="1200" b="1">
                <a:solidFill>
                  <a:srgbClr val="FF0000"/>
                </a:solidFill>
                <a:latin typeface="Consolas"/>
                <a:ea typeface="Consolas"/>
                <a:cs typeface="Consolas"/>
                <a:sym typeface="Consolas"/>
              </a:rPr>
              <a:t>volatile</a:t>
            </a:r>
            <a:r>
              <a:rPr lang="en-US" sz="1200" b="1">
                <a:solidFill>
                  <a:schemeClr val="dk1"/>
                </a:solidFill>
                <a:latin typeface="Consolas"/>
                <a:ea typeface="Consolas"/>
                <a:cs typeface="Consolas"/>
                <a:sym typeface="Consolas"/>
              </a:rPr>
              <a:t> </a:t>
            </a:r>
            <a:r>
              <a:rPr lang="en-US" sz="1200" b="1">
                <a:solidFill>
                  <a:srgbClr val="FF0000"/>
                </a:solidFill>
                <a:latin typeface="Consolas"/>
                <a:ea typeface="Consolas"/>
                <a:cs typeface="Consolas"/>
                <a:sym typeface="Consolas"/>
              </a:rPr>
              <a:t>uint32_t</a:t>
            </a:r>
            <a:r>
              <a:rPr lang="en-US" sz="1200" b="1">
                <a:solidFill>
                  <a:schemeClr val="dk1"/>
                </a:solidFill>
                <a:latin typeface="Consolas"/>
                <a:ea typeface="Consolas"/>
                <a:cs typeface="Consolas"/>
                <a:sym typeface="Consolas"/>
              </a:rPr>
              <a:t> </a:t>
            </a:r>
            <a:r>
              <a:rPr lang="en-US" sz="1200" b="1">
                <a:solidFill>
                  <a:srgbClr val="C00000"/>
                </a:solidFill>
                <a:latin typeface="Consolas"/>
                <a:ea typeface="Consolas"/>
                <a:cs typeface="Consolas"/>
                <a:sym typeface="Consolas"/>
              </a:rPr>
              <a:t>ODR</a:t>
            </a:r>
            <a:r>
              <a:rPr lang="en-US" sz="1200" b="1">
                <a:solidFill>
                  <a:schemeClr val="dk1"/>
                </a:solidFill>
                <a:latin typeface="Consolas"/>
                <a:ea typeface="Consolas"/>
                <a:cs typeface="Consolas"/>
                <a:sym typeface="Consolas"/>
              </a:rPr>
              <a:t>;      </a:t>
            </a:r>
            <a:r>
              <a:rPr lang="en-US" sz="1200" b="1">
                <a:solidFill>
                  <a:srgbClr val="7F7F7F"/>
                </a:solidFill>
                <a:latin typeface="Consolas"/>
                <a:ea typeface="Consolas"/>
                <a:cs typeface="Consolas"/>
                <a:sym typeface="Consolas"/>
              </a:rPr>
              <a:t>// Output data register</a:t>
            </a:r>
            <a:endParaRPr/>
          </a:p>
          <a:p>
            <a:pPr marL="0" marR="0" lvl="0" indent="0" algn="l" rtl="0">
              <a:spcBef>
                <a:spcPts val="0"/>
              </a:spcBef>
              <a:spcAft>
                <a:spcPts val="0"/>
              </a:spcAft>
              <a:buNone/>
            </a:pPr>
            <a:r>
              <a:rPr lang="en-US" sz="1200" b="1">
                <a:solidFill>
                  <a:schemeClr val="dk1"/>
                </a:solidFill>
                <a:latin typeface="Consolas"/>
                <a:ea typeface="Consolas"/>
                <a:cs typeface="Consolas"/>
                <a:sym typeface="Consolas"/>
              </a:rPr>
              <a:t>  volatile uint32_t BSRR;     </a:t>
            </a:r>
            <a:r>
              <a:rPr lang="en-US" sz="1200" b="1">
                <a:solidFill>
                  <a:srgbClr val="7F7F7F"/>
                </a:solidFill>
                <a:latin typeface="Consolas"/>
                <a:ea typeface="Consolas"/>
                <a:cs typeface="Consolas"/>
                <a:sym typeface="Consolas"/>
              </a:rPr>
              <a:t>// Bit set/reset register</a:t>
            </a:r>
            <a:endParaRPr/>
          </a:p>
          <a:p>
            <a:pPr marL="0" marR="0" lvl="0" indent="0" algn="l" rtl="0">
              <a:spcBef>
                <a:spcPts val="0"/>
              </a:spcBef>
              <a:spcAft>
                <a:spcPts val="0"/>
              </a:spcAft>
              <a:buNone/>
            </a:pPr>
            <a:r>
              <a:rPr lang="en-US" sz="1200" b="1">
                <a:solidFill>
                  <a:schemeClr val="dk1"/>
                </a:solidFill>
                <a:latin typeface="Consolas"/>
                <a:ea typeface="Consolas"/>
                <a:cs typeface="Consolas"/>
                <a:sym typeface="Consolas"/>
              </a:rPr>
              <a:t>  volatile uint32_t LCKR;     </a:t>
            </a:r>
            <a:r>
              <a:rPr lang="en-US" sz="1200" b="1">
                <a:solidFill>
                  <a:srgbClr val="7F7F7F"/>
                </a:solidFill>
                <a:latin typeface="Consolas"/>
                <a:ea typeface="Consolas"/>
                <a:cs typeface="Consolas"/>
                <a:sym typeface="Consolas"/>
              </a:rPr>
              <a:t>// Configuration lock register</a:t>
            </a:r>
            <a:endParaRPr/>
          </a:p>
          <a:p>
            <a:pPr marL="0" marR="0" lvl="0" indent="0" algn="l" rtl="0">
              <a:spcBef>
                <a:spcPts val="0"/>
              </a:spcBef>
              <a:spcAft>
                <a:spcPts val="0"/>
              </a:spcAft>
              <a:buNone/>
            </a:pPr>
            <a:r>
              <a:rPr lang="en-US" sz="1200" b="1">
                <a:solidFill>
                  <a:schemeClr val="dk1"/>
                </a:solidFill>
                <a:latin typeface="Consolas"/>
                <a:ea typeface="Consolas"/>
                <a:cs typeface="Consolas"/>
                <a:sym typeface="Consolas"/>
              </a:rPr>
              <a:t>  volatile uint32_t AFR[2];   </a:t>
            </a:r>
            <a:r>
              <a:rPr lang="en-US" sz="1200" b="1">
                <a:solidFill>
                  <a:srgbClr val="7F7F7F"/>
                </a:solidFill>
                <a:latin typeface="Consolas"/>
                <a:ea typeface="Consolas"/>
                <a:cs typeface="Consolas"/>
                <a:sym typeface="Consolas"/>
              </a:rPr>
              <a:t>// Alternate function registers</a:t>
            </a:r>
            <a:endParaRPr/>
          </a:p>
          <a:p>
            <a:pPr marL="0" marR="0" lvl="0" indent="0" algn="l" rtl="0">
              <a:spcBef>
                <a:spcPts val="0"/>
              </a:spcBef>
              <a:spcAft>
                <a:spcPts val="0"/>
              </a:spcAft>
              <a:buNone/>
            </a:pPr>
            <a:r>
              <a:rPr lang="en-US" sz="1200" b="1">
                <a:solidFill>
                  <a:schemeClr val="dk1"/>
                </a:solidFill>
                <a:latin typeface="Consolas"/>
                <a:ea typeface="Consolas"/>
                <a:cs typeface="Consolas"/>
                <a:sym typeface="Consolas"/>
              </a:rPr>
              <a:t>  volatile uint32_t BRR;      </a:t>
            </a:r>
            <a:r>
              <a:rPr lang="en-US" sz="1200" b="1">
                <a:solidFill>
                  <a:srgbClr val="7F7F7F"/>
                </a:solidFill>
                <a:latin typeface="Consolas"/>
                <a:ea typeface="Consolas"/>
                <a:cs typeface="Consolas"/>
                <a:sym typeface="Consolas"/>
              </a:rPr>
              <a:t>// Bit Reset register</a:t>
            </a:r>
            <a:endParaRPr/>
          </a:p>
          <a:p>
            <a:pPr marL="0" marR="0" lvl="0" indent="0" algn="l" rtl="0">
              <a:spcBef>
                <a:spcPts val="0"/>
              </a:spcBef>
              <a:spcAft>
                <a:spcPts val="0"/>
              </a:spcAft>
              <a:buNone/>
            </a:pPr>
            <a:r>
              <a:rPr lang="en-US" sz="1200" b="1">
                <a:solidFill>
                  <a:schemeClr val="dk1"/>
                </a:solidFill>
                <a:latin typeface="Consolas"/>
                <a:ea typeface="Consolas"/>
                <a:cs typeface="Consolas"/>
                <a:sym typeface="Consolas"/>
              </a:rPr>
              <a:t>  volatile uint32_t ASCR;     </a:t>
            </a:r>
            <a:r>
              <a:rPr lang="en-US" sz="1200" b="1">
                <a:solidFill>
                  <a:srgbClr val="7F7F7F"/>
                </a:solidFill>
                <a:latin typeface="Consolas"/>
                <a:ea typeface="Consolas"/>
                <a:cs typeface="Consolas"/>
                <a:sym typeface="Consolas"/>
              </a:rPr>
              <a:t>// Analog switch control register</a:t>
            </a:r>
            <a:endParaRPr/>
          </a:p>
          <a:p>
            <a:pPr marL="0" marR="0" lvl="0" indent="0" algn="l" rtl="0">
              <a:spcBef>
                <a:spcPts val="0"/>
              </a:spcBef>
              <a:spcAft>
                <a:spcPts val="0"/>
              </a:spcAft>
              <a:buNone/>
            </a:pPr>
            <a:r>
              <a:rPr lang="en-US" sz="1200" b="1">
                <a:solidFill>
                  <a:schemeClr val="dk1"/>
                </a:solidFill>
                <a:latin typeface="Consolas"/>
                <a:ea typeface="Consolas"/>
                <a:cs typeface="Consolas"/>
                <a:sym typeface="Consolas"/>
              </a:rPr>
              <a:t>} GPIO_TypeDef;</a:t>
            </a:r>
            <a:endParaRPr/>
          </a:p>
          <a:p>
            <a:pPr marL="0" marR="0" lvl="0" indent="0" algn="l" rtl="0">
              <a:spcBef>
                <a:spcPts val="0"/>
              </a:spcBef>
              <a:spcAft>
                <a:spcPts val="0"/>
              </a:spcAft>
              <a:buNone/>
            </a:pPr>
            <a:endParaRPr sz="1200" b="1">
              <a:solidFill>
                <a:schemeClr val="dk1"/>
              </a:solidFill>
              <a:latin typeface="Consolas"/>
              <a:ea typeface="Consolas"/>
              <a:cs typeface="Consolas"/>
              <a:sym typeface="Consolas"/>
            </a:endParaRPr>
          </a:p>
          <a:p>
            <a:pPr marL="0" marR="0" lvl="0" indent="0" algn="l" rtl="0">
              <a:spcBef>
                <a:spcPts val="0"/>
              </a:spcBef>
              <a:spcAft>
                <a:spcPts val="0"/>
              </a:spcAft>
              <a:buNone/>
            </a:pPr>
            <a:r>
              <a:rPr lang="en-US" sz="1200" b="1">
                <a:solidFill>
                  <a:srgbClr val="0000FF"/>
                </a:solidFill>
                <a:latin typeface="Consolas"/>
                <a:ea typeface="Consolas"/>
                <a:cs typeface="Consolas"/>
                <a:sym typeface="Consolas"/>
              </a:rPr>
              <a:t>// Casting memory address to a pointer</a:t>
            </a:r>
            <a:endParaRPr/>
          </a:p>
          <a:p>
            <a:pPr marL="0" marR="0" lvl="0" indent="0" algn="l" rtl="0">
              <a:spcBef>
                <a:spcPts val="0"/>
              </a:spcBef>
              <a:spcAft>
                <a:spcPts val="0"/>
              </a:spcAft>
              <a:buNone/>
            </a:pPr>
            <a:r>
              <a:rPr lang="en-US" sz="1200" b="1">
                <a:solidFill>
                  <a:schemeClr val="dk1"/>
                </a:solidFill>
                <a:latin typeface="Consolas"/>
                <a:ea typeface="Consolas"/>
                <a:cs typeface="Consolas"/>
                <a:sym typeface="Consolas"/>
              </a:rPr>
              <a:t>#define </a:t>
            </a:r>
            <a:r>
              <a:rPr lang="en-US" sz="1200" b="1">
                <a:solidFill>
                  <a:srgbClr val="C00000"/>
                </a:solidFill>
                <a:latin typeface="Consolas"/>
                <a:ea typeface="Consolas"/>
                <a:cs typeface="Consolas"/>
                <a:sym typeface="Consolas"/>
              </a:rPr>
              <a:t>GPIOA </a:t>
            </a:r>
            <a:r>
              <a:rPr lang="en-US" sz="1200" b="1">
                <a:solidFill>
                  <a:schemeClr val="dk1"/>
                </a:solidFill>
                <a:latin typeface="Consolas"/>
                <a:ea typeface="Consolas"/>
                <a:cs typeface="Consolas"/>
                <a:sym typeface="Consolas"/>
              </a:rPr>
              <a:t>((GPIO_TypeDef *) 0x48000000)</a:t>
            </a:r>
            <a:endParaRPr/>
          </a:p>
          <a:p>
            <a:pPr marL="0" marR="0" lvl="0" indent="0" algn="l" rtl="0">
              <a:spcBef>
                <a:spcPts val="0"/>
              </a:spcBef>
              <a:spcAft>
                <a:spcPts val="0"/>
              </a:spcAft>
              <a:buNone/>
            </a:pPr>
            <a:endParaRPr sz="1200" b="1">
              <a:solidFill>
                <a:schemeClr val="dk1"/>
              </a:solidFill>
              <a:latin typeface="Consolas"/>
              <a:ea typeface="Consolas"/>
              <a:cs typeface="Consolas"/>
              <a:sym typeface="Consolas"/>
            </a:endParaRPr>
          </a:p>
        </p:txBody>
      </p:sp>
      <p:sp>
        <p:nvSpPr>
          <p:cNvPr id="580" name="Google Shape;580;p9"/>
          <p:cNvSpPr txBox="1"/>
          <p:nvPr/>
        </p:nvSpPr>
        <p:spPr>
          <a:xfrm>
            <a:off x="4608786" y="5522192"/>
            <a:ext cx="342914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rgbClr val="C00000"/>
                </a:solidFill>
                <a:latin typeface="Consolas"/>
                <a:ea typeface="Consolas"/>
                <a:cs typeface="Consolas"/>
                <a:sym typeface="Consolas"/>
              </a:rPr>
              <a:t>GPIOA-&gt;ODR |= 1UL&lt;&lt;14; </a:t>
            </a:r>
            <a:endParaRPr/>
          </a:p>
        </p:txBody>
      </p:sp>
      <p:grpSp>
        <p:nvGrpSpPr>
          <p:cNvPr id="581" name="Google Shape;581;p9"/>
          <p:cNvGrpSpPr/>
          <p:nvPr/>
        </p:nvGrpSpPr>
        <p:grpSpPr>
          <a:xfrm>
            <a:off x="69909" y="1524000"/>
            <a:ext cx="3282891" cy="3877280"/>
            <a:chOff x="5410200" y="1228120"/>
            <a:chExt cx="3282891" cy="3877280"/>
          </a:xfrm>
        </p:grpSpPr>
        <p:sp>
          <p:nvSpPr>
            <p:cNvPr id="582" name="Google Shape;582;p9"/>
            <p:cNvSpPr/>
            <p:nvPr/>
          </p:nvSpPr>
          <p:spPr>
            <a:xfrm>
              <a:off x="6556443" y="3429000"/>
              <a:ext cx="2136648" cy="307065"/>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IDR</a:t>
              </a:r>
              <a:endParaRPr/>
            </a:p>
          </p:txBody>
        </p:sp>
        <p:sp>
          <p:nvSpPr>
            <p:cNvPr id="583" name="Google Shape;583;p9"/>
            <p:cNvSpPr/>
            <p:nvPr/>
          </p:nvSpPr>
          <p:spPr>
            <a:xfrm>
              <a:off x="6554821" y="3121934"/>
              <a:ext cx="2135027" cy="307065"/>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rgbClr val="C00000"/>
                  </a:solidFill>
                  <a:latin typeface="Gill Sans"/>
                  <a:ea typeface="Gill Sans"/>
                  <a:cs typeface="Gill Sans"/>
                  <a:sym typeface="Gill Sans"/>
                </a:rPr>
                <a:t>ODR</a:t>
              </a:r>
              <a:endParaRPr/>
            </a:p>
          </p:txBody>
        </p:sp>
        <p:sp>
          <p:nvSpPr>
            <p:cNvPr id="584" name="Google Shape;584;p9"/>
            <p:cNvSpPr/>
            <p:nvPr/>
          </p:nvSpPr>
          <p:spPr>
            <a:xfrm>
              <a:off x="6556443" y="2816968"/>
              <a:ext cx="2136648" cy="307065"/>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BSRR</a:t>
              </a:r>
              <a:endParaRPr/>
            </a:p>
          </p:txBody>
        </p:sp>
        <p:sp>
          <p:nvSpPr>
            <p:cNvPr id="585" name="Google Shape;585;p9"/>
            <p:cNvSpPr/>
            <p:nvPr/>
          </p:nvSpPr>
          <p:spPr>
            <a:xfrm>
              <a:off x="6556443" y="2515319"/>
              <a:ext cx="2136648" cy="295973"/>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LCKR</a:t>
              </a:r>
              <a:endParaRPr/>
            </a:p>
          </p:txBody>
        </p:sp>
        <p:sp>
          <p:nvSpPr>
            <p:cNvPr id="586" name="Google Shape;586;p9"/>
            <p:cNvSpPr/>
            <p:nvPr/>
          </p:nvSpPr>
          <p:spPr>
            <a:xfrm>
              <a:off x="6556443" y="4658572"/>
              <a:ext cx="2136648" cy="307065"/>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MODER</a:t>
              </a:r>
              <a:endParaRPr/>
            </a:p>
          </p:txBody>
        </p:sp>
        <p:sp>
          <p:nvSpPr>
            <p:cNvPr id="587" name="Google Shape;587;p9"/>
            <p:cNvSpPr/>
            <p:nvPr/>
          </p:nvSpPr>
          <p:spPr>
            <a:xfrm>
              <a:off x="6556443" y="4351507"/>
              <a:ext cx="2136648" cy="307065"/>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OTYPER</a:t>
              </a:r>
              <a:endParaRPr/>
            </a:p>
          </p:txBody>
        </p:sp>
        <p:sp>
          <p:nvSpPr>
            <p:cNvPr id="588" name="Google Shape;588;p9"/>
            <p:cNvSpPr/>
            <p:nvPr/>
          </p:nvSpPr>
          <p:spPr>
            <a:xfrm>
              <a:off x="6556443" y="4043786"/>
              <a:ext cx="2136648" cy="307065"/>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OSPEEDR</a:t>
              </a:r>
              <a:endParaRPr/>
            </a:p>
          </p:txBody>
        </p:sp>
        <p:sp>
          <p:nvSpPr>
            <p:cNvPr id="589" name="Google Shape;589;p9"/>
            <p:cNvSpPr/>
            <p:nvPr/>
          </p:nvSpPr>
          <p:spPr>
            <a:xfrm>
              <a:off x="6556443" y="3733965"/>
              <a:ext cx="2136648" cy="307065"/>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PUPDR</a:t>
              </a:r>
              <a:endParaRPr/>
            </a:p>
          </p:txBody>
        </p:sp>
        <p:sp>
          <p:nvSpPr>
            <p:cNvPr id="590" name="Google Shape;590;p9"/>
            <p:cNvSpPr/>
            <p:nvPr/>
          </p:nvSpPr>
          <p:spPr>
            <a:xfrm>
              <a:off x="6556443" y="2189386"/>
              <a:ext cx="2136648" cy="320257"/>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AFR[0]</a:t>
              </a:r>
              <a:endParaRPr/>
            </a:p>
          </p:txBody>
        </p:sp>
        <p:sp>
          <p:nvSpPr>
            <p:cNvPr id="591" name="Google Shape;591;p9"/>
            <p:cNvSpPr/>
            <p:nvPr/>
          </p:nvSpPr>
          <p:spPr>
            <a:xfrm>
              <a:off x="6556443" y="1883288"/>
              <a:ext cx="2136648" cy="325886"/>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AFR[1]</a:t>
              </a:r>
              <a:endParaRPr/>
            </a:p>
          </p:txBody>
        </p:sp>
        <p:sp>
          <p:nvSpPr>
            <p:cNvPr id="592" name="Google Shape;592;p9"/>
            <p:cNvSpPr/>
            <p:nvPr/>
          </p:nvSpPr>
          <p:spPr>
            <a:xfrm>
              <a:off x="6554821" y="1551890"/>
              <a:ext cx="2136648" cy="332529"/>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BRR</a:t>
              </a:r>
              <a:endParaRPr/>
            </a:p>
          </p:txBody>
        </p:sp>
        <p:sp>
          <p:nvSpPr>
            <p:cNvPr id="593" name="Google Shape;593;p9"/>
            <p:cNvSpPr/>
            <p:nvPr/>
          </p:nvSpPr>
          <p:spPr>
            <a:xfrm>
              <a:off x="6554821" y="1228120"/>
              <a:ext cx="2136648" cy="322823"/>
            </a:xfrm>
            <a:prstGeom prst="rect">
              <a:avLst/>
            </a:prstGeom>
            <a:solidFill>
              <a:srgbClr val="76923C"/>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ASCR</a:t>
              </a:r>
              <a:endParaRPr/>
            </a:p>
          </p:txBody>
        </p:sp>
        <p:sp>
          <p:nvSpPr>
            <p:cNvPr id="594" name="Google Shape;594;p9"/>
            <p:cNvSpPr txBox="1"/>
            <p:nvPr/>
          </p:nvSpPr>
          <p:spPr>
            <a:xfrm>
              <a:off x="5411188" y="4797623"/>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0x48000000</a:t>
              </a:r>
              <a:endParaRPr/>
            </a:p>
          </p:txBody>
        </p:sp>
        <p:sp>
          <p:nvSpPr>
            <p:cNvPr id="595" name="Google Shape;595;p9"/>
            <p:cNvSpPr txBox="1"/>
            <p:nvPr/>
          </p:nvSpPr>
          <p:spPr>
            <a:xfrm>
              <a:off x="5410200" y="4481248"/>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0x48000004</a:t>
              </a:r>
              <a:endParaRPr/>
            </a:p>
          </p:txBody>
        </p:sp>
        <p:sp>
          <p:nvSpPr>
            <p:cNvPr id="596" name="Google Shape;596;p9"/>
            <p:cNvSpPr txBox="1"/>
            <p:nvPr/>
          </p:nvSpPr>
          <p:spPr>
            <a:xfrm>
              <a:off x="5419674" y="4192147"/>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0x48000008</a:t>
              </a:r>
              <a:endParaRPr/>
            </a:p>
          </p:txBody>
        </p:sp>
        <p:sp>
          <p:nvSpPr>
            <p:cNvPr id="597" name="Google Shape;597;p9"/>
            <p:cNvSpPr txBox="1"/>
            <p:nvPr/>
          </p:nvSpPr>
          <p:spPr>
            <a:xfrm>
              <a:off x="5418686" y="3875772"/>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0x4800000C</a:t>
              </a:r>
              <a:endParaRPr/>
            </a:p>
          </p:txBody>
        </p:sp>
        <p:sp>
          <p:nvSpPr>
            <p:cNvPr id="598" name="Google Shape;598;p9"/>
            <p:cNvSpPr txBox="1"/>
            <p:nvPr/>
          </p:nvSpPr>
          <p:spPr>
            <a:xfrm>
              <a:off x="5411205" y="3573727"/>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0x48000010</a:t>
              </a:r>
              <a:endParaRPr/>
            </a:p>
          </p:txBody>
        </p:sp>
        <p:sp>
          <p:nvSpPr>
            <p:cNvPr id="599" name="Google Shape;599;p9"/>
            <p:cNvSpPr txBox="1"/>
            <p:nvPr/>
          </p:nvSpPr>
          <p:spPr>
            <a:xfrm>
              <a:off x="5410217" y="3257352"/>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0x48000014</a:t>
              </a:r>
              <a:endParaRPr/>
            </a:p>
          </p:txBody>
        </p:sp>
        <p:sp>
          <p:nvSpPr>
            <p:cNvPr id="600" name="Google Shape;600;p9"/>
            <p:cNvSpPr txBox="1"/>
            <p:nvPr/>
          </p:nvSpPr>
          <p:spPr>
            <a:xfrm>
              <a:off x="5419691" y="2968251"/>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0x48000018</a:t>
              </a:r>
              <a:endParaRPr/>
            </a:p>
          </p:txBody>
        </p:sp>
        <p:sp>
          <p:nvSpPr>
            <p:cNvPr id="601" name="Google Shape;601;p9"/>
            <p:cNvSpPr txBox="1"/>
            <p:nvPr/>
          </p:nvSpPr>
          <p:spPr>
            <a:xfrm>
              <a:off x="5418703" y="2651876"/>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0x4800001C</a:t>
              </a:r>
              <a:endParaRPr/>
            </a:p>
          </p:txBody>
        </p:sp>
        <p:sp>
          <p:nvSpPr>
            <p:cNvPr id="602" name="Google Shape;602;p9"/>
            <p:cNvSpPr txBox="1"/>
            <p:nvPr/>
          </p:nvSpPr>
          <p:spPr>
            <a:xfrm>
              <a:off x="5411188" y="2333976"/>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0x48000020</a:t>
              </a:r>
              <a:endParaRPr/>
            </a:p>
          </p:txBody>
        </p:sp>
        <p:sp>
          <p:nvSpPr>
            <p:cNvPr id="603" name="Google Shape;603;p9"/>
            <p:cNvSpPr txBox="1"/>
            <p:nvPr/>
          </p:nvSpPr>
          <p:spPr>
            <a:xfrm>
              <a:off x="5410200" y="2017601"/>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0x48000024</a:t>
              </a:r>
              <a:endParaRPr/>
            </a:p>
          </p:txBody>
        </p:sp>
        <p:sp>
          <p:nvSpPr>
            <p:cNvPr id="604" name="Google Shape;604;p9"/>
            <p:cNvSpPr txBox="1"/>
            <p:nvPr/>
          </p:nvSpPr>
          <p:spPr>
            <a:xfrm>
              <a:off x="5419674" y="1728500"/>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0x48000028</a:t>
              </a:r>
              <a:endParaRPr/>
            </a:p>
          </p:txBody>
        </p:sp>
        <p:sp>
          <p:nvSpPr>
            <p:cNvPr id="605" name="Google Shape;605;p9"/>
            <p:cNvSpPr txBox="1"/>
            <p:nvPr/>
          </p:nvSpPr>
          <p:spPr>
            <a:xfrm>
              <a:off x="5418686" y="1412125"/>
              <a:ext cx="11785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0x4800002C</a:t>
              </a:r>
              <a:endParaRPr/>
            </a:p>
          </p:txBody>
        </p:sp>
      </p:grpSp>
      <p:sp>
        <p:nvSpPr>
          <p:cNvPr id="606" name="Google Shape;606;p9"/>
          <p:cNvSpPr txBox="1"/>
          <p:nvPr/>
        </p:nvSpPr>
        <p:spPr>
          <a:xfrm>
            <a:off x="3886200" y="5943600"/>
            <a:ext cx="40267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or</a:t>
            </a:r>
            <a:endParaRPr/>
          </a:p>
        </p:txBody>
      </p:sp>
      <p:sp>
        <p:nvSpPr>
          <p:cNvPr id="607" name="Google Shape;607;p9"/>
          <p:cNvSpPr txBox="1"/>
          <p:nvPr/>
        </p:nvSpPr>
        <p:spPr>
          <a:xfrm>
            <a:off x="4343400" y="5918585"/>
            <a:ext cx="3711272"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rgbClr val="C00000"/>
                </a:solidFill>
                <a:latin typeface="Consolas"/>
                <a:ea typeface="Consolas"/>
                <a:cs typeface="Consolas"/>
                <a:sym typeface="Consolas"/>
              </a:rPr>
              <a:t>(*GPIOA).ODR |= 1UL&lt;&lt;14;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12"/>
        <p:cNvGrpSpPr/>
        <p:nvPr/>
      </p:nvGrpSpPr>
      <p:grpSpPr>
        <a:xfrm>
          <a:off x="0" y="0"/>
          <a:ext cx="0" cy="0"/>
          <a:chOff x="0" y="0"/>
          <a:chExt cx="0" cy="0"/>
        </a:xfrm>
      </p:grpSpPr>
      <p:grpSp>
        <p:nvGrpSpPr>
          <p:cNvPr id="613" name="Google Shape;613;p10"/>
          <p:cNvGrpSpPr/>
          <p:nvPr/>
        </p:nvGrpSpPr>
        <p:grpSpPr>
          <a:xfrm>
            <a:off x="3144759" y="1801195"/>
            <a:ext cx="3454556" cy="1316867"/>
            <a:chOff x="3396300" y="1801195"/>
            <a:chExt cx="3454556" cy="1316867"/>
          </a:xfrm>
        </p:grpSpPr>
        <p:pic>
          <p:nvPicPr>
            <p:cNvPr id="614" name="Google Shape;614;p10"/>
            <p:cNvPicPr preferRelativeResize="0"/>
            <p:nvPr/>
          </p:nvPicPr>
          <p:blipFill rotWithShape="1">
            <a:blip r:embed="rId3">
              <a:alphaModFix/>
            </a:blip>
            <a:srcRect/>
            <a:stretch/>
          </p:blipFill>
          <p:spPr>
            <a:xfrm>
              <a:off x="3396300" y="1801196"/>
              <a:ext cx="3454556" cy="1316866"/>
            </a:xfrm>
            <a:prstGeom prst="rect">
              <a:avLst/>
            </a:prstGeom>
            <a:noFill/>
            <a:ln>
              <a:noFill/>
            </a:ln>
          </p:spPr>
        </p:pic>
        <p:sp>
          <p:nvSpPr>
            <p:cNvPr id="615" name="Google Shape;615;p10"/>
            <p:cNvSpPr/>
            <p:nvPr/>
          </p:nvSpPr>
          <p:spPr>
            <a:xfrm>
              <a:off x="5562601" y="1801195"/>
              <a:ext cx="762000" cy="637205"/>
            </a:xfrm>
            <a:prstGeom prst="rect">
              <a:avLst/>
            </a:prstGeom>
            <a:noFill/>
            <a:ln w="2857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616" name="Google Shape;616;p10"/>
            <p:cNvSpPr/>
            <p:nvPr/>
          </p:nvSpPr>
          <p:spPr>
            <a:xfrm rot="5400000">
              <a:off x="5727665" y="2059663"/>
              <a:ext cx="260809" cy="133740"/>
            </a:xfrm>
            <a:prstGeom prst="triangle">
              <a:avLst>
                <a:gd name="adj" fmla="val 50000"/>
              </a:avLst>
            </a:prstGeom>
            <a:solidFill>
              <a:srgbClr val="FF0000"/>
            </a:solidFill>
            <a:ln w="190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617" name="Google Shape;617;p10"/>
            <p:cNvSpPr/>
            <p:nvPr/>
          </p:nvSpPr>
          <p:spPr>
            <a:xfrm rot="5400000">
              <a:off x="5727664" y="2629327"/>
              <a:ext cx="260809" cy="133740"/>
            </a:xfrm>
            <a:prstGeom prst="triangle">
              <a:avLst>
                <a:gd name="adj" fmla="val 50000"/>
              </a:avLst>
            </a:prstGeom>
            <a:solidFill>
              <a:srgbClr val="00B050"/>
            </a:solidFill>
            <a:ln w="19050" cap="flat" cmpd="sng">
              <a:solidFill>
                <a:srgbClr val="00B05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grpSp>
      <p:sp>
        <p:nvSpPr>
          <p:cNvPr id="618" name="Google Shape;618;p10"/>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Red LED (PB.2)</a:t>
            </a:r>
            <a:endParaRPr/>
          </a:p>
        </p:txBody>
      </p:sp>
      <p:sp>
        <p:nvSpPr>
          <p:cNvPr id="619" name="Google Shape;619;p10"/>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17</a:t>
            </a:fld>
            <a:endParaRPr/>
          </a:p>
        </p:txBody>
      </p:sp>
      <p:grpSp>
        <p:nvGrpSpPr>
          <p:cNvPr id="620" name="Google Shape;620;p10"/>
          <p:cNvGrpSpPr/>
          <p:nvPr/>
        </p:nvGrpSpPr>
        <p:grpSpPr>
          <a:xfrm>
            <a:off x="0" y="1299515"/>
            <a:ext cx="3495418" cy="1731176"/>
            <a:chOff x="284241" y="1299515"/>
            <a:chExt cx="3495418" cy="1731176"/>
          </a:xfrm>
        </p:grpSpPr>
        <p:grpSp>
          <p:nvGrpSpPr>
            <p:cNvPr id="621" name="Google Shape;621;p10"/>
            <p:cNvGrpSpPr/>
            <p:nvPr/>
          </p:nvGrpSpPr>
          <p:grpSpPr>
            <a:xfrm>
              <a:off x="284241" y="1299515"/>
              <a:ext cx="2153739" cy="1707232"/>
              <a:chOff x="3929333" y="1006354"/>
              <a:chExt cx="2153739" cy="1707232"/>
            </a:xfrm>
          </p:grpSpPr>
          <p:pic>
            <p:nvPicPr>
              <p:cNvPr id="622" name="Google Shape;622;p10"/>
              <p:cNvPicPr preferRelativeResize="0"/>
              <p:nvPr/>
            </p:nvPicPr>
            <p:blipFill rotWithShape="1">
              <a:blip r:embed="rId4">
                <a:alphaModFix/>
              </a:blip>
              <a:srcRect/>
              <a:stretch/>
            </p:blipFill>
            <p:spPr>
              <a:xfrm>
                <a:off x="3929333" y="1006354"/>
                <a:ext cx="2153739" cy="1707232"/>
              </a:xfrm>
              <a:prstGeom prst="rect">
                <a:avLst/>
              </a:prstGeom>
              <a:noFill/>
              <a:ln>
                <a:noFill/>
              </a:ln>
            </p:spPr>
          </p:pic>
          <p:sp>
            <p:nvSpPr>
              <p:cNvPr id="623" name="Google Shape;623;p10"/>
              <p:cNvSpPr txBox="1"/>
              <p:nvPr/>
            </p:nvSpPr>
            <p:spPr>
              <a:xfrm>
                <a:off x="4471440" y="1362696"/>
                <a:ext cx="106952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lt1"/>
                    </a:solidFill>
                    <a:latin typeface="Gill Sans"/>
                    <a:ea typeface="Gill Sans"/>
                    <a:cs typeface="Gill Sans"/>
                    <a:sym typeface="Gill Sans"/>
                  </a:rPr>
                  <a:t>STM32L4</a:t>
                </a:r>
                <a:endParaRPr/>
              </a:p>
            </p:txBody>
          </p:sp>
          <p:sp>
            <p:nvSpPr>
              <p:cNvPr id="624" name="Google Shape;624;p10"/>
              <p:cNvSpPr txBox="1"/>
              <p:nvPr/>
            </p:nvSpPr>
            <p:spPr>
              <a:xfrm>
                <a:off x="4384172" y="1715869"/>
                <a:ext cx="124405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ARM </a:t>
                </a:r>
                <a:endParaRPr/>
              </a:p>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Cortex-M4</a:t>
                </a:r>
                <a:endParaRPr/>
              </a:p>
            </p:txBody>
          </p:sp>
        </p:grpSp>
        <p:cxnSp>
          <p:nvCxnSpPr>
            <p:cNvPr id="625" name="Google Shape;625;p10"/>
            <p:cNvCxnSpPr/>
            <p:nvPr/>
          </p:nvCxnSpPr>
          <p:spPr>
            <a:xfrm rot="10800000">
              <a:off x="2230532" y="1607616"/>
              <a:ext cx="710927" cy="540274"/>
            </a:xfrm>
            <a:prstGeom prst="straightConnector1">
              <a:avLst/>
            </a:prstGeom>
            <a:noFill/>
            <a:ln w="28575" cap="flat" cmpd="sng">
              <a:solidFill>
                <a:schemeClr val="accent1"/>
              </a:solidFill>
              <a:prstDash val="solid"/>
              <a:round/>
              <a:headEnd type="none" w="sm" len="sm"/>
              <a:tailEnd type="none" w="sm" len="sm"/>
            </a:ln>
          </p:spPr>
        </p:cxnSp>
        <p:cxnSp>
          <p:nvCxnSpPr>
            <p:cNvPr id="626" name="Google Shape;626;p10"/>
            <p:cNvCxnSpPr/>
            <p:nvPr/>
          </p:nvCxnSpPr>
          <p:spPr>
            <a:xfrm rot="10800000">
              <a:off x="1676401" y="2943318"/>
              <a:ext cx="761579" cy="87372"/>
            </a:xfrm>
            <a:prstGeom prst="straightConnector1">
              <a:avLst/>
            </a:prstGeom>
            <a:noFill/>
            <a:ln w="28575" cap="flat" cmpd="sng">
              <a:solidFill>
                <a:schemeClr val="accent1"/>
              </a:solidFill>
              <a:prstDash val="solid"/>
              <a:round/>
              <a:headEnd type="none" w="sm" len="sm"/>
              <a:tailEnd type="none" w="sm" len="sm"/>
            </a:ln>
          </p:spPr>
        </p:cxnSp>
        <p:cxnSp>
          <p:nvCxnSpPr>
            <p:cNvPr id="627" name="Google Shape;627;p10"/>
            <p:cNvCxnSpPr/>
            <p:nvPr/>
          </p:nvCxnSpPr>
          <p:spPr>
            <a:xfrm flipH="1">
              <a:off x="2904868" y="2688733"/>
              <a:ext cx="838200" cy="9786"/>
            </a:xfrm>
            <a:prstGeom prst="straightConnector1">
              <a:avLst/>
            </a:prstGeom>
            <a:noFill/>
            <a:ln w="28575" cap="flat" cmpd="sng">
              <a:solidFill>
                <a:schemeClr val="accent1"/>
              </a:solidFill>
              <a:prstDash val="solid"/>
              <a:round/>
              <a:headEnd type="none" w="sm" len="sm"/>
              <a:tailEnd type="none" w="sm" len="sm"/>
            </a:ln>
          </p:spPr>
        </p:cxnSp>
        <p:cxnSp>
          <p:nvCxnSpPr>
            <p:cNvPr id="628" name="Google Shape;628;p10"/>
            <p:cNvCxnSpPr/>
            <p:nvPr/>
          </p:nvCxnSpPr>
          <p:spPr>
            <a:xfrm flipH="1">
              <a:off x="2941459" y="2138104"/>
              <a:ext cx="838200" cy="9786"/>
            </a:xfrm>
            <a:prstGeom prst="straightConnector1">
              <a:avLst/>
            </a:prstGeom>
            <a:noFill/>
            <a:ln w="28575" cap="flat" cmpd="sng">
              <a:solidFill>
                <a:schemeClr val="accent1"/>
              </a:solidFill>
              <a:prstDash val="solid"/>
              <a:round/>
              <a:headEnd type="none" w="sm" len="sm"/>
              <a:tailEnd type="none" w="sm" len="sm"/>
            </a:ln>
          </p:spPr>
        </p:cxnSp>
        <p:cxnSp>
          <p:nvCxnSpPr>
            <p:cNvPr id="629" name="Google Shape;629;p10"/>
            <p:cNvCxnSpPr/>
            <p:nvPr/>
          </p:nvCxnSpPr>
          <p:spPr>
            <a:xfrm rot="10800000" flipH="1">
              <a:off x="2415817" y="2696197"/>
              <a:ext cx="513595" cy="334494"/>
            </a:xfrm>
            <a:prstGeom prst="straightConnector1">
              <a:avLst/>
            </a:prstGeom>
            <a:noFill/>
            <a:ln w="28575" cap="flat" cmpd="sng">
              <a:solidFill>
                <a:schemeClr val="accent1"/>
              </a:solidFill>
              <a:prstDash val="solid"/>
              <a:round/>
              <a:headEnd type="none" w="sm" len="sm"/>
              <a:tailEnd type="none" w="sm" len="sm"/>
            </a:ln>
          </p:spPr>
        </p:cxnSp>
        <p:sp>
          <p:nvSpPr>
            <p:cNvPr id="630" name="Google Shape;630;p10"/>
            <p:cNvSpPr txBox="1"/>
            <p:nvPr/>
          </p:nvSpPr>
          <p:spPr>
            <a:xfrm>
              <a:off x="1676401" y="1479185"/>
              <a:ext cx="50687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rgbClr val="FFFF00"/>
                  </a:solidFill>
                  <a:latin typeface="Gill Sans"/>
                  <a:ea typeface="Gill Sans"/>
                  <a:cs typeface="Gill Sans"/>
                  <a:sym typeface="Gill Sans"/>
                </a:rPr>
                <a:t>PB.2</a:t>
              </a:r>
              <a:endParaRPr/>
            </a:p>
          </p:txBody>
        </p:sp>
        <p:sp>
          <p:nvSpPr>
            <p:cNvPr id="631" name="Google Shape;631;p10"/>
            <p:cNvSpPr txBox="1"/>
            <p:nvPr/>
          </p:nvSpPr>
          <p:spPr>
            <a:xfrm>
              <a:off x="1437091" y="2539241"/>
              <a:ext cx="495649"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rgbClr val="FFFF00"/>
                  </a:solidFill>
                  <a:latin typeface="Gill Sans"/>
                  <a:ea typeface="Gill Sans"/>
                  <a:cs typeface="Gill Sans"/>
                  <a:sym typeface="Gill Sans"/>
                </a:rPr>
                <a:t>PE.8</a:t>
              </a:r>
              <a:endParaRPr/>
            </a:p>
          </p:txBody>
        </p:sp>
      </p:grpSp>
      <p:pic>
        <p:nvPicPr>
          <p:cNvPr id="632" name="Google Shape;632;p10"/>
          <p:cNvPicPr preferRelativeResize="0"/>
          <p:nvPr/>
        </p:nvPicPr>
        <p:blipFill rotWithShape="1">
          <a:blip r:embed="rId5">
            <a:alphaModFix/>
          </a:blip>
          <a:srcRect/>
          <a:stretch/>
        </p:blipFill>
        <p:spPr>
          <a:xfrm>
            <a:off x="6702482" y="1249588"/>
            <a:ext cx="2403698" cy="5303612"/>
          </a:xfrm>
          <a:prstGeom prst="rect">
            <a:avLst/>
          </a:prstGeom>
          <a:noFill/>
          <a:ln>
            <a:noFill/>
          </a:ln>
        </p:spPr>
      </p:pic>
      <p:grpSp>
        <p:nvGrpSpPr>
          <p:cNvPr id="633" name="Google Shape;633;p10"/>
          <p:cNvGrpSpPr/>
          <p:nvPr/>
        </p:nvGrpSpPr>
        <p:grpSpPr>
          <a:xfrm>
            <a:off x="5181600" y="4200951"/>
            <a:ext cx="2133600" cy="948899"/>
            <a:chOff x="5181600" y="4004101"/>
            <a:chExt cx="2133600" cy="948899"/>
          </a:xfrm>
        </p:grpSpPr>
        <p:sp>
          <p:nvSpPr>
            <p:cNvPr id="634" name="Google Shape;634;p10"/>
            <p:cNvSpPr/>
            <p:nvPr/>
          </p:nvSpPr>
          <p:spPr>
            <a:xfrm>
              <a:off x="7086600" y="4571999"/>
              <a:ext cx="228600" cy="381001"/>
            </a:xfrm>
            <a:prstGeom prst="rect">
              <a:avLst/>
            </a:prstGeom>
            <a:noFill/>
            <a:ln w="2857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cxnSp>
          <p:nvCxnSpPr>
            <p:cNvPr id="635" name="Google Shape;635;p10"/>
            <p:cNvCxnSpPr>
              <a:endCxn id="634" idx="1"/>
            </p:cNvCxnSpPr>
            <p:nvPr/>
          </p:nvCxnSpPr>
          <p:spPr>
            <a:xfrm>
              <a:off x="5925000" y="4419600"/>
              <a:ext cx="1161600" cy="342900"/>
            </a:xfrm>
            <a:prstGeom prst="straightConnector1">
              <a:avLst/>
            </a:prstGeom>
            <a:noFill/>
            <a:ln w="28575" cap="flat" cmpd="sng">
              <a:solidFill>
                <a:srgbClr val="FF0000"/>
              </a:solidFill>
              <a:prstDash val="solid"/>
              <a:round/>
              <a:headEnd type="none" w="sm" len="sm"/>
              <a:tailEnd type="triangle" w="med" len="med"/>
            </a:ln>
          </p:spPr>
        </p:cxnSp>
        <p:sp>
          <p:nvSpPr>
            <p:cNvPr id="636" name="Google Shape;636;p10"/>
            <p:cNvSpPr txBox="1"/>
            <p:nvPr/>
          </p:nvSpPr>
          <p:spPr>
            <a:xfrm>
              <a:off x="5181600" y="4004101"/>
              <a:ext cx="838201"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Gill Sans"/>
                  <a:ea typeface="Gill Sans"/>
                  <a:cs typeface="Gill Sans"/>
                  <a:sym typeface="Gill Sans"/>
                </a:rPr>
                <a:t>Red &amp; Green LEDs</a:t>
              </a:r>
              <a:endParaRPr/>
            </a:p>
          </p:txBody>
        </p:sp>
      </p:grpSp>
      <p:graphicFrame>
        <p:nvGraphicFramePr>
          <p:cNvPr id="637" name="Google Shape;637;p10"/>
          <p:cNvGraphicFramePr/>
          <p:nvPr/>
        </p:nvGraphicFramePr>
        <p:xfrm>
          <a:off x="1207108" y="3776258"/>
          <a:ext cx="3000000" cy="3000000"/>
        </p:xfrm>
        <a:graphic>
          <a:graphicData uri="http://schemas.openxmlformats.org/drawingml/2006/table">
            <a:tbl>
              <a:tblPr firstRow="1" bandRow="1">
                <a:noFill/>
                <a:tableStyleId>{52E87115-F825-4F5A-BB3E-333DB29A341F}</a:tableStyleId>
              </a:tblPr>
              <a:tblGrid>
                <a:gridCol w="1002700">
                  <a:extLst>
                    <a:ext uri="{9D8B030D-6E8A-4147-A177-3AD203B41FA5}">
                      <a16:colId xmlns:a16="http://schemas.microsoft.com/office/drawing/2014/main" val="20000"/>
                    </a:ext>
                  </a:extLst>
                </a:gridCol>
                <a:gridCol w="1239400">
                  <a:extLst>
                    <a:ext uri="{9D8B030D-6E8A-4147-A177-3AD203B41FA5}">
                      <a16:colId xmlns:a16="http://schemas.microsoft.com/office/drawing/2014/main" val="20001"/>
                    </a:ext>
                  </a:extLst>
                </a:gridCol>
              </a:tblGrid>
              <a:tr h="263625">
                <a:tc>
                  <a:txBody>
                    <a:bodyPr/>
                    <a:lstStyle/>
                    <a:p>
                      <a:pPr marL="0" marR="0" lvl="0" indent="0" algn="ctr" rtl="0">
                        <a:spcBef>
                          <a:spcPts val="0"/>
                        </a:spcBef>
                        <a:spcAft>
                          <a:spcPts val="0"/>
                        </a:spcAft>
                        <a:buNone/>
                      </a:pPr>
                      <a:r>
                        <a:rPr lang="en-US" sz="1800"/>
                        <a:t>PB.2</a:t>
                      </a:r>
                      <a:endParaRPr/>
                    </a:p>
                  </a:txBody>
                  <a:tcPr marL="91450" marR="91450" marT="45725" marB="45725"/>
                </a:tc>
                <a:tc>
                  <a:txBody>
                    <a:bodyPr/>
                    <a:lstStyle/>
                    <a:p>
                      <a:pPr marL="0" marR="0" lvl="0" indent="0" algn="ctr" rtl="0">
                        <a:spcBef>
                          <a:spcPts val="0"/>
                        </a:spcBef>
                        <a:spcAft>
                          <a:spcPts val="0"/>
                        </a:spcAft>
                        <a:buNone/>
                      </a:pPr>
                      <a:r>
                        <a:rPr lang="en-US" sz="1800"/>
                        <a:t>Red LED</a:t>
                      </a:r>
                      <a:endParaRPr/>
                    </a:p>
                  </a:txBody>
                  <a:tcPr marL="91450" marR="91450" marT="45725" marB="45725"/>
                </a:tc>
                <a:extLst>
                  <a:ext uri="{0D108BD9-81ED-4DB2-BD59-A6C34878D82A}">
                    <a16:rowId xmlns:a16="http://schemas.microsoft.com/office/drawing/2014/main" val="10000"/>
                  </a:ext>
                </a:extLst>
              </a:tr>
              <a:tr h="263625">
                <a:tc>
                  <a:txBody>
                    <a:bodyPr/>
                    <a:lstStyle/>
                    <a:p>
                      <a:pPr marL="0" marR="0" lvl="0" indent="0" algn="ctr" rtl="0">
                        <a:spcBef>
                          <a:spcPts val="0"/>
                        </a:spcBef>
                        <a:spcAft>
                          <a:spcPts val="0"/>
                        </a:spcAft>
                        <a:buNone/>
                      </a:pPr>
                      <a:r>
                        <a:rPr lang="en-US" sz="1800"/>
                        <a:t>High</a:t>
                      </a:r>
                      <a:endParaRPr/>
                    </a:p>
                  </a:txBody>
                  <a:tcPr marL="91450" marR="91450" marT="45725" marB="45725"/>
                </a:tc>
                <a:tc>
                  <a:txBody>
                    <a:bodyPr/>
                    <a:lstStyle/>
                    <a:p>
                      <a:pPr marL="0" marR="0" lvl="0" indent="0" algn="ctr" rtl="0">
                        <a:spcBef>
                          <a:spcPts val="0"/>
                        </a:spcBef>
                        <a:spcAft>
                          <a:spcPts val="0"/>
                        </a:spcAft>
                        <a:buNone/>
                      </a:pPr>
                      <a:r>
                        <a:rPr lang="en-US" sz="1800"/>
                        <a:t>On</a:t>
                      </a:r>
                      <a:endParaRPr/>
                    </a:p>
                  </a:txBody>
                  <a:tcPr marL="91450" marR="91450" marT="45725" marB="45725"/>
                </a:tc>
                <a:extLst>
                  <a:ext uri="{0D108BD9-81ED-4DB2-BD59-A6C34878D82A}">
                    <a16:rowId xmlns:a16="http://schemas.microsoft.com/office/drawing/2014/main" val="10001"/>
                  </a:ext>
                </a:extLst>
              </a:tr>
              <a:tr h="263625">
                <a:tc>
                  <a:txBody>
                    <a:bodyPr/>
                    <a:lstStyle/>
                    <a:p>
                      <a:pPr marL="0" marR="0" lvl="0" indent="0" algn="ctr" rtl="0">
                        <a:spcBef>
                          <a:spcPts val="0"/>
                        </a:spcBef>
                        <a:spcAft>
                          <a:spcPts val="0"/>
                        </a:spcAft>
                        <a:buNone/>
                      </a:pPr>
                      <a:r>
                        <a:rPr lang="en-US" sz="1800"/>
                        <a:t>Low</a:t>
                      </a:r>
                      <a:endParaRPr/>
                    </a:p>
                  </a:txBody>
                  <a:tcPr marL="91450" marR="91450" marT="45725" marB="45725"/>
                </a:tc>
                <a:tc>
                  <a:txBody>
                    <a:bodyPr/>
                    <a:lstStyle/>
                    <a:p>
                      <a:pPr marL="0" marR="0" lvl="0" indent="0" algn="ctr" rtl="0">
                        <a:spcBef>
                          <a:spcPts val="0"/>
                        </a:spcBef>
                        <a:spcAft>
                          <a:spcPts val="0"/>
                        </a:spcAft>
                        <a:buNone/>
                      </a:pPr>
                      <a:r>
                        <a:rPr lang="en-US" sz="1800"/>
                        <a:t>Off</a:t>
                      </a:r>
                      <a:endParaRPr/>
                    </a:p>
                  </a:txBody>
                  <a:tcPr marL="91450" marR="91450" marT="45725" marB="45725"/>
                </a:tc>
                <a:extLst>
                  <a:ext uri="{0D108BD9-81ED-4DB2-BD59-A6C34878D82A}">
                    <a16:rowId xmlns:a16="http://schemas.microsoft.com/office/drawing/2014/main" val="10002"/>
                  </a:ext>
                </a:extLst>
              </a:tr>
            </a:tbl>
          </a:graphicData>
        </a:graphic>
      </p:graphicFrame>
      <p:sp>
        <p:nvSpPr>
          <p:cNvPr id="638" name="Google Shape;638;p10"/>
          <p:cNvSpPr txBox="1"/>
          <p:nvPr/>
        </p:nvSpPr>
        <p:spPr>
          <a:xfrm>
            <a:off x="6702482" y="838200"/>
            <a:ext cx="240369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Gill Sans"/>
                <a:ea typeface="Gill Sans"/>
                <a:cs typeface="Gill Sans"/>
                <a:sym typeface="Gill Sans"/>
              </a:rPr>
              <a:t>STM32L4 Discovery Kit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43"/>
        <p:cNvGrpSpPr/>
        <p:nvPr/>
      </p:nvGrpSpPr>
      <p:grpSpPr>
        <a:xfrm>
          <a:off x="0" y="0"/>
          <a:ext cx="0" cy="0"/>
          <a:chOff x="0" y="0"/>
          <a:chExt cx="0" cy="0"/>
        </a:xfrm>
      </p:grpSpPr>
      <p:sp>
        <p:nvSpPr>
          <p:cNvPr id="644" name="Google Shape;644;p14"/>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GPIO Mode Register (</a:t>
            </a:r>
            <a:r>
              <a:rPr lang="en-US">
                <a:solidFill>
                  <a:srgbClr val="C00000"/>
                </a:solidFill>
              </a:rPr>
              <a:t>MODER</a:t>
            </a:r>
            <a:r>
              <a:rPr lang="en-US"/>
              <a:t>)</a:t>
            </a:r>
            <a:endParaRPr/>
          </a:p>
        </p:txBody>
      </p:sp>
      <p:sp>
        <p:nvSpPr>
          <p:cNvPr id="645" name="Google Shape;645;p14"/>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18</a:t>
            </a:fld>
            <a:endParaRPr/>
          </a:p>
        </p:txBody>
      </p:sp>
      <p:sp>
        <p:nvSpPr>
          <p:cNvPr id="646" name="Google Shape;646;p14"/>
          <p:cNvSpPr txBox="1">
            <a:spLocks noGrp="1"/>
          </p:cNvSpPr>
          <p:nvPr>
            <p:ph type="body" idx="1"/>
          </p:nvPr>
        </p:nvSpPr>
        <p:spPr>
          <a:xfrm>
            <a:off x="457200" y="1219200"/>
            <a:ext cx="8229600" cy="48641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1520"/>
              <a:buChar char="🞂"/>
            </a:pPr>
            <a:r>
              <a:rPr lang="en-US" sz="2000">
                <a:latin typeface="Arial"/>
                <a:ea typeface="Arial"/>
                <a:cs typeface="Arial"/>
                <a:sym typeface="Arial"/>
              </a:rPr>
              <a:t>32 bits (16 pins, 2 bits per pin)</a:t>
            </a:r>
            <a:endParaRPr sz="2000">
              <a:latin typeface="Arial"/>
              <a:ea typeface="Arial"/>
              <a:cs typeface="Arial"/>
              <a:sym typeface="Arial"/>
            </a:endParaRPr>
          </a:p>
        </p:txBody>
      </p:sp>
      <p:pic>
        <p:nvPicPr>
          <p:cNvPr id="647" name="Google Shape;647;p14"/>
          <p:cNvPicPr preferRelativeResize="0"/>
          <p:nvPr/>
        </p:nvPicPr>
        <p:blipFill rotWithShape="1">
          <a:blip r:embed="rId3">
            <a:alphaModFix/>
          </a:blip>
          <a:srcRect/>
          <a:stretch/>
        </p:blipFill>
        <p:spPr>
          <a:xfrm>
            <a:off x="304800" y="1769532"/>
            <a:ext cx="8230780" cy="1640224"/>
          </a:xfrm>
          <a:prstGeom prst="rect">
            <a:avLst/>
          </a:prstGeom>
          <a:noFill/>
          <a:ln>
            <a:noFill/>
          </a:ln>
        </p:spPr>
      </p:pic>
      <p:sp>
        <p:nvSpPr>
          <p:cNvPr id="648" name="Google Shape;648;p14"/>
          <p:cNvSpPr/>
          <p:nvPr/>
        </p:nvSpPr>
        <p:spPr>
          <a:xfrm>
            <a:off x="612648" y="5300070"/>
            <a:ext cx="8074152"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C00000"/>
                </a:solidFill>
                <a:latin typeface="Consolas"/>
                <a:ea typeface="Consolas"/>
                <a:cs typeface="Consolas"/>
                <a:sym typeface="Consolas"/>
              </a:rPr>
              <a:t>GPIOB-&gt;MODER &amp;= ~(3UL&lt;&lt;4);  </a:t>
            </a:r>
            <a:r>
              <a:rPr lang="en-US" sz="1800">
                <a:solidFill>
                  <a:srgbClr val="7F7F7F"/>
                </a:solidFill>
                <a:latin typeface="Consolas"/>
                <a:ea typeface="Consolas"/>
                <a:cs typeface="Consolas"/>
                <a:sym typeface="Consolas"/>
              </a:rPr>
              <a:t>// Clear bits 4 and 5 for Pin 2 </a:t>
            </a:r>
            <a:endParaRPr/>
          </a:p>
          <a:p>
            <a:pPr marL="0" marR="0" lvl="0" indent="0" algn="l" rtl="0">
              <a:spcBef>
                <a:spcPts val="0"/>
              </a:spcBef>
              <a:spcAft>
                <a:spcPts val="0"/>
              </a:spcAft>
              <a:buNone/>
            </a:pPr>
            <a:r>
              <a:rPr lang="en-US" sz="1800">
                <a:solidFill>
                  <a:srgbClr val="C00000"/>
                </a:solidFill>
                <a:latin typeface="Consolas"/>
                <a:ea typeface="Consolas"/>
                <a:cs typeface="Consolas"/>
                <a:sym typeface="Consolas"/>
              </a:rPr>
              <a:t>GPIOB-&gt;MODER |=   1UL&lt;&lt;4;   </a:t>
            </a:r>
            <a:r>
              <a:rPr lang="en-US" sz="1800">
                <a:solidFill>
                  <a:srgbClr val="7F7F7F"/>
                </a:solidFill>
                <a:latin typeface="Consolas"/>
                <a:ea typeface="Consolas"/>
                <a:cs typeface="Consolas"/>
                <a:sym typeface="Consolas"/>
              </a:rPr>
              <a:t>// Set bit 4, set Pin 2 as output</a:t>
            </a:r>
            <a:endParaRPr/>
          </a:p>
        </p:txBody>
      </p:sp>
      <p:sp>
        <p:nvSpPr>
          <p:cNvPr id="649" name="Google Shape;649;p14"/>
          <p:cNvSpPr/>
          <p:nvPr/>
        </p:nvSpPr>
        <p:spPr>
          <a:xfrm>
            <a:off x="5376016" y="2559079"/>
            <a:ext cx="1024784" cy="793721"/>
          </a:xfrm>
          <a:prstGeom prst="rect">
            <a:avLst/>
          </a:prstGeom>
          <a:noFill/>
          <a:ln w="28575"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pic>
        <p:nvPicPr>
          <p:cNvPr id="650" name="Google Shape;650;p14"/>
          <p:cNvPicPr preferRelativeResize="0"/>
          <p:nvPr/>
        </p:nvPicPr>
        <p:blipFill rotWithShape="1">
          <a:blip r:embed="rId4">
            <a:alphaModFix/>
          </a:blip>
          <a:srcRect/>
          <a:stretch/>
        </p:blipFill>
        <p:spPr>
          <a:xfrm>
            <a:off x="427136" y="3706930"/>
            <a:ext cx="5192357" cy="1295965"/>
          </a:xfrm>
          <a:prstGeom prst="rect">
            <a:avLst/>
          </a:prstGeom>
          <a:noFill/>
          <a:ln>
            <a:noFill/>
          </a:ln>
        </p:spPr>
      </p:pic>
      <p:sp>
        <p:nvSpPr>
          <p:cNvPr id="651" name="Google Shape;651;p14"/>
          <p:cNvSpPr/>
          <p:nvPr/>
        </p:nvSpPr>
        <p:spPr>
          <a:xfrm>
            <a:off x="1499315" y="4352509"/>
            <a:ext cx="2438399" cy="205542"/>
          </a:xfrm>
          <a:prstGeom prst="rect">
            <a:avLst/>
          </a:prstGeom>
          <a:noFill/>
          <a:ln w="19050"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652" name="Google Shape;652;p14"/>
          <p:cNvSpPr txBox="1"/>
          <p:nvPr/>
        </p:nvSpPr>
        <p:spPr>
          <a:xfrm>
            <a:off x="5608329" y="3352800"/>
            <a:ext cx="71045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Arial"/>
                <a:ea typeface="Arial"/>
                <a:cs typeface="Arial"/>
                <a:sym typeface="Arial"/>
              </a:rPr>
              <a:t>Pin 2</a:t>
            </a:r>
            <a:endParaRPr/>
          </a:p>
        </p:txBody>
      </p:sp>
      <p:sp>
        <p:nvSpPr>
          <p:cNvPr id="653" name="Google Shape;653;p14"/>
          <p:cNvSpPr txBox="1"/>
          <p:nvPr/>
        </p:nvSpPr>
        <p:spPr>
          <a:xfrm>
            <a:off x="7595349" y="3351120"/>
            <a:ext cx="71045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Pin 0</a:t>
            </a:r>
            <a:endParaRPr/>
          </a:p>
        </p:txBody>
      </p:sp>
      <p:sp>
        <p:nvSpPr>
          <p:cNvPr id="654" name="Google Shape;654;p14"/>
          <p:cNvSpPr txBox="1"/>
          <p:nvPr/>
        </p:nvSpPr>
        <p:spPr>
          <a:xfrm>
            <a:off x="6532616" y="3352800"/>
            <a:ext cx="71045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Pin 1</a:t>
            </a:r>
            <a:endParaRPr/>
          </a:p>
        </p:txBody>
      </p:sp>
      <p:pic>
        <p:nvPicPr>
          <p:cNvPr id="655" name="Google Shape;655;p14"/>
          <p:cNvPicPr preferRelativeResize="0"/>
          <p:nvPr/>
        </p:nvPicPr>
        <p:blipFill rotWithShape="1">
          <a:blip r:embed="rId5">
            <a:alphaModFix/>
          </a:blip>
          <a:srcRect/>
          <a:stretch/>
        </p:blipFill>
        <p:spPr>
          <a:xfrm>
            <a:off x="5943600" y="3981158"/>
            <a:ext cx="3026745" cy="1153786"/>
          </a:xfrm>
          <a:prstGeom prst="rect">
            <a:avLst/>
          </a:prstGeom>
          <a:noFill/>
          <a:ln>
            <a:noFill/>
          </a:ln>
        </p:spPr>
      </p:pic>
      <p:sp>
        <p:nvSpPr>
          <p:cNvPr id="656" name="Google Shape;656;p14"/>
          <p:cNvSpPr/>
          <p:nvPr/>
        </p:nvSpPr>
        <p:spPr>
          <a:xfrm>
            <a:off x="5943600" y="4038600"/>
            <a:ext cx="304800" cy="313909"/>
          </a:xfrm>
          <a:prstGeom prst="ellipse">
            <a:avLst/>
          </a:prstGeom>
          <a:noFill/>
          <a:ln w="2857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657" name="Google Shape;657;p14"/>
          <p:cNvSpPr/>
          <p:nvPr/>
        </p:nvSpPr>
        <p:spPr>
          <a:xfrm>
            <a:off x="7848600" y="3979478"/>
            <a:ext cx="686980" cy="578573"/>
          </a:xfrm>
          <a:prstGeom prst="rect">
            <a:avLst/>
          </a:prstGeom>
          <a:noFill/>
          <a:ln w="190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62"/>
        <p:cNvGrpSpPr/>
        <p:nvPr/>
      </p:nvGrpSpPr>
      <p:grpSpPr>
        <a:xfrm>
          <a:off x="0" y="0"/>
          <a:ext cx="0" cy="0"/>
          <a:chOff x="0" y="0"/>
          <a:chExt cx="0" cy="0"/>
        </a:xfrm>
      </p:grpSpPr>
      <p:sp>
        <p:nvSpPr>
          <p:cNvPr id="663" name="Google Shape;663;p15"/>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GPIO Output Type Register (</a:t>
            </a:r>
            <a:r>
              <a:rPr lang="en-US">
                <a:solidFill>
                  <a:srgbClr val="C00000"/>
                </a:solidFill>
              </a:rPr>
              <a:t>OTYPE</a:t>
            </a:r>
            <a:r>
              <a:rPr lang="en-US"/>
              <a:t>)</a:t>
            </a:r>
            <a:endParaRPr/>
          </a:p>
        </p:txBody>
      </p:sp>
      <p:sp>
        <p:nvSpPr>
          <p:cNvPr id="664" name="Google Shape;664;p15"/>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19</a:t>
            </a:fld>
            <a:endParaRPr/>
          </a:p>
        </p:txBody>
      </p:sp>
      <p:pic>
        <p:nvPicPr>
          <p:cNvPr id="665" name="Google Shape;665;p15"/>
          <p:cNvPicPr preferRelativeResize="0">
            <a:picLocks noGrp="1"/>
          </p:cNvPicPr>
          <p:nvPr>
            <p:ph type="body" idx="1"/>
          </p:nvPr>
        </p:nvPicPr>
        <p:blipFill rotWithShape="1">
          <a:blip r:embed="rId3">
            <a:alphaModFix/>
          </a:blip>
          <a:srcRect/>
          <a:stretch/>
        </p:blipFill>
        <p:spPr>
          <a:xfrm>
            <a:off x="304800" y="3562555"/>
            <a:ext cx="5105400" cy="791725"/>
          </a:xfrm>
          <a:prstGeom prst="rect">
            <a:avLst/>
          </a:prstGeom>
          <a:noFill/>
          <a:ln>
            <a:noFill/>
          </a:ln>
        </p:spPr>
      </p:pic>
      <p:pic>
        <p:nvPicPr>
          <p:cNvPr id="666" name="Google Shape;666;p15"/>
          <p:cNvPicPr preferRelativeResize="0"/>
          <p:nvPr/>
        </p:nvPicPr>
        <p:blipFill rotWithShape="1">
          <a:blip r:embed="rId4">
            <a:alphaModFix/>
          </a:blip>
          <a:srcRect/>
          <a:stretch/>
        </p:blipFill>
        <p:spPr>
          <a:xfrm>
            <a:off x="228600" y="1825830"/>
            <a:ext cx="8686800" cy="1475998"/>
          </a:xfrm>
          <a:prstGeom prst="rect">
            <a:avLst/>
          </a:prstGeom>
          <a:noFill/>
          <a:ln>
            <a:noFill/>
          </a:ln>
        </p:spPr>
      </p:pic>
      <p:sp>
        <p:nvSpPr>
          <p:cNvPr id="667" name="Google Shape;667;p15"/>
          <p:cNvSpPr txBox="1"/>
          <p:nvPr/>
        </p:nvSpPr>
        <p:spPr>
          <a:xfrm>
            <a:off x="457200" y="1219200"/>
            <a:ext cx="8229600" cy="457200"/>
          </a:xfrm>
          <a:prstGeom prst="rect">
            <a:avLst/>
          </a:prstGeom>
          <a:noFill/>
          <a:ln>
            <a:noFill/>
          </a:ln>
        </p:spPr>
        <p:txBody>
          <a:bodyPr spcFirstLastPara="1" wrap="square" lIns="91425" tIns="45700" rIns="91425" bIns="45700" anchor="t" anchorCtr="0">
            <a:normAutofit/>
          </a:bodyPr>
          <a:lstStyle/>
          <a:p>
            <a:pPr marL="274320" marR="0" lvl="0" indent="-274320" algn="l" rtl="0">
              <a:spcBef>
                <a:spcPts val="0"/>
              </a:spcBef>
              <a:spcAft>
                <a:spcPts val="0"/>
              </a:spcAft>
              <a:buClr>
                <a:schemeClr val="accent1"/>
              </a:buClr>
              <a:buSzPts val="1520"/>
              <a:buFont typeface="Noto Sans Symbols"/>
              <a:buChar char="🞂"/>
            </a:pPr>
            <a:r>
              <a:rPr lang="en-US" sz="2000">
                <a:solidFill>
                  <a:schemeClr val="dk1"/>
                </a:solidFill>
                <a:latin typeface="Arial"/>
                <a:ea typeface="Arial"/>
                <a:cs typeface="Arial"/>
                <a:sym typeface="Arial"/>
              </a:rPr>
              <a:t>16 bits reserved, 16 data bits, 1 bit for each pin</a:t>
            </a:r>
            <a:endParaRPr sz="2000">
              <a:solidFill>
                <a:schemeClr val="dk1"/>
              </a:solidFill>
              <a:latin typeface="Arial"/>
              <a:ea typeface="Arial"/>
              <a:cs typeface="Arial"/>
              <a:sym typeface="Arial"/>
            </a:endParaRPr>
          </a:p>
        </p:txBody>
      </p:sp>
      <p:sp>
        <p:nvSpPr>
          <p:cNvPr id="668" name="Google Shape;668;p15"/>
          <p:cNvSpPr/>
          <p:nvPr/>
        </p:nvSpPr>
        <p:spPr>
          <a:xfrm>
            <a:off x="457200" y="5094004"/>
            <a:ext cx="56388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C00000"/>
                </a:solidFill>
                <a:latin typeface="Consolas"/>
                <a:ea typeface="Consolas"/>
                <a:cs typeface="Consolas"/>
                <a:sym typeface="Consolas"/>
              </a:rPr>
              <a:t>GPIOB-&gt;OTYPE &amp;= ~(1UL&lt;&lt;2);  </a:t>
            </a:r>
            <a:r>
              <a:rPr lang="en-US" sz="1800">
                <a:solidFill>
                  <a:srgbClr val="7F7F7F"/>
                </a:solidFill>
                <a:latin typeface="Consolas"/>
                <a:ea typeface="Consolas"/>
                <a:cs typeface="Consolas"/>
                <a:sym typeface="Consolas"/>
              </a:rPr>
              <a:t>// Clear bit 2</a:t>
            </a:r>
            <a:endParaRPr/>
          </a:p>
        </p:txBody>
      </p:sp>
      <p:sp>
        <p:nvSpPr>
          <p:cNvPr id="669" name="Google Shape;669;p15"/>
          <p:cNvSpPr/>
          <p:nvPr/>
        </p:nvSpPr>
        <p:spPr>
          <a:xfrm>
            <a:off x="7225552" y="2570410"/>
            <a:ext cx="533400" cy="706190"/>
          </a:xfrm>
          <a:prstGeom prst="rect">
            <a:avLst/>
          </a:prstGeom>
          <a:noFill/>
          <a:ln w="28575"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pic>
        <p:nvPicPr>
          <p:cNvPr id="670" name="Google Shape;670;p15"/>
          <p:cNvPicPr preferRelativeResize="0"/>
          <p:nvPr/>
        </p:nvPicPr>
        <p:blipFill rotWithShape="1">
          <a:blip r:embed="rId5">
            <a:alphaModFix/>
          </a:blip>
          <a:srcRect/>
          <a:stretch/>
        </p:blipFill>
        <p:spPr>
          <a:xfrm>
            <a:off x="5943600" y="3479972"/>
            <a:ext cx="2856798" cy="2340594"/>
          </a:xfrm>
          <a:prstGeom prst="rect">
            <a:avLst/>
          </a:prstGeom>
          <a:noFill/>
          <a:ln>
            <a:noFill/>
          </a:ln>
        </p:spPr>
      </p:pic>
      <p:sp>
        <p:nvSpPr>
          <p:cNvPr id="671" name="Google Shape;671;p15"/>
          <p:cNvSpPr/>
          <p:nvPr/>
        </p:nvSpPr>
        <p:spPr>
          <a:xfrm>
            <a:off x="990601" y="3958417"/>
            <a:ext cx="2362200" cy="205542"/>
          </a:xfrm>
          <a:prstGeom prst="rect">
            <a:avLst/>
          </a:prstGeom>
          <a:noFill/>
          <a:ln w="19050"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75"/>
        <p:cNvGrpSpPr/>
        <p:nvPr/>
      </p:nvGrpSpPr>
      <p:grpSpPr>
        <a:xfrm>
          <a:off x="0" y="0"/>
          <a:ext cx="0" cy="0"/>
          <a:chOff x="0" y="0"/>
          <a:chExt cx="0" cy="0"/>
        </a:xfrm>
      </p:grpSpPr>
      <p:sp>
        <p:nvSpPr>
          <p:cNvPr id="676" name="Google Shape;676;p16"/>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fontScale="90000"/>
          </a:bodyPr>
          <a:lstStyle/>
          <a:p>
            <a:pPr marL="0" lvl="0" indent="0" algn="l" rtl="0">
              <a:spcBef>
                <a:spcPts val="0"/>
              </a:spcBef>
              <a:spcAft>
                <a:spcPts val="0"/>
              </a:spcAft>
              <a:buClr>
                <a:schemeClr val="dk2"/>
              </a:buClr>
              <a:buSzPct val="100000"/>
              <a:buFont typeface="Bookman Old Style"/>
              <a:buNone/>
            </a:pPr>
            <a:r>
              <a:rPr lang="en-US"/>
              <a:t>GPIO Input: </a:t>
            </a:r>
            <a:br>
              <a:rPr lang="en-US"/>
            </a:br>
            <a:r>
              <a:rPr lang="en-US"/>
              <a:t>Pull Up and Pull Down</a:t>
            </a:r>
            <a:endParaRPr/>
          </a:p>
        </p:txBody>
      </p:sp>
      <p:sp>
        <p:nvSpPr>
          <p:cNvPr id="677" name="Google Shape;677;p16"/>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20</a:t>
            </a:fld>
            <a:endParaRPr/>
          </a:p>
        </p:txBody>
      </p:sp>
      <p:sp>
        <p:nvSpPr>
          <p:cNvPr id="678" name="Google Shape;678;p16"/>
          <p:cNvSpPr txBox="1">
            <a:spLocks noGrp="1"/>
          </p:cNvSpPr>
          <p:nvPr>
            <p:ph type="body" idx="1"/>
          </p:nvPr>
        </p:nvSpPr>
        <p:spPr>
          <a:xfrm>
            <a:off x="457200" y="1219200"/>
            <a:ext cx="8229600" cy="493776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1976"/>
              <a:buChar char="🞂"/>
            </a:pPr>
            <a:r>
              <a:rPr lang="en-US"/>
              <a:t>A digital input can have three states: High, Low, and High-Impedance (also called floating, tri-stated, HiZ)</a:t>
            </a:r>
            <a:endParaRPr/>
          </a:p>
        </p:txBody>
      </p:sp>
      <p:pic>
        <p:nvPicPr>
          <p:cNvPr id="679" name="Google Shape;679;p16"/>
          <p:cNvPicPr preferRelativeResize="0"/>
          <p:nvPr/>
        </p:nvPicPr>
        <p:blipFill rotWithShape="1">
          <a:blip r:embed="rId3">
            <a:alphaModFix/>
          </a:blip>
          <a:srcRect/>
          <a:stretch/>
        </p:blipFill>
        <p:spPr>
          <a:xfrm>
            <a:off x="5334000" y="2286000"/>
            <a:ext cx="2895600" cy="3068809"/>
          </a:xfrm>
          <a:prstGeom prst="rect">
            <a:avLst/>
          </a:prstGeom>
          <a:noFill/>
          <a:ln>
            <a:noFill/>
          </a:ln>
        </p:spPr>
      </p:pic>
      <p:pic>
        <p:nvPicPr>
          <p:cNvPr id="680" name="Google Shape;680;p16"/>
          <p:cNvPicPr preferRelativeResize="0"/>
          <p:nvPr/>
        </p:nvPicPr>
        <p:blipFill rotWithShape="1">
          <a:blip r:embed="rId4">
            <a:alphaModFix/>
          </a:blip>
          <a:srcRect/>
          <a:stretch/>
        </p:blipFill>
        <p:spPr>
          <a:xfrm>
            <a:off x="1237080" y="2334647"/>
            <a:ext cx="2895600" cy="2954997"/>
          </a:xfrm>
          <a:prstGeom prst="rect">
            <a:avLst/>
          </a:prstGeom>
          <a:noFill/>
          <a:ln>
            <a:noFill/>
          </a:ln>
        </p:spPr>
      </p:pic>
      <p:sp>
        <p:nvSpPr>
          <p:cNvPr id="681" name="Google Shape;681;p16"/>
          <p:cNvSpPr txBox="1"/>
          <p:nvPr/>
        </p:nvSpPr>
        <p:spPr>
          <a:xfrm>
            <a:off x="1810923" y="5300135"/>
            <a:ext cx="87395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Pull-Up</a:t>
            </a:r>
            <a:endParaRPr/>
          </a:p>
        </p:txBody>
      </p:sp>
      <p:sp>
        <p:nvSpPr>
          <p:cNvPr id="682" name="Google Shape;682;p16"/>
          <p:cNvSpPr txBox="1"/>
          <p:nvPr/>
        </p:nvSpPr>
        <p:spPr>
          <a:xfrm>
            <a:off x="6019800" y="5297904"/>
            <a:ext cx="117468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Pull-Down</a:t>
            </a:r>
            <a:endParaRPr/>
          </a:p>
        </p:txBody>
      </p:sp>
      <p:sp>
        <p:nvSpPr>
          <p:cNvPr id="683" name="Google Shape;683;p16"/>
          <p:cNvSpPr txBox="1"/>
          <p:nvPr/>
        </p:nvSpPr>
        <p:spPr>
          <a:xfrm>
            <a:off x="990600" y="5658976"/>
            <a:ext cx="298968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Gill Sans"/>
                <a:ea typeface="Gill Sans"/>
                <a:cs typeface="Gill Sans"/>
                <a:sym typeface="Gill Sans"/>
              </a:rPr>
              <a:t>If external input is HiZ,  the input is read as a valid HIGH.</a:t>
            </a:r>
            <a:endParaRPr/>
          </a:p>
        </p:txBody>
      </p:sp>
      <p:sp>
        <p:nvSpPr>
          <p:cNvPr id="684" name="Google Shape;684;p16"/>
          <p:cNvSpPr txBox="1"/>
          <p:nvPr/>
        </p:nvSpPr>
        <p:spPr>
          <a:xfrm>
            <a:off x="5188500" y="5677727"/>
            <a:ext cx="283727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Gill Sans"/>
                <a:ea typeface="Gill Sans"/>
                <a:cs typeface="Gill Sans"/>
                <a:sym typeface="Gill Sans"/>
              </a:rPr>
              <a:t>If external input is HiZ,  the input is read as a valid LOW.</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89"/>
        <p:cNvGrpSpPr/>
        <p:nvPr/>
      </p:nvGrpSpPr>
      <p:grpSpPr>
        <a:xfrm>
          <a:off x="0" y="0"/>
          <a:ext cx="0" cy="0"/>
          <a:chOff x="0" y="0"/>
          <a:chExt cx="0" cy="0"/>
        </a:xfrm>
      </p:grpSpPr>
      <p:sp>
        <p:nvSpPr>
          <p:cNvPr id="690" name="Google Shape;690;g313fffb9f7d_0_0"/>
          <p:cNvSpPr txBox="1">
            <a:spLocks noGrp="1"/>
          </p:cNvSpPr>
          <p:nvPr>
            <p:ph type="title"/>
          </p:nvPr>
        </p:nvSpPr>
        <p:spPr>
          <a:xfrm>
            <a:off x="457200" y="-137725"/>
            <a:ext cx="8229600" cy="9906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Pullup and Pull down</a:t>
            </a:r>
            <a:endParaRPr/>
          </a:p>
        </p:txBody>
      </p:sp>
      <p:sp>
        <p:nvSpPr>
          <p:cNvPr id="691" name="Google Shape;691;g313fffb9f7d_0_0"/>
          <p:cNvSpPr txBox="1">
            <a:spLocks noGrp="1"/>
          </p:cNvSpPr>
          <p:nvPr>
            <p:ph type="sldNum" idx="12"/>
          </p:nvPr>
        </p:nvSpPr>
        <p:spPr>
          <a:xfrm>
            <a:off x="612648" y="6356350"/>
            <a:ext cx="1981200" cy="365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fld id="{00000000-1234-1234-1234-123412341234}" type="slidenum">
              <a:rPr lang="en-US"/>
              <a:t>21</a:t>
            </a:fld>
            <a:endParaRPr/>
          </a:p>
        </p:txBody>
      </p:sp>
      <p:sp>
        <p:nvSpPr>
          <p:cNvPr id="692" name="Google Shape;692;g313fffb9f7d_0_0"/>
          <p:cNvSpPr txBox="1">
            <a:spLocks noGrp="1"/>
          </p:cNvSpPr>
          <p:nvPr>
            <p:ph type="body" idx="1"/>
          </p:nvPr>
        </p:nvSpPr>
        <p:spPr>
          <a:xfrm>
            <a:off x="171300" y="960150"/>
            <a:ext cx="8972700" cy="49377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1900">
                <a:latin typeface="Calibri"/>
                <a:ea typeface="Calibri"/>
                <a:cs typeface="Calibri"/>
                <a:sym typeface="Calibri"/>
              </a:rPr>
              <a:t>When a G P I O pin is used for digital input, the default state of a pin can be high voltage, low voltage, or high impedance. The high impedance state is also called floating or tri-stated. Pull-up and pull-down are used to ensure the input pin has a valid input, either logic 1 or logic 0, when the external circuit does not drive the pin. </a:t>
            </a:r>
            <a:endParaRPr sz="1900">
              <a:latin typeface="Calibri"/>
              <a:ea typeface="Calibri"/>
              <a:cs typeface="Calibri"/>
              <a:sym typeface="Calibri"/>
            </a:endParaRPr>
          </a:p>
          <a:p>
            <a:pPr marL="0" lvl="0" indent="0" algn="l" rtl="0">
              <a:spcBef>
                <a:spcPts val="0"/>
              </a:spcBef>
              <a:spcAft>
                <a:spcPts val="0"/>
              </a:spcAft>
              <a:buNone/>
            </a:pPr>
            <a:endParaRPr sz="1900">
              <a:latin typeface="Calibri"/>
              <a:ea typeface="Calibri"/>
              <a:cs typeface="Calibri"/>
              <a:sym typeface="Calibri"/>
            </a:endParaRPr>
          </a:p>
          <a:p>
            <a:pPr marL="0" lvl="0" indent="0" algn="l" rtl="0">
              <a:spcBef>
                <a:spcPts val="0"/>
              </a:spcBef>
              <a:spcAft>
                <a:spcPts val="0"/>
              </a:spcAft>
              <a:buNone/>
            </a:pPr>
            <a:r>
              <a:rPr lang="en-US" sz="1900">
                <a:latin typeface="Calibri"/>
                <a:ea typeface="Calibri"/>
                <a:cs typeface="Calibri"/>
                <a:sym typeface="Calibri"/>
              </a:rPr>
              <a:t>When a pin is configured as pull-down, the pin is then internally connected to the ground via a resistor. Similarly, when software configures a pin as pull-up, the pin is internally connected to the power supply via a resistor. When a pin is neither pulled up nor pulled down internally, then the pin has high impedance. </a:t>
            </a:r>
            <a:endParaRPr sz="1900">
              <a:latin typeface="Calibri"/>
              <a:ea typeface="Calibri"/>
              <a:cs typeface="Calibri"/>
              <a:sym typeface="Calibri"/>
            </a:endParaRPr>
          </a:p>
          <a:p>
            <a:pPr marL="0" lvl="0" indent="0" algn="l" rtl="0">
              <a:spcBef>
                <a:spcPts val="0"/>
              </a:spcBef>
              <a:spcAft>
                <a:spcPts val="0"/>
              </a:spcAft>
              <a:buNone/>
            </a:pPr>
            <a:endParaRPr sz="1900">
              <a:latin typeface="Calibri"/>
              <a:ea typeface="Calibri"/>
              <a:cs typeface="Calibri"/>
              <a:sym typeface="Calibri"/>
            </a:endParaRPr>
          </a:p>
          <a:p>
            <a:pPr marL="0" lvl="0" indent="0" algn="l" rtl="0">
              <a:spcBef>
                <a:spcPts val="0"/>
              </a:spcBef>
              <a:spcAft>
                <a:spcPts val="0"/>
              </a:spcAft>
              <a:buClr>
                <a:schemeClr val="dk1"/>
              </a:buClr>
              <a:buFont typeface="Arial"/>
              <a:buNone/>
            </a:pPr>
            <a:r>
              <a:rPr lang="en-US" sz="1900">
                <a:latin typeface="Calibri"/>
                <a:ea typeface="Calibri"/>
                <a:cs typeface="Calibri"/>
                <a:sym typeface="Calibri"/>
              </a:rPr>
              <a:t>Note that the internal pull-up and pull-down resistors have large impedance, typically large than 10K ohms. When external circuit, connected to a G P I O pin, has a fair amount of capacitance, the process of, pulling the pin voltage to the level of logic high or logic low, takes a long time. This is because the impedance of, the internal pull-up and pull-down resistors, is too large.  To meet the speed requirements, external pull-up or pull-down with small resistors, are often needed. </a:t>
            </a:r>
            <a:endParaRPr sz="1900">
              <a:latin typeface="Calibri"/>
              <a:ea typeface="Calibri"/>
              <a:cs typeface="Calibri"/>
              <a:sym typeface="Calibri"/>
            </a:endParaRPr>
          </a:p>
          <a:p>
            <a:pPr marL="0" lvl="0" indent="0" algn="l" rtl="0">
              <a:spcBef>
                <a:spcPts val="0"/>
              </a:spcBef>
              <a:spcAft>
                <a:spcPts val="0"/>
              </a:spcAft>
              <a:buClr>
                <a:schemeClr val="dk1"/>
              </a:buClr>
              <a:buFont typeface="Arial"/>
              <a:buNone/>
            </a:pPr>
            <a:endParaRPr sz="32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p17"/>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fontScale="90000"/>
          </a:bodyPr>
          <a:lstStyle/>
          <a:p>
            <a:pPr marL="0" lvl="0" indent="0" algn="l" rtl="0">
              <a:spcBef>
                <a:spcPts val="0"/>
              </a:spcBef>
              <a:spcAft>
                <a:spcPts val="0"/>
              </a:spcAft>
              <a:buClr>
                <a:schemeClr val="dk2"/>
              </a:buClr>
              <a:buSzPct val="100000"/>
              <a:buFont typeface="Bookman Old Style"/>
              <a:buNone/>
            </a:pPr>
            <a:r>
              <a:rPr lang="en-US"/>
              <a:t>GPIO Output:</a:t>
            </a:r>
            <a:br>
              <a:rPr lang="en-US"/>
            </a:br>
            <a:r>
              <a:rPr lang="en-US"/>
              <a:t>Push-Pull</a:t>
            </a:r>
            <a:endParaRPr/>
          </a:p>
        </p:txBody>
      </p:sp>
      <p:sp>
        <p:nvSpPr>
          <p:cNvPr id="698" name="Google Shape;698;p17"/>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22</a:t>
            </a:fld>
            <a:endParaRPr/>
          </a:p>
        </p:txBody>
      </p:sp>
      <p:sp>
        <p:nvSpPr>
          <p:cNvPr id="699" name="Google Shape;699;p17"/>
          <p:cNvSpPr txBox="1"/>
          <p:nvPr/>
        </p:nvSpPr>
        <p:spPr>
          <a:xfrm>
            <a:off x="5334000" y="5269468"/>
            <a:ext cx="380604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rgbClr val="FF0000"/>
                </a:solidFill>
                <a:latin typeface="Gill Sans"/>
                <a:ea typeface="Gill Sans"/>
                <a:cs typeface="Gill Sans"/>
                <a:sym typeface="Gill Sans"/>
              </a:rPr>
              <a:t>GPIO Output = </a:t>
            </a:r>
            <a:r>
              <a:rPr lang="en-US" sz="1800" b="1">
                <a:solidFill>
                  <a:srgbClr val="FF0000"/>
                </a:solidFill>
                <a:latin typeface="Consolas"/>
                <a:ea typeface="Consolas"/>
                <a:cs typeface="Consolas"/>
                <a:sym typeface="Consolas"/>
              </a:rPr>
              <a:t>1</a:t>
            </a:r>
            <a:endParaRPr/>
          </a:p>
          <a:p>
            <a:pPr marL="0" marR="0" lvl="0" indent="0" algn="ctr" rtl="0">
              <a:spcBef>
                <a:spcPts val="0"/>
              </a:spcBef>
              <a:spcAft>
                <a:spcPts val="0"/>
              </a:spcAft>
              <a:buNone/>
            </a:pPr>
            <a:r>
              <a:rPr lang="en-US" sz="1800" b="1">
                <a:solidFill>
                  <a:srgbClr val="FF0000"/>
                </a:solidFill>
                <a:latin typeface="Gill Sans"/>
                <a:ea typeface="Gill Sans"/>
                <a:cs typeface="Gill Sans"/>
                <a:sym typeface="Gill Sans"/>
              </a:rPr>
              <a:t>Source current to external circuit</a:t>
            </a:r>
            <a:endParaRPr sz="1800" b="1">
              <a:solidFill>
                <a:srgbClr val="FF0000"/>
              </a:solidFill>
              <a:latin typeface="Gill Sans"/>
              <a:ea typeface="Gill Sans"/>
              <a:cs typeface="Gill Sans"/>
              <a:sym typeface="Gill Sans"/>
            </a:endParaRPr>
          </a:p>
        </p:txBody>
      </p:sp>
      <p:pic>
        <p:nvPicPr>
          <p:cNvPr id="700" name="Google Shape;700;p17"/>
          <p:cNvPicPr preferRelativeResize="0"/>
          <p:nvPr/>
        </p:nvPicPr>
        <p:blipFill rotWithShape="1">
          <a:blip r:embed="rId3">
            <a:alphaModFix/>
          </a:blip>
          <a:srcRect/>
          <a:stretch/>
        </p:blipFill>
        <p:spPr>
          <a:xfrm>
            <a:off x="533400" y="1752600"/>
            <a:ext cx="3923598" cy="3214631"/>
          </a:xfrm>
          <a:prstGeom prst="rect">
            <a:avLst/>
          </a:prstGeom>
          <a:noFill/>
          <a:ln>
            <a:noFill/>
          </a:ln>
        </p:spPr>
      </p:pic>
      <p:pic>
        <p:nvPicPr>
          <p:cNvPr id="701" name="Google Shape;701;p17"/>
          <p:cNvPicPr preferRelativeResize="0"/>
          <p:nvPr/>
        </p:nvPicPr>
        <p:blipFill rotWithShape="1">
          <a:blip r:embed="rId4">
            <a:alphaModFix/>
          </a:blip>
          <a:srcRect/>
          <a:stretch/>
        </p:blipFill>
        <p:spPr>
          <a:xfrm>
            <a:off x="5181600" y="1752600"/>
            <a:ext cx="3211519" cy="302022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05"/>
        <p:cNvGrpSpPr/>
        <p:nvPr/>
      </p:nvGrpSpPr>
      <p:grpSpPr>
        <a:xfrm>
          <a:off x="0" y="0"/>
          <a:ext cx="0" cy="0"/>
          <a:chOff x="0" y="0"/>
          <a:chExt cx="0" cy="0"/>
        </a:xfrm>
      </p:grpSpPr>
      <p:sp>
        <p:nvSpPr>
          <p:cNvPr id="706" name="Google Shape;706;p18"/>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fontScale="90000"/>
          </a:bodyPr>
          <a:lstStyle/>
          <a:p>
            <a:pPr marL="0" lvl="0" indent="0" algn="l" rtl="0">
              <a:spcBef>
                <a:spcPts val="0"/>
              </a:spcBef>
              <a:spcAft>
                <a:spcPts val="0"/>
              </a:spcAft>
              <a:buClr>
                <a:schemeClr val="dk2"/>
              </a:buClr>
              <a:buSzPct val="100000"/>
              <a:buFont typeface="Bookman Old Style"/>
              <a:buNone/>
            </a:pPr>
            <a:r>
              <a:rPr lang="en-US"/>
              <a:t>GPIO Output:</a:t>
            </a:r>
            <a:br>
              <a:rPr lang="en-US"/>
            </a:br>
            <a:r>
              <a:rPr lang="en-US"/>
              <a:t>Push-Pull</a:t>
            </a:r>
            <a:endParaRPr/>
          </a:p>
        </p:txBody>
      </p:sp>
      <p:sp>
        <p:nvSpPr>
          <p:cNvPr id="707" name="Google Shape;707;p18"/>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23</a:t>
            </a:fld>
            <a:endParaRPr/>
          </a:p>
        </p:txBody>
      </p:sp>
      <p:sp>
        <p:nvSpPr>
          <p:cNvPr id="708" name="Google Shape;708;p18"/>
          <p:cNvSpPr txBox="1"/>
          <p:nvPr/>
        </p:nvSpPr>
        <p:spPr>
          <a:xfrm>
            <a:off x="5187276" y="5218635"/>
            <a:ext cx="3956724"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rgbClr val="FF0000"/>
                </a:solidFill>
                <a:latin typeface="Gill Sans"/>
                <a:ea typeface="Gill Sans"/>
                <a:cs typeface="Gill Sans"/>
                <a:sym typeface="Gill Sans"/>
              </a:rPr>
              <a:t>GPIO Output = </a:t>
            </a:r>
            <a:r>
              <a:rPr lang="en-US" sz="1800" b="1">
                <a:solidFill>
                  <a:srgbClr val="FF0000"/>
                </a:solidFill>
                <a:latin typeface="Consolas"/>
                <a:ea typeface="Consolas"/>
                <a:cs typeface="Consolas"/>
                <a:sym typeface="Consolas"/>
              </a:rPr>
              <a:t>0</a:t>
            </a:r>
            <a:endParaRPr/>
          </a:p>
          <a:p>
            <a:pPr marL="0" marR="0" lvl="0" indent="0" algn="ctr" rtl="0">
              <a:spcBef>
                <a:spcPts val="0"/>
              </a:spcBef>
              <a:spcAft>
                <a:spcPts val="0"/>
              </a:spcAft>
              <a:buNone/>
            </a:pPr>
            <a:r>
              <a:rPr lang="en-US" sz="1800" b="1">
                <a:solidFill>
                  <a:srgbClr val="FF0000"/>
                </a:solidFill>
                <a:latin typeface="Gill Sans"/>
                <a:ea typeface="Gill Sans"/>
                <a:cs typeface="Gill Sans"/>
                <a:sym typeface="Gill Sans"/>
              </a:rPr>
              <a:t>Drain current from external circuit</a:t>
            </a:r>
            <a:endParaRPr sz="1800" b="1">
              <a:solidFill>
                <a:srgbClr val="FF0000"/>
              </a:solidFill>
              <a:latin typeface="Consolas"/>
              <a:ea typeface="Consolas"/>
              <a:cs typeface="Consolas"/>
              <a:sym typeface="Consolas"/>
            </a:endParaRPr>
          </a:p>
        </p:txBody>
      </p:sp>
      <p:pic>
        <p:nvPicPr>
          <p:cNvPr id="709" name="Google Shape;709;p18"/>
          <p:cNvPicPr preferRelativeResize="0"/>
          <p:nvPr/>
        </p:nvPicPr>
        <p:blipFill rotWithShape="1">
          <a:blip r:embed="rId3">
            <a:alphaModFix/>
          </a:blip>
          <a:srcRect/>
          <a:stretch/>
        </p:blipFill>
        <p:spPr>
          <a:xfrm>
            <a:off x="533400" y="1752600"/>
            <a:ext cx="3923598" cy="3214631"/>
          </a:xfrm>
          <a:prstGeom prst="rect">
            <a:avLst/>
          </a:prstGeom>
          <a:noFill/>
          <a:ln>
            <a:noFill/>
          </a:ln>
        </p:spPr>
      </p:pic>
      <p:pic>
        <p:nvPicPr>
          <p:cNvPr id="710" name="Google Shape;710;p18"/>
          <p:cNvPicPr preferRelativeResize="0"/>
          <p:nvPr/>
        </p:nvPicPr>
        <p:blipFill rotWithShape="1">
          <a:blip r:embed="rId4">
            <a:alphaModFix/>
          </a:blip>
          <a:srcRect/>
          <a:stretch/>
        </p:blipFill>
        <p:spPr>
          <a:xfrm>
            <a:off x="4953000" y="1831139"/>
            <a:ext cx="3262294" cy="296946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19"/>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fontScale="90000"/>
          </a:bodyPr>
          <a:lstStyle/>
          <a:p>
            <a:pPr marL="0" lvl="0" indent="0" algn="l" rtl="0">
              <a:spcBef>
                <a:spcPts val="0"/>
              </a:spcBef>
              <a:spcAft>
                <a:spcPts val="0"/>
              </a:spcAft>
              <a:buClr>
                <a:schemeClr val="dk2"/>
              </a:buClr>
              <a:buSzPct val="100000"/>
              <a:buFont typeface="Bookman Old Style"/>
              <a:buNone/>
            </a:pPr>
            <a:r>
              <a:rPr lang="en-US"/>
              <a:t>GPIO Output:</a:t>
            </a:r>
            <a:br>
              <a:rPr lang="en-US"/>
            </a:br>
            <a:r>
              <a:rPr lang="en-US"/>
              <a:t>Open-Drain</a:t>
            </a:r>
            <a:endParaRPr/>
          </a:p>
        </p:txBody>
      </p:sp>
      <p:sp>
        <p:nvSpPr>
          <p:cNvPr id="716" name="Google Shape;716;p19"/>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24</a:t>
            </a:fld>
            <a:endParaRPr/>
          </a:p>
        </p:txBody>
      </p:sp>
      <p:sp>
        <p:nvSpPr>
          <p:cNvPr id="717" name="Google Shape;717;p19"/>
          <p:cNvSpPr txBox="1"/>
          <p:nvPr/>
        </p:nvSpPr>
        <p:spPr>
          <a:xfrm>
            <a:off x="5047837" y="5334000"/>
            <a:ext cx="3956724"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rgbClr val="FF0000"/>
                </a:solidFill>
                <a:latin typeface="Gill Sans"/>
                <a:ea typeface="Gill Sans"/>
                <a:cs typeface="Gill Sans"/>
                <a:sym typeface="Gill Sans"/>
              </a:rPr>
              <a:t>GPIO Output = </a:t>
            </a:r>
            <a:r>
              <a:rPr lang="en-US" sz="1800" b="1">
                <a:solidFill>
                  <a:srgbClr val="FF0000"/>
                </a:solidFill>
                <a:latin typeface="Consolas"/>
                <a:ea typeface="Consolas"/>
                <a:cs typeface="Consolas"/>
                <a:sym typeface="Consolas"/>
              </a:rPr>
              <a:t>0</a:t>
            </a:r>
            <a:endParaRPr/>
          </a:p>
          <a:p>
            <a:pPr marL="0" marR="0" lvl="0" indent="0" algn="ctr" rtl="0">
              <a:spcBef>
                <a:spcPts val="0"/>
              </a:spcBef>
              <a:spcAft>
                <a:spcPts val="0"/>
              </a:spcAft>
              <a:buNone/>
            </a:pPr>
            <a:r>
              <a:rPr lang="en-US" sz="1800" b="1">
                <a:solidFill>
                  <a:srgbClr val="FF0000"/>
                </a:solidFill>
                <a:latin typeface="Gill Sans"/>
                <a:ea typeface="Gill Sans"/>
                <a:cs typeface="Gill Sans"/>
                <a:sym typeface="Gill Sans"/>
              </a:rPr>
              <a:t>Drain current from external circuit</a:t>
            </a:r>
            <a:endParaRPr sz="1800" b="1">
              <a:solidFill>
                <a:srgbClr val="FF0000"/>
              </a:solidFill>
              <a:latin typeface="Consolas"/>
              <a:ea typeface="Consolas"/>
              <a:cs typeface="Consolas"/>
              <a:sym typeface="Consolas"/>
            </a:endParaRPr>
          </a:p>
        </p:txBody>
      </p:sp>
      <p:pic>
        <p:nvPicPr>
          <p:cNvPr id="718" name="Google Shape;718;p19"/>
          <p:cNvPicPr preferRelativeResize="0"/>
          <p:nvPr/>
        </p:nvPicPr>
        <p:blipFill rotWithShape="1">
          <a:blip r:embed="rId3">
            <a:alphaModFix/>
          </a:blip>
          <a:srcRect/>
          <a:stretch/>
        </p:blipFill>
        <p:spPr>
          <a:xfrm>
            <a:off x="457200" y="2286000"/>
            <a:ext cx="3440232" cy="2385498"/>
          </a:xfrm>
          <a:prstGeom prst="rect">
            <a:avLst/>
          </a:prstGeom>
          <a:noFill/>
          <a:ln>
            <a:noFill/>
          </a:ln>
        </p:spPr>
      </p:pic>
      <p:pic>
        <p:nvPicPr>
          <p:cNvPr id="719" name="Google Shape;719;p19"/>
          <p:cNvPicPr preferRelativeResize="0"/>
          <p:nvPr/>
        </p:nvPicPr>
        <p:blipFill rotWithShape="1">
          <a:blip r:embed="rId4">
            <a:alphaModFix/>
          </a:blip>
          <a:srcRect/>
          <a:stretch/>
        </p:blipFill>
        <p:spPr>
          <a:xfrm>
            <a:off x="4953000" y="2444514"/>
            <a:ext cx="3224213" cy="206847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23"/>
        <p:cNvGrpSpPr/>
        <p:nvPr/>
      </p:nvGrpSpPr>
      <p:grpSpPr>
        <a:xfrm>
          <a:off x="0" y="0"/>
          <a:ext cx="0" cy="0"/>
          <a:chOff x="0" y="0"/>
          <a:chExt cx="0" cy="0"/>
        </a:xfrm>
      </p:grpSpPr>
      <p:sp>
        <p:nvSpPr>
          <p:cNvPr id="724" name="Google Shape;724;p20"/>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endParaRPr/>
          </a:p>
        </p:txBody>
      </p:sp>
      <p:sp>
        <p:nvSpPr>
          <p:cNvPr id="725" name="Google Shape;725;p20"/>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25</a:t>
            </a:fld>
            <a:endParaRPr/>
          </a:p>
        </p:txBody>
      </p:sp>
      <p:sp>
        <p:nvSpPr>
          <p:cNvPr id="726" name="Google Shape;726;p20"/>
          <p:cNvSpPr txBox="1">
            <a:spLocks noGrp="1"/>
          </p:cNvSpPr>
          <p:nvPr>
            <p:ph type="body" idx="1"/>
          </p:nvPr>
        </p:nvSpPr>
        <p:spPr>
          <a:xfrm>
            <a:off x="457200" y="1219200"/>
            <a:ext cx="8229600" cy="4937760"/>
          </a:xfrm>
          <a:prstGeom prst="rect">
            <a:avLst/>
          </a:prstGeom>
          <a:noFill/>
          <a:ln>
            <a:noFill/>
          </a:ln>
        </p:spPr>
        <p:txBody>
          <a:bodyPr spcFirstLastPara="1" wrap="square" lIns="91425" tIns="45700" rIns="91425" bIns="45700" anchor="t" anchorCtr="0">
            <a:normAutofit/>
          </a:bodyPr>
          <a:lstStyle/>
          <a:p>
            <a:pPr marL="274320" lvl="0" indent="-148844" algn="l" rtl="0">
              <a:spcBef>
                <a:spcPts val="0"/>
              </a:spcBef>
              <a:spcAft>
                <a:spcPts val="0"/>
              </a:spcAft>
              <a:buSzPts val="1976"/>
              <a:buNone/>
            </a:pPr>
            <a:endParaRPr/>
          </a:p>
          <a:p>
            <a:pPr marL="274320" lvl="0" indent="-148844" algn="l" rtl="0">
              <a:spcBef>
                <a:spcPts val="600"/>
              </a:spcBef>
              <a:spcAft>
                <a:spcPts val="0"/>
              </a:spcAft>
              <a:buSzPts val="1976"/>
              <a:buNone/>
            </a:pPr>
            <a:endParaRPr/>
          </a:p>
          <a:p>
            <a:pPr marL="274320" lvl="0" indent="-148844" algn="l" rtl="0">
              <a:spcBef>
                <a:spcPts val="600"/>
              </a:spcBef>
              <a:spcAft>
                <a:spcPts val="0"/>
              </a:spcAft>
              <a:buSzPts val="1976"/>
              <a:buNone/>
            </a:pPr>
            <a:endParaRPr/>
          </a:p>
          <a:p>
            <a:pPr marL="274320" lvl="0" indent="-148844" algn="l" rtl="0">
              <a:spcBef>
                <a:spcPts val="600"/>
              </a:spcBef>
              <a:spcAft>
                <a:spcPts val="0"/>
              </a:spcAft>
              <a:buSzPts val="1976"/>
              <a:buNone/>
            </a:pPr>
            <a:endParaRPr/>
          </a:p>
          <a:p>
            <a:pPr marL="274320" lvl="0" indent="-148844" algn="l" rtl="0">
              <a:spcBef>
                <a:spcPts val="600"/>
              </a:spcBef>
              <a:spcAft>
                <a:spcPts val="0"/>
              </a:spcAft>
              <a:buSzPts val="1976"/>
              <a:buNone/>
            </a:pPr>
            <a:endParaRPr/>
          </a:p>
          <a:p>
            <a:pPr marL="274320" lvl="0" indent="-274320" algn="ctr" rtl="0">
              <a:spcBef>
                <a:spcPts val="600"/>
              </a:spcBef>
              <a:spcAft>
                <a:spcPts val="0"/>
              </a:spcAft>
              <a:buSzPts val="1976"/>
              <a:buChar char="🞂"/>
            </a:pPr>
            <a:r>
              <a:rPr lang="en-US"/>
              <a:t>END OF CLASS</a:t>
            </a:r>
            <a:endParaRPr/>
          </a:p>
        </p:txBody>
      </p:sp>
    </p:spTree>
  </p:cSld>
  <p:clrMapOvr>
    <a:masterClrMapping/>
  </p:clrMapOvr>
</p:sld>
</file>

<file path=ppt/theme/theme1.xml><?xml version="1.0" encoding="utf-8"?>
<a:theme xmlns:a="http://schemas.openxmlformats.org/drawingml/2006/main" name="Origi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3511</Words>
  <Application>Microsoft Office PowerPoint</Application>
  <PresentationFormat>On-screen Show (4:3)</PresentationFormat>
  <Paragraphs>472</Paragraphs>
  <Slides>25</Slides>
  <Notes>25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Gill Sans</vt:lpstr>
      <vt:lpstr>Calibri</vt:lpstr>
      <vt:lpstr>Bookman Old Style</vt:lpstr>
      <vt:lpstr>Consolas</vt:lpstr>
      <vt:lpstr>Noto Sans Symbols</vt:lpstr>
      <vt:lpstr>Arial</vt:lpstr>
      <vt:lpstr>Origin</vt:lpstr>
      <vt:lpstr>Lecture#9: GPIO Part#1 (Chapter#14) Summer, 2025</vt:lpstr>
      <vt:lpstr>STM32F0 SOC map (ARM CORTEX-M0)</vt:lpstr>
      <vt:lpstr>ARM CORTEX-M)+</vt:lpstr>
      <vt:lpstr>ARM Cortex-M3 architecture</vt:lpstr>
      <vt:lpstr>Interfacing Peripherals</vt:lpstr>
      <vt:lpstr>Memory Map of Cortex-M4</vt:lpstr>
      <vt:lpstr>Advanced Microcontroller Bus Architecture (AMBA)</vt:lpstr>
      <vt:lpstr>Memory Map of STM32L4</vt:lpstr>
      <vt:lpstr>General Purpose Input/Output (GPIO)</vt:lpstr>
      <vt:lpstr>General Purpose Input/Output (GPIO)</vt:lpstr>
      <vt:lpstr>General Purpose Input/Output (GPIO)</vt:lpstr>
      <vt:lpstr>GPIO Memory Map</vt:lpstr>
      <vt:lpstr>GPIO Memory Map</vt:lpstr>
      <vt:lpstr>Output Data Register (ODR)</vt:lpstr>
      <vt:lpstr>Output Data Register (ODR)</vt:lpstr>
      <vt:lpstr>Dereferencing a Memory Address</vt:lpstr>
      <vt:lpstr>Red LED (PB.2)</vt:lpstr>
      <vt:lpstr>GPIO Mode Register (MODER)</vt:lpstr>
      <vt:lpstr>GPIO Output Type Register (OTYPE)</vt:lpstr>
      <vt:lpstr>GPIO Input:  Pull Up and Pull Down</vt:lpstr>
      <vt:lpstr>Pullup and Pull down</vt:lpstr>
      <vt:lpstr>GPIO Output: Push-Pull</vt:lpstr>
      <vt:lpstr>GPIO Output: Push-Pull</vt:lpstr>
      <vt:lpstr>GPIO Output: Open-Drain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Lecture#9: GPIO Part#1 (Chapter#14) Summer, 2025</dc:title>
  <dc:creator>zhu</dc:creator>
  <cp:lastModifiedBy>DELL</cp:lastModifiedBy>
  <cp:revision>1</cp:revision>
  <dcterms:created xsi:type="dcterms:W3CDTF">2013-03-17T17:42:26Z</dcterms:created>
  <dcterms:modified xsi:type="dcterms:W3CDTF">2025-05-28T18:22:45Z</dcterms:modified>
</cp:coreProperties>
</file>