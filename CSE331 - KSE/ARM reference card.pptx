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1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41b878211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g341b878211d_0_0:notes"/>
          <p:cNvSpPr/>
          <p:nvPr>
            <p:ph idx="2" type="sldImg"/>
          </p:nvPr>
        </p:nvSpPr>
        <p:spPr>
          <a:xfrm>
            <a:off x="381188" y="685800"/>
            <a:ext cx="6096300" cy="3429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41b878211d_0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g341b878211d_0_82:notes"/>
          <p:cNvSpPr/>
          <p:nvPr>
            <p:ph idx="2" type="sldImg"/>
          </p:nvPr>
        </p:nvSpPr>
        <p:spPr>
          <a:xfrm>
            <a:off x="381188" y="685800"/>
            <a:ext cx="6096300" cy="3429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41b878211d_0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g341b878211d_0_91:notes"/>
          <p:cNvSpPr/>
          <p:nvPr>
            <p:ph idx="2" type="sldImg"/>
          </p:nvPr>
        </p:nvSpPr>
        <p:spPr>
          <a:xfrm>
            <a:off x="381188" y="685800"/>
            <a:ext cx="6096300" cy="3429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41b878211d_0_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g341b878211d_0_100:notes"/>
          <p:cNvSpPr/>
          <p:nvPr>
            <p:ph idx="2" type="sldImg"/>
          </p:nvPr>
        </p:nvSpPr>
        <p:spPr>
          <a:xfrm>
            <a:off x="381188" y="685800"/>
            <a:ext cx="6096300" cy="3429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41b878211d_0_1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g341b878211d_0_170:notes"/>
          <p:cNvSpPr/>
          <p:nvPr>
            <p:ph idx="2" type="sldImg"/>
          </p:nvPr>
        </p:nvSpPr>
        <p:spPr>
          <a:xfrm>
            <a:off x="381188" y="685800"/>
            <a:ext cx="6096300" cy="3429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41b878211d_0_298:notes"/>
          <p:cNvSpPr/>
          <p:nvPr>
            <p:ph idx="2" type="sldImg"/>
          </p:nvPr>
        </p:nvSpPr>
        <p:spPr>
          <a:xfrm>
            <a:off x="381188" y="685800"/>
            <a:ext cx="6096300" cy="3429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41b878211d_0_2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image" Target="../media/image10.jp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2382138" y="128969"/>
            <a:ext cx="4379700" cy="43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2800"/>
              <a:buNone/>
              <a:defRPr b="1" i="0" sz="3600">
                <a:solidFill>
                  <a:srgbClr val="00007E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497840" y="1050626"/>
            <a:ext cx="5600700" cy="34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800"/>
              <a:buNone/>
              <a:defRPr b="0" i="0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228600" lvl="1" marL="914400" algn="l"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1200"/>
              </a:spcBef>
              <a:spcAft>
                <a:spcPts val="120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3"/>
          <p:cNvSpPr txBox="1"/>
          <p:nvPr>
            <p:ph idx="11" type="ftr"/>
          </p:nvPr>
        </p:nvSpPr>
        <p:spPr>
          <a:xfrm>
            <a:off x="3108960" y="4783455"/>
            <a:ext cx="29262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13"/>
          <p:cNvSpPr txBox="1"/>
          <p:nvPr>
            <p:ph idx="10" type="dt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6583680" y="4783455"/>
            <a:ext cx="21030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>
              <a:solidFill>
                <a:schemeClr val="dk2"/>
              </a:solidFill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showMasterSp="0">
  <p:cSld name="Title Only">
    <p:bg>
      <p:bgPr>
        <a:solidFill>
          <a:schemeClr val="lt1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/>
          <p:nvPr/>
        </p:nvSpPr>
        <p:spPr>
          <a:xfrm>
            <a:off x="0" y="685800"/>
            <a:ext cx="9144000" cy="5700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58" name="Google Shape;58;p14"/>
          <p:cNvSpPr/>
          <p:nvPr/>
        </p:nvSpPr>
        <p:spPr>
          <a:xfrm>
            <a:off x="0" y="4935141"/>
            <a:ext cx="9144000" cy="276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59" name="Google Shape;59;p14"/>
          <p:cNvSpPr/>
          <p:nvPr/>
        </p:nvSpPr>
        <p:spPr>
          <a:xfrm>
            <a:off x="8302" y="4972049"/>
            <a:ext cx="1382400" cy="16200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60" name="Google Shape;60;p14"/>
          <p:cNvSpPr/>
          <p:nvPr/>
        </p:nvSpPr>
        <p:spPr>
          <a:xfrm>
            <a:off x="1028700" y="753712"/>
            <a:ext cx="7086600" cy="4332600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61" name="Google Shape;61;p14"/>
          <p:cNvSpPr txBox="1"/>
          <p:nvPr>
            <p:ph type="title"/>
          </p:nvPr>
        </p:nvSpPr>
        <p:spPr>
          <a:xfrm>
            <a:off x="2382138" y="128969"/>
            <a:ext cx="4379700" cy="43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2800"/>
              <a:buNone/>
              <a:defRPr b="1" i="0" sz="3600">
                <a:solidFill>
                  <a:srgbClr val="00007E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2" name="Google Shape;62;p14"/>
          <p:cNvSpPr txBox="1"/>
          <p:nvPr>
            <p:ph idx="11" type="ftr"/>
          </p:nvPr>
        </p:nvSpPr>
        <p:spPr>
          <a:xfrm>
            <a:off x="3108960" y="4783455"/>
            <a:ext cx="29262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4"/>
          <p:cNvSpPr txBox="1"/>
          <p:nvPr>
            <p:ph idx="10" type="dt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4"/>
          <p:cNvSpPr txBox="1"/>
          <p:nvPr>
            <p:ph idx="12" type="sldNum"/>
          </p:nvPr>
        </p:nvSpPr>
        <p:spPr>
          <a:xfrm>
            <a:off x="6583680" y="4783455"/>
            <a:ext cx="21030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>
              <a:solidFill>
                <a:schemeClr val="dk2"/>
              </a:solidFill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4.png"/><Relationship Id="rId4" Type="http://schemas.openxmlformats.org/officeDocument/2006/relationships/image" Target="../media/image16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4.png"/><Relationship Id="rId4" Type="http://schemas.openxmlformats.org/officeDocument/2006/relationships/image" Target="../media/image8.png"/><Relationship Id="rId5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4.png"/><Relationship Id="rId4" Type="http://schemas.openxmlformats.org/officeDocument/2006/relationships/image" Target="../media/image6.png"/><Relationship Id="rId5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9.png"/><Relationship Id="rId5" Type="http://schemas.openxmlformats.org/officeDocument/2006/relationships/image" Target="../media/image11.png"/><Relationship Id="rId6" Type="http://schemas.openxmlformats.org/officeDocument/2006/relationships/image" Target="../media/image1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2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/>
          <p:nvPr/>
        </p:nvSpPr>
        <p:spPr>
          <a:xfrm>
            <a:off x="246776" y="229316"/>
            <a:ext cx="9039300" cy="5763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70" name="Google Shape;70;p15"/>
          <p:cNvSpPr/>
          <p:nvPr/>
        </p:nvSpPr>
        <p:spPr>
          <a:xfrm>
            <a:off x="2250175" y="1371563"/>
            <a:ext cx="5032500" cy="299220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/>
          <p:nvPr/>
        </p:nvSpPr>
        <p:spPr>
          <a:xfrm>
            <a:off x="78739" y="1330538"/>
            <a:ext cx="4297800" cy="154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87625">
            <a:spAutoFit/>
          </a:bodyPr>
          <a:lstStyle/>
          <a:p>
            <a:pPr indent="-273050" lvl="0" marL="28511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7E"/>
              </a:buClr>
              <a:buSzPts val="2300"/>
              <a:buFont typeface="Noto Sans Symbols"/>
              <a:buChar char="❖"/>
            </a:pPr>
            <a:r>
              <a:rPr lang="en" sz="3200">
                <a:latin typeface="Times New Roman"/>
                <a:ea typeface="Times New Roman"/>
                <a:cs typeface="Times New Roman"/>
                <a:sym typeface="Times New Roman"/>
              </a:rPr>
              <a:t>More fields:</a:t>
            </a:r>
            <a:endParaRPr sz="3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38759" lvl="1" marL="746125" marR="0" rtl="0" algn="l">
              <a:lnSpc>
                <a:spcPct val="100000"/>
              </a:lnSpc>
              <a:spcBef>
                <a:spcPts val="509"/>
              </a:spcBef>
              <a:spcAft>
                <a:spcPts val="0"/>
              </a:spcAft>
              <a:buClr>
                <a:srgbClr val="FFCC00"/>
              </a:buClr>
              <a:buSzPts val="2000"/>
              <a:buFont typeface="Noto Sans Symbols"/>
              <a:buChar char="❖"/>
            </a:pPr>
            <a:r>
              <a:rPr b="0" i="0" lang="en" sz="2800" u="sng" cap="none" strike="noStrike">
                <a:solidFill>
                  <a:srgbClr val="3333CC"/>
                </a:solidFill>
                <a:latin typeface="Courier New"/>
                <a:ea typeface="Courier New"/>
                <a:cs typeface="Courier New"/>
                <a:sym typeface="Courier New"/>
              </a:rPr>
              <a:t>I</a:t>
            </a:r>
            <a:r>
              <a:rPr b="0" i="0" lang="en" sz="2800" u="none" cap="none" strike="noStrike">
                <a:solidFill>
                  <a:srgbClr val="3333CC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" sz="28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b="0" i="0" lang="en" sz="2800" u="none" cap="none" strike="noStrike">
                <a:solidFill>
                  <a:srgbClr val="3333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Immediate</a:t>
            </a:r>
            <a:r>
              <a:rPr b="0" i="0" lang="en" sz="28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b="0" i="0" sz="28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05104" lvl="2" marL="1113155" marR="0" rtl="0" algn="l">
              <a:lnSpc>
                <a:spcPct val="100000"/>
              </a:lnSpc>
              <a:spcBef>
                <a:spcPts val="760"/>
              </a:spcBef>
              <a:spcAft>
                <a:spcPts val="0"/>
              </a:spcAft>
              <a:buClr>
                <a:srgbClr val="00007E"/>
              </a:buClr>
              <a:buSzPts val="1700"/>
              <a:buFont typeface="Noto Sans Symbols"/>
              <a:buChar char="❖"/>
            </a:pPr>
            <a:r>
              <a:rPr b="0" i="0" lang="en" sz="24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0: Operand 2 is a Register</a:t>
            </a:r>
            <a:endParaRPr b="0" i="0" sz="24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6" name="Google Shape;76;p16"/>
          <p:cNvSpPr txBox="1"/>
          <p:nvPr/>
        </p:nvSpPr>
        <p:spPr>
          <a:xfrm>
            <a:off x="975156" y="3181541"/>
            <a:ext cx="3836700" cy="3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204469" lvl="0" marL="21653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7E"/>
              </a:buClr>
              <a:buSzPts val="1700"/>
              <a:buFont typeface="Noto Sans Symbols"/>
              <a:buChar char="❖"/>
            </a:pPr>
            <a:r>
              <a:rPr lang="en" sz="2400">
                <a:latin typeface="Times New Roman"/>
                <a:ea typeface="Times New Roman"/>
                <a:cs typeface="Times New Roman"/>
                <a:sym typeface="Times New Roman"/>
              </a:rPr>
              <a:t>1: Operand 2 is an Immediate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7" name="Google Shape;77;p16"/>
          <p:cNvSpPr/>
          <p:nvPr/>
        </p:nvSpPr>
        <p:spPr>
          <a:xfrm>
            <a:off x="52351" y="788741"/>
            <a:ext cx="9039300" cy="5763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78" name="Google Shape;78;p16"/>
          <p:cNvSpPr/>
          <p:nvPr/>
        </p:nvSpPr>
        <p:spPr>
          <a:xfrm>
            <a:off x="4557936" y="1527242"/>
            <a:ext cx="4052700" cy="165750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79" name="Google Shape;79;p16"/>
          <p:cNvSpPr/>
          <p:nvPr/>
        </p:nvSpPr>
        <p:spPr>
          <a:xfrm>
            <a:off x="4957800" y="3563750"/>
            <a:ext cx="4186200" cy="1447800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80" name="Google Shape;80;p16"/>
          <p:cNvSpPr txBox="1"/>
          <p:nvPr>
            <p:ph type="title"/>
          </p:nvPr>
        </p:nvSpPr>
        <p:spPr>
          <a:xfrm>
            <a:off x="1397888" y="67056"/>
            <a:ext cx="63405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Processing Instructions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7"/>
          <p:cNvSpPr txBox="1"/>
          <p:nvPr/>
        </p:nvSpPr>
        <p:spPr>
          <a:xfrm>
            <a:off x="78739" y="1386325"/>
            <a:ext cx="2112000" cy="218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-273050" lvl="0" marL="28511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7E"/>
              </a:buClr>
              <a:buSzPts val="2300"/>
              <a:buFont typeface="Noto Sans Symbols"/>
              <a:buChar char="❖"/>
            </a:pPr>
            <a:r>
              <a:rPr lang="en" sz="3200">
                <a:latin typeface="Times New Roman"/>
                <a:ea typeface="Times New Roman"/>
                <a:cs typeface="Times New Roman"/>
                <a:sym typeface="Times New Roman"/>
              </a:rPr>
              <a:t>Operand 2:</a:t>
            </a:r>
            <a:endParaRPr sz="3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7E"/>
              </a:buClr>
              <a:buSzPts val="3500"/>
              <a:buFont typeface="Noto Sans Symbols"/>
              <a:buNone/>
            </a:pPr>
            <a:r>
              <a:t/>
            </a:r>
            <a:endParaRPr sz="3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5"/>
              </a:spcBef>
              <a:spcAft>
                <a:spcPts val="0"/>
              </a:spcAft>
              <a:buClr>
                <a:srgbClr val="00007E"/>
              </a:buClr>
              <a:buSzPts val="4150"/>
              <a:buFont typeface="Noto Sans Symbols"/>
              <a:buNone/>
            </a:pPr>
            <a:r>
              <a:t/>
            </a:r>
            <a:endParaRPr sz="415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72415" lvl="0" marL="28448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7E"/>
              </a:buClr>
              <a:buSzPts val="2300"/>
              <a:buFont typeface="Noto Sans Symbols"/>
              <a:buChar char="❖"/>
            </a:pPr>
            <a:r>
              <a:rPr lang="en" sz="3200">
                <a:latin typeface="Times New Roman"/>
                <a:ea typeface="Times New Roman"/>
                <a:cs typeface="Times New Roman"/>
                <a:sym typeface="Times New Roman"/>
              </a:rPr>
              <a:t>Shift field:</a:t>
            </a:r>
            <a:endParaRPr sz="3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6" name="Google Shape;86;p17"/>
          <p:cNvSpPr/>
          <p:nvPr/>
        </p:nvSpPr>
        <p:spPr>
          <a:xfrm>
            <a:off x="52351" y="788741"/>
            <a:ext cx="9039300" cy="5763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87" name="Google Shape;87;p17"/>
          <p:cNvSpPr txBox="1"/>
          <p:nvPr>
            <p:ph type="title"/>
          </p:nvPr>
        </p:nvSpPr>
        <p:spPr>
          <a:xfrm>
            <a:off x="1397888" y="67056"/>
            <a:ext cx="63405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Processing Instructions</a:t>
            </a:r>
            <a:endParaRPr/>
          </a:p>
        </p:txBody>
      </p:sp>
      <p:grpSp>
        <p:nvGrpSpPr>
          <p:cNvPr id="88" name="Google Shape;88;p17"/>
          <p:cNvGrpSpPr/>
          <p:nvPr/>
        </p:nvGrpSpPr>
        <p:grpSpPr>
          <a:xfrm>
            <a:off x="304800" y="1420036"/>
            <a:ext cx="8534400" cy="3723463"/>
            <a:chOff x="304800" y="1893381"/>
            <a:chExt cx="8534400" cy="4964617"/>
          </a:xfrm>
        </p:grpSpPr>
        <p:sp>
          <p:nvSpPr>
            <p:cNvPr id="89" name="Google Shape;89;p17"/>
            <p:cNvSpPr/>
            <p:nvPr/>
          </p:nvSpPr>
          <p:spPr>
            <a:xfrm>
              <a:off x="304800" y="3962398"/>
              <a:ext cx="8534400" cy="2895600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0" name="Google Shape;90;p17"/>
            <p:cNvSpPr/>
            <p:nvPr/>
          </p:nvSpPr>
          <p:spPr>
            <a:xfrm>
              <a:off x="2693136" y="1893381"/>
              <a:ext cx="4317300" cy="2044800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2875026" y="123977"/>
            <a:ext cx="33921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Condition Field</a:t>
            </a:r>
            <a:endParaRPr/>
          </a:p>
        </p:txBody>
      </p:sp>
      <p:sp>
        <p:nvSpPr>
          <p:cNvPr id="96" name="Google Shape;96;p18"/>
          <p:cNvSpPr txBox="1"/>
          <p:nvPr/>
        </p:nvSpPr>
        <p:spPr>
          <a:xfrm>
            <a:off x="-64450" y="4660200"/>
            <a:ext cx="1327800" cy="58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jhjhjhjhjhjhjhjhjhjhjhjhjhjhjhjsasasasasasasassasasasasss</a:t>
            </a:r>
            <a:endParaRPr>
              <a:solidFill>
                <a:schemeClr val="lt1"/>
              </a:solidFill>
              <a:highlight>
                <a:schemeClr val="lt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9"/>
          <p:cNvSpPr/>
          <p:nvPr/>
        </p:nvSpPr>
        <p:spPr>
          <a:xfrm>
            <a:off x="0" y="685800"/>
            <a:ext cx="9144000" cy="570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02" name="Google Shape;102;p19"/>
          <p:cNvSpPr txBox="1"/>
          <p:nvPr>
            <p:ph type="title"/>
          </p:nvPr>
        </p:nvSpPr>
        <p:spPr>
          <a:xfrm>
            <a:off x="1660017" y="67056"/>
            <a:ext cx="58218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Transfer Instructions</a:t>
            </a:r>
            <a:endParaRPr/>
          </a:p>
        </p:txBody>
      </p:sp>
      <p:sp>
        <p:nvSpPr>
          <p:cNvPr id="103" name="Google Shape;103;p19"/>
          <p:cNvSpPr txBox="1"/>
          <p:nvPr/>
        </p:nvSpPr>
        <p:spPr>
          <a:xfrm>
            <a:off x="174752" y="1229993"/>
            <a:ext cx="6256800" cy="117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41600">
            <a:spAutoFit/>
          </a:bodyPr>
          <a:lstStyle/>
          <a:p>
            <a:pPr indent="-273050" lvl="0" marL="28511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7E"/>
              </a:buClr>
              <a:buSzPts val="2300"/>
              <a:buFont typeface="Noto Sans Symbols"/>
              <a:buChar char="❖"/>
            </a:pPr>
            <a:r>
              <a:rPr lang="en" sz="3200" u="sng">
                <a:solidFill>
                  <a:srgbClr val="3333CC"/>
                </a:solidFill>
                <a:latin typeface="Courier New"/>
                <a:ea typeface="Courier New"/>
                <a:cs typeface="Courier New"/>
                <a:sym typeface="Courier New"/>
              </a:rPr>
              <a:t>Offset</a:t>
            </a:r>
            <a:r>
              <a:rPr lang="en" sz="3200">
                <a:latin typeface="Times New Roman"/>
                <a:ea typeface="Times New Roman"/>
                <a:cs typeface="Times New Roman"/>
                <a:sym typeface="Times New Roman"/>
              </a:rPr>
              <a:t>: source/destination register</a:t>
            </a:r>
            <a:endParaRPr sz="3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39395" lvl="1" marL="650240" marR="0" rtl="0" algn="l">
              <a:lnSpc>
                <a:spcPct val="100000"/>
              </a:lnSpc>
              <a:spcBef>
                <a:spcPts val="880"/>
              </a:spcBef>
              <a:spcAft>
                <a:spcPts val="0"/>
              </a:spcAft>
              <a:buClr>
                <a:srgbClr val="FFCC00"/>
              </a:buClr>
              <a:buSzPts val="2000"/>
              <a:buFont typeface="Noto Sans Symbols"/>
              <a:buChar char="❖"/>
            </a:pPr>
            <a:r>
              <a:rPr b="0" i="0" lang="en" sz="28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I bit = 0</a:t>
            </a:r>
            <a:endParaRPr b="0" i="0" sz="28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4" name="Google Shape;104;p19"/>
          <p:cNvSpPr txBox="1"/>
          <p:nvPr/>
        </p:nvSpPr>
        <p:spPr>
          <a:xfrm>
            <a:off x="574040" y="3313424"/>
            <a:ext cx="1399500" cy="4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-238759" lvl="0" marL="2508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C00"/>
              </a:buClr>
              <a:buSzPts val="2000"/>
              <a:buFont typeface="Noto Sans Symbols"/>
              <a:buChar char="❖"/>
            </a:pPr>
            <a:r>
              <a:rPr lang="en" sz="2800">
                <a:latin typeface="Times New Roman"/>
                <a:ea typeface="Times New Roman"/>
                <a:cs typeface="Times New Roman"/>
                <a:sym typeface="Times New Roman"/>
              </a:rPr>
              <a:t>I bit = 1</a:t>
            </a: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5" name="Google Shape;105;p19"/>
          <p:cNvSpPr/>
          <p:nvPr/>
        </p:nvSpPr>
        <p:spPr>
          <a:xfrm>
            <a:off x="0" y="639816"/>
            <a:ext cx="9144000" cy="72870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06" name="Google Shape;106;p19"/>
          <p:cNvSpPr/>
          <p:nvPr/>
        </p:nvSpPr>
        <p:spPr>
          <a:xfrm>
            <a:off x="3152310" y="1806776"/>
            <a:ext cx="4010400" cy="1362900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07" name="Google Shape;107;p19"/>
          <p:cNvSpPr/>
          <p:nvPr/>
        </p:nvSpPr>
        <p:spPr>
          <a:xfrm>
            <a:off x="3170748" y="3321275"/>
            <a:ext cx="4031700" cy="1508100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0"/>
          <p:cNvSpPr txBox="1"/>
          <p:nvPr>
            <p:ph type="title"/>
          </p:nvPr>
        </p:nvSpPr>
        <p:spPr>
          <a:xfrm>
            <a:off x="2382138" y="128969"/>
            <a:ext cx="4379700" cy="554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Addressing Mode</a:t>
            </a:r>
            <a:endParaRPr/>
          </a:p>
        </p:txBody>
      </p:sp>
      <p:pic>
        <p:nvPicPr>
          <p:cNvPr id="113" name="Google Shape;113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79600" y="986500"/>
            <a:ext cx="5992125" cy="3337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