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9144000" cy="6858000"/>
  <p:embeddedFontLst>
    <p:embeddedFont>
      <p:font typeface="Noto Sans Symbols"/>
      <p:regular r:id="rId37"/>
      <p:bold r:id="rId38"/>
    </p:embeddedFont>
    <p:embeddedFont>
      <p:font typeface="Arial Black"/>
      <p:regular r:id="rId39"/>
    </p:embeddedFont>
    <p:embeddedFont>
      <p:font typeface="Carli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Fj8XEVgpKj5BXvztPkdFvRqMD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83A856-1E39-4863-990E-6B405A5CF250}">
  <a:tblStyle styleId="{2783A856-1E39-4863-990E-6B405A5CF2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rlito-regular.fntdata"/><Relationship Id="rId20" Type="http://schemas.openxmlformats.org/officeDocument/2006/relationships/slide" Target="slides/slide14.xml"/><Relationship Id="rId42" Type="http://schemas.openxmlformats.org/officeDocument/2006/relationships/font" Target="fonts/Carlito-italic.fntdata"/><Relationship Id="rId41" Type="http://schemas.openxmlformats.org/officeDocument/2006/relationships/font" Target="fonts/Carlito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Carlit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Symbols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NotoSansSymbol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3d4b7ca26e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23d4b7ca26e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2"/>
          <p:cNvSpPr txBox="1"/>
          <p:nvPr>
            <p:ph type="title"/>
          </p:nvPr>
        </p:nvSpPr>
        <p:spPr>
          <a:xfrm>
            <a:off x="2470911" y="165303"/>
            <a:ext cx="420217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" type="body"/>
          </p:nvPr>
        </p:nvSpPr>
        <p:spPr>
          <a:xfrm>
            <a:off x="631190" y="1858598"/>
            <a:ext cx="6985634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/>
          <p:nvPr>
            <p:ph type="title"/>
          </p:nvPr>
        </p:nvSpPr>
        <p:spPr>
          <a:xfrm>
            <a:off x="2470911" y="165303"/>
            <a:ext cx="420217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2470911" y="165303"/>
            <a:ext cx="420217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OBJEC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3d4b7ca26e_0_74"/>
          <p:cNvSpPr txBox="1"/>
          <p:nvPr>
            <p:ph type="ctrTitle"/>
          </p:nvPr>
        </p:nvSpPr>
        <p:spPr>
          <a:xfrm>
            <a:off x="1425194" y="2146554"/>
            <a:ext cx="62937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23d4b7ca26e_0_7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3d4b7ca26e_0_74"/>
          <p:cNvSpPr txBox="1"/>
          <p:nvPr>
            <p:ph idx="11" type="ftr"/>
          </p:nvPr>
        </p:nvSpPr>
        <p:spPr>
          <a:xfrm>
            <a:off x="3108960" y="6377940"/>
            <a:ext cx="292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3d4b7ca26e_0_74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23d4b7ca26e_0_7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31"/>
          <p:cNvSpPr txBox="1"/>
          <p:nvPr>
            <p:ph type="title"/>
          </p:nvPr>
        </p:nvSpPr>
        <p:spPr>
          <a:xfrm>
            <a:off x="2470911" y="165303"/>
            <a:ext cx="420217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7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31"/>
          <p:cNvSpPr txBox="1"/>
          <p:nvPr>
            <p:ph idx="1" type="body"/>
          </p:nvPr>
        </p:nvSpPr>
        <p:spPr>
          <a:xfrm>
            <a:off x="631190" y="1858598"/>
            <a:ext cx="6985634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3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3d4b7ca26e_0_0"/>
          <p:cNvSpPr txBox="1"/>
          <p:nvPr>
            <p:ph type="ctrTitle"/>
          </p:nvPr>
        </p:nvSpPr>
        <p:spPr>
          <a:xfrm>
            <a:off x="1425201" y="2146550"/>
            <a:ext cx="69669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12313" lvl="0" marL="202437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CSE 331: Microprocessor Interfacing and Embedded Systems</a:t>
            </a:r>
            <a:endParaRPr sz="3200"/>
          </a:p>
        </p:txBody>
      </p:sp>
      <p:sp>
        <p:nvSpPr>
          <p:cNvPr id="51" name="Google Shape;51;g23d4b7ca26e_0_0"/>
          <p:cNvSpPr txBox="1"/>
          <p:nvPr/>
        </p:nvSpPr>
        <p:spPr>
          <a:xfrm>
            <a:off x="3209850" y="3893825"/>
            <a:ext cx="3996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Lecture </a:t>
            </a:r>
            <a:r>
              <a:rPr lang="en-US" sz="3200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: </a:t>
            </a:r>
            <a:r>
              <a:rPr lang="en-US" sz="3200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Procedures</a:t>
            </a:r>
            <a:endParaRPr b="0" i="0" sz="3200" u="none" cap="none" strike="noStrike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" name="Google Shape;57;p2"/>
          <p:cNvSpPr txBox="1"/>
          <p:nvPr>
            <p:ph type="title"/>
          </p:nvPr>
        </p:nvSpPr>
        <p:spPr>
          <a:xfrm>
            <a:off x="3289553" y="89408"/>
            <a:ext cx="25622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functions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459740" y="1238249"/>
            <a:ext cx="17252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9" name="Google Shape;59;p2"/>
          <p:cNvGraphicFramePr/>
          <p:nvPr/>
        </p:nvGraphicFramePr>
        <p:xfrm>
          <a:off x="643381" y="16402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775975"/>
                <a:gridCol w="2553975"/>
                <a:gridCol w="4621525"/>
              </a:tblGrid>
              <a:tr h="8316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23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14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183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a,b,c;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8844" marR="0" rtl="0" algn="l">
                        <a:lnSpc>
                          <a:spcPct val="1105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compiler/programmer</a:t>
                      </a:r>
                      <a:endParaRPr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918844" marR="0" rtl="0" algn="l">
                        <a:lnSpc>
                          <a:spcPct val="119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keep track of?</a:t>
                      </a:r>
                      <a:endParaRPr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4266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5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005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sum(a,b);</a:t>
                      </a:r>
                      <a:r>
                        <a:rPr lang="en-US" sz="28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/*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02870" marR="0" rtl="0" algn="l">
                        <a:lnSpc>
                          <a:spcPct val="1005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a,b,c:r0,r1,r2*/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8202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66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1750" marR="0" rtl="0" algn="l">
                        <a:lnSpc>
                          <a:spcPct val="114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60" name="Google Shape;60;p2"/>
          <p:cNvSpPr txBox="1"/>
          <p:nvPr/>
        </p:nvSpPr>
        <p:spPr>
          <a:xfrm>
            <a:off x="459740" y="4139805"/>
            <a:ext cx="6403975" cy="1348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/* really dumb sum function */  int sum(int x, int y) {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27100" marR="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return x+y;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662431" y="5420969"/>
            <a:ext cx="23876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880228" y="1167129"/>
            <a:ext cx="389509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information must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804028" y="5251196"/>
            <a:ext cx="3742054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instructions can  accomplish this?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1646301" y="89408"/>
            <a:ext cx="59226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Call Bookkeeping</a:t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612140" y="1313434"/>
            <a:ext cx="7289800" cy="17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600"/>
              <a:buFont typeface="Noto Sans Symbols"/>
              <a:buChar char="❖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Registers play a major role in keeping  track of information for function calls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705" lvl="0" marL="318770" marR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0007E"/>
              </a:buClr>
              <a:buSzPts val="2600"/>
              <a:buFont typeface="Noto Sans Symbols"/>
              <a:buChar char="❖"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conventions: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0" name="Google Shape;70;p3"/>
          <p:cNvGraphicFramePr/>
          <p:nvPr/>
        </p:nvGraphicFramePr>
        <p:xfrm>
          <a:off x="1088694" y="3187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2821300"/>
                <a:gridCol w="1116975"/>
                <a:gridCol w="850275"/>
                <a:gridCol w="850900"/>
                <a:gridCol w="777250"/>
              </a:tblGrid>
              <a:tr h="467875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address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lr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hMerge="1"/>
                <a:tc hMerge="1"/>
              </a:tr>
              <a:tr h="512200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Arguments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</a:tr>
              <a:tr h="512250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value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</a:tr>
              <a:tr h="467550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variables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r5,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 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r12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  <p:sp>
        <p:nvSpPr>
          <p:cNvPr id="71" name="Google Shape;71;p3"/>
          <p:cNvSpPr txBox="1"/>
          <p:nvPr/>
        </p:nvSpPr>
        <p:spPr>
          <a:xfrm>
            <a:off x="612140" y="5217363"/>
            <a:ext cx="571627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stack is also used; more later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" name="Google Shape;77;p4"/>
          <p:cNvSpPr txBox="1"/>
          <p:nvPr>
            <p:ph type="title"/>
          </p:nvPr>
        </p:nvSpPr>
        <p:spPr>
          <a:xfrm>
            <a:off x="2908554" y="165303"/>
            <a:ext cx="332359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Usage</a:t>
            </a:r>
            <a:endParaRPr/>
          </a:p>
        </p:txBody>
      </p:sp>
      <p:graphicFrame>
        <p:nvGraphicFramePr>
          <p:cNvPr id="78" name="Google Shape;78;p4"/>
          <p:cNvGraphicFramePr/>
          <p:nvPr/>
        </p:nvGraphicFramePr>
        <p:xfrm>
          <a:off x="2800350" y="28018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914400"/>
              </a:tblGrid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r5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6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r6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5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r7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5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r8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r9/sb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r10/sl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r11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4"/>
          <p:cNvSpPr txBox="1"/>
          <p:nvPr/>
        </p:nvSpPr>
        <p:spPr>
          <a:xfrm>
            <a:off x="2806700" y="5018151"/>
            <a:ext cx="914400" cy="228600"/>
          </a:xfrm>
          <a:prstGeom prst="rect">
            <a:avLst/>
          </a:prstGeom>
          <a:solidFill>
            <a:srgbClr val="007EAC"/>
          </a:solidFill>
          <a:ln cap="flat" cmpd="sng" w="12700">
            <a:solidFill>
              <a:srgbClr val="1D30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2075" marR="0" rtl="0" algn="l">
              <a:lnSpc>
                <a:spcPct val="113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r12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0" name="Google Shape;80;p4"/>
          <p:cNvGraphicFramePr/>
          <p:nvPr/>
        </p:nvGraphicFramePr>
        <p:xfrm>
          <a:off x="2800350" y="56213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914400"/>
              </a:tblGrid>
              <a:tr h="2286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r13/sp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r14/lr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1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r15/pc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Google Shape;81;p4"/>
          <p:cNvGraphicFramePr/>
          <p:nvPr/>
        </p:nvGraphicFramePr>
        <p:xfrm>
          <a:off x="2800350" y="143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914400"/>
              </a:tblGrid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305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33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4"/>
          <p:cNvSpPr txBox="1"/>
          <p:nvPr/>
        </p:nvSpPr>
        <p:spPr>
          <a:xfrm>
            <a:off x="890117" y="3439159"/>
            <a:ext cx="160401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5461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Register variables  Must be preserved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1" y="1303775"/>
            <a:ext cx="2504700" cy="1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06679" lvl="0" marL="119379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Arguments into function  Result(s) from function  otherwise corruptible  (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Additional parameters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715" rtl="0" algn="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passed on stack)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28529" y="4887225"/>
            <a:ext cx="1890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44475" lvl="0" marL="2565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Scratch register  (corruptible)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282673" y="5594100"/>
            <a:ext cx="2135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348615" lvl="0" marL="1270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Stack Pointer  Link Register  Program Counter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215510" y="1204341"/>
            <a:ext cx="457771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compiler has a set of rules known as a Procedure Call  Standard that determine how to pass parameters to a  function (see </a:t>
            </a:r>
            <a:r>
              <a:rPr b="1" lang="en-US" sz="160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AAPCS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5510" y="2179777"/>
            <a:ext cx="424942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CPSR flags may be corrupted by function call.  Assembler code which links with compiled code must  follow the AAPCS at external interfaces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215510" y="3155442"/>
            <a:ext cx="388112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AAPCS is part of the new ABI for the ARM  Architecture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2891408" y="1075436"/>
            <a:ext cx="65595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Register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854577" y="3917416"/>
            <a:ext cx="35941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-102235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1400"/>
              <a:buFont typeface="Times New Roman"/>
              <a:buChar char="-"/>
            </a:pPr>
            <a:r>
              <a:rPr b="1" lang="en-US" sz="140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base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2235" lvl="0" marL="1143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FF9933"/>
              </a:buClr>
              <a:buSzPts val="1400"/>
              <a:buFont typeface="Times New Roman"/>
              <a:buChar char="-"/>
            </a:pPr>
            <a:r>
              <a:rPr b="1" lang="en-US" sz="140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limit if software stack checking selected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3851275" y="5630976"/>
            <a:ext cx="396112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2235" lvl="0" marL="11811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1400"/>
              <a:buFont typeface="Times New Roman"/>
              <a:buChar char="-"/>
            </a:pPr>
            <a:r>
              <a:rPr b="1" lang="en-US" sz="140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 should always be 8-byte (2 word) aligned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2235" lvl="0" marL="114300" marR="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FF9933"/>
              </a:buClr>
              <a:buSzPts val="1400"/>
              <a:buFont typeface="Times New Roman"/>
              <a:buChar char="-"/>
            </a:pPr>
            <a:r>
              <a:rPr b="1" lang="en-US" sz="140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R14 can be used as a temporary once value stacked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838606" y="89408"/>
            <a:ext cx="73926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104139" y="876681"/>
            <a:ext cx="89619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10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... sum(a,b);... </a:t>
            </a:r>
            <a:r>
              <a:rPr lang="en-US" sz="27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/* a,b:$r3,$r4 */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300">
                <a:solidFill>
                  <a:srgbClr val="FF0000"/>
                </a:solidFill>
              </a:rPr>
              <a:t>  C       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708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int sum(int x, int y) {</a:t>
            </a:r>
            <a:r>
              <a:rPr lang="en-US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x+y; }	</a:t>
            </a:r>
            <a:endParaRPr sz="2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baseline="-25000" lang="en-US" sz="4300">
                <a:solidFill>
                  <a:srgbClr val="FF0000"/>
                </a:solidFill>
              </a:rPr>
              <a:t>	</a:t>
            </a:r>
            <a:r>
              <a:rPr lang="en-US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414800" y="3456125"/>
            <a:ext cx="19572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9055" marR="0" rtl="0" algn="l">
              <a:lnSpc>
                <a:spcPct val="7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4100">
                <a:solidFill>
                  <a:srgbClr val="FF0000"/>
                </a:solidFill>
              </a:rPr>
              <a:t>ARM</a:t>
            </a:r>
            <a:endParaRPr b="1" baseline="30000" sz="4100">
              <a:solidFill>
                <a:srgbClr val="FF0000"/>
              </a:solidFill>
            </a:endParaRPr>
          </a:p>
          <a:p>
            <a:pPr indent="0" lvl="0" marL="59055" marR="0" rtl="0" algn="l">
              <a:lnSpc>
                <a:spcPct val="7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ddress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marR="0" rtl="0" algn="l">
              <a:lnSpc>
                <a:spcPct val="7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4100">
                <a:solidFill>
                  <a:srgbClr val="FF0000"/>
                </a:solidFill>
              </a:rPr>
              <a:t>     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1004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1008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1012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1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1016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699450" y="3456137"/>
            <a:ext cx="49893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In ARM, all instructions  are stored in memory just  like data. So here we  show the addresses of  where the programs are  stored.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5"/>
          <p:cNvGrpSpPr/>
          <p:nvPr/>
        </p:nvGrpSpPr>
        <p:grpSpPr>
          <a:xfrm>
            <a:off x="2371993" y="4188323"/>
            <a:ext cx="956120" cy="2115198"/>
            <a:chOff x="1676400" y="3505200"/>
            <a:chExt cx="1600200" cy="2667000"/>
          </a:xfrm>
        </p:grpSpPr>
        <p:sp>
          <p:nvSpPr>
            <p:cNvPr id="101" name="Google Shape;101;p5"/>
            <p:cNvSpPr/>
            <p:nvPr/>
          </p:nvSpPr>
          <p:spPr>
            <a:xfrm>
              <a:off x="1676400" y="3505200"/>
              <a:ext cx="1600200" cy="2667000"/>
            </a:xfrm>
            <a:custGeom>
              <a:rect b="b" l="l" r="r" t="t"/>
              <a:pathLst>
                <a:path extrusionOk="0" h="2667000" w="1600200">
                  <a:moveTo>
                    <a:pt x="848232" y="0"/>
                  </a:moveTo>
                  <a:lnTo>
                    <a:pt x="0" y="1333500"/>
                  </a:lnTo>
                  <a:lnTo>
                    <a:pt x="848232" y="2667000"/>
                  </a:lnTo>
                  <a:lnTo>
                    <a:pt x="848232" y="1981200"/>
                  </a:lnTo>
                  <a:lnTo>
                    <a:pt x="1600200" y="1981200"/>
                  </a:lnTo>
                  <a:lnTo>
                    <a:pt x="1600200" y="685800"/>
                  </a:lnTo>
                  <a:lnTo>
                    <a:pt x="848232" y="685800"/>
                  </a:lnTo>
                  <a:lnTo>
                    <a:pt x="848232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676400" y="3505200"/>
              <a:ext cx="1600200" cy="2667000"/>
            </a:xfrm>
            <a:custGeom>
              <a:rect b="b" l="l" r="r" t="t"/>
              <a:pathLst>
                <a:path extrusionOk="0" h="2667000" w="1600200">
                  <a:moveTo>
                    <a:pt x="0" y="1333500"/>
                  </a:moveTo>
                  <a:lnTo>
                    <a:pt x="848232" y="0"/>
                  </a:lnTo>
                  <a:lnTo>
                    <a:pt x="848232" y="685800"/>
                  </a:lnTo>
                  <a:lnTo>
                    <a:pt x="1600200" y="685800"/>
                  </a:lnTo>
                  <a:lnTo>
                    <a:pt x="1600200" y="1981200"/>
                  </a:lnTo>
                  <a:lnTo>
                    <a:pt x="848232" y="1981200"/>
                  </a:lnTo>
                  <a:lnTo>
                    <a:pt x="848232" y="2667000"/>
                  </a:lnTo>
                  <a:lnTo>
                    <a:pt x="0" y="133350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876706" y="89408"/>
            <a:ext cx="73875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671575" y="847725"/>
            <a:ext cx="7127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... sum(a,b);... </a:t>
            </a:r>
            <a:r>
              <a:rPr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/* a,b:r4,r5 */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662424" y="1274525"/>
            <a:ext cx="5834700" cy="17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712470" lvl="0" marL="7245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sum(int x, int y) {  return x+y;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71575" y="3096250"/>
            <a:ext cx="17037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-116205" lvl="0" marL="128270" marR="5715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address  1000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8270" marR="0" rtl="0" algn="l">
              <a:lnSpc>
                <a:spcPct val="1173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1004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82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1008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82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1012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82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1016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2442275" y="3703950"/>
            <a:ext cx="1703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9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r0,r4  r1,r5  lr,1016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5947028" y="3501644"/>
            <a:ext cx="3034665" cy="173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x = a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y = b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lr = 1016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branch to sum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817131" y="5921047"/>
            <a:ext cx="78633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2000	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sum: ADD r0,r0,r1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2004	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BX lr	// MOV	pc,lr i.e., return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28600" y="3124200"/>
            <a:ext cx="8610600" cy="0"/>
          </a:xfrm>
          <a:custGeom>
            <a:rect b="b" l="l" r="r" t="t"/>
            <a:pathLst>
              <a:path extrusionOk="0" h="120000"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6"/>
          <p:cNvSpPr txBox="1"/>
          <p:nvPr/>
        </p:nvSpPr>
        <p:spPr>
          <a:xfrm>
            <a:off x="78739" y="1575002"/>
            <a:ext cx="31940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79349" y="3923487"/>
            <a:ext cx="364490" cy="148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20955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 R  M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606" y="89408"/>
            <a:ext cx="73875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662431" y="5624271"/>
            <a:ext cx="618553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2000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sum: ADD r0,r0,r1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2004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BX lr	</a:t>
            </a: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new instruction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28600" y="3200400"/>
            <a:ext cx="8610600" cy="0"/>
          </a:xfrm>
          <a:custGeom>
            <a:rect b="b" l="l" r="r" t="t"/>
            <a:pathLst>
              <a:path extrusionOk="0" h="120000"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" name="Google Shape;124;p7"/>
          <p:cNvSpPr txBox="1"/>
          <p:nvPr/>
        </p:nvSpPr>
        <p:spPr>
          <a:xfrm>
            <a:off x="134213" y="982725"/>
            <a:ext cx="77946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49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... sum(a,b);... </a:t>
            </a:r>
            <a:r>
              <a:rPr lang="en-US" sz="26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/* a,b:$s0,$s1 */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0385" marR="0" rtl="0" algn="l">
              <a:lnSpc>
                <a:spcPct val="11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240790" lvl="0" marL="1252855" marR="2353945" rtl="0" algn="l">
              <a:lnSpc>
                <a:spcPct val="7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baseline="-25000" lang="en-US" sz="4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	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int sum(int x, int y) {  return x+y;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0385" marR="0" rtl="0" algn="l">
              <a:lnSpc>
                <a:spcPct val="116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90322" y="3771391"/>
            <a:ext cx="364490" cy="148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0955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 R  M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813000" y="3130077"/>
            <a:ext cx="7875600" cy="23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Question: Why use </a:t>
            </a: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BX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here? Why not simply use </a:t>
            </a: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4610" rtl="0" algn="l">
              <a:lnSpc>
                <a:spcPct val="99900"/>
              </a:lnSpc>
              <a:spcBef>
                <a:spcPts val="675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Answer: </a:t>
            </a: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might be called by many functions, so  we can’t return to a fixed place. The calling proc to 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must be able to say</a:t>
            </a: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return here</a:t>
            </a:r>
            <a:r>
              <a:rPr lang="en-US" sz="2800">
                <a:latin typeface="Arial Black"/>
                <a:ea typeface="Arial Black"/>
                <a:cs typeface="Arial Black"/>
                <a:sym typeface="Arial Black"/>
              </a:rPr>
              <a:t>”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somehow.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7" name="Google Shape;127;p7"/>
          <p:cNvGrpSpPr/>
          <p:nvPr/>
        </p:nvGrpSpPr>
        <p:grpSpPr>
          <a:xfrm>
            <a:off x="134223" y="3841553"/>
            <a:ext cx="1335279" cy="2964965"/>
            <a:chOff x="97142" y="3886208"/>
            <a:chExt cx="2874658" cy="2971800"/>
          </a:xfrm>
        </p:grpSpPr>
        <p:sp>
          <p:nvSpPr>
            <p:cNvPr id="128" name="Google Shape;128;p7"/>
            <p:cNvSpPr/>
            <p:nvPr/>
          </p:nvSpPr>
          <p:spPr>
            <a:xfrm>
              <a:off x="1358900" y="5970587"/>
              <a:ext cx="1612900" cy="685800"/>
            </a:xfrm>
            <a:custGeom>
              <a:rect b="b" l="l" r="r" t="t"/>
              <a:pathLst>
                <a:path extrusionOk="0" h="685800" w="1612900">
                  <a:moveTo>
                    <a:pt x="0" y="342900"/>
                  </a:moveTo>
                  <a:lnTo>
                    <a:pt x="10555" y="287278"/>
                  </a:lnTo>
                  <a:lnTo>
                    <a:pt x="41113" y="234515"/>
                  </a:lnTo>
                  <a:lnTo>
                    <a:pt x="90014" y="185315"/>
                  </a:lnTo>
                  <a:lnTo>
                    <a:pt x="120824" y="162273"/>
                  </a:lnTo>
                  <a:lnTo>
                    <a:pt x="155598" y="140386"/>
                  </a:lnTo>
                  <a:lnTo>
                    <a:pt x="194127" y="119742"/>
                  </a:lnTo>
                  <a:lnTo>
                    <a:pt x="236204" y="100431"/>
                  </a:lnTo>
                  <a:lnTo>
                    <a:pt x="281621" y="82540"/>
                  </a:lnTo>
                  <a:lnTo>
                    <a:pt x="330171" y="66158"/>
                  </a:lnTo>
                  <a:lnTo>
                    <a:pt x="381647" y="51373"/>
                  </a:lnTo>
                  <a:lnTo>
                    <a:pt x="435840" y="38273"/>
                  </a:lnTo>
                  <a:lnTo>
                    <a:pt x="492543" y="26946"/>
                  </a:lnTo>
                  <a:lnTo>
                    <a:pt x="551549" y="17480"/>
                  </a:lnTo>
                  <a:lnTo>
                    <a:pt x="612651" y="9965"/>
                  </a:lnTo>
                  <a:lnTo>
                    <a:pt x="675639" y="4487"/>
                  </a:lnTo>
                  <a:lnTo>
                    <a:pt x="740308" y="1136"/>
                  </a:lnTo>
                  <a:lnTo>
                    <a:pt x="806450" y="0"/>
                  </a:lnTo>
                  <a:lnTo>
                    <a:pt x="872591" y="1136"/>
                  </a:lnTo>
                  <a:lnTo>
                    <a:pt x="937260" y="4487"/>
                  </a:lnTo>
                  <a:lnTo>
                    <a:pt x="1000248" y="9965"/>
                  </a:lnTo>
                  <a:lnTo>
                    <a:pt x="1061350" y="17480"/>
                  </a:lnTo>
                  <a:lnTo>
                    <a:pt x="1120356" y="26946"/>
                  </a:lnTo>
                  <a:lnTo>
                    <a:pt x="1177059" y="38273"/>
                  </a:lnTo>
                  <a:lnTo>
                    <a:pt x="1231252" y="51373"/>
                  </a:lnTo>
                  <a:lnTo>
                    <a:pt x="1282728" y="66158"/>
                  </a:lnTo>
                  <a:lnTo>
                    <a:pt x="1331278" y="82540"/>
                  </a:lnTo>
                  <a:lnTo>
                    <a:pt x="1376695" y="100431"/>
                  </a:lnTo>
                  <a:lnTo>
                    <a:pt x="1418772" y="119742"/>
                  </a:lnTo>
                  <a:lnTo>
                    <a:pt x="1457301" y="140386"/>
                  </a:lnTo>
                  <a:lnTo>
                    <a:pt x="1492075" y="162273"/>
                  </a:lnTo>
                  <a:lnTo>
                    <a:pt x="1522885" y="185315"/>
                  </a:lnTo>
                  <a:lnTo>
                    <a:pt x="1571786" y="234515"/>
                  </a:lnTo>
                  <a:lnTo>
                    <a:pt x="1602344" y="287278"/>
                  </a:lnTo>
                  <a:lnTo>
                    <a:pt x="1612900" y="342900"/>
                  </a:lnTo>
                  <a:lnTo>
                    <a:pt x="1610226" y="371023"/>
                  </a:lnTo>
                  <a:lnTo>
                    <a:pt x="1602344" y="398521"/>
                  </a:lnTo>
                  <a:lnTo>
                    <a:pt x="1571786" y="451284"/>
                  </a:lnTo>
                  <a:lnTo>
                    <a:pt x="1522885" y="500484"/>
                  </a:lnTo>
                  <a:lnTo>
                    <a:pt x="1492075" y="523526"/>
                  </a:lnTo>
                  <a:lnTo>
                    <a:pt x="1457301" y="545413"/>
                  </a:lnTo>
                  <a:lnTo>
                    <a:pt x="1418772" y="566057"/>
                  </a:lnTo>
                  <a:lnTo>
                    <a:pt x="1376695" y="585368"/>
                  </a:lnTo>
                  <a:lnTo>
                    <a:pt x="1331278" y="603259"/>
                  </a:lnTo>
                  <a:lnTo>
                    <a:pt x="1282728" y="619641"/>
                  </a:lnTo>
                  <a:lnTo>
                    <a:pt x="1231252" y="634426"/>
                  </a:lnTo>
                  <a:lnTo>
                    <a:pt x="1177059" y="647526"/>
                  </a:lnTo>
                  <a:lnTo>
                    <a:pt x="1120356" y="658853"/>
                  </a:lnTo>
                  <a:lnTo>
                    <a:pt x="1061350" y="668319"/>
                  </a:lnTo>
                  <a:lnTo>
                    <a:pt x="1000248" y="675834"/>
                  </a:lnTo>
                  <a:lnTo>
                    <a:pt x="937260" y="681312"/>
                  </a:lnTo>
                  <a:lnTo>
                    <a:pt x="872591" y="684663"/>
                  </a:lnTo>
                  <a:lnTo>
                    <a:pt x="806450" y="685800"/>
                  </a:lnTo>
                  <a:lnTo>
                    <a:pt x="740308" y="684663"/>
                  </a:lnTo>
                  <a:lnTo>
                    <a:pt x="675639" y="681312"/>
                  </a:lnTo>
                  <a:lnTo>
                    <a:pt x="612651" y="675834"/>
                  </a:lnTo>
                  <a:lnTo>
                    <a:pt x="551549" y="668319"/>
                  </a:lnTo>
                  <a:lnTo>
                    <a:pt x="492543" y="658853"/>
                  </a:lnTo>
                  <a:lnTo>
                    <a:pt x="435840" y="647526"/>
                  </a:lnTo>
                  <a:lnTo>
                    <a:pt x="381647" y="634426"/>
                  </a:lnTo>
                  <a:lnTo>
                    <a:pt x="330171" y="619641"/>
                  </a:lnTo>
                  <a:lnTo>
                    <a:pt x="281621" y="603259"/>
                  </a:lnTo>
                  <a:lnTo>
                    <a:pt x="236204" y="585368"/>
                  </a:lnTo>
                  <a:lnTo>
                    <a:pt x="194127" y="566057"/>
                  </a:lnTo>
                  <a:lnTo>
                    <a:pt x="155598" y="545413"/>
                  </a:lnTo>
                  <a:lnTo>
                    <a:pt x="120824" y="523526"/>
                  </a:lnTo>
                  <a:lnTo>
                    <a:pt x="90014" y="500484"/>
                  </a:lnTo>
                  <a:lnTo>
                    <a:pt x="41113" y="451284"/>
                  </a:lnTo>
                  <a:lnTo>
                    <a:pt x="10555" y="398521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cap="flat" cmpd="sng" w="381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97142" y="3886208"/>
              <a:ext cx="1143000" cy="2971800"/>
            </a:xfrm>
            <a:custGeom>
              <a:rect b="b" l="l" r="r" t="t"/>
              <a:pathLst>
                <a:path extrusionOk="0" h="2971800" w="1143000">
                  <a:moveTo>
                    <a:pt x="1143000" y="2190191"/>
                  </a:moveTo>
                  <a:lnTo>
                    <a:pt x="700712" y="2971798"/>
                  </a:lnTo>
                </a:path>
                <a:path extrusionOk="0" h="2971800" w="1143000">
                  <a:moveTo>
                    <a:pt x="657593" y="2971798"/>
                  </a:moveTo>
                  <a:lnTo>
                    <a:pt x="657593" y="2621699"/>
                  </a:lnTo>
                  <a:lnTo>
                    <a:pt x="625733" y="2620212"/>
                  </a:lnTo>
                  <a:lnTo>
                    <a:pt x="594264" y="2615796"/>
                  </a:lnTo>
                  <a:lnTo>
                    <a:pt x="532637" y="2598449"/>
                  </a:lnTo>
                  <a:lnTo>
                    <a:pt x="472990" y="2570198"/>
                  </a:lnTo>
                  <a:lnTo>
                    <a:pt x="415596" y="2531583"/>
                  </a:lnTo>
                  <a:lnTo>
                    <a:pt x="360732" y="2483144"/>
                  </a:lnTo>
                  <a:lnTo>
                    <a:pt x="334334" y="2455410"/>
                  </a:lnTo>
                  <a:lnTo>
                    <a:pt x="308673" y="2425422"/>
                  </a:lnTo>
                  <a:lnTo>
                    <a:pt x="283782" y="2393249"/>
                  </a:lnTo>
                  <a:lnTo>
                    <a:pt x="259695" y="2358958"/>
                  </a:lnTo>
                  <a:lnTo>
                    <a:pt x="236447" y="2322616"/>
                  </a:lnTo>
                  <a:lnTo>
                    <a:pt x="214074" y="2284292"/>
                  </a:lnTo>
                  <a:lnTo>
                    <a:pt x="192608" y="2244051"/>
                  </a:lnTo>
                  <a:lnTo>
                    <a:pt x="172084" y="2201963"/>
                  </a:lnTo>
                  <a:lnTo>
                    <a:pt x="152538" y="2158095"/>
                  </a:lnTo>
                  <a:lnTo>
                    <a:pt x="134003" y="2112513"/>
                  </a:lnTo>
                  <a:lnTo>
                    <a:pt x="116513" y="2065287"/>
                  </a:lnTo>
                  <a:lnTo>
                    <a:pt x="100105" y="2016482"/>
                  </a:lnTo>
                  <a:lnTo>
                    <a:pt x="84810" y="1966168"/>
                  </a:lnTo>
                  <a:lnTo>
                    <a:pt x="70665" y="1914411"/>
                  </a:lnTo>
                  <a:lnTo>
                    <a:pt x="57704" y="1861279"/>
                  </a:lnTo>
                  <a:lnTo>
                    <a:pt x="45961" y="1806839"/>
                  </a:lnTo>
                  <a:lnTo>
                    <a:pt x="35470" y="1751159"/>
                  </a:lnTo>
                  <a:lnTo>
                    <a:pt x="26266" y="1694307"/>
                  </a:lnTo>
                  <a:lnTo>
                    <a:pt x="18384" y="1636350"/>
                  </a:lnTo>
                  <a:lnTo>
                    <a:pt x="11857" y="1577356"/>
                  </a:lnTo>
                  <a:lnTo>
                    <a:pt x="6721" y="1517392"/>
                  </a:lnTo>
                  <a:lnTo>
                    <a:pt x="3010" y="1456526"/>
                  </a:lnTo>
                  <a:lnTo>
                    <a:pt x="758" y="1394825"/>
                  </a:lnTo>
                  <a:lnTo>
                    <a:pt x="0" y="1332357"/>
                  </a:lnTo>
                  <a:lnTo>
                    <a:pt x="0" y="0"/>
                  </a:lnTo>
                  <a:lnTo>
                    <a:pt x="330784" y="0"/>
                  </a:lnTo>
                  <a:lnTo>
                    <a:pt x="330784" y="1332357"/>
                  </a:lnTo>
                  <a:lnTo>
                    <a:pt x="333330" y="1385810"/>
                  </a:lnTo>
                  <a:lnTo>
                    <a:pt x="340765" y="1437288"/>
                  </a:lnTo>
                  <a:lnTo>
                    <a:pt x="352782" y="1486391"/>
                  </a:lnTo>
                  <a:lnTo>
                    <a:pt x="369074" y="1532718"/>
                  </a:lnTo>
                  <a:lnTo>
                    <a:pt x="389337" y="1575868"/>
                  </a:lnTo>
                  <a:lnTo>
                    <a:pt x="413263" y="1615442"/>
                  </a:lnTo>
                  <a:lnTo>
                    <a:pt x="440546" y="1651039"/>
                  </a:lnTo>
                  <a:lnTo>
                    <a:pt x="470879" y="1682257"/>
                  </a:lnTo>
                  <a:lnTo>
                    <a:pt x="503958" y="1708698"/>
                  </a:lnTo>
                  <a:lnTo>
                    <a:pt x="539475" y="1729960"/>
                  </a:lnTo>
                  <a:lnTo>
                    <a:pt x="577124" y="1745643"/>
                  </a:lnTo>
                  <a:lnTo>
                    <a:pt x="616598" y="1755347"/>
                  </a:lnTo>
                  <a:lnTo>
                    <a:pt x="657593" y="1758670"/>
                  </a:lnTo>
                  <a:lnTo>
                    <a:pt x="657593" y="1332357"/>
                  </a:lnTo>
                  <a:lnTo>
                    <a:pt x="1143000" y="219019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76706" y="165303"/>
            <a:ext cx="739330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307340" y="898906"/>
            <a:ext cx="8550275" cy="156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203200" lvl="0" marL="215265" marR="508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Single instruction to jump and save return address:  jump and link (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" name="Google Shape;136;p8"/>
          <p:cNvGraphicFramePr/>
          <p:nvPr/>
        </p:nvGraphicFramePr>
        <p:xfrm>
          <a:off x="288290" y="2490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1283325"/>
                <a:gridCol w="1838950"/>
                <a:gridCol w="3979550"/>
                <a:gridCol w="819775"/>
              </a:tblGrid>
              <a:tr h="486550"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92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1008</a:t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985" marR="0" rtl="0" algn="l">
                        <a:lnSpc>
                          <a:spcPct val="1092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 lr,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22554" marR="0" rtl="0" algn="l">
                        <a:lnSpc>
                          <a:spcPct val="1092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1016	</a:t>
                      </a:r>
                      <a:r>
                        <a:rPr i="1" lang="en-US" sz="32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 lr=1016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549550">
                <a:tc>
                  <a:txBody>
                    <a:bodyPr/>
                    <a:lstStyle/>
                    <a:p>
                      <a:pPr indent="0" lvl="0" marL="234315" marR="0" rtl="0" algn="l">
                        <a:lnSpc>
                          <a:spcPct val="10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1012</a:t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985" marR="0" rtl="0" algn="l">
                        <a:lnSpc>
                          <a:spcPct val="10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 sum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82090" marR="0" rtl="0" algn="l">
                        <a:lnSpc>
                          <a:spcPct val="10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 go</a:t>
                      </a:r>
                      <a:r>
                        <a:rPr i="1" lang="en-US" sz="32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 sum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1009925">
                <a:tc>
                  <a:txBody>
                    <a:bodyPr/>
                    <a:lstStyle/>
                    <a:p>
                      <a:pPr indent="-272415" lvl="0" marL="303530" marR="0" rtl="0" algn="l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7E"/>
                        </a:buClr>
                        <a:buSzPts val="2300"/>
                        <a:buFont typeface="Noto Sans Symbols"/>
                        <a:buChar char="❖"/>
                      </a:pPr>
                      <a:r>
                        <a:rPr lang="en-US" sz="3200" u="none" cap="none" strike="noStrik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</a:t>
                      </a:r>
                      <a:r>
                        <a:rPr lang="en-US" sz="3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34315" marR="0" rtl="0" algn="l">
                        <a:lnSpc>
                          <a:spcPct val="116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1008</a:t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9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BL sum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38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32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lr=1012, goto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524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32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sum</a:t>
                      </a:r>
                      <a:endParaRPr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</a:tr>
            </a:tbl>
          </a:graphicData>
        </a:graphic>
      </p:graphicFrame>
      <p:sp>
        <p:nvSpPr>
          <p:cNvPr id="137" name="Google Shape;137;p8"/>
          <p:cNvSpPr txBox="1"/>
          <p:nvPr/>
        </p:nvSpPr>
        <p:spPr>
          <a:xfrm>
            <a:off x="-12700" y="4555153"/>
            <a:ext cx="9169500" cy="20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203200" lvl="0" marL="535305" marR="629285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Why have a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? Make the common case fast:  function calls are very common.	Also, you don’t  have to know where the code is loaded into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memory with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	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76706" y="89408"/>
            <a:ext cx="73875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764540" y="1136650"/>
            <a:ext cx="7561580" cy="4003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321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Syntax for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(branch and link) is same as  for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(branc):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BL	label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functionality: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Step 1 (link): Save address of </a:t>
            </a:r>
            <a:r>
              <a:rPr b="0" i="1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next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instruction  into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lr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(Why next instruction? Why not current  one?)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Step 2 (branch): Branch to the given label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838606" y="89408"/>
            <a:ext cx="73875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Support for Functions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535940" y="1050032"/>
            <a:ext cx="7828280" cy="48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Syntax for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BX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(branch and exchange):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BX register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03200" lvl="0" marL="215265" marR="5080" rtl="0" algn="l">
              <a:lnSpc>
                <a:spcPct val="102699"/>
              </a:lnSpc>
              <a:spcBef>
                <a:spcPts val="62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Instead of providing a label to jump to, the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BX 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instruction provides a register which contains  an address to jump to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Only useful if we know exact address to jump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Very useful for function calls: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stores return address in register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(lr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BX lr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jumps back to that address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2470911" y="165303"/>
            <a:ext cx="4202176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Nested Procedures</a:t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535940" y="975106"/>
            <a:ext cx="7213600" cy="521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15035" lvl="0" marL="927100" marR="106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int sumSquare(int x, int y) {  return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(x,x)+ y;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Something called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sumSquare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, now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sumSquare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is calling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l">
              <a:lnSpc>
                <a:spcPct val="101099"/>
              </a:lnSpc>
              <a:spcBef>
                <a:spcPts val="7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 there’s a value in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lr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sumSquare 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wants to jump back to, but this will be  overwritten by the call to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123825" rtl="0" algn="l">
              <a:lnSpc>
                <a:spcPct val="102200"/>
              </a:lnSpc>
              <a:spcBef>
                <a:spcPts val="59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Need to save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sumSquare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return address  before call to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2545842" y="165303"/>
            <a:ext cx="417258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Nested Procedures</a:t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612140" y="998931"/>
            <a:ext cx="7601584" cy="531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 general, may need to save some other info  in addition to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lr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127254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When a C program is run, there are 3  important memory areas allocated: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461644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8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Variables declared once per program,  cease to exist only after execution completes.  E.g., C globals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0100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Variables declared dynamically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25145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Space to be used by procedure during  execution; this is where we can save register  values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2216276" y="165303"/>
            <a:ext cx="463042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Memory Allocation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1526794" y="6364325"/>
            <a:ext cx="2228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217547" y="5879998"/>
            <a:ext cx="104330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Code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925701" y="5592762"/>
            <a:ext cx="1600200" cy="1066800"/>
          </a:xfrm>
          <a:custGeom>
            <a:rect b="b" l="l" r="r" t="t"/>
            <a:pathLst>
              <a:path extrusionOk="0" h="1066800" w="1600200">
                <a:moveTo>
                  <a:pt x="0" y="1066800"/>
                </a:moveTo>
                <a:lnTo>
                  <a:pt x="1600200" y="1066800"/>
                </a:lnTo>
                <a:lnTo>
                  <a:pt x="16002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" name="Google Shape;170;p13"/>
          <p:cNvSpPr txBox="1"/>
          <p:nvPr/>
        </p:nvSpPr>
        <p:spPr>
          <a:xfrm>
            <a:off x="2217547" y="4813172"/>
            <a:ext cx="113347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Static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1925701" y="4525962"/>
            <a:ext cx="1600200" cy="1066800"/>
          </a:xfrm>
          <a:custGeom>
            <a:rect b="b" l="l" r="r" t="t"/>
            <a:pathLst>
              <a:path extrusionOk="0" h="1066800" w="1600200">
                <a:moveTo>
                  <a:pt x="0" y="1066800"/>
                </a:moveTo>
                <a:lnTo>
                  <a:pt x="1600200" y="1066800"/>
                </a:lnTo>
                <a:lnTo>
                  <a:pt x="16002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" name="Google Shape;172;p13"/>
          <p:cNvSpPr txBox="1"/>
          <p:nvPr/>
        </p:nvSpPr>
        <p:spPr>
          <a:xfrm>
            <a:off x="2217547" y="3746119"/>
            <a:ext cx="1020444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Heap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13"/>
          <p:cNvGrpSpPr/>
          <p:nvPr/>
        </p:nvGrpSpPr>
        <p:grpSpPr>
          <a:xfrm>
            <a:off x="1925701" y="3078098"/>
            <a:ext cx="1600200" cy="1447800"/>
            <a:chOff x="1925701" y="3078098"/>
            <a:chExt cx="1600200" cy="1447800"/>
          </a:xfrm>
        </p:grpSpPr>
        <p:sp>
          <p:nvSpPr>
            <p:cNvPr id="174" name="Google Shape;174;p13"/>
            <p:cNvSpPr/>
            <p:nvPr/>
          </p:nvSpPr>
          <p:spPr>
            <a:xfrm>
              <a:off x="1925701" y="3459098"/>
              <a:ext cx="1600200" cy="1066800"/>
            </a:xfrm>
            <a:custGeom>
              <a:rect b="b" l="l" r="r" t="t"/>
              <a:pathLst>
                <a:path extrusionOk="0" h="1066800" w="1600200">
                  <a:moveTo>
                    <a:pt x="0" y="1066800"/>
                  </a:moveTo>
                  <a:lnTo>
                    <a:pt x="1600200" y="106680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2644775" y="3078098"/>
              <a:ext cx="85725" cy="381000"/>
            </a:xfrm>
            <a:custGeom>
              <a:rect b="b" l="l" r="r" t="t"/>
              <a:pathLst>
                <a:path extrusionOk="0" h="381000" w="85725">
                  <a:moveTo>
                    <a:pt x="57150" y="71500"/>
                  </a:moveTo>
                  <a:lnTo>
                    <a:pt x="28575" y="71500"/>
                  </a:lnTo>
                  <a:lnTo>
                    <a:pt x="28575" y="381000"/>
                  </a:lnTo>
                  <a:lnTo>
                    <a:pt x="57150" y="381000"/>
                  </a:lnTo>
                  <a:lnTo>
                    <a:pt x="57150" y="71500"/>
                  </a:lnTo>
                  <a:close/>
                </a:path>
                <a:path extrusionOk="0" h="381000" w="85725">
                  <a:moveTo>
                    <a:pt x="42799" y="0"/>
                  </a:moveTo>
                  <a:lnTo>
                    <a:pt x="0" y="85725"/>
                  </a:lnTo>
                  <a:lnTo>
                    <a:pt x="28575" y="85725"/>
                  </a:lnTo>
                  <a:lnTo>
                    <a:pt x="28575" y="71500"/>
                  </a:lnTo>
                  <a:lnTo>
                    <a:pt x="78602" y="71500"/>
                  </a:lnTo>
                  <a:lnTo>
                    <a:pt x="42799" y="0"/>
                  </a:lnTo>
                  <a:close/>
                </a:path>
                <a:path extrusionOk="0" h="381000" w="85725">
                  <a:moveTo>
                    <a:pt x="78602" y="71500"/>
                  </a:moveTo>
                  <a:lnTo>
                    <a:pt x="57150" y="71500"/>
                  </a:lnTo>
                  <a:lnTo>
                    <a:pt x="57150" y="85725"/>
                  </a:lnTo>
                  <a:lnTo>
                    <a:pt x="85725" y="85725"/>
                  </a:lnTo>
                  <a:lnTo>
                    <a:pt x="78602" y="71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6" name="Google Shape;176;p13"/>
          <p:cNvSpPr txBox="1"/>
          <p:nvPr/>
        </p:nvSpPr>
        <p:spPr>
          <a:xfrm>
            <a:off x="3757675" y="3480950"/>
            <a:ext cx="5137200" cy="29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88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Explicitly created space,  e.g., malloc(); C pointers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5158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808000"/>
                </a:solidFill>
                <a:latin typeface="Arial"/>
                <a:ea typeface="Arial"/>
                <a:cs typeface="Arial"/>
                <a:sym typeface="Arial"/>
              </a:rPr>
              <a:t>Variables declared  once per program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252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154939" y="940053"/>
            <a:ext cx="1647189" cy="2324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Address </a:t>
            </a:r>
            <a:r>
              <a:rPr b="1" baseline="-25000" lang="en-US" sz="5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endParaRPr baseline="-25000" sz="5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97155" lvl="0" marL="416559" marR="19685" rtl="0" algn="ctr">
              <a:lnSpc>
                <a:spcPct val="102899"/>
              </a:lnSpc>
              <a:spcBef>
                <a:spcPts val="341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sp  </a:t>
            </a:r>
            <a:r>
              <a:rPr b="1"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stack  pointer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1925701" y="1249425"/>
            <a:ext cx="1600200" cy="106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9075">
            <a:spAutoFit/>
          </a:bodyPr>
          <a:lstStyle/>
          <a:p>
            <a:pPr indent="0" lvl="0" marL="3041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Stack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2644775" y="2316098"/>
            <a:ext cx="85725" cy="381000"/>
          </a:xfrm>
          <a:custGeom>
            <a:rect b="b" l="l" r="r" t="t"/>
            <a:pathLst>
              <a:path extrusionOk="0" h="381000" w="85725">
                <a:moveTo>
                  <a:pt x="28575" y="295275"/>
                </a:moveTo>
                <a:lnTo>
                  <a:pt x="0" y="295275"/>
                </a:lnTo>
                <a:lnTo>
                  <a:pt x="42799" y="381000"/>
                </a:lnTo>
                <a:lnTo>
                  <a:pt x="78538" y="309625"/>
                </a:lnTo>
                <a:lnTo>
                  <a:pt x="28575" y="309625"/>
                </a:lnTo>
                <a:lnTo>
                  <a:pt x="28575" y="295275"/>
                </a:lnTo>
                <a:close/>
              </a:path>
              <a:path extrusionOk="0" h="381000" w="85725">
                <a:moveTo>
                  <a:pt x="57150" y="0"/>
                </a:moveTo>
                <a:lnTo>
                  <a:pt x="28575" y="0"/>
                </a:lnTo>
                <a:lnTo>
                  <a:pt x="28575" y="309625"/>
                </a:lnTo>
                <a:lnTo>
                  <a:pt x="57150" y="309625"/>
                </a:lnTo>
                <a:lnTo>
                  <a:pt x="57150" y="0"/>
                </a:lnTo>
                <a:close/>
              </a:path>
              <a:path extrusionOk="0" h="381000" w="85725">
                <a:moveTo>
                  <a:pt x="85725" y="295275"/>
                </a:moveTo>
                <a:lnTo>
                  <a:pt x="57150" y="295275"/>
                </a:lnTo>
                <a:lnTo>
                  <a:pt x="57150" y="309625"/>
                </a:lnTo>
                <a:lnTo>
                  <a:pt x="78538" y="309625"/>
                </a:lnTo>
                <a:lnTo>
                  <a:pt x="85725" y="2952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13"/>
          <p:cNvSpPr txBox="1"/>
          <p:nvPr/>
        </p:nvSpPr>
        <p:spPr>
          <a:xfrm>
            <a:off x="3910076" y="1270507"/>
            <a:ext cx="4357370" cy="1002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Space for saved  procedure information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544700" y="2197100"/>
            <a:ext cx="381000" cy="85725"/>
          </a:xfrm>
          <a:custGeom>
            <a:rect b="b" l="l" r="r" t="t"/>
            <a:pathLst>
              <a:path extrusionOk="0" h="85725" w="381000">
                <a:moveTo>
                  <a:pt x="295148" y="0"/>
                </a:moveTo>
                <a:lnTo>
                  <a:pt x="295148" y="85725"/>
                </a:lnTo>
                <a:lnTo>
                  <a:pt x="352213" y="57150"/>
                </a:lnTo>
                <a:lnTo>
                  <a:pt x="309499" y="57150"/>
                </a:lnTo>
                <a:lnTo>
                  <a:pt x="309499" y="28575"/>
                </a:lnTo>
                <a:lnTo>
                  <a:pt x="352382" y="28575"/>
                </a:lnTo>
                <a:lnTo>
                  <a:pt x="295148" y="0"/>
                </a:lnTo>
                <a:close/>
              </a:path>
              <a:path extrusionOk="0" h="85725" w="381000">
                <a:moveTo>
                  <a:pt x="29514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5148" y="57150"/>
                </a:lnTo>
                <a:lnTo>
                  <a:pt x="295148" y="28575"/>
                </a:lnTo>
                <a:close/>
              </a:path>
              <a:path extrusionOk="0" h="85725" w="381000">
                <a:moveTo>
                  <a:pt x="352382" y="28575"/>
                </a:moveTo>
                <a:lnTo>
                  <a:pt x="309499" y="28575"/>
                </a:lnTo>
                <a:lnTo>
                  <a:pt x="309499" y="57150"/>
                </a:lnTo>
                <a:lnTo>
                  <a:pt x="352213" y="57150"/>
                </a:lnTo>
                <a:lnTo>
                  <a:pt x="380873" y="42799"/>
                </a:lnTo>
                <a:lnTo>
                  <a:pt x="352382" y="28575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2882645" y="165303"/>
            <a:ext cx="345249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the Stack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764540" y="1162557"/>
            <a:ext cx="7335520" cy="449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1943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 we have a register </a:t>
            </a:r>
            <a:r>
              <a:rPr lang="en-US" sz="32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sp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which always  points to the last used space in the stack.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To use stack, we decrement this pointer by  the amount of space we need and then fill it  with info.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So, how do we compile this?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927100" marR="45339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sumSquare(int x, int y) {  return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(x,x)+ y;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985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2920745" y="13208"/>
            <a:ext cx="34512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the Stack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535940" y="957062"/>
            <a:ext cx="2295525" cy="970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Hand-compile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sumSquare: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5311611" y="4899097"/>
            <a:ext cx="276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restore stack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786974" y="4899100"/>
            <a:ext cx="35100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ADD sp,sp,#8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BX lr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mult: mul r0,r0,r0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BX lr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3584575" y="1089152"/>
            <a:ext cx="5318125" cy="702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75">
            <a:spAutoFit/>
          </a:bodyPr>
          <a:lstStyle/>
          <a:p>
            <a:pPr indent="-457200" lvl="0" marL="469900" marR="5080" rtl="0" algn="l">
              <a:lnSpc>
                <a:spcPct val="102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int sumSquare(int x, int y) {  return </a:t>
            </a:r>
            <a:r>
              <a:rPr b="1" lang="en-US" sz="20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mult</a:t>
            </a:r>
            <a:r>
              <a:rPr b="1" lang="en-US" sz="24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(x,x)+ y; 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383626" y="2221750"/>
            <a:ext cx="1189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lang="en-US" sz="2400">
                <a:solidFill>
                  <a:srgbClr val="FF0000"/>
                </a:solidFill>
              </a:rPr>
              <a:t>push”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Google Shape;198;p15"/>
          <p:cNvGraphicFramePr/>
          <p:nvPr/>
        </p:nvGraphicFramePr>
        <p:xfrm>
          <a:off x="1315953" y="21257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1396950"/>
                <a:gridCol w="1221300"/>
                <a:gridCol w="711275"/>
                <a:gridCol w="651500"/>
                <a:gridCol w="520825"/>
                <a:gridCol w="382850"/>
                <a:gridCol w="695250"/>
                <a:gridCol w="382850"/>
                <a:gridCol w="415425"/>
                <a:gridCol w="382850"/>
                <a:gridCol w="930100"/>
              </a:tblGrid>
              <a:tr h="2804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195580" marR="12065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sp,sp,#-8</a:t>
                      </a:r>
                      <a:endParaRPr sz="2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67945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space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0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3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 </a:t>
                      </a: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lr,[sp,#4]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67945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105410" marR="3175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save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2804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3">
                  <a:txBody>
                    <a:bodyPr/>
                    <a:lstStyle/>
                    <a:p>
                      <a:pPr indent="0" lvl="0" marL="195580" marR="12065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 [sp]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67945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105410" marR="3175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save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280425">
                <a:tc>
                  <a:txBody>
                    <a:bodyPr/>
                    <a:lstStyle/>
                    <a:p>
                      <a:pPr indent="0" lvl="0" marL="0" marR="206375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BL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mult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76860" marR="12065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call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5"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mult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</a:tr>
              <a:tr h="479225">
                <a:tc>
                  <a:txBody>
                    <a:bodyPr/>
                    <a:lstStyle/>
                    <a:p>
                      <a:pPr indent="0" lvl="0" marL="0" marR="2349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LDR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2860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28600" marB="0" marR="0" marL="0"/>
                </a:tc>
                <a:tc gridSpan="2">
                  <a:txBody>
                    <a:bodyPr/>
                    <a:lstStyle/>
                    <a:p>
                      <a:pPr indent="0" lvl="0" marL="9017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[sp] </a:t>
                      </a: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28600" marB="0" marR="0" marL="0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restore y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228600" marB="0" marR="0" marL="0"/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588850">
                <a:tc gridSpan="2"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 r0,r0,r1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3100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LDR lr,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3">
                  <a:txBody>
                    <a:bodyPr/>
                    <a:lstStyle/>
                    <a:p>
                      <a:pPr indent="0" lvl="0" marL="9525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 mult()+y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[sp, #4]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768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</a:t>
                      </a:r>
                      <a:endParaRPr sz="2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i="1" lang="en-US" sz="2000" u="none" cap="none" strike="noStrike">
                          <a:solidFill>
                            <a:srgbClr val="1C1C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addr</a:t>
                      </a:r>
                      <a:endParaRPr i="1" sz="2000" u="none" cap="none" strike="noStrike">
                        <a:solidFill>
                          <a:srgbClr val="1C1C1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i="1" sz="2000">
                        <a:solidFill>
                          <a:srgbClr val="1C1C1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" marB="0" marR="0" marL="0"/>
                </a:tc>
                <a:tc hMerge="1"/>
              </a:tr>
            </a:tbl>
          </a:graphicData>
        </a:graphic>
      </p:graphicFrame>
      <p:sp>
        <p:nvSpPr>
          <p:cNvPr id="199" name="Google Shape;199;p15"/>
          <p:cNvSpPr txBox="1"/>
          <p:nvPr/>
        </p:nvSpPr>
        <p:spPr>
          <a:xfrm>
            <a:off x="383628" y="5009125"/>
            <a:ext cx="1008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“pop”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4331375" y="5235100"/>
            <a:ext cx="4473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return original location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5489786" y="5661097"/>
            <a:ext cx="2765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 mult x,x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783742" y="89408"/>
            <a:ext cx="75018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for Making a Procedure Call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764554" y="1065625"/>
            <a:ext cx="7958400" cy="2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439420" lvl="0" marL="4514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Save necessary values onto stack (e.g. lr, r1)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9420" lvl="0" marL="451484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Assign argument(s), if any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9420" lvl="0" marL="451484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9419" lvl="0" marL="451483" marR="0" rtl="0" algn="l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Restore values from stack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9420" lvl="0" marL="451484" marR="0" rtl="0" algn="l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BX lr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type="title"/>
          </p:nvPr>
        </p:nvSpPr>
        <p:spPr>
          <a:xfrm>
            <a:off x="2268092" y="89408"/>
            <a:ext cx="46043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for Procedures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64551" y="1136650"/>
            <a:ext cx="7759500" cy="4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Called with a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instruction, returns with 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BX	lr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(or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MOV pc, lr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76200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Accepts up to 4 arguments in r0, r1, r2 and  r3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131762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Return value is always in r0 (and if  necessary in r1, r2, r3)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3175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Must follow 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conventions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(even in  functions that only you will call)!	So what  are they?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18"/>
          <p:cNvSpPr txBox="1"/>
          <p:nvPr>
            <p:ph type="title"/>
          </p:nvPr>
        </p:nvSpPr>
        <p:spPr>
          <a:xfrm>
            <a:off x="3001517" y="165303"/>
            <a:ext cx="321437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 Registers</a:t>
            </a:r>
            <a:endParaRPr/>
          </a:p>
        </p:txBody>
      </p:sp>
      <p:graphicFrame>
        <p:nvGraphicFramePr>
          <p:cNvPr id="220" name="Google Shape;220;p18"/>
          <p:cNvGraphicFramePr/>
          <p:nvPr/>
        </p:nvGraphicFramePr>
        <p:xfrm>
          <a:off x="-6350" y="1060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1289675"/>
                <a:gridCol w="3038475"/>
                <a:gridCol w="4817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Synonym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 in Procedure Call Standard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r0-r1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a1-a2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Argument/Result/Scratch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r2-r3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a3-a4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r4-r8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v1-v5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r9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v6/sb/tr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Platform Register/Thread Register/Stack Base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r10-r11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v7-v8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Intra-Procedure Call 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Pointer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 Counter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19"/>
          <p:cNvSpPr txBox="1"/>
          <p:nvPr>
            <p:ph type="title"/>
          </p:nvPr>
        </p:nvSpPr>
        <p:spPr>
          <a:xfrm>
            <a:off x="2275713" y="165303"/>
            <a:ext cx="474027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Conventions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12140" y="836650"/>
            <a:ext cx="7825740" cy="5294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Calle</a:t>
            </a:r>
            <a:r>
              <a:rPr lang="en-US" sz="3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the calling function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Calle</a:t>
            </a:r>
            <a:r>
              <a:rPr lang="en-US" sz="3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the function being called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When callee returns from executing, the caller  needs to know which registers may have  changed and which are guaranteed to be  unchanged.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63754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Conventions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A set of generally  accepted rules as to which registers will be  unchanged after a procedure call (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 and  which may be changed.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1375028" y="165303"/>
            <a:ext cx="616331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10053"/>
                </a:solidFill>
              </a:rPr>
              <a:t>Saved Register Conventions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35940" y="933957"/>
            <a:ext cx="7677784" cy="402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r4-r11 (v1-v8): </a:t>
            </a: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Restore if you change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 Very  important.	If the </a:t>
            </a:r>
            <a:r>
              <a:rPr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callee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changes these in any  way, it must restore the original values before  returning.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31115" rtl="0" algn="just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sp: </a:t>
            </a: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Restore if you change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 The stack pointer  must point to the same place before and after  the 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call, or else the caller won’t’be able to  restore values from the stack.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1218996" y="89408"/>
            <a:ext cx="65392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</a:rPr>
              <a:t>Volatile </a:t>
            </a:r>
            <a:r>
              <a:rPr lang="en-US">
                <a:solidFill>
                  <a:srgbClr val="010053"/>
                </a:solidFill>
              </a:rPr>
              <a:t>Register Conventions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12140" y="930909"/>
            <a:ext cx="65226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lr: </a:t>
            </a:r>
            <a:r>
              <a:rPr lang="en-US" sz="3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Change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 The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BX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call itself will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this register. </a:t>
            </a:r>
            <a:r>
              <a:rPr lang="en-US" sz="3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Caller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needs to save on  stack if nested call.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612150" y="2394324"/>
            <a:ext cx="7998900" cy="3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99062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r0-r3 (a1-a4): </a:t>
            </a:r>
            <a:r>
              <a:rPr lang="en-US" sz="32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change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	These are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77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volatile argument registers. </a:t>
            </a:r>
            <a:r>
              <a:rPr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Caller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needs to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198755" rtl="0" algn="l">
              <a:lnSpc>
                <a:spcPct val="65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save if they’ll need them after the call.	E.g.,  r0 will change if there is a return value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115" marR="0" rtl="0" algn="l">
              <a:lnSpc>
                <a:spcPct val="99062"/>
              </a:lnSpc>
              <a:spcBef>
                <a:spcPts val="269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r12 (ip) may be used by a linker as a scratch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77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register between a routine and any subroutine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77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it calls. It can also be used within a routine to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158750" rtl="0" algn="l">
              <a:lnSpc>
                <a:spcPct val="651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hold intermediate values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between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subroutine  calls.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2199513" y="89408"/>
            <a:ext cx="47415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Register Conventions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12140" y="1146098"/>
            <a:ext cx="7591425" cy="428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do these conventions mean?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97500"/>
              </a:lnSpc>
              <a:spcBef>
                <a:spcPts val="76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function R calls function E, then function R  must save any temporary registers that it may be  using onto the stack before making a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call.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485140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Function E must save any saved registers it  intends to use before garbling up their values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46609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Remember: Calle</a:t>
            </a: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/calle</a:t>
            </a: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need to save only  volatile/saved registers 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using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, not all  registers.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1426844" y="89408"/>
            <a:ext cx="63614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Structure of a Function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816602" y="2433047"/>
            <a:ext cx="1727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;save lr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450594" y="3120643"/>
            <a:ext cx="6648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307340" y="1048257"/>
            <a:ext cx="5791200" cy="22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latin typeface="Arial"/>
                <a:ea typeface="Arial"/>
                <a:cs typeface="Arial"/>
                <a:sym typeface="Arial"/>
              </a:rPr>
              <a:t>Prologue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1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entry_label: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0" rtl="0" algn="l">
              <a:lnSpc>
                <a:spcPct val="100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ADD sp,sp, 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-framesize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1300" marR="5080" rtl="0" algn="l">
              <a:lnSpc>
                <a:spcPct val="102142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 lr, [sp, #framesize-4] 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save other 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regs if need be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5816602" y="4544110"/>
            <a:ext cx="2366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;restore lr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535940" y="4379722"/>
            <a:ext cx="5562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marR="5080" rtl="0" algn="l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LDR lr, [$sp, framesize-4]  ADD sp,sp,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#framesize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BX lr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2637915" y="5552990"/>
            <a:ext cx="64224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00">
                <a:latin typeface="Arial"/>
                <a:ea typeface="Arial"/>
                <a:cs typeface="Arial"/>
                <a:sym typeface="Arial"/>
              </a:rPr>
              <a:t>Epilogue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restore other regs if need be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332990" y="3676074"/>
            <a:ext cx="5968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00">
                <a:latin typeface="Arial"/>
                <a:ea typeface="Arial"/>
                <a:cs typeface="Arial"/>
                <a:sym typeface="Arial"/>
              </a:rPr>
              <a:t>Body	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(call other functions…)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7543800" y="2895600"/>
            <a:ext cx="762000" cy="1219200"/>
          </a:xfrm>
          <a:custGeom>
            <a:rect b="b" l="l" r="r" t="t"/>
            <a:pathLst>
              <a:path extrusionOk="0" h="1219200" w="762000">
                <a:moveTo>
                  <a:pt x="0" y="1219200"/>
                </a:moveTo>
                <a:lnTo>
                  <a:pt x="762000" y="1219200"/>
                </a:lnTo>
                <a:lnTo>
                  <a:pt x="76200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  <a:path extrusionOk="0" h="1219200" w="762000">
                <a:moveTo>
                  <a:pt x="0" y="228600"/>
                </a:moveTo>
                <a:lnTo>
                  <a:pt x="762000" y="228600"/>
                </a:lnTo>
                <a:lnTo>
                  <a:pt x="762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23"/>
          <p:cNvSpPr txBox="1"/>
          <p:nvPr/>
        </p:nvSpPr>
        <p:spPr>
          <a:xfrm>
            <a:off x="7543800" y="2895600"/>
            <a:ext cx="762000" cy="2286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44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8420100" y="2895600"/>
            <a:ext cx="76200" cy="1219200"/>
          </a:xfrm>
          <a:custGeom>
            <a:rect b="b" l="l" r="r" t="t"/>
            <a:pathLst>
              <a:path extrusionOk="0" h="1219200" w="76200">
                <a:moveTo>
                  <a:pt x="31750" y="1143000"/>
                </a:moveTo>
                <a:lnTo>
                  <a:pt x="0" y="1143000"/>
                </a:lnTo>
                <a:lnTo>
                  <a:pt x="38100" y="1219200"/>
                </a:lnTo>
                <a:lnTo>
                  <a:pt x="69850" y="1155700"/>
                </a:lnTo>
                <a:lnTo>
                  <a:pt x="31750" y="1155700"/>
                </a:lnTo>
                <a:lnTo>
                  <a:pt x="31750" y="1143000"/>
                </a:lnTo>
                <a:close/>
              </a:path>
              <a:path extrusionOk="0" h="1219200" w="76200">
                <a:moveTo>
                  <a:pt x="44450" y="0"/>
                </a:moveTo>
                <a:lnTo>
                  <a:pt x="31750" y="0"/>
                </a:lnTo>
                <a:lnTo>
                  <a:pt x="31750" y="1155700"/>
                </a:lnTo>
                <a:lnTo>
                  <a:pt x="44450" y="1155700"/>
                </a:lnTo>
                <a:lnTo>
                  <a:pt x="44450" y="0"/>
                </a:lnTo>
                <a:close/>
              </a:path>
              <a:path extrusionOk="0" h="1219200" w="76200">
                <a:moveTo>
                  <a:pt x="76200" y="1143000"/>
                </a:moveTo>
                <a:lnTo>
                  <a:pt x="44450" y="1143000"/>
                </a:lnTo>
                <a:lnTo>
                  <a:pt x="44450" y="1155700"/>
                </a:lnTo>
                <a:lnTo>
                  <a:pt x="69850" y="1155700"/>
                </a:lnTo>
                <a:lnTo>
                  <a:pt x="76200" y="1143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23"/>
          <p:cNvSpPr txBox="1"/>
          <p:nvPr/>
        </p:nvSpPr>
        <p:spPr>
          <a:xfrm>
            <a:off x="7470393" y="4125214"/>
            <a:ext cx="94488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memory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>
            <p:ph type="title"/>
          </p:nvPr>
        </p:nvSpPr>
        <p:spPr>
          <a:xfrm>
            <a:off x="3653790" y="13208"/>
            <a:ext cx="19100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12140" y="1031875"/>
            <a:ext cx="5783700" cy="12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main() {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int i,j,k,m; </a:t>
            </a:r>
            <a:r>
              <a:rPr lang="en-US" sz="26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/* i-m:v1-v4 */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71" name="Google Shape;271;p24"/>
          <p:cNvGraphicFramePr/>
          <p:nvPr/>
        </p:nvGraphicFramePr>
        <p:xfrm>
          <a:off x="795781" y="2288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328300"/>
                <a:gridCol w="395600"/>
                <a:gridCol w="2181850"/>
                <a:gridCol w="794375"/>
                <a:gridCol w="328925"/>
              </a:tblGrid>
              <a:tr h="3855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3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mult(j,k);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46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38585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67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7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7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mult(i,i);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67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8425" marR="0" rtl="0" algn="l">
                        <a:lnSpc>
                          <a:spcPct val="1067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26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72" name="Google Shape;272;p24"/>
          <p:cNvSpPr txBox="1"/>
          <p:nvPr/>
        </p:nvSpPr>
        <p:spPr>
          <a:xfrm>
            <a:off x="612140" y="3568446"/>
            <a:ext cx="637032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int mult (int mcand, int mlier){  int product;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08915" marR="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product = 0;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97485" lvl="0" marL="412115" marR="2180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while (mlier &gt; 0)	{  product += mcand;  mlier -= 1; }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return product;}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/>
          <p:nvPr>
            <p:ph type="title"/>
          </p:nvPr>
        </p:nvSpPr>
        <p:spPr>
          <a:xfrm>
            <a:off x="2243708" y="165303"/>
            <a:ext cx="1910714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88340" y="1399997"/>
            <a:ext cx="148844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start: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79" name="Google Shape;279;p25"/>
          <p:cNvGraphicFramePr/>
          <p:nvPr/>
        </p:nvGraphicFramePr>
        <p:xfrm>
          <a:off x="871982" y="1902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669925"/>
                <a:gridCol w="2367925"/>
                <a:gridCol w="1637025"/>
                <a:gridCol w="912500"/>
                <a:gridCol w="363850"/>
                <a:gridCol w="304800"/>
              </a:tblGrid>
              <a:tr h="355525">
                <a:tc>
                  <a:txBody>
                    <a:bodyPr/>
                    <a:lstStyle/>
                    <a:p>
                      <a:pPr indent="0" lvl="0" marL="0" marR="50165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a1,v</a:t>
                      </a:r>
                      <a:r>
                        <a:rPr lang="en-US" sz="2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355525">
                <a:tc>
                  <a:txBody>
                    <a:bodyPr/>
                    <a:lstStyle/>
                    <a:p>
                      <a:pPr indent="0" lvl="0" marL="0" marR="50165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a2,v</a:t>
                      </a:r>
                      <a:r>
                        <a:rPr lang="en-US" sz="2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arg2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80" name="Google Shape;280;p25"/>
          <p:cNvSpPr txBox="1"/>
          <p:nvPr/>
        </p:nvSpPr>
        <p:spPr>
          <a:xfrm>
            <a:off x="5261228" y="2570734"/>
            <a:ext cx="221742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call mult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i = mult()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891032" y="2570734"/>
            <a:ext cx="16689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BL mult  MOV v1,a1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482295" y="4042664"/>
            <a:ext cx="20505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590" lvl="0" marL="393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 a1,v1  MOV a2,v1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93700" marR="5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BL mult  MOV v4,a1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937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4318761" y="4042664"/>
            <a:ext cx="313182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arg1 = i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arg2 = i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call mult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m = mult()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3364550" y="860963"/>
            <a:ext cx="554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main() {int i,j,k,m; /* i-m:v1-v4 */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 = mult(j,k); ...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3364550" y="1543220"/>
            <a:ext cx="3072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m = mult(i,i); ... }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type="title"/>
          </p:nvPr>
        </p:nvSpPr>
        <p:spPr>
          <a:xfrm>
            <a:off x="3577590" y="165303"/>
            <a:ext cx="1910714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64540" y="1088138"/>
            <a:ext cx="7561580" cy="2893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Notes: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function ends with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, not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BX lr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, so  there’s no need to save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lr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onto stack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244475" rtl="0" algn="just">
              <a:lnSpc>
                <a:spcPct val="102499"/>
              </a:lnSpc>
              <a:spcBef>
                <a:spcPts val="58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All variables used in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main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function are saved  registers, so there’s no need to save these onto  stack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/>
          <p:nvPr>
            <p:ph type="title"/>
          </p:nvPr>
        </p:nvSpPr>
        <p:spPr>
          <a:xfrm>
            <a:off x="3729990" y="89408"/>
            <a:ext cx="19100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307350" y="931549"/>
            <a:ext cx="79428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0" lvl="0" marL="1765300" marR="508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int mult (int mcand, int mlier){  int product = 0;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65300" marR="2197735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while (mlier &gt; 0)	{  product += mcand;  mlier -= 1; } </a:t>
            </a:r>
            <a:endParaRPr b="1" sz="2200">
              <a:solidFill>
                <a:srgbClr val="33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765300" marR="2197735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return product;}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8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mult: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 a3,#0</a:t>
            </a: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prod=0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98" name="Google Shape;298;p27"/>
          <p:cNvGraphicFramePr/>
          <p:nvPr/>
        </p:nvGraphicFramePr>
        <p:xfrm>
          <a:off x="260553" y="31648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{2783A856-1E39-4863-990E-6B405A5CF250}</a:tableStyleId>
              </a:tblPr>
              <a:tblGrid>
                <a:gridCol w="1094750"/>
                <a:gridCol w="671200"/>
                <a:gridCol w="729625"/>
                <a:gridCol w="1101100"/>
                <a:gridCol w="367025"/>
                <a:gridCol w="1642750"/>
                <a:gridCol w="465450"/>
                <a:gridCol w="456575"/>
                <a:gridCol w="913775"/>
                <a:gridCol w="671200"/>
              </a:tblGrid>
              <a:tr h="7842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3333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Loop: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048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CMP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32384" marR="0" rtl="0" algn="l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BLE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a2,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Fin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#0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mlier ==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 mlier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0?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16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goto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1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Fin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25" marB="0" marR="0" marL="0"/>
                </a:tc>
              </a:tr>
              <a:tr h="486150">
                <a:tc gridSpan="2">
                  <a:txBody>
                    <a:bodyPr/>
                    <a:lstStyle/>
                    <a:p>
                      <a:pPr indent="0" lvl="0" marL="11271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255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a3,a3,a1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255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2550" marB="0" marR="0" marL="0"/>
                </a:tc>
                <a:tc gridSpan="2">
                  <a:txBody>
                    <a:bodyPr/>
                    <a:lstStyle/>
                    <a:p>
                      <a:pPr indent="0" lvl="0" marL="90170" marR="3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 +=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2550" marB="0" marR="0" marL="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mcand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2550" marB="0" marR="0" marL="0"/>
                </a:tc>
                <a:tc hMerge="1"/>
                <a:tc hMerge="1"/>
              </a:tr>
              <a:tr h="392050">
                <a:tc gridSpan="2">
                  <a:txBody>
                    <a:bodyPr/>
                    <a:lstStyle/>
                    <a:p>
                      <a:pPr indent="0" lvl="0" marL="1127125" marR="0" rtl="0" algn="l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2"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a2,a2,#-1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90170" marR="3175" rtl="0" algn="l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mlier -= 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hMerge="1"/>
                <a:tc hMerge="1"/>
              </a:tr>
            </a:tbl>
          </a:graphicData>
        </a:graphic>
      </p:graphicFrame>
      <p:sp>
        <p:nvSpPr>
          <p:cNvPr id="299" name="Google Shape;299;p27"/>
          <p:cNvSpPr txBox="1"/>
          <p:nvPr/>
        </p:nvSpPr>
        <p:spPr>
          <a:xfrm>
            <a:off x="432000" y="4791575"/>
            <a:ext cx="69030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28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 Loop	; </a:t>
            </a: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goto Loop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2350">
              <a:latin typeface="Courier New"/>
              <a:ea typeface="Courier New"/>
              <a:cs typeface="Courier New"/>
              <a:sym typeface="Courier New"/>
            </a:endParaRPr>
          </a:p>
          <a:p>
            <a:pPr indent="-915035" lvl="0" marL="927100" marR="5080" rtl="0" algn="l">
              <a:lnSpc>
                <a:spcPct val="12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Fin: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 a1,a3 ; setup return value  BX lr	</a:t>
            </a:r>
            <a:r>
              <a:rPr i="1" lang="en-US" sz="2400">
                <a:latin typeface="Courier New"/>
                <a:ea typeface="Courier New"/>
                <a:cs typeface="Courier New"/>
                <a:sym typeface="Courier New"/>
              </a:rPr>
              <a:t>; return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3615690" y="89408"/>
            <a:ext cx="19100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764540" y="1016914"/>
            <a:ext cx="765810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Notes: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102499"/>
              </a:lnSpc>
              <a:spcBef>
                <a:spcPts val="42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BL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calls are made from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mult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and we don’t  use any saved registers, so we don’t need to save  anything onto stack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2730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Temp registers are used for intermediate  calculations (could have used saved registers,  but would have to save the caller’s on the stack.)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132715" rtl="0" algn="l">
              <a:lnSpc>
                <a:spcPct val="105100"/>
              </a:lnSpc>
              <a:spcBef>
                <a:spcPts val="33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a2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is modified directly (instead of copying into  a temp register) since we are free to change it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Result is put into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a1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r0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 before returning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>
            <p:ph type="title"/>
          </p:nvPr>
        </p:nvSpPr>
        <p:spPr>
          <a:xfrm>
            <a:off x="3326129" y="165303"/>
            <a:ext cx="248983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688340" y="1060450"/>
            <a:ext cx="7672705" cy="4637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Functions are called with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, and return with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BX	lr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41655" rtl="0" algn="l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stack is your friend: Use it to save  anything you need.	Just be sure to leave it  the way you found 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32639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Conventions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Each register has a  purpose and limits to its usage.	Learn these  and follow them, even if you’re writing all  the code yourself.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3258058" y="165303"/>
            <a:ext cx="248983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154939" y="971278"/>
            <a:ext cx="2512695" cy="79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204469" lvl="0" marL="2165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Instructions so far: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1" marL="615950" marR="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❖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Previously: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464075" y="1869200"/>
            <a:ext cx="78507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31750" rtl="0" algn="l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ADD,SUB,MUL,MULA, [U|S]MULL, [U|S]MLAL, RSB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AND, ORR, EOR, BIC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MOV, MVN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LSL, LSR, ASR, ROR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CMP, B{EQ,NE,LT,LE,GT,GE}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LDR, LDR, STR, LDRB, STRB, LDRH, STRH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03200" lvl="0" marL="6159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❖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New: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BL, BX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38759" lvl="0" marL="250825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Registers we know so far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4470" lvl="1" marL="711835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of them!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2023-08-21T08:46:53Z</dcterms:created>
  <dc:creator>Ryan Kastner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2011-08-31T00:00:00Z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2023-08-21T00:00:00Z</vt:filetime>
  </property>
</Properties>
</file>