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7" r:id="rId17"/>
    <p:sldId id="271" r:id="rId18"/>
    <p:sldId id="272" r:id="rId19"/>
    <p:sldId id="273" r:id="rId20"/>
    <p:sldId id="288" r:id="rId21"/>
    <p:sldId id="274" r:id="rId22"/>
    <p:sldId id="275" r:id="rId23"/>
    <p:sldId id="276" r:id="rId24"/>
    <p:sldId id="289" r:id="rId25"/>
    <p:sldId id="277" r:id="rId26"/>
    <p:sldId id="290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Bookman Old Style" panose="02050604050505020204" pitchFamily="18" charset="0"/>
      <p:regular r:id="rId43"/>
      <p:bold r:id="rId44"/>
      <p:italic r:id="rId45"/>
      <p:boldItalic r:id="rId46"/>
    </p:embeddedFont>
    <p:embeddedFont>
      <p:font typeface="Consolas" panose="020B0609020204030204" pitchFamily="49" charset="0"/>
      <p:regular r:id="rId47"/>
      <p:bold r:id="rId48"/>
      <p:italic r:id="rId49"/>
      <p:boldItalic r:id="rId50"/>
    </p:embeddedFont>
    <p:embeddedFont>
      <p:font typeface="Gill Sans" panose="020B0604020202020204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gFIvLUrHhnhapdicplASA4fjdO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455b593a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2455b593a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6120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7525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57488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29413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7d3d1ffb6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g27d3d1ffb6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31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31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95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3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ookman Old Style"/>
              <a:buNone/>
              <a:defRPr sz="32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sldNum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33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33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body" idx="2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824"/>
              <a:buNone/>
              <a:defRPr sz="2400" b="1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520"/>
              <a:buNone/>
              <a:defRPr sz="2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824"/>
              <a:buNone/>
              <a:defRPr sz="2400" b="1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520"/>
              <a:buNone/>
              <a:defRPr sz="2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3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4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7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3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9" name="Google Shape;69;p3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8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sz="2000" b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8"/>
          <p:cNvSpPr txBox="1">
            <a:spLocks noGrp="1"/>
          </p:cNvSpPr>
          <p:nvPr>
            <p:ph type="body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73" name="Google Shape;73;p38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3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7" name="Google Shape;77;p38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8" name="Google Shape;78;p3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38"/>
          <p:cNvSpPr txBox="1">
            <a:spLocks noGrp="1"/>
          </p:cNvSpPr>
          <p:nvPr>
            <p:ph type="body" idx="2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solidFill>
          <a:schemeClr val="dk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ookman Old Style"/>
              <a:buNone/>
              <a:defRPr sz="20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>
            <a:spLocks noGrp="1"/>
          </p:cNvSpPr>
          <p:nvPr>
            <p:ph type="pic" idx="2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83" name="Google Shape;83;p3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marL="914400" lvl="1" indent="-286512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marL="1371600" lvl="2" indent="-27686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marL="1828800" lvl="3" indent="-268605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marL="2286000" lvl="4" indent="-268604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84" name="Google Shape;84;p39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3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8" name="Google Shape;88;p3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3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0"/>
          <p:cNvSpPr txBox="1">
            <a:spLocks noGrp="1"/>
          </p:cNvSpPr>
          <p:nvPr>
            <p:ph type="body" idx="1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99" name="Google Shape;99;p41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1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4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3" name="Google Shape;103;p4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41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A8464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/>
          </a:p>
        </p:txBody>
      </p:sp>
      <p:cxnSp>
        <p:nvCxnSpPr>
          <p:cNvPr id="15" name="Google Shape;15;p3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" name="Google Shape;16;p30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7" name="Google Shape;17;p3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1066800" y="3785235"/>
            <a:ext cx="7239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Bookman Old Style"/>
              <a:buNone/>
            </a:pPr>
            <a:r>
              <a:rPr lang="en-US" sz="2000" b="1">
                <a:solidFill>
                  <a:srgbClr val="C00000"/>
                </a:solidFill>
              </a:rPr>
              <a:t>Lecture#7: Stack &amp; Recursion (Chapter#8)</a:t>
            </a:r>
            <a:br>
              <a:rPr lang="en-US" sz="2000" b="1">
                <a:solidFill>
                  <a:srgbClr val="C00000"/>
                </a:solidFill>
              </a:rPr>
            </a:br>
            <a:r>
              <a:rPr lang="en-US" sz="2000"/>
              <a:t>Summer, </a:t>
            </a:r>
            <a:r>
              <a:rPr lang="en-US" sz="2000" smtClean="0"/>
              <a:t>2025</a:t>
            </a:r>
            <a:endParaRPr sz="2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Bookman Old Style"/>
              <a:buNone/>
            </a:pPr>
            <a:endParaRPr sz="2000" dirty="0"/>
          </a:p>
        </p:txBody>
      </p:sp>
      <p:sp>
        <p:nvSpPr>
          <p:cNvPr id="110" name="Google Shape;110;p1"/>
          <p:cNvSpPr txBox="1"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1"/>
              <a:buNone/>
            </a:pPr>
            <a:r>
              <a:rPr lang="en-US" sz="1420" dirty="0" smtClean="0"/>
              <a:t>Credit: Dr. Mohammad </a:t>
            </a:r>
            <a:r>
              <a:rPr lang="en-US" sz="1420" dirty="0"/>
              <a:t>A. </a:t>
            </a:r>
            <a:r>
              <a:rPr lang="en-US" sz="1420" dirty="0" err="1" smtClean="0"/>
              <a:t>Qayum</a:t>
            </a:r>
            <a:r>
              <a:rPr lang="en-US" sz="1420" dirty="0"/>
              <a:t/>
            </a:r>
            <a:br>
              <a:rPr lang="en-US" sz="1420" dirty="0"/>
            </a:br>
            <a:endParaRPr sz="1420" dirty="0"/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1"/>
              <a:buNone/>
            </a:pPr>
            <a:endParaRPr sz="1120" dirty="0"/>
          </a:p>
        </p:txBody>
      </p:sp>
      <p:sp>
        <p:nvSpPr>
          <p:cNvPr id="111" name="Google Shape;111;p1"/>
          <p:cNvSpPr txBox="1"/>
          <p:nvPr/>
        </p:nvSpPr>
        <p:spPr>
          <a:xfrm>
            <a:off x="1828800" y="337547"/>
            <a:ext cx="6477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Embedded Systems with ARM Cortex-M Microcontrollers in Assembly Language and C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1401553" y="1828800"/>
            <a:ext cx="6867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b="1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CSE331: Microprocessor Interfacing and Embedded Systems</a:t>
            </a:r>
            <a:endParaRPr sz="2400" b="1">
              <a:solidFill>
                <a:srgbClr val="C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"/>
          <p:cNvSpPr txBox="1">
            <a:spLocks noGrp="1"/>
          </p:cNvSpPr>
          <p:nvPr>
            <p:ph type="sldNum" idx="12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Stack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86868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 A </a:t>
            </a:r>
            <a:r>
              <a:rPr lang="en-US" sz="2400" b="1">
                <a:solidFill>
                  <a:srgbClr val="FF0000"/>
                </a:solidFill>
              </a:rPr>
              <a:t>Last-In-First-Out</a:t>
            </a:r>
            <a:r>
              <a:rPr lang="en-US" sz="2400"/>
              <a:t> data structure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Only allow to access the most recently added item</a:t>
            </a:r>
            <a:endParaRPr/>
          </a:p>
          <a:p>
            <a:pPr marL="548640" lvl="1" indent="-274319" algn="l" rtl="0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Also called the top of the stack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Key operations:</a:t>
            </a:r>
            <a:endParaRPr/>
          </a:p>
          <a:p>
            <a:pPr marL="548640" lvl="1" indent="-274320" algn="l" rtl="0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/>
              <a:t>push (add item to stack)</a:t>
            </a:r>
            <a:endParaRPr/>
          </a:p>
          <a:p>
            <a:pPr marL="548640" lvl="1" indent="-274320" algn="l" rtl="0">
              <a:spcBef>
                <a:spcPts val="500"/>
              </a:spcBef>
              <a:spcAft>
                <a:spcPts val="0"/>
              </a:spcAft>
              <a:buSzPts val="1520"/>
              <a:buChar char="🞂"/>
            </a:pPr>
            <a:r>
              <a:rPr lang="en-US" sz="2000"/>
              <a:t>pop (remove top item from stack)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1824"/>
              <a:buNone/>
            </a:pPr>
            <a:endParaRPr sz="2400"/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7400" y="2362200"/>
            <a:ext cx="28194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4114800"/>
            <a:ext cx="304274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Bookman Old Style"/>
              <a:buNone/>
            </a:pPr>
            <a:r>
              <a:rPr lang="en-US"/>
              <a:t>Stack Growth Convention:</a:t>
            </a:r>
            <a:br>
              <a:rPr lang="en-US"/>
            </a:br>
            <a:r>
              <a:rPr lang="en-US">
                <a:solidFill>
                  <a:srgbClr val="C00000"/>
                </a:solidFill>
              </a:rPr>
              <a:t>Ascending </a:t>
            </a:r>
            <a:r>
              <a:rPr lang="en-US" i="1">
                <a:solidFill>
                  <a:srgbClr val="C00000"/>
                </a:solidFill>
              </a:rPr>
              <a:t>vs</a:t>
            </a:r>
            <a:r>
              <a:rPr lang="en-US">
                <a:solidFill>
                  <a:srgbClr val="C00000"/>
                </a:solidFill>
              </a:rPr>
              <a:t> Descending</a:t>
            </a: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457200" y="5638800"/>
            <a:ext cx="4191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Descending stack</a:t>
            </a:r>
            <a:r>
              <a:rPr lang="en-US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Stack grows towards low memory address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876800" y="5638800"/>
            <a:ext cx="3810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Ascending stack</a:t>
            </a:r>
            <a:r>
              <a:rPr lang="en-US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Stack grows towards high memory address</a:t>
            </a:r>
            <a:endParaRPr/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2541" y="1194885"/>
            <a:ext cx="2383043" cy="4372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1194884"/>
            <a:ext cx="2420224" cy="4357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Cortex-M Stack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body" idx="1"/>
          </p:nvPr>
        </p:nvSpPr>
        <p:spPr>
          <a:xfrm>
            <a:off x="152400" y="1295399"/>
            <a:ext cx="49530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128"/>
              <a:buChar char="🞂"/>
            </a:pPr>
            <a:r>
              <a:rPr lang="en-US" sz="2800"/>
              <a:t>stack pointer (SP) = R13 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2128"/>
              <a:buChar char="🞂"/>
            </a:pPr>
            <a:r>
              <a:rPr lang="en-US" sz="2800"/>
              <a:t>Cortex-M uses </a:t>
            </a:r>
            <a:r>
              <a:rPr lang="en-US" sz="2800" b="1" i="1">
                <a:solidFill>
                  <a:srgbClr val="C00000"/>
                </a:solidFill>
              </a:rPr>
              <a:t>full descending stack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2128"/>
              <a:buChar char="🞂"/>
            </a:pPr>
            <a:r>
              <a:rPr lang="en-US" sz="2800"/>
              <a:t>stack pointer</a:t>
            </a:r>
            <a:endParaRPr/>
          </a:p>
          <a:p>
            <a:pPr marL="548640" lvl="1" indent="-274319" algn="l" rtl="0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decremented on </a:t>
            </a:r>
            <a:r>
              <a:rPr lang="en-US" sz="2400" b="1">
                <a:solidFill>
                  <a:srgbClr val="C00000"/>
                </a:solidFill>
              </a:rPr>
              <a:t>PUSH</a:t>
            </a:r>
            <a:endParaRPr/>
          </a:p>
          <a:p>
            <a:pPr marL="548640" lvl="1" indent="-274319" algn="l" rtl="0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incremented on </a:t>
            </a:r>
            <a:r>
              <a:rPr lang="en-US" sz="2400" b="1">
                <a:solidFill>
                  <a:srgbClr val="C00000"/>
                </a:solidFill>
              </a:rPr>
              <a:t>POP</a:t>
            </a:r>
            <a:endParaRPr/>
          </a:p>
          <a:p>
            <a:pPr marL="548640" lvl="1" indent="-274320" algn="l" rtl="0"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lang="en-US"/>
              <a:t>SP starts at </a:t>
            </a:r>
            <a:r>
              <a:rPr lang="en-US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0x20000200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for STM32-Discovery</a:t>
            </a:r>
            <a:endParaRPr/>
          </a:p>
        </p:txBody>
      </p: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830" y="1201394"/>
            <a:ext cx="3447970" cy="5123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Stack</a:t>
            </a:r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rPr lang="en-U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lang="en-US" sz="2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2800" i="1">
                <a:latin typeface="Consolas"/>
                <a:ea typeface="Consolas"/>
                <a:cs typeface="Consolas"/>
                <a:sym typeface="Consolas"/>
              </a:rPr>
              <a:t>Rd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  <a:p>
            <a:pPr marL="548640" lvl="1" indent="-274320" algn="l" rtl="0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SP = SP-4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⟶    descending stack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548640" lvl="1" indent="-274320" algn="l" rtl="0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(*SP) = </a:t>
            </a:r>
            <a:r>
              <a:rPr lang="en-US" sz="2400" i="1">
                <a:latin typeface="Consolas"/>
                <a:ea typeface="Consolas"/>
                <a:cs typeface="Consolas"/>
                <a:sym typeface="Consolas"/>
              </a:rPr>
              <a:t>Rd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 ⟶    full stack (r8, r7, r6)</a:t>
            </a:r>
            <a:endParaRPr sz="2700"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2052"/>
              <a:buNone/>
            </a:pPr>
            <a:r>
              <a:rPr lang="en-US" sz="2700"/>
              <a:t>Push multiple registers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2128"/>
              <a:buNone/>
            </a:pPr>
            <a:endParaRPr sz="2800"/>
          </a:p>
          <a:p>
            <a:pPr marL="274320" lvl="0" indent="-158496" algn="l" rtl="0">
              <a:spcBef>
                <a:spcPts val="600"/>
              </a:spcBef>
              <a:spcAft>
                <a:spcPts val="0"/>
              </a:spcAft>
              <a:buSzPts val="1824"/>
              <a:buNone/>
            </a:pPr>
            <a:endParaRPr sz="2400"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976"/>
              <a:buNone/>
            </a:pPr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10688" y="3848146"/>
            <a:ext cx="2488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PUSH {r6, r7, r8}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3591587" y="3521325"/>
            <a:ext cx="257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They are equivalent. 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7040088" y="3568140"/>
            <a:ext cx="13244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PUSH {r8}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PUSH {r7}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PUSH {r6}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278088" y="3930864"/>
            <a:ext cx="482950" cy="197882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778921" y="4800600"/>
            <a:ext cx="777239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order in which registers listed in the register list does not matter.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When pushing multiple registers, these registers are automatically </a:t>
            </a:r>
            <a:r>
              <a:rPr lang="en-US" sz="200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sorted by name 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and </a:t>
            </a:r>
            <a:r>
              <a:rPr lang="en-US" sz="200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the lowest-numbered register 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is stored to the lowest memory address, </a:t>
            </a:r>
            <a:r>
              <a:rPr lang="en-US" sz="2000" i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i.e. </a:t>
            </a:r>
            <a:r>
              <a:rPr lang="en-US" sz="200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is stored last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510238" y="3930871"/>
            <a:ext cx="248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PUSH {r7, r6, r8}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748188" y="4016514"/>
            <a:ext cx="483000" cy="198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Stack</a:t>
            </a:r>
            <a:endParaRPr/>
          </a:p>
        </p:txBody>
      </p:sp>
      <p:sp>
        <p:nvSpPr>
          <p:cNvPr id="161" name="Google Shape;161;p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128"/>
              <a:buNone/>
            </a:pPr>
            <a:r>
              <a:rPr lang="en-U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</a:t>
            </a:r>
            <a:r>
              <a:rPr lang="en-US" sz="2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sz="2800" i="1">
                <a:latin typeface="Consolas"/>
                <a:ea typeface="Consolas"/>
                <a:cs typeface="Consolas"/>
                <a:sym typeface="Consolas"/>
              </a:rPr>
              <a:t>Rd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  <a:p>
            <a:pPr marL="548640" lvl="1" indent="-274319" algn="l" rtl="0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 i="1">
                <a:latin typeface="Consolas"/>
                <a:ea typeface="Consolas"/>
                <a:cs typeface="Consolas"/>
                <a:sym typeface="Consolas"/>
              </a:rPr>
              <a:t>Rd 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= (*SP) 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⟶    full stack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548640" lvl="1" indent="-274319" algn="l" rtl="0">
              <a:spcBef>
                <a:spcPts val="500"/>
              </a:spcBef>
              <a:spcAft>
                <a:spcPts val="0"/>
              </a:spcAft>
              <a:buSzPts val="1824"/>
              <a:buChar char="🞂"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SP = SP + 4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⟶    Stack shrinks</a:t>
            </a:r>
            <a:endParaRPr/>
          </a:p>
          <a:p>
            <a:pPr marL="548640" lvl="1" indent="-144018" algn="l" rtl="0">
              <a:spcBef>
                <a:spcPts val="500"/>
              </a:spcBef>
              <a:spcAft>
                <a:spcPts val="0"/>
              </a:spcAft>
              <a:buSzPts val="2052"/>
              <a:buNone/>
            </a:pP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2052"/>
              <a:buNone/>
            </a:pPr>
            <a:r>
              <a:rPr lang="en-US" sz="2700"/>
              <a:t>Pop multiple registers</a:t>
            </a:r>
            <a:endParaRPr/>
          </a:p>
        </p:txBody>
      </p:sp>
      <p:sp>
        <p:nvSpPr>
          <p:cNvPr id="162" name="Google Shape;162;p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3680549" y="3475675"/>
            <a:ext cx="228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They are equivalent. 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955636" y="3660338"/>
            <a:ext cx="119776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 {r6}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 {r7}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 {r8}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608538" y="3909536"/>
            <a:ext cx="2210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 {r6, r7, r8}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6248400" y="3980586"/>
            <a:ext cx="482950" cy="197882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78921" y="4800600"/>
            <a:ext cx="777239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order in which registers listed in the register list does not matter.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When popping multiple registers, these registers are automatically </a:t>
            </a:r>
            <a:r>
              <a:rPr lang="en-US" sz="200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loaded by name 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and </a:t>
            </a:r>
            <a:r>
              <a:rPr lang="en-US" sz="200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the lowest-numbered register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is loaded from the lowest memory address, </a:t>
            </a:r>
            <a:r>
              <a:rPr lang="en-US" sz="2000" i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i.e. </a:t>
            </a:r>
            <a:r>
              <a:rPr lang="en-US" sz="200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is loaded first</a:t>
            </a:r>
            <a:r>
              <a:rPr lang="en-U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559613" y="3844974"/>
            <a:ext cx="221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 {r8, r6, r7}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2819400" y="3930636"/>
            <a:ext cx="483000" cy="198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Full Descending Stack</a:t>
            </a:r>
            <a:endParaRPr/>
          </a:p>
        </p:txBody>
      </p:sp>
      <p:sp>
        <p:nvSpPr>
          <p:cNvPr id="175" name="Google Shape;175;p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76" name="Google Shape;176;p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35814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PUSH {r1, r3, r2, r7}</a:t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5105400" y="1219200"/>
            <a:ext cx="35814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 {r3, r1, r7, r2}</a:t>
            </a:r>
            <a:endParaRPr/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905000"/>
            <a:ext cx="3629097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5400" y="1926771"/>
            <a:ext cx="3352800" cy="428252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2209800" y="1676400"/>
            <a:ext cx="2286000" cy="448056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086600" y="1827752"/>
            <a:ext cx="1752600" cy="4480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Stack</a:t>
            </a:r>
            <a:endParaRPr/>
          </a:p>
        </p:txBody>
      </p:sp>
      <p:sp>
        <p:nvSpPr>
          <p:cNvPr id="187" name="Google Shape;187;p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8" name="Google Shape;188;p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35814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PUSH {r3, r1, r7, r2}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5105400" y="1219200"/>
            <a:ext cx="35814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 {r3, r1, r7, r2}</a:t>
            </a:r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905000"/>
            <a:ext cx="3629097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5400" y="1926771"/>
            <a:ext cx="3352800" cy="428252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7086600" y="1827752"/>
            <a:ext cx="1752600" cy="448056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Stack</a:t>
            </a:r>
            <a:endParaRPr/>
          </a:p>
        </p:txBody>
      </p:sp>
      <p:sp>
        <p:nvSpPr>
          <p:cNvPr id="198" name="Google Shape;198;p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9" name="Google Shape;199;p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35814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PUSH {r1, r2, r3, r7}</a:t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5105400" y="1219200"/>
            <a:ext cx="35814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 {r3, r1, r7, r2}</a:t>
            </a:r>
            <a:endParaRPr/>
          </a:p>
        </p:txBody>
      </p:sp>
      <p:pic>
        <p:nvPicPr>
          <p:cNvPr id="201" name="Google Shape;20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905000"/>
            <a:ext cx="3629097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5400" y="1926771"/>
            <a:ext cx="3352800" cy="4282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455b593a72_0_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7751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Recursive Procedure Example</a:t>
            </a:r>
            <a:endParaRPr/>
          </a:p>
        </p:txBody>
      </p:sp>
      <p:sp>
        <p:nvSpPr>
          <p:cNvPr id="208" name="Google Shape;208;g2455b593a72_0_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9" name="Google Shape;209;g2455b593a72_0_0"/>
          <p:cNvSpPr txBox="1"/>
          <p:nvPr/>
        </p:nvSpPr>
        <p:spPr>
          <a:xfrm>
            <a:off x="763016" y="1059893"/>
            <a:ext cx="3799200" cy="15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3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AAC"/>
              </a:buClr>
              <a:buSzPts val="1900"/>
              <a:buFont typeface="Noto Sans Symbols"/>
              <a:buChar char="■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 code: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int fact (int n)</a:t>
            </a:r>
            <a:endParaRPr sz="2800">
              <a:latin typeface="Courier"/>
              <a:ea typeface="Courier"/>
              <a:cs typeface="Courier"/>
              <a:sym typeface="Courier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{</a:t>
            </a:r>
            <a:endParaRPr sz="28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0" name="Google Shape;210;g2455b593a72_0_0"/>
          <p:cNvSpPr txBox="1"/>
          <p:nvPr/>
        </p:nvSpPr>
        <p:spPr>
          <a:xfrm>
            <a:off x="1534160" y="2566161"/>
            <a:ext cx="15273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if (n &lt;</a:t>
            </a:r>
            <a:endParaRPr sz="28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1" name="Google Shape;211;g2455b593a72_0_0"/>
          <p:cNvSpPr txBox="1"/>
          <p:nvPr/>
        </p:nvSpPr>
        <p:spPr>
          <a:xfrm>
            <a:off x="3250552" y="2566161"/>
            <a:ext cx="4554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1)</a:t>
            </a:r>
            <a:endParaRPr sz="28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2" name="Google Shape;212;g2455b593a72_0_0"/>
          <p:cNvSpPr txBox="1"/>
          <p:nvPr/>
        </p:nvSpPr>
        <p:spPr>
          <a:xfrm>
            <a:off x="3894620" y="2566161"/>
            <a:ext cx="19557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return 1;</a:t>
            </a:r>
            <a:endParaRPr sz="28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13" name="Google Shape;213;g2455b593a72_0_0"/>
          <p:cNvSpPr txBox="1"/>
          <p:nvPr/>
        </p:nvSpPr>
        <p:spPr>
          <a:xfrm>
            <a:off x="1105916" y="2992627"/>
            <a:ext cx="6456600" cy="13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406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else return n * fact(n - 1);</a:t>
            </a:r>
            <a:endParaRPr sz="2800">
              <a:latin typeface="Courier"/>
              <a:ea typeface="Courier"/>
              <a:cs typeface="Courier"/>
              <a:sym typeface="Courier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2800">
              <a:latin typeface="Courier"/>
              <a:ea typeface="Courier"/>
              <a:cs typeface="Courier"/>
              <a:sym typeface="Courier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Functions</a:t>
            </a:r>
            <a:endParaRPr/>
          </a:p>
        </p:txBody>
      </p:sp>
      <p:sp>
        <p:nvSpPr>
          <p:cNvPr id="219" name="Google Shape;219;p1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>
                <a:solidFill>
                  <a:srgbClr val="FF0000"/>
                </a:solidFill>
              </a:rPr>
              <a:t>push LR </a:t>
            </a:r>
            <a:r>
              <a:rPr lang="en-US"/>
              <a:t>(&amp; working registers) onto stack before nested call</a:t>
            </a:r>
            <a:endParaRPr/>
          </a:p>
          <a:p>
            <a:pPr marL="274320" lvl="0" indent="-274320" algn="l" rtl="0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>
                <a:solidFill>
                  <a:srgbClr val="FF0000"/>
                </a:solidFill>
              </a:rPr>
              <a:t>pop LR </a:t>
            </a:r>
            <a:r>
              <a:rPr lang="en-US"/>
              <a:t>(&amp; working registers) off stack after nested return</a:t>
            </a:r>
            <a:endParaRPr/>
          </a:p>
        </p:txBody>
      </p:sp>
      <p:sp>
        <p:nvSpPr>
          <p:cNvPr id="220" name="Google Shape;220;p1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/>
          <p:nvPr/>
        </p:nvSpPr>
        <p:spPr>
          <a:xfrm>
            <a:off x="935175" y="1307699"/>
            <a:ext cx="3739200" cy="590927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.global main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main: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r>
              <a:rPr lang="en-US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r>
              <a:rPr lang="en-US" dirty="0">
                <a:ea typeface="Gill Sans"/>
              </a:rPr>
              <a:t> </a:t>
            </a:r>
            <a:r>
              <a:rPr lang="en-US" sz="1400" dirty="0" smtClean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PUSH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loop: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NZ: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</p:txBody>
      </p:sp>
      <p:sp>
        <p:nvSpPr>
          <p:cNvPr id="226" name="Google Shape;226;p11"/>
          <p:cNvSpPr/>
          <p:nvPr/>
        </p:nvSpPr>
        <p:spPr>
          <a:xfrm>
            <a:off x="5596264" y="2856404"/>
            <a:ext cx="1752600" cy="381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 * factorial(2)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6071412" y="3636548"/>
            <a:ext cx="1752600" cy="381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 * factorial(1)</a:t>
            </a:r>
            <a:endParaRPr/>
          </a:p>
        </p:txBody>
      </p:sp>
      <p:cxnSp>
        <p:nvCxnSpPr>
          <p:cNvPr id="228" name="Google Shape;228;p11"/>
          <p:cNvCxnSpPr>
            <a:endCxn id="226" idx="0"/>
          </p:cNvCxnSpPr>
          <p:nvPr/>
        </p:nvCxnSpPr>
        <p:spPr>
          <a:xfrm>
            <a:off x="5969464" y="2435804"/>
            <a:ext cx="503100" cy="4206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9" name="Google Shape;229;p11"/>
          <p:cNvCxnSpPr>
            <a:stCxn id="226" idx="2"/>
            <a:endCxn id="227" idx="0"/>
          </p:cNvCxnSpPr>
          <p:nvPr/>
        </p:nvCxnSpPr>
        <p:spPr>
          <a:xfrm>
            <a:off x="6472564" y="3237404"/>
            <a:ext cx="475200" cy="399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0" name="Google Shape;230;p11"/>
          <p:cNvCxnSpPr/>
          <p:nvPr/>
        </p:nvCxnSpPr>
        <p:spPr>
          <a:xfrm rot="10800000">
            <a:off x="7284800" y="4017548"/>
            <a:ext cx="395338" cy="375514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1" name="Google Shape;231;p11"/>
          <p:cNvCxnSpPr/>
          <p:nvPr/>
        </p:nvCxnSpPr>
        <p:spPr>
          <a:xfrm rot="10800000">
            <a:off x="6849065" y="3216532"/>
            <a:ext cx="407292" cy="414855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32" name="Google Shape;232;p11"/>
          <p:cNvCxnSpPr/>
          <p:nvPr/>
        </p:nvCxnSpPr>
        <p:spPr>
          <a:xfrm rot="10800000">
            <a:off x="6300012" y="2435936"/>
            <a:ext cx="472944" cy="42046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3" name="Google Shape;233;p11"/>
          <p:cNvSpPr txBox="1"/>
          <p:nvPr/>
        </p:nvSpPr>
        <p:spPr>
          <a:xfrm>
            <a:off x="7671612" y="420947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7253312" y="3252310"/>
            <a:ext cx="9607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return 2</a:t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6536484" y="2297647"/>
            <a:ext cx="9607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return 6</a:t>
            </a:r>
            <a:endParaRPr/>
          </a:p>
        </p:txBody>
      </p:sp>
      <p:sp>
        <p:nvSpPr>
          <p:cNvPr id="236" name="Google Shape;236;p1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-28052" y="2792142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-37171" y="3033360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 dirty="0"/>
          </a:p>
        </p:txBody>
      </p:sp>
      <p:sp>
        <p:nvSpPr>
          <p:cNvPr id="239" name="Google Shape;239;p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grpSp>
        <p:nvGrpSpPr>
          <p:cNvPr id="240" name="Google Shape;240;p11"/>
          <p:cNvGrpSpPr/>
          <p:nvPr/>
        </p:nvGrpSpPr>
        <p:grpSpPr>
          <a:xfrm>
            <a:off x="-37171" y="3698542"/>
            <a:ext cx="990591" cy="2162949"/>
            <a:chOff x="-36090" y="3761601"/>
            <a:chExt cx="990591" cy="2162949"/>
          </a:xfrm>
        </p:grpSpPr>
        <p:sp>
          <p:nvSpPr>
            <p:cNvPr id="241" name="Google Shape;241;p11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242" name="Google Shape;242;p11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243" name="Google Shape;243;p11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244" name="Google Shape;244;p11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245" name="Google Shape;245;p11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246" name="Google Shape;246;p11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247" name="Google Shape;247;p11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 dirty="0"/>
            </a:p>
          </p:txBody>
        </p:sp>
        <p:sp>
          <p:nvSpPr>
            <p:cNvPr id="248" name="Google Shape;248;p11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249" name="Google Shape;249;p11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250" name="Google Shape;250;p11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914400" y="1171685"/>
            <a:ext cx="3581400" cy="590927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MOV  r0, #0x03 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r>
              <a:rPr lang="en-US" sz="1400" dirty="0" smtClean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PUSH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6" name="Google Shape;256;p12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57" name="Google Shape;257;p12"/>
          <p:cNvSpPr txBox="1"/>
          <p:nvPr/>
        </p:nvSpPr>
        <p:spPr>
          <a:xfrm>
            <a:off x="-20540" y="2901783"/>
            <a:ext cx="95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 dirty="0"/>
          </a:p>
        </p:txBody>
      </p:sp>
      <p:sp>
        <p:nvSpPr>
          <p:cNvPr id="258" name="Google Shape;258;p12"/>
          <p:cNvSpPr txBox="1"/>
          <p:nvPr/>
        </p:nvSpPr>
        <p:spPr>
          <a:xfrm>
            <a:off x="-11025" y="3117552"/>
            <a:ext cx="95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 dirty="0"/>
          </a:p>
        </p:txBody>
      </p:sp>
      <p:sp>
        <p:nvSpPr>
          <p:cNvPr id="259" name="Google Shape;259;p12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262" name="Google Shape;262;p12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cxnSp>
        <p:nvCxnSpPr>
          <p:cNvPr id="271" name="Google Shape;271;p12"/>
          <p:cNvCxnSpPr/>
          <p:nvPr/>
        </p:nvCxnSpPr>
        <p:spPr>
          <a:xfrm rot="10800000" flipV="1">
            <a:off x="2779591" y="1556281"/>
            <a:ext cx="2072258" cy="145682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2" name="Google Shape;272;p12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298" name="Google Shape;298;p12"/>
          <p:cNvCxnSpPr>
            <a:stCxn id="264" idx="3"/>
          </p:cNvCxnSpPr>
          <p:nvPr/>
        </p:nvCxnSpPr>
        <p:spPr>
          <a:xfrm>
            <a:off x="6408049" y="2125081"/>
            <a:ext cx="390000" cy="86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9" name="Google Shape;299;p12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301" name="Google Shape;301;p12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302" name="Google Shape;302;p12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304" name="Google Shape;304;p12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305" name="Google Shape;305;p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grpSp>
        <p:nvGrpSpPr>
          <p:cNvPr id="306" name="Google Shape;306;p12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307" name="Google Shape;307;p12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308" name="Google Shape;308;p12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309" name="Google Shape;309;p12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310" name="Google Shape;310;p12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311" name="Google Shape;311;p12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312" name="Google Shape;312;p12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313" name="Google Shape;313;p12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314" name="Google Shape;314;p12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 dirty="0"/>
            </a:p>
          </p:txBody>
        </p:sp>
        <p:sp>
          <p:nvSpPr>
            <p:cNvPr id="315" name="Google Shape;315;p12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316" name="Google Shape;316;p12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BL      factorial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factorial: </a:t>
            </a:r>
            <a:r>
              <a:rPr lang="en-US" dirty="0"/>
              <a:t>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PUSH    {r4, </a:t>
            </a:r>
            <a:r>
              <a:rPr lang="en-US" sz="1400" b="1" dirty="0" err="1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2" name="Google Shape;322;p1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23" name="Google Shape;323;p13"/>
          <p:cNvSpPr txBox="1"/>
          <p:nvPr/>
        </p:nvSpPr>
        <p:spPr>
          <a:xfrm>
            <a:off x="-18926" y="2896429"/>
            <a:ext cx="95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 dirty="0"/>
          </a:p>
        </p:txBody>
      </p:sp>
      <p:sp>
        <p:nvSpPr>
          <p:cNvPr id="324" name="Google Shape;324;p13"/>
          <p:cNvSpPr txBox="1"/>
          <p:nvPr/>
        </p:nvSpPr>
        <p:spPr>
          <a:xfrm>
            <a:off x="-28481" y="3109202"/>
            <a:ext cx="95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 dirty="0"/>
          </a:p>
        </p:txBody>
      </p:sp>
      <p:sp>
        <p:nvSpPr>
          <p:cNvPr id="325" name="Google Shape;325;p13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0x08000136</a:t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328" name="Google Shape;328;p13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329" name="Google Shape;329;p13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2" name="Google Shape;332;p13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333" name="Google Shape;333;p13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334" name="Google Shape;334;p13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335" name="Google Shape;335;p13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336" name="Google Shape;336;p13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350" name="Google Shape;350;p13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351" name="Google Shape;351;p13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363" name="Google Shape;363;p13"/>
          <p:cNvCxnSpPr>
            <a:stCxn id="330" idx="3"/>
          </p:cNvCxnSpPr>
          <p:nvPr/>
        </p:nvCxnSpPr>
        <p:spPr>
          <a:xfrm>
            <a:off x="6408049" y="2125081"/>
            <a:ext cx="390000" cy="86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64" name="Google Shape;364;p13"/>
          <p:cNvCxnSpPr>
            <a:stCxn id="325" idx="1"/>
          </p:cNvCxnSpPr>
          <p:nvPr/>
        </p:nvCxnSpPr>
        <p:spPr>
          <a:xfrm flipH="1">
            <a:off x="3886200" y="1515481"/>
            <a:ext cx="990600" cy="23739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5" name="Google Shape;365;p13"/>
          <p:cNvCxnSpPr/>
          <p:nvPr/>
        </p:nvCxnSpPr>
        <p:spPr>
          <a:xfrm flipV="1">
            <a:off x="3128066" y="3889302"/>
            <a:ext cx="758134" cy="15392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366" name="Google Shape;366;p13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368" name="Google Shape;368;p13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369" name="Google Shape;369;p13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370" name="Google Shape;370;p13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371" name="Google Shape;371;p13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372" name="Google Shape;372;p1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grpSp>
        <p:nvGrpSpPr>
          <p:cNvPr id="373" name="Google Shape;373;p13"/>
          <p:cNvGrpSpPr/>
          <p:nvPr/>
        </p:nvGrpSpPr>
        <p:grpSpPr>
          <a:xfrm>
            <a:off x="7799" y="3716727"/>
            <a:ext cx="1126597" cy="2270248"/>
            <a:chOff x="-36091" y="3844801"/>
            <a:chExt cx="997165" cy="1803502"/>
          </a:xfrm>
        </p:grpSpPr>
        <p:sp>
          <p:nvSpPr>
            <p:cNvPr id="374" name="Google Shape;374;p13"/>
            <p:cNvSpPr txBox="1"/>
            <p:nvPr/>
          </p:nvSpPr>
          <p:spPr>
            <a:xfrm>
              <a:off x="-15667" y="3844801"/>
              <a:ext cx="9540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 dirty="0"/>
            </a:p>
          </p:txBody>
        </p:sp>
        <p:sp>
          <p:nvSpPr>
            <p:cNvPr id="375" name="Google Shape;375;p13"/>
            <p:cNvSpPr txBox="1"/>
            <p:nvPr/>
          </p:nvSpPr>
          <p:spPr>
            <a:xfrm>
              <a:off x="-36091" y="5087377"/>
              <a:ext cx="9540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 dirty="0"/>
            </a:p>
          </p:txBody>
        </p:sp>
        <p:sp>
          <p:nvSpPr>
            <p:cNvPr id="376" name="Google Shape;376;p13"/>
            <p:cNvSpPr txBox="1"/>
            <p:nvPr/>
          </p:nvSpPr>
          <p:spPr>
            <a:xfrm>
              <a:off x="-28482" y="5261100"/>
              <a:ext cx="9540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 dirty="0"/>
            </a:p>
          </p:txBody>
        </p:sp>
        <p:sp>
          <p:nvSpPr>
            <p:cNvPr id="377" name="Google Shape;377;p13"/>
            <p:cNvSpPr txBox="1"/>
            <p:nvPr/>
          </p:nvSpPr>
          <p:spPr>
            <a:xfrm>
              <a:off x="-28575" y="4754061"/>
              <a:ext cx="9540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 dirty="0"/>
            </a:p>
          </p:txBody>
        </p:sp>
        <p:sp>
          <p:nvSpPr>
            <p:cNvPr id="378" name="Google Shape;378;p13"/>
            <p:cNvSpPr txBox="1"/>
            <p:nvPr/>
          </p:nvSpPr>
          <p:spPr>
            <a:xfrm>
              <a:off x="-36090" y="4914703"/>
              <a:ext cx="9540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 dirty="0"/>
            </a:p>
          </p:txBody>
        </p:sp>
        <p:sp>
          <p:nvSpPr>
            <p:cNvPr id="379" name="Google Shape;379;p13"/>
            <p:cNvSpPr txBox="1"/>
            <p:nvPr/>
          </p:nvSpPr>
          <p:spPr>
            <a:xfrm>
              <a:off x="-16707" y="4025301"/>
              <a:ext cx="9540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 dirty="0"/>
            </a:p>
          </p:txBody>
        </p:sp>
        <p:sp>
          <p:nvSpPr>
            <p:cNvPr id="380" name="Google Shape;380;p13"/>
            <p:cNvSpPr txBox="1"/>
            <p:nvPr/>
          </p:nvSpPr>
          <p:spPr>
            <a:xfrm>
              <a:off x="-28575" y="4171176"/>
              <a:ext cx="9798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381" name="Google Shape;381;p13"/>
            <p:cNvSpPr txBox="1"/>
            <p:nvPr/>
          </p:nvSpPr>
          <p:spPr>
            <a:xfrm>
              <a:off x="-36091" y="4349818"/>
              <a:ext cx="9798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 dirty="0"/>
            </a:p>
          </p:txBody>
        </p:sp>
        <p:sp>
          <p:nvSpPr>
            <p:cNvPr id="382" name="Google Shape;382;p13"/>
            <p:cNvSpPr txBox="1"/>
            <p:nvPr/>
          </p:nvSpPr>
          <p:spPr>
            <a:xfrm>
              <a:off x="-18726" y="4549271"/>
              <a:ext cx="9798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 dirty="0"/>
            </a:p>
          </p:txBody>
        </p:sp>
        <p:sp>
          <p:nvSpPr>
            <p:cNvPr id="383" name="Google Shape;383;p13"/>
            <p:cNvSpPr txBox="1"/>
            <p:nvPr/>
          </p:nvSpPr>
          <p:spPr>
            <a:xfrm>
              <a:off x="-36091" y="5428103"/>
              <a:ext cx="986100" cy="22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 dirty="0"/>
            </a:p>
          </p:txBody>
        </p:sp>
      </p:grpSp>
      <p:cxnSp>
        <p:nvCxnSpPr>
          <p:cNvPr id="384" name="Google Shape;384;p13"/>
          <p:cNvCxnSpPr>
            <a:stCxn id="326" idx="1"/>
          </p:cNvCxnSpPr>
          <p:nvPr/>
        </p:nvCxnSpPr>
        <p:spPr>
          <a:xfrm rot="10800000" flipV="1">
            <a:off x="2406699" y="1820280"/>
            <a:ext cx="2470102" cy="142737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914400" y="1171685"/>
            <a:ext cx="3581401" cy="590927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r>
              <a:rPr lang="en-US" sz="1400" b="1" dirty="0" smtClean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PUSH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{r4, </a:t>
            </a:r>
            <a:r>
              <a:rPr lang="en-US" sz="1400" b="1" dirty="0" err="1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1" name="Google Shape;391;p1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92" name="Google Shape;392;p14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393" name="Google Shape;393;p14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0x08000138</a:t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397" name="Google Shape;397;p14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398" name="Google Shape;398;p14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402" name="Google Shape;402;p14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403" name="Google Shape;403;p14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404" name="Google Shape;404;p14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405" name="Google Shape;405;p14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 sz="14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9" name="Google Shape;419;p14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420" name="Google Shape;420;p14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432" name="Google Shape;432;p14"/>
          <p:cNvCxnSpPr>
            <a:stCxn id="399" idx="3"/>
          </p:cNvCxnSpPr>
          <p:nvPr/>
        </p:nvCxnSpPr>
        <p:spPr>
          <a:xfrm>
            <a:off x="6408049" y="2125081"/>
            <a:ext cx="195000" cy="68040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" name="Google Shape;433;p14"/>
          <p:cNvCxnSpPr>
            <a:stCxn id="394" idx="1"/>
          </p:cNvCxnSpPr>
          <p:nvPr/>
        </p:nvCxnSpPr>
        <p:spPr>
          <a:xfrm flipH="1">
            <a:off x="3886200" y="1515481"/>
            <a:ext cx="990600" cy="25962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" name="Google Shape;434;p14"/>
          <p:cNvCxnSpPr/>
          <p:nvPr/>
        </p:nvCxnSpPr>
        <p:spPr>
          <a:xfrm flipV="1">
            <a:off x="2743200" y="4111664"/>
            <a:ext cx="1142998" cy="1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435" name="Google Shape;435;p14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36" name="Google Shape;436;p14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Gill Sans"/>
                <a:sym typeface="Gill Sans"/>
              </a:rPr>
              <a:t>0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438" name="Google Shape;438;p14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439" name="Google Shape;439;p14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440" name="Google Shape;440;p14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441" name="Google Shape;441;p14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442" name="Google Shape;442;p14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443" name="Google Shape;443;p14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444" name="Google Shape;444;p14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445" name="Google Shape;445;p14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446" name="Google Shape;446;p14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447" name="Google Shape;447;p14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448" name="Google Shape;448;p14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449" name="Google Shape;449;p14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450" name="Google Shape;450;p14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451" name="Google Shape;451;p14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452" name="Google Shape;452;p14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  <p:sp>
        <p:nvSpPr>
          <p:cNvPr id="453" name="Google Shape;453;p14"/>
          <p:cNvSpPr/>
          <p:nvPr/>
        </p:nvSpPr>
        <p:spPr>
          <a:xfrm>
            <a:off x="3810000" y="4724400"/>
            <a:ext cx="2514600" cy="1323439"/>
          </a:xfrm>
          <a:prstGeom prst="rect">
            <a:avLst/>
          </a:prstGeom>
          <a:gradFill>
            <a:gsLst>
              <a:gs pos="0">
                <a:srgbClr val="406899"/>
              </a:gs>
              <a:gs pos="30000">
                <a:srgbClr val="4579B9"/>
              </a:gs>
              <a:gs pos="45000">
                <a:srgbClr val="4580C6"/>
              </a:gs>
              <a:gs pos="55000">
                <a:srgbClr val="4580C6"/>
              </a:gs>
              <a:gs pos="73000">
                <a:srgbClr val="4579B9"/>
              </a:gs>
              <a:gs pos="100000">
                <a:srgbClr val="406899"/>
              </a:gs>
            </a:gsLst>
            <a:lin ang="950000" scaled="0"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43000" dir="54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Order in which registers are specified is not important:  the lowest register is always stored at the lowest address</a:t>
            </a:r>
            <a:endParaRPr/>
          </a:p>
        </p:txBody>
      </p:sp>
      <p:cxnSp>
        <p:nvCxnSpPr>
          <p:cNvPr id="454" name="Google Shape;454;p14"/>
          <p:cNvCxnSpPr/>
          <p:nvPr/>
        </p:nvCxnSpPr>
        <p:spPr>
          <a:xfrm rot="10800000">
            <a:off x="2955510" y="3928675"/>
            <a:ext cx="1219200" cy="76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triangle" w="lg" len="lg"/>
          </a:ln>
          <a:effectLst>
            <a:outerShdw blurRad="38100" dist="25400" dir="5400000" rotWithShape="0">
              <a:srgbClr val="000000">
                <a:alpha val="40000"/>
              </a:srgbClr>
            </a:outerShdw>
          </a:effec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914400" y="1171685"/>
            <a:ext cx="3581401" cy="590927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r>
              <a:rPr lang="en-US" sz="1400" dirty="0" smtClean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PUSH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MOV     r4, r0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CMP      r4, #0x01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1" name="Google Shape;391;p1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92" name="Google Shape;392;p14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393" name="Google Shape;393;p14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0x0800013A</a:t>
            </a:r>
            <a:endParaRPr dirty="0"/>
          </a:p>
        </p:txBody>
      </p:sp>
      <p:sp>
        <p:nvSpPr>
          <p:cNvPr id="395" name="Google Shape;395;p14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97" name="Google Shape;397;p14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398" name="Google Shape;398;p14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402" name="Google Shape;402;p14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403" name="Google Shape;403;p14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404" name="Google Shape;404;p14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405" name="Google Shape;405;p14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 sz="1400" dirty="0">
              <a:solidFill>
                <a:schemeClr val="tx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 sz="1400" dirty="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9" name="Google Shape;419;p14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420" name="Google Shape;420;p14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432" name="Google Shape;432;p14"/>
          <p:cNvCxnSpPr>
            <a:stCxn id="399" idx="3"/>
          </p:cNvCxnSpPr>
          <p:nvPr/>
        </p:nvCxnSpPr>
        <p:spPr>
          <a:xfrm>
            <a:off x="6408049" y="2125081"/>
            <a:ext cx="195000" cy="680400"/>
          </a:xfrm>
          <a:prstGeom prst="bentConnector2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3" name="Google Shape;433;p14"/>
          <p:cNvCxnSpPr/>
          <p:nvPr/>
        </p:nvCxnSpPr>
        <p:spPr>
          <a:xfrm rot="5400000">
            <a:off x="2992902" y="2418067"/>
            <a:ext cx="2796657" cy="1009327"/>
          </a:xfrm>
          <a:prstGeom prst="bentConnector3">
            <a:avLst>
              <a:gd name="adj1" fmla="val 428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" name="Google Shape;434;p14"/>
          <p:cNvCxnSpPr/>
          <p:nvPr/>
        </p:nvCxnSpPr>
        <p:spPr>
          <a:xfrm>
            <a:off x="2998839" y="4321059"/>
            <a:ext cx="887727" cy="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435" name="Google Shape;435;p14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ln>
            <a:headEnd type="none" w="sm" len="sm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6" name="Google Shape;436;p14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438" name="Google Shape;438;p14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439" name="Google Shape;439;p14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440" name="Google Shape;440;p14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441" name="Google Shape;441;p14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442" name="Google Shape;442;p14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443" name="Google Shape;443;p14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444" name="Google Shape;444;p14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445" name="Google Shape;445;p14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446" name="Google Shape;446;p14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447" name="Google Shape;447;p14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448" name="Google Shape;448;p14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449" name="Google Shape;449;p14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450" name="Google Shape;450;p14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451" name="Google Shape;451;p14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452" name="Google Shape;452;p14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13986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914400" y="1171675"/>
            <a:ext cx="3581400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.global __main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__main: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r0, #0x04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stop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factorial: PUSH    {r4, </a:t>
            </a:r>
            <a:r>
              <a:rPr lang="en-US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    r4, r0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CMP      r4, #0x01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BGE      NZ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MOVS   r0, #0x01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loop:       POP    {r4, pc}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NZ:        </a:t>
            </a:r>
            <a:r>
              <a:rPr lang="en-US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SUBS    r0, r4, #</a:t>
            </a:r>
            <a:r>
              <a:rPr lang="en-US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dirty="0">
              <a:solidFill>
                <a:srgbClr val="00B05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</a:t>
            </a:r>
            <a:r>
              <a:rPr lang="en-US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BL        factorial</a:t>
            </a:r>
            <a:endParaRPr b="1" dirty="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MUL     r0, r4, r0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B          loop	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1" name="Google Shape;461;p1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462" name="Google Shape;462;p15"/>
          <p:cNvSpPr txBox="1"/>
          <p:nvPr/>
        </p:nvSpPr>
        <p:spPr>
          <a:xfrm>
            <a:off x="-17800" y="2072963"/>
            <a:ext cx="95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463" name="Google Shape;463;p15"/>
          <p:cNvSpPr txBox="1"/>
          <p:nvPr/>
        </p:nvSpPr>
        <p:spPr>
          <a:xfrm>
            <a:off x="-17801" y="2326818"/>
            <a:ext cx="954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0x08000144</a:t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467" name="Google Shape;467;p15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468" name="Google Shape;468;p15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9" name="Google Shape;469;p15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1" name="Google Shape;471;p15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472" name="Google Shape;472;p15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473" name="Google Shape;473;p15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474" name="Google Shape;474;p15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475" name="Google Shape;475;p15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489" name="Google Shape;489;p15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490" name="Google Shape;490;p15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502" name="Google Shape;502;p15"/>
          <p:cNvCxnSpPr>
            <a:stCxn id="469" idx="3"/>
          </p:cNvCxnSpPr>
          <p:nvPr/>
        </p:nvCxnSpPr>
        <p:spPr>
          <a:xfrm>
            <a:off x="6408049" y="2125081"/>
            <a:ext cx="195000" cy="6804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3" name="Google Shape;503;p15"/>
          <p:cNvCxnSpPr/>
          <p:nvPr/>
        </p:nvCxnSpPr>
        <p:spPr>
          <a:xfrm rot="5400000">
            <a:off x="2602685" y="2888246"/>
            <a:ext cx="3636856" cy="952742"/>
          </a:xfrm>
          <a:prstGeom prst="bentConnector3">
            <a:avLst>
              <a:gd name="adj1" fmla="val 526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4" name="Google Shape;504;p15"/>
          <p:cNvCxnSpPr/>
          <p:nvPr/>
        </p:nvCxnSpPr>
        <p:spPr>
          <a:xfrm>
            <a:off x="3077497" y="5183045"/>
            <a:ext cx="888024" cy="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505" name="Google Shape;505;p15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06" name="Google Shape;506;p15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508" name="Google Shape;508;p15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509" name="Google Shape;509;p15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510" name="Google Shape;510;p15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511" name="Google Shape;511;p15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512" name="Google Shape;512;p15"/>
          <p:cNvGrpSpPr/>
          <p:nvPr/>
        </p:nvGrpSpPr>
        <p:grpSpPr>
          <a:xfrm>
            <a:off x="-36090" y="3570576"/>
            <a:ext cx="990591" cy="2162949"/>
            <a:chOff x="-36090" y="3761601"/>
            <a:chExt cx="990591" cy="2162949"/>
          </a:xfrm>
        </p:grpSpPr>
        <p:sp>
          <p:nvSpPr>
            <p:cNvPr id="513" name="Google Shape;513;p15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514" name="Google Shape;514;p15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515" name="Google Shape;515;p15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516" name="Google Shape;516;p15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517" name="Google Shape;517;p15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518" name="Google Shape;518;p15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519" name="Google Shape;519;p15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520" name="Google Shape;520;p15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521" name="Google Shape;521;p15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522" name="Google Shape;522;p15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PUSH    {r4, </a:t>
            </a:r>
            <a:r>
              <a:rPr lang="en-US" sz="1400" b="1" dirty="0" err="1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BL        factorial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9" name="Google Shape;529;p1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530" name="Google Shape;530;p16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531" name="Google Shape;531;p16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0x08000136</a:t>
            </a: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534" name="Google Shape;534;p16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535" name="Google Shape;535;p16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536" name="Google Shape;536;p16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7" name="Google Shape;537;p16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9" name="Google Shape;539;p16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540" name="Google Shape;540;p16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541" name="Google Shape;541;p16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542" name="Google Shape;542;p16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543" name="Google Shape;543;p16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544" name="Google Shape;544;p16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545" name="Google Shape;545;p16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546" name="Google Shape;546;p1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547" name="Google Shape;547;p16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8" name="Google Shape;548;p16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0" name="Google Shape;550;p16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557" name="Google Shape;557;p16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558" name="Google Shape;558;p16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560" name="Google Shape;560;p16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561" name="Google Shape;561;p16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562" name="Google Shape;562;p16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563" name="Google Shape;563;p16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564" name="Google Shape;564;p16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566" name="Google Shape;566;p16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568" name="Google Shape;568;p16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569" name="Google Shape;569;p16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570" name="Google Shape;570;p16"/>
          <p:cNvCxnSpPr>
            <a:stCxn id="537" idx="3"/>
          </p:cNvCxnSpPr>
          <p:nvPr/>
        </p:nvCxnSpPr>
        <p:spPr>
          <a:xfrm>
            <a:off x="6408049" y="2125081"/>
            <a:ext cx="195000" cy="6804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1" name="Google Shape;571;p16"/>
          <p:cNvCxnSpPr>
            <a:stCxn id="532" idx="1"/>
          </p:cNvCxnSpPr>
          <p:nvPr/>
        </p:nvCxnSpPr>
        <p:spPr>
          <a:xfrm flipH="1">
            <a:off x="3886200" y="1515481"/>
            <a:ext cx="990600" cy="23694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2" name="Google Shape;572;p16"/>
          <p:cNvCxnSpPr/>
          <p:nvPr/>
        </p:nvCxnSpPr>
        <p:spPr>
          <a:xfrm>
            <a:off x="2705097" y="3884874"/>
            <a:ext cx="1181099" cy="900"/>
          </a:xfrm>
          <a:prstGeom prst="straightConnector1">
            <a:avLst/>
          </a:prstGeom>
          <a:ln>
            <a:headEnd type="stealth" w="med" len="med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Google Shape;573;p16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74" name="Google Shape;574;p16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576" name="Google Shape;576;p16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577" name="Google Shape;577;p16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578" name="Google Shape;578;p16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579" name="Google Shape;579;p16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580" name="Google Shape;580;p16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581" name="Google Shape;581;p16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582" name="Google Shape;582;p16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583" name="Google Shape;583;p16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584" name="Google Shape;584;p16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585" name="Google Shape;585;p16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586" name="Google Shape;586;p16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587" name="Google Shape;587;p16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588" name="Google Shape;588;p16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589" name="Google Shape;589;p16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590" name="Google Shape;590;p16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  <p:cxnSp>
        <p:nvCxnSpPr>
          <p:cNvPr id="591" name="Google Shape;591;p16"/>
          <p:cNvCxnSpPr/>
          <p:nvPr/>
        </p:nvCxnSpPr>
        <p:spPr>
          <a:xfrm rot="5400000">
            <a:off x="2690707" y="3396781"/>
            <a:ext cx="3762600" cy="609600"/>
          </a:xfrm>
          <a:prstGeom prst="bentConnector3">
            <a:avLst>
              <a:gd name="adj1" fmla="val 104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2" name="Google Shape;592;p16"/>
          <p:cNvCxnSpPr/>
          <p:nvPr/>
        </p:nvCxnSpPr>
        <p:spPr>
          <a:xfrm>
            <a:off x="2743200" y="5582788"/>
            <a:ext cx="1524000" cy="0"/>
          </a:xfrm>
          <a:prstGeom prst="straightConnector1">
            <a:avLst/>
          </a:prstGeom>
          <a:ln w="12700">
            <a:headEnd type="stealth" w="med" len="med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598" name="Google Shape;598;p17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PUSH    {r4, </a:t>
            </a:r>
            <a:r>
              <a:rPr lang="en-US" sz="1400" b="1" dirty="0" err="1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9" name="Google Shape;599;p1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600" name="Google Shape;600;p17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601" name="Google Shape;601;p17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602" name="Google Shape;602;p17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0x08000138</a:t>
            </a:r>
            <a:endParaRPr/>
          </a:p>
        </p:txBody>
      </p:sp>
      <p:sp>
        <p:nvSpPr>
          <p:cNvPr id="603" name="Google Shape;603;p17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 dirty="0"/>
          </a:p>
        </p:txBody>
      </p:sp>
      <p:sp>
        <p:nvSpPr>
          <p:cNvPr id="604" name="Google Shape;604;p17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605" name="Google Shape;605;p17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606" name="Google Shape;606;p17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9" name="Google Shape;609;p17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610" name="Google Shape;610;p17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611" name="Google Shape;611;p17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612" name="Google Shape;612;p17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613" name="Google Shape;613;p17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616" name="Google Shape;616;p17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617" name="Google Shape;617;p1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619" name="Google Shape;619;p17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627" name="Google Shape;627;p17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628" name="Google Shape;628;p17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629" name="Google Shape;629;p17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631" name="Google Shape;631;p17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632" name="Google Shape;632;p17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635" name="Google Shape;635;p17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637" name="Google Shape;637;p17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638" name="Google Shape;638;p17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639" name="Google Shape;639;p17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640" name="Google Shape;640;p17"/>
          <p:cNvCxnSpPr>
            <a:stCxn id="607" idx="3"/>
          </p:cNvCxnSpPr>
          <p:nvPr/>
        </p:nvCxnSpPr>
        <p:spPr>
          <a:xfrm>
            <a:off x="6408049" y="2125081"/>
            <a:ext cx="192900" cy="131550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1" name="Google Shape;641;p17"/>
          <p:cNvCxnSpPr>
            <a:stCxn id="602" idx="1"/>
          </p:cNvCxnSpPr>
          <p:nvPr/>
        </p:nvCxnSpPr>
        <p:spPr>
          <a:xfrm flipH="1">
            <a:off x="3886200" y="1515481"/>
            <a:ext cx="990600" cy="25680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2" name="Google Shape;642;p17"/>
          <p:cNvCxnSpPr/>
          <p:nvPr/>
        </p:nvCxnSpPr>
        <p:spPr>
          <a:xfrm>
            <a:off x="2705096" y="4082534"/>
            <a:ext cx="1181099" cy="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643" name="Google Shape;643;p17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44" name="Google Shape;644;p17"/>
          <p:cNvSpPr/>
          <p:nvPr/>
        </p:nvSpPr>
        <p:spPr>
          <a:xfrm>
            <a:off x="4886325" y="3365604"/>
            <a:ext cx="1143001" cy="259729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Gill Sans"/>
                <a:sym typeface="Gill Sans"/>
              </a:rPr>
              <a:t>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646" name="Google Shape;646;p17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647" name="Google Shape;647;p17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648" name="Google Shape;648;p17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649" name="Google Shape;649;p17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650" name="Google Shape;650;p17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651" name="Google Shape;651;p17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652" name="Google Shape;652;p17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653" name="Google Shape;653;p17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654" name="Google Shape;654;p17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655" name="Google Shape;655;p17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656" name="Google Shape;656;p17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657" name="Google Shape;657;p17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658" name="Google Shape;658;p17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659" name="Google Shape;659;p17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660" name="Google Shape;660;p17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598" name="Google Shape;598;p17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PUSH    {r4, </a:t>
            </a:r>
            <a:r>
              <a:rPr lang="en-US" sz="1400" dirty="0" err="1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MOV     r4, r0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CMP      r4, #0x01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9" name="Google Shape;599;p1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600" name="Google Shape;600;p17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601" name="Google Shape;601;p17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602" name="Google Shape;602;p17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0x0800013A</a:t>
            </a:r>
            <a:endParaRPr dirty="0"/>
          </a:p>
        </p:txBody>
      </p:sp>
      <p:sp>
        <p:nvSpPr>
          <p:cNvPr id="603" name="Google Shape;603;p17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 dirty="0"/>
          </a:p>
        </p:txBody>
      </p:sp>
      <p:sp>
        <p:nvSpPr>
          <p:cNvPr id="604" name="Google Shape;604;p17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05" name="Google Shape;605;p17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606" name="Google Shape;606;p17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9" name="Google Shape;609;p17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610" name="Google Shape;610;p17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611" name="Google Shape;611;p17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612" name="Google Shape;612;p17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613" name="Google Shape;613;p17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616" name="Google Shape;616;p17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617" name="Google Shape;617;p1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 sz="1400" dirty="0">
              <a:solidFill>
                <a:schemeClr val="tx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627" name="Google Shape;627;p17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628" name="Google Shape;628;p17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629" name="Google Shape;629;p17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631" name="Google Shape;631;p17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632" name="Google Shape;632;p17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635" name="Google Shape;635;p17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637" name="Google Shape;637;p17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638" name="Google Shape;638;p17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639" name="Google Shape;639;p17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640" name="Google Shape;640;p17"/>
          <p:cNvCxnSpPr>
            <a:stCxn id="607" idx="3"/>
          </p:cNvCxnSpPr>
          <p:nvPr/>
        </p:nvCxnSpPr>
        <p:spPr>
          <a:xfrm>
            <a:off x="6408049" y="2125081"/>
            <a:ext cx="192900" cy="13155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1" name="Google Shape;641;p17"/>
          <p:cNvCxnSpPr>
            <a:stCxn id="602" idx="1"/>
          </p:cNvCxnSpPr>
          <p:nvPr/>
        </p:nvCxnSpPr>
        <p:spPr>
          <a:xfrm rot="10800000" flipV="1">
            <a:off x="4053658" y="1515481"/>
            <a:ext cx="823142" cy="2804426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2" name="Google Shape;642;p17"/>
          <p:cNvCxnSpPr/>
          <p:nvPr/>
        </p:nvCxnSpPr>
        <p:spPr>
          <a:xfrm>
            <a:off x="3008671" y="4319908"/>
            <a:ext cx="1044987" cy="899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643" name="Google Shape;643;p17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44" name="Google Shape;644;p17"/>
          <p:cNvSpPr/>
          <p:nvPr/>
        </p:nvSpPr>
        <p:spPr>
          <a:xfrm>
            <a:off x="4886325" y="3365604"/>
            <a:ext cx="1143001" cy="259729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FF0000"/>
                </a:solidFill>
              </a:rPr>
              <a:t>2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646" name="Google Shape;646;p17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647" name="Google Shape;647;p17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648" name="Google Shape;648;p17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649" name="Google Shape;649;p17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650" name="Google Shape;650;p17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651" name="Google Shape;651;p17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652" name="Google Shape;652;p17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653" name="Google Shape;653;p17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654" name="Google Shape;654;p17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655" name="Google Shape;655;p17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656" name="Google Shape;656;p17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657" name="Google Shape;657;p17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658" name="Google Shape;658;p17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659" name="Google Shape;659;p17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660" name="Google Shape;660;p17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05891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666" name="Google Shape;666;p18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CMP      r4, #0x01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          B</a:t>
            </a:r>
            <a:r>
              <a:rPr lang="en-US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G</a:t>
            </a: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E      NZ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SUBS    r0, r4, #1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BL        factorial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7" name="Google Shape;667;p1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668" name="Google Shape;668;p18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669" name="Google Shape;669;p18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670" name="Google Shape;670;p18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0x08000144</a:t>
            </a:r>
            <a:endParaRPr/>
          </a:p>
        </p:txBody>
      </p:sp>
      <p:sp>
        <p:nvSpPr>
          <p:cNvPr id="671" name="Google Shape;671;p18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672" name="Google Shape;672;p18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673" name="Google Shape;673;p18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674" name="Google Shape;674;p18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5" name="Google Shape;675;p18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6" name="Google Shape;676;p18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7" name="Google Shape;677;p18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678" name="Google Shape;678;p18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679" name="Google Shape;679;p1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680" name="Google Shape;680;p18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681" name="Google Shape;681;p18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682" name="Google Shape;682;p18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683" name="Google Shape;683;p18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684" name="Google Shape;684;p18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685" name="Google Shape;685;p18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687" name="Google Shape;687;p18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695" name="Google Shape;695;p18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696" name="Google Shape;696;p18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697" name="Google Shape;697;p18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698" name="Google Shape;698;p18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699" name="Google Shape;699;p18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700" name="Google Shape;700;p18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701" name="Google Shape;701;p18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702" name="Google Shape;702;p18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703" name="Google Shape;703;p18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704" name="Google Shape;704;p18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705" name="Google Shape;705;p18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707" name="Google Shape;707;p18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708" name="Google Shape;708;p18"/>
          <p:cNvCxnSpPr/>
          <p:nvPr/>
        </p:nvCxnSpPr>
        <p:spPr>
          <a:xfrm>
            <a:off x="6408049" y="2105417"/>
            <a:ext cx="192900" cy="13155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9" name="Google Shape;709;p18"/>
          <p:cNvCxnSpPr>
            <a:stCxn id="670" idx="1"/>
          </p:cNvCxnSpPr>
          <p:nvPr/>
        </p:nvCxnSpPr>
        <p:spPr>
          <a:xfrm flipH="1">
            <a:off x="3886200" y="1515481"/>
            <a:ext cx="990600" cy="38604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0" name="Google Shape;710;p18"/>
          <p:cNvCxnSpPr/>
          <p:nvPr/>
        </p:nvCxnSpPr>
        <p:spPr>
          <a:xfrm flipV="1">
            <a:off x="2900516" y="5375870"/>
            <a:ext cx="985678" cy="11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711" name="Google Shape;711;p18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12" name="Google Shape;712;p18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713" name="Google Shape;713;p18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dirty="0"/>
          </a:p>
        </p:txBody>
      </p:sp>
      <p:sp>
        <p:nvSpPr>
          <p:cNvPr id="714" name="Google Shape;714;p18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715" name="Google Shape;715;p18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716" name="Google Shape;716;p18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717" name="Google Shape;717;p18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718" name="Google Shape;718;p18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719" name="Google Shape;719;p18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720" name="Google Shape;720;p18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721" name="Google Shape;721;p18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722" name="Google Shape;722;p18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723" name="Google Shape;723;p18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724" name="Google Shape;724;p18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725" name="Google Shape;725;p18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726" name="Google Shape;726;p18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727" name="Google Shape;727;p18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728" name="Google Shape;728;p18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734" name="Google Shape;734;p19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PUSH    {r4, </a:t>
            </a:r>
            <a:r>
              <a:rPr lang="en-US" sz="1400" b="1" dirty="0" err="1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BL        factorial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5" name="Google Shape;735;p1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736" name="Google Shape;736;p19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737" name="Google Shape;737;p19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738" name="Google Shape;738;p1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0x08000136</a:t>
            </a:r>
            <a:endParaRPr/>
          </a:p>
        </p:txBody>
      </p:sp>
      <p:sp>
        <p:nvSpPr>
          <p:cNvPr id="739" name="Google Shape;739;p19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740" name="Google Shape;740;p19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741" name="Google Shape;741;p19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742" name="Google Shape;742;p19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3" name="Google Shape;743;p19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4" name="Google Shape;744;p19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5" name="Google Shape;745;p19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746" name="Google Shape;746;p19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747" name="Google Shape;747;p19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748" name="Google Shape;748;p19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749" name="Google Shape;749;p19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750" name="Google Shape;750;p19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751" name="Google Shape;751;p19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752" name="Google Shape;752;p19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753" name="Google Shape;753;p19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754" name="Google Shape;754;p19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755" name="Google Shape;755;p1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6" name="Google Shape;756;p19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8" name="Google Shape;758;p19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9" name="Google Shape;759;p19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1" name="Google Shape;761;p19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2" name="Google Shape;762;p19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763" name="Google Shape;763;p19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764" name="Google Shape;764;p19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766" name="Google Shape;766;p19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767" name="Google Shape;767;p19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768" name="Google Shape;768;p19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769" name="Google Shape;769;p19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770" name="Google Shape;770;p19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771" name="Google Shape;771;p19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772" name="Google Shape;772;p19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 dirty="0"/>
          </a:p>
        </p:txBody>
      </p:sp>
      <p:sp>
        <p:nvSpPr>
          <p:cNvPr id="773" name="Google Shape;773;p19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 dirty="0"/>
          </a:p>
        </p:txBody>
      </p:sp>
      <p:sp>
        <p:nvSpPr>
          <p:cNvPr id="774" name="Google Shape;774;p19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775" name="Google Shape;775;p19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776" name="Google Shape;776;p19"/>
          <p:cNvCxnSpPr>
            <a:stCxn id="743" idx="3"/>
          </p:cNvCxnSpPr>
          <p:nvPr/>
        </p:nvCxnSpPr>
        <p:spPr>
          <a:xfrm>
            <a:off x="6408049" y="2125081"/>
            <a:ext cx="192900" cy="13155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7" name="Google Shape;777;p19"/>
          <p:cNvCxnSpPr>
            <a:stCxn id="738" idx="1"/>
          </p:cNvCxnSpPr>
          <p:nvPr/>
        </p:nvCxnSpPr>
        <p:spPr>
          <a:xfrm flipH="1">
            <a:off x="3886200" y="1515481"/>
            <a:ext cx="990600" cy="23850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8" name="Google Shape;778;p19"/>
          <p:cNvCxnSpPr/>
          <p:nvPr/>
        </p:nvCxnSpPr>
        <p:spPr>
          <a:xfrm>
            <a:off x="2705094" y="3900100"/>
            <a:ext cx="1181099" cy="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779" name="Google Shape;779;p19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80" name="Google Shape;780;p19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781" name="Google Shape;781;p19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782" name="Google Shape;782;p19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783" name="Google Shape;783;p19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784" name="Google Shape;784;p19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785" name="Google Shape;785;p19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786" name="Google Shape;786;p19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787" name="Google Shape;787;p19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788" name="Google Shape;788;p19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789" name="Google Shape;789;p19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790" name="Google Shape;790;p19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791" name="Google Shape;791;p19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792" name="Google Shape;792;p19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793" name="Google Shape;793;p19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794" name="Google Shape;794;p19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795" name="Google Shape;795;p19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796" name="Google Shape;796;p19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  <p:cxnSp>
        <p:nvCxnSpPr>
          <p:cNvPr id="797" name="Google Shape;797;p19"/>
          <p:cNvCxnSpPr/>
          <p:nvPr/>
        </p:nvCxnSpPr>
        <p:spPr>
          <a:xfrm rot="5400000">
            <a:off x="2690707" y="3396781"/>
            <a:ext cx="3762600" cy="609600"/>
          </a:xfrm>
          <a:prstGeom prst="bentConnector3">
            <a:avLst>
              <a:gd name="adj1" fmla="val 104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8" name="Google Shape;798;p19"/>
          <p:cNvCxnSpPr/>
          <p:nvPr/>
        </p:nvCxnSpPr>
        <p:spPr>
          <a:xfrm>
            <a:off x="2743200" y="5582788"/>
            <a:ext cx="15240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stealth" w="med" len="med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804" name="Google Shape;804;p20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PUSH    {r4, </a:t>
            </a:r>
            <a:r>
              <a:rPr lang="en-US" sz="1400" b="1" dirty="0" err="1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5" name="Google Shape;805;p2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806" name="Google Shape;806;p20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807" name="Google Shape;807;p20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808" name="Google Shape;808;p20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0x08000138</a:t>
            </a:r>
            <a:endParaRPr/>
          </a:p>
        </p:txBody>
      </p:sp>
      <p:sp>
        <p:nvSpPr>
          <p:cNvPr id="809" name="Google Shape;809;p20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10" name="Google Shape;810;p20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811" name="Google Shape;811;p20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812" name="Google Shape;812;p20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3" name="Google Shape;813;p20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4" name="Google Shape;814;p20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5" name="Google Shape;815;p20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816" name="Google Shape;816;p20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817" name="Google Shape;817;p20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818" name="Google Shape;818;p20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819" name="Google Shape;819;p2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820" name="Google Shape;820;p20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821" name="Google Shape;821;p20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822" name="Google Shape;822;p20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823" name="Google Shape;823;p20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24" name="Google Shape;824;p20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825" name="Google Shape;825;p20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26" name="Google Shape;826;p2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827" name="Google Shape;827;p20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8" name="Google Shape;828;p20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9" name="Google Shape;829;p20"/>
          <p:cNvSpPr/>
          <p:nvPr/>
        </p:nvSpPr>
        <p:spPr>
          <a:xfrm>
            <a:off x="6799142" y="4876800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0" name="Google Shape;830;p20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1" name="Google Shape;831;p20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2" name="Google Shape;832;p20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833" name="Google Shape;833;p20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834" name="Google Shape;834;p20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835" name="Google Shape;835;p20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836" name="Google Shape;836;p20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837" name="Google Shape;837;p20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838" name="Google Shape;838;p20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839" name="Google Shape;839;p20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840" name="Google Shape;840;p20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841" name="Google Shape;841;p20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842" name="Google Shape;842;p20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843" name="Google Shape;843;p20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844" name="Google Shape;844;p20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845" name="Google Shape;845;p20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846" name="Google Shape;846;p20"/>
          <p:cNvCxnSpPr>
            <a:stCxn id="813" idx="3"/>
          </p:cNvCxnSpPr>
          <p:nvPr/>
        </p:nvCxnSpPr>
        <p:spPr>
          <a:xfrm>
            <a:off x="6408049" y="2125081"/>
            <a:ext cx="192900" cy="193290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7" name="Google Shape;847;p20"/>
          <p:cNvCxnSpPr>
            <a:stCxn id="808" idx="1"/>
          </p:cNvCxnSpPr>
          <p:nvPr/>
        </p:nvCxnSpPr>
        <p:spPr>
          <a:xfrm flipH="1">
            <a:off x="3886200" y="1515481"/>
            <a:ext cx="990600" cy="25941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8" name="Google Shape;848;p20"/>
          <p:cNvCxnSpPr/>
          <p:nvPr/>
        </p:nvCxnSpPr>
        <p:spPr>
          <a:xfrm>
            <a:off x="2705093" y="4108750"/>
            <a:ext cx="1181099" cy="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849" name="Google Shape;849;p20"/>
          <p:cNvCxnSpPr/>
          <p:nvPr/>
        </p:nvCxnSpPr>
        <p:spPr>
          <a:xfrm>
            <a:off x="6601005" y="4057848"/>
            <a:ext cx="1971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850" name="Google Shape;850;p20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Gill Sans"/>
                <a:sym typeface="Gill Sans"/>
              </a:rPr>
              <a:t>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51" name="Google Shape;851;p2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dirty="0"/>
          </a:p>
        </p:txBody>
      </p:sp>
      <p:sp>
        <p:nvSpPr>
          <p:cNvPr id="852" name="Google Shape;852;p20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853" name="Google Shape;853;p20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854" name="Google Shape;854;p20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855" name="Google Shape;855;p20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856" name="Google Shape;856;p20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857" name="Google Shape;857;p20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858" name="Google Shape;858;p20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859" name="Google Shape;859;p20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860" name="Google Shape;860;p20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861" name="Google Shape;861;p20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862" name="Google Shape;862;p20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863" name="Google Shape;863;p20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864" name="Google Shape;864;p20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865" name="Google Shape;865;p20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866" name="Google Shape;866;p20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804" name="Google Shape;804;p20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PUSH    {r4, </a:t>
            </a:r>
            <a:r>
              <a:rPr lang="en-US" sz="1400" dirty="0" err="1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MOV     r4, r0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CMP      r4, #0x01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5" name="Google Shape;805;p2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806" name="Google Shape;806;p20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807" name="Google Shape;807;p20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808" name="Google Shape;808;p20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0x0800013A</a:t>
            </a:r>
            <a:endParaRPr dirty="0"/>
          </a:p>
        </p:txBody>
      </p:sp>
      <p:sp>
        <p:nvSpPr>
          <p:cNvPr id="809" name="Google Shape;809;p20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10" name="Google Shape;810;p20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11" name="Google Shape;811;p20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812" name="Google Shape;812;p20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3" name="Google Shape;813;p20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4" name="Google Shape;814;p20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5" name="Google Shape;815;p20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816" name="Google Shape;816;p20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817" name="Google Shape;817;p20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818" name="Google Shape;818;p20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819" name="Google Shape;819;p2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820" name="Google Shape;820;p20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821" name="Google Shape;821;p20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822" name="Google Shape;822;p20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823" name="Google Shape;823;p20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24" name="Google Shape;824;p20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825" name="Google Shape;825;p20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26" name="Google Shape;826;p2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27" name="Google Shape;827;p20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8" name="Google Shape;828;p20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9" name="Google Shape;829;p20"/>
          <p:cNvSpPr/>
          <p:nvPr/>
        </p:nvSpPr>
        <p:spPr>
          <a:xfrm>
            <a:off x="6799142" y="4876800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0" name="Google Shape;830;p20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1" name="Google Shape;831;p20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2" name="Google Shape;832;p20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833" name="Google Shape;833;p20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834" name="Google Shape;834;p20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835" name="Google Shape;835;p20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836" name="Google Shape;836;p20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837" name="Google Shape;837;p20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838" name="Google Shape;838;p20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839" name="Google Shape;839;p20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840" name="Google Shape;840;p20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841" name="Google Shape;841;p20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842" name="Google Shape;842;p20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843" name="Google Shape;843;p20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844" name="Google Shape;844;p20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845" name="Google Shape;845;p20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846" name="Google Shape;846;p20"/>
          <p:cNvCxnSpPr>
            <a:stCxn id="813" idx="3"/>
          </p:cNvCxnSpPr>
          <p:nvPr/>
        </p:nvCxnSpPr>
        <p:spPr>
          <a:xfrm>
            <a:off x="6408049" y="2125081"/>
            <a:ext cx="192900" cy="19329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7" name="Google Shape;847;p20"/>
          <p:cNvCxnSpPr/>
          <p:nvPr/>
        </p:nvCxnSpPr>
        <p:spPr>
          <a:xfrm rot="5400000">
            <a:off x="3107698" y="2528740"/>
            <a:ext cx="2824290" cy="700216"/>
          </a:xfrm>
          <a:prstGeom prst="bentConnector3">
            <a:avLst>
              <a:gd name="adj1" fmla="val 565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8" name="Google Shape;848;p20"/>
          <p:cNvCxnSpPr/>
          <p:nvPr/>
        </p:nvCxnSpPr>
        <p:spPr>
          <a:xfrm>
            <a:off x="2938464" y="4309675"/>
            <a:ext cx="1231271" cy="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849" name="Google Shape;849;p20"/>
          <p:cNvCxnSpPr/>
          <p:nvPr/>
        </p:nvCxnSpPr>
        <p:spPr>
          <a:xfrm>
            <a:off x="6601005" y="4057848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850" name="Google Shape;850;p20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FF0000"/>
                </a:solidFill>
              </a:rPr>
              <a:t>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851" name="Google Shape;851;p2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dirty="0"/>
          </a:p>
        </p:txBody>
      </p:sp>
      <p:sp>
        <p:nvSpPr>
          <p:cNvPr id="852" name="Google Shape;852;p20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853" name="Google Shape;853;p20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854" name="Google Shape;854;p20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855" name="Google Shape;855;p20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856" name="Google Shape;856;p20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857" name="Google Shape;857;p20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858" name="Google Shape;858;p20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859" name="Google Shape;859;p20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860" name="Google Shape;860;p20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861" name="Google Shape;861;p20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862" name="Google Shape;862;p20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863" name="Google Shape;863;p20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864" name="Google Shape;864;p20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865" name="Google Shape;865;p20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866" name="Google Shape;866;p20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2911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872" name="Google Shape;872;p21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CMP      r4, #0x01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3" name="Google Shape;873;p2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74" name="Google Shape;874;p21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875" name="Google Shape;875;p21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876" name="Google Shape;876;p21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0x0800013E</a:t>
            </a:r>
            <a:endParaRPr/>
          </a:p>
        </p:txBody>
      </p:sp>
      <p:sp>
        <p:nvSpPr>
          <p:cNvPr id="877" name="Google Shape;877;p2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879" name="Google Shape;879;p21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880" name="Google Shape;880;p21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1" name="Google Shape;881;p21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2" name="Google Shape;882;p21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3" name="Google Shape;883;p21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884" name="Google Shape;884;p21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885" name="Google Shape;885;p21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886" name="Google Shape;886;p21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887" name="Google Shape;887;p21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888" name="Google Shape;888;p21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889" name="Google Shape;889;p21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890" name="Google Shape;890;p21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891" name="Google Shape;891;p21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92" name="Google Shape;892;p21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893" name="Google Shape;893;p21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94" name="Google Shape;894;p21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895" name="Google Shape;895;p2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6" name="Google Shape;896;p21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7" name="Google Shape;897;p21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8" name="Google Shape;898;p21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9" name="Google Shape;899;p21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901" name="Google Shape;901;p21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902" name="Google Shape;902;p21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903" name="Google Shape;903;p21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904" name="Google Shape;904;p21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905" name="Google Shape;905;p21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906" name="Google Shape;906;p21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907" name="Google Shape;907;p21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908" name="Google Shape;908;p21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909" name="Google Shape;909;p21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910" name="Google Shape;910;p21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911" name="Google Shape;911;p21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912" name="Google Shape;912;p21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913" name="Google Shape;913;p21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914" name="Google Shape;914;p21"/>
          <p:cNvCxnSpPr>
            <a:stCxn id="881" idx="3"/>
          </p:cNvCxnSpPr>
          <p:nvPr/>
        </p:nvCxnSpPr>
        <p:spPr>
          <a:xfrm>
            <a:off x="6408049" y="2125081"/>
            <a:ext cx="192900" cy="19329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5" name="Google Shape;915;p21"/>
          <p:cNvCxnSpPr>
            <a:stCxn id="876" idx="1"/>
          </p:cNvCxnSpPr>
          <p:nvPr/>
        </p:nvCxnSpPr>
        <p:spPr>
          <a:xfrm flipH="1">
            <a:off x="3886200" y="1515481"/>
            <a:ext cx="990600" cy="32343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6" name="Google Shape;916;p21"/>
          <p:cNvCxnSpPr/>
          <p:nvPr/>
        </p:nvCxnSpPr>
        <p:spPr>
          <a:xfrm>
            <a:off x="2971800" y="4749883"/>
            <a:ext cx="914399" cy="45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917" name="Google Shape;917;p21"/>
          <p:cNvCxnSpPr/>
          <p:nvPr/>
        </p:nvCxnSpPr>
        <p:spPr>
          <a:xfrm>
            <a:off x="6601005" y="4057848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18" name="Google Shape;918;p21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919" name="Google Shape;919;p21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20" name="Google Shape;920;p21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921" name="Google Shape;921;p21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922" name="Google Shape;922;p21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923" name="Google Shape;923;p21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924" name="Google Shape;924;p21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925" name="Google Shape;925;p21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926" name="Google Shape;926;p21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927" name="Google Shape;927;p21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928" name="Google Shape;928;p21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929" name="Google Shape;929;p21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930" name="Google Shape;930;p21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931" name="Google Shape;931;p21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932" name="Google Shape;932;p21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933" name="Google Shape;933;p21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934" name="Google Shape;934;p21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872" name="Google Shape;872;p21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CMP      r4, #0x01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MOVS   r0, #0x01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POP      {r4, pc}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3" name="Google Shape;873;p2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874" name="Google Shape;874;p21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875" name="Google Shape;875;p21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876" name="Google Shape;876;p21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0x08000140</a:t>
            </a:r>
            <a:endParaRPr dirty="0"/>
          </a:p>
        </p:txBody>
      </p:sp>
      <p:sp>
        <p:nvSpPr>
          <p:cNvPr id="877" name="Google Shape;877;p2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879" name="Google Shape;879;p21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880" name="Google Shape;880;p21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1" name="Google Shape;881;p21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2" name="Google Shape;882;p21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3" name="Google Shape;883;p21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884" name="Google Shape;884;p21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885" name="Google Shape;885;p21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886" name="Google Shape;886;p21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887" name="Google Shape;887;p21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888" name="Google Shape;888;p21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889" name="Google Shape;889;p21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890" name="Google Shape;890;p21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891" name="Google Shape;891;p21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92" name="Google Shape;892;p21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893" name="Google Shape;893;p21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894" name="Google Shape;894;p21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895" name="Google Shape;895;p2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6" name="Google Shape;896;p21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7" name="Google Shape;897;p21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8" name="Google Shape;898;p21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9" name="Google Shape;899;p21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901" name="Google Shape;901;p21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902" name="Google Shape;902;p21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903" name="Google Shape;903;p21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904" name="Google Shape;904;p21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905" name="Google Shape;905;p21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906" name="Google Shape;906;p21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907" name="Google Shape;907;p21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908" name="Google Shape;908;p21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909" name="Google Shape;909;p21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910" name="Google Shape;910;p21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911" name="Google Shape;911;p21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912" name="Google Shape;912;p21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913" name="Google Shape;913;p21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914" name="Google Shape;914;p21"/>
          <p:cNvCxnSpPr>
            <a:stCxn id="881" idx="3"/>
          </p:cNvCxnSpPr>
          <p:nvPr/>
        </p:nvCxnSpPr>
        <p:spPr>
          <a:xfrm>
            <a:off x="6408049" y="2125081"/>
            <a:ext cx="192900" cy="19329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5" name="Google Shape;915;p21"/>
          <p:cNvCxnSpPr>
            <a:stCxn id="876" idx="1"/>
          </p:cNvCxnSpPr>
          <p:nvPr/>
        </p:nvCxnSpPr>
        <p:spPr>
          <a:xfrm rot="10800000" flipV="1">
            <a:off x="3799530" y="1515480"/>
            <a:ext cx="1077270" cy="3448149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6" name="Google Shape;916;p21"/>
          <p:cNvCxnSpPr/>
          <p:nvPr/>
        </p:nvCxnSpPr>
        <p:spPr>
          <a:xfrm>
            <a:off x="2864354" y="4963630"/>
            <a:ext cx="914399" cy="45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917" name="Google Shape;917;p21"/>
          <p:cNvCxnSpPr/>
          <p:nvPr/>
        </p:nvCxnSpPr>
        <p:spPr>
          <a:xfrm>
            <a:off x="6601005" y="4057848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18" name="Google Shape;918;p21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919" name="Google Shape;919;p21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920" name="Google Shape;920;p21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921" name="Google Shape;921;p21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922" name="Google Shape;922;p21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923" name="Google Shape;923;p21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924" name="Google Shape;924;p21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925" name="Google Shape;925;p21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926" name="Google Shape;926;p21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927" name="Google Shape;927;p21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928" name="Google Shape;928;p21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929" name="Google Shape;929;p21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930" name="Google Shape;930;p21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931" name="Google Shape;931;p21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932" name="Google Shape;932;p21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933" name="Google Shape;933;p21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934" name="Google Shape;934;p21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46186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940" name="Google Shape;940;p22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POP      {r4, pc}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MUL     r0, r4, r0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1" name="Google Shape;941;p22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942" name="Google Shape;942;p22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943" name="Google Shape;943;p22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944" name="Google Shape;944;p22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945" name="Google Shape;945;p22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946" name="Google Shape;946;p22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947" name="Google Shape;947;p22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948" name="Google Shape;948;p22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9" name="Google Shape;949;p22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0" name="Google Shape;950;p22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1" name="Google Shape;951;p22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952" name="Google Shape;952;p22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953" name="Google Shape;953;p22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954" name="Google Shape;954;p22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955" name="Google Shape;955;p22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956" name="Google Shape;956;p22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957" name="Google Shape;957;p22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958" name="Google Shape;958;p22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959" name="Google Shape;959;p22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960" name="Google Shape;960;p22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961" name="Google Shape;961;p22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2" name="Google Shape;962;p22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3" name="Google Shape;963;p22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4" name="Google Shape;964;p2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5" name="Google Shape;965;p22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6" name="Google Shape;966;p22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7" name="Google Shape;967;p22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8" name="Google Shape;968;p22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969" name="Google Shape;969;p22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970" name="Google Shape;970;p22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971" name="Google Shape;971;p22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972" name="Google Shape;972;p22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973" name="Google Shape;973;p22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974" name="Google Shape;974;p22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977" name="Google Shape;977;p22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978" name="Google Shape;978;p22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979" name="Google Shape;979;p22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980" name="Google Shape;980;p22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981" name="Google Shape;981;p22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982" name="Google Shape;982;p22"/>
          <p:cNvCxnSpPr>
            <a:stCxn id="949" idx="3"/>
          </p:cNvCxnSpPr>
          <p:nvPr/>
        </p:nvCxnSpPr>
        <p:spPr>
          <a:xfrm>
            <a:off x="6408049" y="2125081"/>
            <a:ext cx="195000" cy="130560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3" name="Google Shape;983;p22"/>
          <p:cNvCxnSpPr>
            <a:stCxn id="944" idx="1"/>
          </p:cNvCxnSpPr>
          <p:nvPr/>
        </p:nvCxnSpPr>
        <p:spPr>
          <a:xfrm rot="10800000" flipV="1">
            <a:off x="3987332" y="1515480"/>
            <a:ext cx="889469" cy="4099113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4" name="Google Shape;984;p22"/>
          <p:cNvCxnSpPr/>
          <p:nvPr/>
        </p:nvCxnSpPr>
        <p:spPr>
          <a:xfrm>
            <a:off x="2934067" y="5614594"/>
            <a:ext cx="1066799" cy="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985" name="Google Shape;985;p22"/>
          <p:cNvCxnSpPr/>
          <p:nvPr/>
        </p:nvCxnSpPr>
        <p:spPr>
          <a:xfrm>
            <a:off x="6603113" y="3434389"/>
            <a:ext cx="1971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86" name="Google Shape;986;p22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987" name="Google Shape;987;p22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  <p:sp>
        <p:nvSpPr>
          <p:cNvPr id="988" name="Google Shape;988;p22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989" name="Google Shape;989;p22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990" name="Google Shape;990;p22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991" name="Google Shape;991;p22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992" name="Google Shape;992;p22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993" name="Google Shape;993;p22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994" name="Google Shape;994;p22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995" name="Google Shape;995;p22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996" name="Google Shape;996;p22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997" name="Google Shape;997;p22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998" name="Google Shape;998;p22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999" name="Google Shape;999;p22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1000" name="Google Shape;1000;p22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1001" name="Google Shape;1001;p22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1002" name="Google Shape;1002;p22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1008" name="Google Shape;1008;p23"/>
          <p:cNvSpPr/>
          <p:nvPr/>
        </p:nvSpPr>
        <p:spPr>
          <a:xfrm>
            <a:off x="933450" y="1235621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MUL     r0, r4, r0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B          loop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9" name="Google Shape;1009;p2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1010" name="Google Shape;1010;p23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1011" name="Google Shape;1011;p23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012" name="Google Shape;1012;p23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0x0800014C</a:t>
            </a:r>
            <a:endParaRPr dirty="0"/>
          </a:p>
        </p:txBody>
      </p:sp>
      <p:sp>
        <p:nvSpPr>
          <p:cNvPr id="1013" name="Google Shape;1013;p23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014" name="Google Shape;1014;p2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1015" name="Google Shape;1015;p23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1016" name="Google Shape;1016;p23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7" name="Google Shape;1017;p23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8" name="Google Shape;1018;p23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9" name="Google Shape;1019;p23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1020" name="Google Shape;1020;p23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1021" name="Google Shape;1021;p23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1022" name="Google Shape;1022;p23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1023" name="Google Shape;1023;p23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1024" name="Google Shape;1024;p23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025" name="Google Shape;1025;p23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1026" name="Google Shape;1026;p23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1027" name="Google Shape;1027;p23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028" name="Google Shape;1028;p23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1029" name="Google Shape;1029;p23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0" name="Google Shape;1030;p23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1" name="Google Shape;1031;p23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2" name="Google Shape;1032;p23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3" name="Google Shape;1033;p2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4" name="Google Shape;1034;p23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5" name="Google Shape;1035;p23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6" name="Google Shape;1036;p23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1037" name="Google Shape;1037;p23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038" name="Google Shape;1038;p23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039" name="Google Shape;1039;p23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1040" name="Google Shape;1040;p23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041" name="Google Shape;1041;p23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1042" name="Google Shape;1042;p23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1043" name="Google Shape;1043;p23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1044" name="Google Shape;1044;p23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1045" name="Google Shape;1045;p23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1046" name="Google Shape;1046;p23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1047" name="Google Shape;1047;p23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1048" name="Google Shape;1048;p23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1049" name="Google Shape;1049;p23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1050" name="Google Shape;1050;p23"/>
          <p:cNvCxnSpPr>
            <a:stCxn id="1017" idx="3"/>
          </p:cNvCxnSpPr>
          <p:nvPr/>
        </p:nvCxnSpPr>
        <p:spPr>
          <a:xfrm>
            <a:off x="6408049" y="2125081"/>
            <a:ext cx="195000" cy="13056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1" name="Google Shape;1051;p23"/>
          <p:cNvCxnSpPr>
            <a:stCxn id="1012" idx="1"/>
          </p:cNvCxnSpPr>
          <p:nvPr/>
        </p:nvCxnSpPr>
        <p:spPr>
          <a:xfrm rot="10800000" flipV="1">
            <a:off x="3647768" y="1515481"/>
            <a:ext cx="1229032" cy="4341052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2" name="Google Shape;1052;p23"/>
          <p:cNvCxnSpPr/>
          <p:nvPr/>
        </p:nvCxnSpPr>
        <p:spPr>
          <a:xfrm>
            <a:off x="2657169" y="5856534"/>
            <a:ext cx="990598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1053" name="Google Shape;1053;p23"/>
          <p:cNvCxnSpPr/>
          <p:nvPr/>
        </p:nvCxnSpPr>
        <p:spPr>
          <a:xfrm>
            <a:off x="6603113" y="3434389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54" name="Google Shape;1054;p23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055" name="Google Shape;1055;p23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056" name="Google Shape;1056;p23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1057" name="Google Shape;1057;p23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1058" name="Google Shape;1058;p23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059" name="Google Shape;1059;p23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1060" name="Google Shape;1060;p23"/>
          <p:cNvGrpSpPr/>
          <p:nvPr/>
        </p:nvGrpSpPr>
        <p:grpSpPr>
          <a:xfrm>
            <a:off x="-43192" y="3840218"/>
            <a:ext cx="1003689" cy="2165681"/>
            <a:chOff x="-43192" y="3840218"/>
            <a:chExt cx="1003689" cy="2165681"/>
          </a:xfrm>
        </p:grpSpPr>
        <p:sp>
          <p:nvSpPr>
            <p:cNvPr id="1061" name="Google Shape;1061;p23"/>
            <p:cNvSpPr txBox="1"/>
            <p:nvPr/>
          </p:nvSpPr>
          <p:spPr>
            <a:xfrm>
              <a:off x="-27601" y="3840218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 dirty="0"/>
            </a:p>
          </p:txBody>
        </p:sp>
        <p:sp>
          <p:nvSpPr>
            <p:cNvPr id="1062" name="Google Shape;1062;p23"/>
            <p:cNvSpPr txBox="1"/>
            <p:nvPr/>
          </p:nvSpPr>
          <p:spPr>
            <a:xfrm>
              <a:off x="-38403" y="5273600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 dirty="0"/>
            </a:p>
          </p:txBody>
        </p:sp>
        <p:sp>
          <p:nvSpPr>
            <p:cNvPr id="1063" name="Google Shape;1063;p23"/>
            <p:cNvSpPr txBox="1"/>
            <p:nvPr/>
          </p:nvSpPr>
          <p:spPr>
            <a:xfrm>
              <a:off x="-38096" y="5511328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 dirty="0"/>
            </a:p>
          </p:txBody>
        </p:sp>
        <p:sp>
          <p:nvSpPr>
            <p:cNvPr id="1064" name="Google Shape;1064;p23"/>
            <p:cNvSpPr txBox="1"/>
            <p:nvPr/>
          </p:nvSpPr>
          <p:spPr>
            <a:xfrm>
              <a:off x="-30829" y="4875796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 dirty="0"/>
            </a:p>
          </p:txBody>
        </p:sp>
        <p:sp>
          <p:nvSpPr>
            <p:cNvPr id="1065" name="Google Shape;1065;p23"/>
            <p:cNvSpPr txBox="1"/>
            <p:nvPr/>
          </p:nvSpPr>
          <p:spPr>
            <a:xfrm>
              <a:off x="-9981" y="50901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 dirty="0"/>
            </a:p>
          </p:txBody>
        </p:sp>
        <p:sp>
          <p:nvSpPr>
            <p:cNvPr id="1066" name="Google Shape;1066;p23"/>
            <p:cNvSpPr txBox="1"/>
            <p:nvPr/>
          </p:nvSpPr>
          <p:spPr>
            <a:xfrm>
              <a:off x="-41838" y="4030485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 dirty="0"/>
            </a:p>
          </p:txBody>
        </p:sp>
        <p:sp>
          <p:nvSpPr>
            <p:cNvPr id="1067" name="Google Shape;1067;p23"/>
            <p:cNvSpPr txBox="1"/>
            <p:nvPr/>
          </p:nvSpPr>
          <p:spPr>
            <a:xfrm>
              <a:off x="-19258" y="4249803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 dirty="0"/>
            </a:p>
          </p:txBody>
        </p:sp>
        <p:sp>
          <p:nvSpPr>
            <p:cNvPr id="1068" name="Google Shape;1068;p23"/>
            <p:cNvSpPr txBox="1"/>
            <p:nvPr/>
          </p:nvSpPr>
          <p:spPr>
            <a:xfrm>
              <a:off x="-28575" y="4448175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 dirty="0"/>
            </a:p>
          </p:txBody>
        </p:sp>
        <p:sp>
          <p:nvSpPr>
            <p:cNvPr id="1069" name="Google Shape;1069;p23"/>
            <p:cNvSpPr txBox="1"/>
            <p:nvPr/>
          </p:nvSpPr>
          <p:spPr>
            <a:xfrm>
              <a:off x="-34545" y="4651465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 dirty="0"/>
            </a:p>
          </p:txBody>
        </p:sp>
        <p:sp>
          <p:nvSpPr>
            <p:cNvPr id="1070" name="Google Shape;1070;p23"/>
            <p:cNvSpPr txBox="1"/>
            <p:nvPr/>
          </p:nvSpPr>
          <p:spPr>
            <a:xfrm>
              <a:off x="-43192" y="5728900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2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1076" name="Google Shape;1076;p24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 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7" name="Google Shape;1077;p2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1078" name="Google Shape;1078;p24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1079" name="Google Shape;1079;p24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080" name="Google Shape;1080;p24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0x08000140</a:t>
            </a:r>
            <a:endParaRPr/>
          </a:p>
        </p:txBody>
      </p:sp>
      <p:sp>
        <p:nvSpPr>
          <p:cNvPr id="1081" name="Google Shape;1081;p24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082" name="Google Shape;1082;p24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1083" name="Google Shape;1083;p24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1084" name="Google Shape;1084;p24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5" name="Google Shape;1085;p24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6" name="Google Shape;1086;p2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7" name="Google Shape;1087;p24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1088" name="Google Shape;1088;p24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1089" name="Google Shape;1089;p24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1090" name="Google Shape;1090;p24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1091" name="Google Shape;1091;p24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1092" name="Google Shape;1092;p24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093" name="Google Shape;1093;p24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1094" name="Google Shape;1094;p24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1095" name="Google Shape;1095;p24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096" name="Google Shape;1096;p24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1097" name="Google Shape;1097;p24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8" name="Google Shape;1098;p24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9" name="Google Shape;1099;p24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0" name="Google Shape;1100;p24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1" name="Google Shape;1101;p24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2" name="Google Shape;1102;p2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3" name="Google Shape;1103;p24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4" name="Google Shape;1104;p24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1105" name="Google Shape;1105;p24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106" name="Google Shape;1106;p24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107" name="Google Shape;1107;p24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1108" name="Google Shape;1108;p24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109" name="Google Shape;1109;p24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1110" name="Google Shape;1110;p24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1111" name="Google Shape;1111;p24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1112" name="Google Shape;1112;p24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1113" name="Google Shape;1113;p24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1114" name="Google Shape;1114;p24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1115" name="Google Shape;1115;p24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1116" name="Google Shape;1116;p24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1117" name="Google Shape;1117;p24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1118" name="Google Shape;1118;p24"/>
          <p:cNvCxnSpPr>
            <a:stCxn id="1085" idx="3"/>
          </p:cNvCxnSpPr>
          <p:nvPr/>
        </p:nvCxnSpPr>
        <p:spPr>
          <a:xfrm>
            <a:off x="6408049" y="2125081"/>
            <a:ext cx="195000" cy="13056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9" name="Google Shape;1119;p24"/>
          <p:cNvCxnSpPr>
            <a:stCxn id="1080" idx="1"/>
          </p:cNvCxnSpPr>
          <p:nvPr/>
        </p:nvCxnSpPr>
        <p:spPr>
          <a:xfrm flipH="1">
            <a:off x="3886200" y="1515481"/>
            <a:ext cx="990600" cy="34374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0" name="Google Shape;1120;p24"/>
          <p:cNvCxnSpPr/>
          <p:nvPr/>
        </p:nvCxnSpPr>
        <p:spPr>
          <a:xfrm>
            <a:off x="2820748" y="4963630"/>
            <a:ext cx="1066799" cy="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1121" name="Google Shape;1121;p24"/>
          <p:cNvCxnSpPr/>
          <p:nvPr/>
        </p:nvCxnSpPr>
        <p:spPr>
          <a:xfrm>
            <a:off x="6603113" y="3434389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22" name="Google Shape;1122;p24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123" name="Google Shape;1123;p24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24" name="Google Shape;1124;p24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1125" name="Google Shape;1125;p24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1126" name="Google Shape;1126;p24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127" name="Google Shape;1127;p24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1128" name="Google Shape;1128;p24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1129" name="Google Shape;1129;p24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1130" name="Google Shape;1130;p24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1131" name="Google Shape;1131;p24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1132" name="Google Shape;1132;p24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1133" name="Google Shape;1133;p24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1134" name="Google Shape;1134;p24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1135" name="Google Shape;1135;p24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1136" name="Google Shape;1136;p24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1137" name="Google Shape;1137;p24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1138" name="Google Shape;1138;p24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  <p:sp>
        <p:nvSpPr>
          <p:cNvPr id="1139" name="Google Shape;1139;p24"/>
          <p:cNvSpPr/>
          <p:nvPr/>
        </p:nvSpPr>
        <p:spPr>
          <a:xfrm>
            <a:off x="3810000" y="5142924"/>
            <a:ext cx="2514600" cy="830997"/>
          </a:xfrm>
          <a:prstGeom prst="rect">
            <a:avLst/>
          </a:prstGeom>
          <a:gradFill>
            <a:gsLst>
              <a:gs pos="0">
                <a:srgbClr val="406899"/>
              </a:gs>
              <a:gs pos="30000">
                <a:srgbClr val="4579B9"/>
              </a:gs>
              <a:gs pos="45000">
                <a:srgbClr val="4580C6"/>
              </a:gs>
              <a:gs pos="55000">
                <a:srgbClr val="4580C6"/>
              </a:gs>
              <a:gs pos="73000">
                <a:srgbClr val="4579B9"/>
              </a:gs>
              <a:gs pos="100000">
                <a:srgbClr val="406899"/>
              </a:gs>
            </a:gsLst>
            <a:lin ang="950000" scaled="0"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43000" dir="54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Order in which registers are specified is not important.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1145" name="Google Shape;1145;p25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 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POP      {r4, pc}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MUL     r0, r4, r0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6" name="Google Shape;1146;p2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1147" name="Google Shape;1147;p25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1148" name="Google Shape;1148;p25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149" name="Google Shape;1149;p25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150" name="Google Shape;1150;p25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151" name="Google Shape;1151;p25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152" name="Google Shape;1152;p25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1153" name="Google Shape;1153;p25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54" name="Google Shape;1154;p25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55" name="Google Shape;1155;p25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56" name="Google Shape;1156;p25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1157" name="Google Shape;1157;p25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1158" name="Google Shape;1158;p25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1159" name="Google Shape;1159;p25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1160" name="Google Shape;1160;p25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1161" name="Google Shape;1161;p2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162" name="Google Shape;1162;p25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1163" name="Google Shape;1163;p25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1164" name="Google Shape;1164;p25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5" name="Google Shape;1165;p25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6" name="Google Shape;1166;p25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7" name="Google Shape;1167;p25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8" name="Google Shape;1168;p25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9" name="Google Shape;1169;p25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0" name="Google Shape;1170;p25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1" name="Google Shape;1171;p25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2" name="Google Shape;1172;p2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3" name="Google Shape;1173;p25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1174" name="Google Shape;1174;p25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175" name="Google Shape;1175;p25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176" name="Google Shape;1176;p25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1177" name="Google Shape;1177;p25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178" name="Google Shape;1178;p25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1179" name="Google Shape;1179;p25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1180" name="Google Shape;1180;p25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1181" name="Google Shape;1181;p25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1182" name="Google Shape;1182;p25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1183" name="Google Shape;1183;p25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1184" name="Google Shape;1184;p25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1185" name="Google Shape;1185;p25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1186" name="Google Shape;1186;p25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1187" name="Google Shape;1187;p25"/>
          <p:cNvCxnSpPr>
            <a:stCxn id="1154" idx="3"/>
          </p:cNvCxnSpPr>
          <p:nvPr/>
        </p:nvCxnSpPr>
        <p:spPr>
          <a:xfrm>
            <a:off x="6408049" y="2125081"/>
            <a:ext cx="195000" cy="69990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8" name="Google Shape;1188;p25"/>
          <p:cNvCxnSpPr>
            <a:stCxn id="1149" idx="1"/>
          </p:cNvCxnSpPr>
          <p:nvPr/>
        </p:nvCxnSpPr>
        <p:spPr>
          <a:xfrm rot="10800000" flipV="1">
            <a:off x="4000866" y="1515480"/>
            <a:ext cx="875934" cy="4067307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9" name="Google Shape;1189;p25"/>
          <p:cNvCxnSpPr/>
          <p:nvPr/>
        </p:nvCxnSpPr>
        <p:spPr>
          <a:xfrm>
            <a:off x="2934067" y="5590043"/>
            <a:ext cx="1066799" cy="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1190" name="Google Shape;1190;p25"/>
          <p:cNvCxnSpPr/>
          <p:nvPr/>
        </p:nvCxnSpPr>
        <p:spPr>
          <a:xfrm>
            <a:off x="6604606" y="2824889"/>
            <a:ext cx="197171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91" name="Google Shape;1191;p25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1192" name="Google Shape;1192;p25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  <p:sp>
        <p:nvSpPr>
          <p:cNvPr id="1193" name="Google Shape;1193;p25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1194" name="Google Shape;1194;p25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1195" name="Google Shape;1195;p25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196" name="Google Shape;1196;p25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1197" name="Google Shape;1197;p25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1198" name="Google Shape;1198;p25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1199" name="Google Shape;1199;p25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1200" name="Google Shape;1200;p25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1201" name="Google Shape;1201;p25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1202" name="Google Shape;1202;p25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1203" name="Google Shape;1203;p25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1204" name="Google Shape;1204;p25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1205" name="Google Shape;1205;p25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1206" name="Google Shape;1206;p25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1207" name="Google Shape;1207;p25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1213" name="Google Shape;1213;p26"/>
          <p:cNvSpPr/>
          <p:nvPr/>
        </p:nvSpPr>
        <p:spPr>
          <a:xfrm>
            <a:off x="914400" y="1171675"/>
            <a:ext cx="3581400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 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MUL     r0, r4, r0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B          loop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4" name="Google Shape;1214;p2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1215" name="Google Shape;1215;p26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1216" name="Google Shape;1216;p26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217" name="Google Shape;1217;p26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0x0800014C</a:t>
            </a:r>
            <a:endParaRPr dirty="0"/>
          </a:p>
        </p:txBody>
      </p:sp>
      <p:sp>
        <p:nvSpPr>
          <p:cNvPr id="1218" name="Google Shape;1218;p26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219" name="Google Shape;1219;p26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220" name="Google Shape;1220;p26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1221" name="Google Shape;1221;p26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22" name="Google Shape;1222;p26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23" name="Google Shape;1223;p26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24" name="Google Shape;1224;p26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1225" name="Google Shape;1225;p26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1226" name="Google Shape;1226;p26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1227" name="Google Shape;1227;p26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1228" name="Google Shape;1228;p26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1229" name="Google Shape;1229;p26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230" name="Google Shape;1230;p26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1231" name="Google Shape;1231;p2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1232" name="Google Shape;1232;p26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3" name="Google Shape;1233;p26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4" name="Google Shape;1234;p26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5" name="Google Shape;1235;p26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6" name="Google Shape;1236;p26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7" name="Google Shape;1237;p26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8" name="Google Shape;1238;p26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9" name="Google Shape;1239;p26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40" name="Google Shape;1240;p26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41" name="Google Shape;1241;p2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1242" name="Google Shape;1242;p26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243" name="Google Shape;1243;p26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244" name="Google Shape;1244;p26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1245" name="Google Shape;1245;p26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246" name="Google Shape;1246;p26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1247" name="Google Shape;1247;p26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1248" name="Google Shape;1248;p26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1249" name="Google Shape;1249;p26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1250" name="Google Shape;1250;p26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1251" name="Google Shape;1251;p26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1252" name="Google Shape;1252;p26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1253" name="Google Shape;1253;p26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1254" name="Google Shape;1254;p26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1255" name="Google Shape;1255;p26"/>
          <p:cNvCxnSpPr>
            <a:stCxn id="1222" idx="3"/>
          </p:cNvCxnSpPr>
          <p:nvPr/>
        </p:nvCxnSpPr>
        <p:spPr>
          <a:xfrm>
            <a:off x="6408049" y="2125081"/>
            <a:ext cx="195000" cy="6999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6" name="Google Shape;1256;p26"/>
          <p:cNvCxnSpPr/>
          <p:nvPr/>
        </p:nvCxnSpPr>
        <p:spPr>
          <a:xfrm rot="5400000">
            <a:off x="2035874" y="3041724"/>
            <a:ext cx="4358391" cy="1304410"/>
          </a:xfrm>
          <a:prstGeom prst="bentConnector3">
            <a:avLst>
              <a:gd name="adj1" fmla="val 144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7" name="Google Shape;1257;p26"/>
          <p:cNvCxnSpPr/>
          <p:nvPr/>
        </p:nvCxnSpPr>
        <p:spPr>
          <a:xfrm>
            <a:off x="2593848" y="5850626"/>
            <a:ext cx="990597" cy="16774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1258" name="Google Shape;1258;p26"/>
          <p:cNvCxnSpPr/>
          <p:nvPr/>
        </p:nvCxnSpPr>
        <p:spPr>
          <a:xfrm>
            <a:off x="6601006" y="2818180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59" name="Google Shape;1259;p26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1260" name="Google Shape;1260;p26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261" name="Google Shape;1261;p26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1262" name="Google Shape;1262;p26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1263" name="Google Shape;1263;p26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264" name="Google Shape;1264;p26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1265" name="Google Shape;1265;p26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1266" name="Google Shape;1266;p26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1267" name="Google Shape;1267;p26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1268" name="Google Shape;1268;p26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1269" name="Google Shape;1269;p26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1270" name="Google Shape;1270;p26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1271" name="Google Shape;1271;p26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1272" name="Google Shape;1272;p26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1273" name="Google Shape;1273;p26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1274" name="Google Shape;1274;p26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1275" name="Google Shape;1275;p26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2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1281" name="Google Shape;1281;p27"/>
          <p:cNvSpPr/>
          <p:nvPr/>
        </p:nvSpPr>
        <p:spPr>
          <a:xfrm>
            <a:off x="914400" y="1171685"/>
            <a:ext cx="3581401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.global __main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    B       stop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</a:t>
            </a:r>
            <a:r>
              <a:rPr lang="en-US" sz="1400" b="1" dirty="0">
                <a:solidFill>
                  <a:srgbClr val="3333FF"/>
                </a:solidFill>
                <a:latin typeface="Gill Sans"/>
                <a:ea typeface="Gill Sans"/>
                <a:cs typeface="Gill Sans"/>
                <a:sym typeface="Gill Sans"/>
              </a:rPr>
              <a:t>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B          loop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2" name="Google Shape;1282;p2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1283" name="Google Shape;1283;p27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1284" name="Google Shape;1284;p27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285" name="Google Shape;1285;p27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0x08000140</a:t>
            </a:r>
            <a:endParaRPr dirty="0"/>
          </a:p>
        </p:txBody>
      </p:sp>
      <p:sp>
        <p:nvSpPr>
          <p:cNvPr id="1286" name="Google Shape;1286;p27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287" name="Google Shape;1287;p27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288" name="Google Shape;1288;p27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1289" name="Google Shape;1289;p27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0" name="Google Shape;1290;p27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1" name="Google Shape;1291;p27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2" name="Google Shape;1292;p27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1293" name="Google Shape;1293;p27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1294" name="Google Shape;1294;p27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1295" name="Google Shape;1295;p27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1296" name="Google Shape;1296;p27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1297" name="Google Shape;1297;p27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298" name="Google Shape;1298;p27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1299" name="Google Shape;1299;p27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1300" name="Google Shape;1300;p2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1" name="Google Shape;1301;p27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2" name="Google Shape;1302;p27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3" name="Google Shape;1303;p27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4" name="Google Shape;1304;p27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5" name="Google Shape;1305;p27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6" name="Google Shape;1306;p27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7" name="Google Shape;1307;p27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8" name="Google Shape;1308;p27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9" name="Google Shape;1309;p27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1310" name="Google Shape;1310;p27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311" name="Google Shape;1311;p27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312" name="Google Shape;1312;p27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1313" name="Google Shape;1313;p27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314" name="Google Shape;1314;p27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1315" name="Google Shape;1315;p27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1316" name="Google Shape;1316;p27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1317" name="Google Shape;1317;p27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1318" name="Google Shape;1318;p27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1319" name="Google Shape;1319;p27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1320" name="Google Shape;1320;p27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1321" name="Google Shape;1321;p27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1322" name="Google Shape;1322;p27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1323" name="Google Shape;1323;p27"/>
          <p:cNvCxnSpPr>
            <a:stCxn id="1290" idx="3"/>
          </p:cNvCxnSpPr>
          <p:nvPr/>
        </p:nvCxnSpPr>
        <p:spPr>
          <a:xfrm>
            <a:off x="6408049" y="2125081"/>
            <a:ext cx="195000" cy="699900"/>
          </a:xfrm>
          <a:prstGeom prst="bentConnector2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4" name="Google Shape;1324;p27"/>
          <p:cNvCxnSpPr>
            <a:stCxn id="1285" idx="1"/>
          </p:cNvCxnSpPr>
          <p:nvPr/>
        </p:nvCxnSpPr>
        <p:spPr>
          <a:xfrm flipH="1">
            <a:off x="3886200" y="1515481"/>
            <a:ext cx="990600" cy="3437400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5" name="Google Shape;1325;p27"/>
          <p:cNvCxnSpPr/>
          <p:nvPr/>
        </p:nvCxnSpPr>
        <p:spPr>
          <a:xfrm>
            <a:off x="2819398" y="4963630"/>
            <a:ext cx="1066799" cy="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cxnSp>
        <p:nvCxnSpPr>
          <p:cNvPr id="1326" name="Google Shape;1326;p27"/>
          <p:cNvCxnSpPr/>
          <p:nvPr/>
        </p:nvCxnSpPr>
        <p:spPr>
          <a:xfrm>
            <a:off x="6604606" y="2824889"/>
            <a:ext cx="1971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27" name="Google Shape;1327;p2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  <p:sp>
        <p:nvSpPr>
          <p:cNvPr id="1328" name="Google Shape;1328;p27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329" name="Google Shape;1329;p27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1330" name="Google Shape;1330;p27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1331" name="Google Shape;1331;p27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332" name="Google Shape;1332;p27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1333" name="Google Shape;1333;p27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1334" name="Google Shape;1334;p27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1335" name="Google Shape;1335;p27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1336" name="Google Shape;1336;p27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1337" name="Google Shape;1337;p27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1338" name="Google Shape;1338;p27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1339" name="Google Shape;1339;p27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1340" name="Google Shape;1340;p27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1341" name="Google Shape;1341;p27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1342" name="Google Shape;1342;p27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1343" name="Google Shape;1343;p27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2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1349" name="Google Shape;1349;p28"/>
          <p:cNvSpPr/>
          <p:nvPr/>
        </p:nvSpPr>
        <p:spPr>
          <a:xfrm>
            <a:off x="904735" y="1124238"/>
            <a:ext cx="3581400" cy="569382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global __main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lang="en-US" sz="14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B       stop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POP      {r4, pc}</a:t>
            </a:r>
            <a:endParaRPr b="1"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MOV r7, #1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0" name="Google Shape;1350;p2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1351" name="Google Shape;1351;p28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1352" name="Google Shape;1352;p28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353" name="Google Shape;1353;p28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354" name="Google Shape;1354;p28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355" name="Google Shape;1355;p28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1356" name="Google Shape;1356;p28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1357" name="Google Shape;1357;p28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58" name="Google Shape;1358;p28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59" name="Google Shape;1359;p28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0" name="Google Shape;1360;p28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1361" name="Google Shape;1361;p28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1362" name="Google Shape;1362;p2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1363" name="Google Shape;1363;p28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1364" name="Google Shape;1364;p28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1365" name="Google Shape;1365;p28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6" name="Google Shape;1366;p28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1367" name="Google Shape;1367;p28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8" name="Google Shape;1368;p28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9" name="Google Shape;1369;p2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0" name="Google Shape;1370;p28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1" name="Google Shape;1371;p28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2" name="Google Shape;1372;p28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3" name="Google Shape;1373;p28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4" name="Google Shape;1374;p28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5" name="Google Shape;1375;p28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6" name="Google Shape;1376;p28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7" name="Google Shape;1377;p28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1378" name="Google Shape;1378;p28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379" name="Google Shape;1379;p28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380" name="Google Shape;1380;p28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1381" name="Google Shape;1381;p28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382" name="Google Shape;1382;p28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1383" name="Google Shape;1383;p28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1384" name="Google Shape;1384;p28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1385" name="Google Shape;1385;p28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1386" name="Google Shape;1386;p28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1387" name="Google Shape;1387;p28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1388" name="Google Shape;1388;p28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1389" name="Google Shape;1389;p28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1390" name="Google Shape;1390;p28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1391" name="Google Shape;1391;p28"/>
          <p:cNvCxnSpPr>
            <a:stCxn id="1358" idx="3"/>
          </p:cNvCxnSpPr>
          <p:nvPr/>
        </p:nvCxnSpPr>
        <p:spPr>
          <a:xfrm>
            <a:off x="6408049" y="2125081"/>
            <a:ext cx="390000" cy="86400"/>
          </a:xfrm>
          <a:prstGeom prst="bentConnector3">
            <a:avLst>
              <a:gd name="adj1" fmla="val 5001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92" name="Google Shape;1392;p28"/>
          <p:cNvCxnSpPr>
            <a:stCxn id="1353" idx="1"/>
          </p:cNvCxnSpPr>
          <p:nvPr/>
        </p:nvCxnSpPr>
        <p:spPr>
          <a:xfrm rot="10800000" flipV="1">
            <a:off x="3505200" y="1515480"/>
            <a:ext cx="1371601" cy="1428471"/>
          </a:xfrm>
          <a:prstGeom prst="bentConnector2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3" name="Google Shape;1393;p28"/>
          <p:cNvCxnSpPr/>
          <p:nvPr/>
        </p:nvCxnSpPr>
        <p:spPr>
          <a:xfrm>
            <a:off x="2438400" y="2974902"/>
            <a:ext cx="1066799" cy="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1394" name="Google Shape;1394;p28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/>
          </a:p>
        </p:txBody>
      </p:sp>
      <p:sp>
        <p:nvSpPr>
          <p:cNvPr id="1395" name="Google Shape;1395;p28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396" name="Google Shape;1396;p28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1397" name="Google Shape;1397;p28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1398" name="Google Shape;1398;p28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399" name="Google Shape;1399;p28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1400" name="Google Shape;1400;p28"/>
          <p:cNvGrpSpPr/>
          <p:nvPr/>
        </p:nvGrpSpPr>
        <p:grpSpPr>
          <a:xfrm>
            <a:off x="-36090" y="3761601"/>
            <a:ext cx="990591" cy="2162949"/>
            <a:chOff x="-36090" y="3761601"/>
            <a:chExt cx="990591" cy="2162949"/>
          </a:xfrm>
        </p:grpSpPr>
        <p:sp>
          <p:nvSpPr>
            <p:cNvPr id="1401" name="Google Shape;1401;p28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1402" name="Google Shape;1402;p28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1403" name="Google Shape;1403;p28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1404" name="Google Shape;1404;p28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1405" name="Google Shape;1405;p28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1406" name="Google Shape;1406;p28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1407" name="Google Shape;1407;p28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1408" name="Google Shape;1408;p28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1409" name="Google Shape;1409;p28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1410" name="Google Shape;1410;p28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Recursive Factorial in Assembly</a:t>
            </a:r>
            <a:endParaRPr/>
          </a:p>
        </p:txBody>
      </p:sp>
      <p:sp>
        <p:nvSpPr>
          <p:cNvPr id="1416" name="Google Shape;1416;p29"/>
          <p:cNvSpPr/>
          <p:nvPr/>
        </p:nvSpPr>
        <p:spPr>
          <a:xfrm>
            <a:off x="914400" y="1171675"/>
            <a:ext cx="3581400" cy="5262939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.g</a:t>
            </a: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lobal __main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__main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r0, #0x03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lang="en-US" sz="1400" b="1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B       stop</a:t>
            </a:r>
            <a:endParaRPr dirty="0">
              <a:solidFill>
                <a:srgbClr val="00B05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PUSH    {r4, </a:t>
            </a:r>
            <a:r>
              <a:rPr lang="en-US" sz="1400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    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CMP      r4,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BNE      NZ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MOVS   r0, #0x01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   POP      {r4, pc}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NZ     SUBS    r0, r4, #1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BL        </a:t>
            </a:r>
            <a:r>
              <a:rPr lang="en-US" sz="1400" dirty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factorial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MUL     r0, r4, r0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B          loop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stop:         </a:t>
            </a:r>
            <a:r>
              <a:rPr lang="en-US" b="1" dirty="0" smtClean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MOV </a:t>
            </a:r>
            <a:r>
              <a:rPr lang="en-US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r7, #1</a:t>
            </a:r>
            <a:endParaRPr b="1" dirty="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     SWI 0</a:t>
            </a:r>
            <a:endParaRPr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7" name="Google Shape;1417;p2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1418" name="Google Shape;1418;p29"/>
          <p:cNvSpPr txBox="1"/>
          <p:nvPr/>
        </p:nvSpPr>
        <p:spPr>
          <a:xfrm>
            <a:off x="-18925" y="266712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0x08000130</a:t>
            </a:r>
            <a:endParaRPr/>
          </a:p>
        </p:txBody>
      </p:sp>
      <p:sp>
        <p:nvSpPr>
          <p:cNvPr id="1419" name="Google Shape;1419;p29"/>
          <p:cNvSpPr txBox="1"/>
          <p:nvPr/>
        </p:nvSpPr>
        <p:spPr>
          <a:xfrm>
            <a:off x="-18926" y="2908405"/>
            <a:ext cx="9541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0x08000134</a:t>
            </a:r>
            <a:endParaRPr/>
          </a:p>
        </p:txBody>
      </p:sp>
      <p:sp>
        <p:nvSpPr>
          <p:cNvPr id="1420" name="Google Shape;1420;p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0x0800014E</a:t>
            </a:r>
            <a:endParaRPr dirty="0"/>
          </a:p>
        </p:txBody>
      </p:sp>
      <p:sp>
        <p:nvSpPr>
          <p:cNvPr id="1421" name="Google Shape;1421;p29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0x08000148</a:t>
            </a:r>
            <a:endParaRPr/>
          </a:p>
        </p:txBody>
      </p:sp>
      <p:sp>
        <p:nvSpPr>
          <p:cNvPr id="1422" name="Google Shape;1422;p29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1423" name="Google Shape;1423;p29"/>
          <p:cNvSpPr txBox="1"/>
          <p:nvPr/>
        </p:nvSpPr>
        <p:spPr>
          <a:xfrm>
            <a:off x="6019801" y="1298549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pc</a:t>
            </a:r>
            <a:endParaRPr/>
          </a:p>
        </p:txBody>
      </p:sp>
      <p:sp>
        <p:nvSpPr>
          <p:cNvPr id="1424" name="Google Shape;1424;p29"/>
          <p:cNvSpPr txBox="1"/>
          <p:nvPr/>
        </p:nvSpPr>
        <p:spPr>
          <a:xfrm>
            <a:off x="6019801" y="1635615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25" name="Google Shape;1425;p29"/>
          <p:cNvSpPr txBox="1"/>
          <p:nvPr/>
        </p:nvSpPr>
        <p:spPr>
          <a:xfrm>
            <a:off x="6019801" y="1940415"/>
            <a:ext cx="3882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sp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26" name="Google Shape;1426;p29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27" name="Google Shape;1427;p29"/>
          <p:cNvSpPr txBox="1"/>
          <p:nvPr/>
        </p:nvSpPr>
        <p:spPr>
          <a:xfrm>
            <a:off x="7931653" y="6052437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0x00000000</a:t>
            </a:r>
            <a:endParaRPr/>
          </a:p>
        </p:txBody>
      </p:sp>
      <p:sp>
        <p:nvSpPr>
          <p:cNvPr id="1428" name="Google Shape;1428;p29"/>
          <p:cNvSpPr txBox="1"/>
          <p:nvPr/>
        </p:nvSpPr>
        <p:spPr>
          <a:xfrm>
            <a:off x="7931653" y="1299555"/>
            <a:ext cx="10438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0xFFFFFFFF</a:t>
            </a:r>
            <a:endParaRPr/>
          </a:p>
        </p:txBody>
      </p:sp>
      <p:sp>
        <p:nvSpPr>
          <p:cNvPr id="1429" name="Google Shape;1429;p29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Memory</a:t>
            </a:r>
            <a:endParaRPr/>
          </a:p>
        </p:txBody>
      </p:sp>
      <p:sp>
        <p:nvSpPr>
          <p:cNvPr id="1430" name="Google Shape;1430;p29"/>
          <p:cNvSpPr txBox="1"/>
          <p:nvPr/>
        </p:nvSpPr>
        <p:spPr>
          <a:xfrm>
            <a:off x="8018109" y="1003274"/>
            <a:ext cx="9467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Address</a:t>
            </a:r>
            <a:endParaRPr/>
          </a:p>
        </p:txBody>
      </p:sp>
      <p:sp>
        <p:nvSpPr>
          <p:cNvPr id="1431" name="Google Shape;1431;p29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</a:t>
            </a:r>
            <a:endParaRPr/>
          </a:p>
        </p:txBody>
      </p:sp>
      <p:sp>
        <p:nvSpPr>
          <p:cNvPr id="1432" name="Google Shape;1432;p29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3" name="Google Shape;1433;p29"/>
          <p:cNvSpPr/>
          <p:nvPr/>
        </p:nvSpPr>
        <p:spPr>
          <a:xfrm>
            <a:off x="7941178" y="2057525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0x20000600</a:t>
            </a:r>
            <a:endParaRPr/>
          </a:p>
        </p:txBody>
      </p:sp>
      <p:sp>
        <p:nvSpPr>
          <p:cNvPr id="1434" name="Google Shape;1434;p29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5" name="Google Shape;1435;p29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6" name="Google Shape;1436;p29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7" name="Google Shape;1437;p2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8" name="Google Shape;1438;p29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9" name="Google Shape;1439;p29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0" name="Google Shape;1440;p29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1" name="Google Shape;1441;p29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2" name="Google Shape;1442;p29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3" name="Google Shape;1443;p29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4" name="Google Shape;1444;p29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0x12345678</a:t>
            </a:r>
            <a:endParaRPr/>
          </a:p>
        </p:txBody>
      </p:sp>
      <p:sp>
        <p:nvSpPr>
          <p:cNvPr id="1445" name="Google Shape;1445;p29"/>
          <p:cNvSpPr txBox="1"/>
          <p:nvPr/>
        </p:nvSpPr>
        <p:spPr>
          <a:xfrm rot="5400000">
            <a:off x="7309831" y="1446229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446" name="Google Shape;1446;p29"/>
          <p:cNvSpPr txBox="1"/>
          <p:nvPr/>
        </p:nvSpPr>
        <p:spPr>
          <a:xfrm rot="5400000">
            <a:off x="7245630" y="579815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447" name="Google Shape;1447;p29"/>
          <p:cNvSpPr/>
          <p:nvPr/>
        </p:nvSpPr>
        <p:spPr>
          <a:xfrm>
            <a:off x="7941178" y="2362325"/>
            <a:ext cx="1114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0x200005FC</a:t>
            </a:r>
            <a:endParaRPr/>
          </a:p>
        </p:txBody>
      </p:sp>
      <p:sp>
        <p:nvSpPr>
          <p:cNvPr id="1448" name="Google Shape;1448;p29"/>
          <p:cNvSpPr/>
          <p:nvPr/>
        </p:nvSpPr>
        <p:spPr>
          <a:xfrm>
            <a:off x="7931653" y="26710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0x200005F8</a:t>
            </a:r>
            <a:endParaRPr/>
          </a:p>
        </p:txBody>
      </p:sp>
      <p:sp>
        <p:nvSpPr>
          <p:cNvPr id="1449" name="Google Shape;1449;p29"/>
          <p:cNvSpPr/>
          <p:nvPr/>
        </p:nvSpPr>
        <p:spPr>
          <a:xfrm>
            <a:off x="7931653" y="2975801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0x200005F4</a:t>
            </a:r>
            <a:endParaRPr/>
          </a:p>
        </p:txBody>
      </p:sp>
      <p:sp>
        <p:nvSpPr>
          <p:cNvPr id="1450" name="Google Shape;1450;p29"/>
          <p:cNvSpPr/>
          <p:nvPr/>
        </p:nvSpPr>
        <p:spPr>
          <a:xfrm>
            <a:off x="7941178" y="3276725"/>
            <a:ext cx="10775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0x200005F0</a:t>
            </a:r>
            <a:endParaRPr/>
          </a:p>
        </p:txBody>
      </p:sp>
      <p:sp>
        <p:nvSpPr>
          <p:cNvPr id="1451" name="Google Shape;1451;p29"/>
          <p:cNvSpPr/>
          <p:nvPr/>
        </p:nvSpPr>
        <p:spPr>
          <a:xfrm>
            <a:off x="7941178" y="3581525"/>
            <a:ext cx="111921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0x200005EC</a:t>
            </a:r>
            <a:endParaRPr/>
          </a:p>
        </p:txBody>
      </p:sp>
      <p:sp>
        <p:nvSpPr>
          <p:cNvPr id="1452" name="Google Shape;1452;p29"/>
          <p:cNvSpPr/>
          <p:nvPr/>
        </p:nvSpPr>
        <p:spPr>
          <a:xfrm>
            <a:off x="7931653" y="38902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0x200005E8</a:t>
            </a:r>
            <a:endParaRPr/>
          </a:p>
        </p:txBody>
      </p:sp>
      <p:sp>
        <p:nvSpPr>
          <p:cNvPr id="1453" name="Google Shape;1453;p29"/>
          <p:cNvSpPr/>
          <p:nvPr/>
        </p:nvSpPr>
        <p:spPr>
          <a:xfrm>
            <a:off x="7931653" y="4195001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0x200005E4</a:t>
            </a:r>
            <a:endParaRPr/>
          </a:p>
        </p:txBody>
      </p:sp>
      <p:sp>
        <p:nvSpPr>
          <p:cNvPr id="1454" name="Google Shape;1454;p29"/>
          <p:cNvSpPr/>
          <p:nvPr/>
        </p:nvSpPr>
        <p:spPr>
          <a:xfrm>
            <a:off x="7950288" y="4494750"/>
            <a:ext cx="10823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0x200005E0</a:t>
            </a:r>
            <a:endParaRPr/>
          </a:p>
        </p:txBody>
      </p:sp>
      <p:sp>
        <p:nvSpPr>
          <p:cNvPr id="1455" name="Google Shape;1455;p29"/>
          <p:cNvSpPr/>
          <p:nvPr/>
        </p:nvSpPr>
        <p:spPr>
          <a:xfrm>
            <a:off x="7950288" y="4799550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0x200005DC</a:t>
            </a:r>
            <a:endParaRPr/>
          </a:p>
        </p:txBody>
      </p:sp>
      <p:sp>
        <p:nvSpPr>
          <p:cNvPr id="1456" name="Google Shape;1456;p29"/>
          <p:cNvSpPr/>
          <p:nvPr/>
        </p:nvSpPr>
        <p:spPr>
          <a:xfrm>
            <a:off x="7940763" y="51082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0x200005D8</a:t>
            </a:r>
            <a:endParaRPr/>
          </a:p>
        </p:txBody>
      </p:sp>
      <p:sp>
        <p:nvSpPr>
          <p:cNvPr id="1457" name="Google Shape;1457;p29"/>
          <p:cNvSpPr/>
          <p:nvPr/>
        </p:nvSpPr>
        <p:spPr>
          <a:xfrm>
            <a:off x="7940763" y="5413026"/>
            <a:ext cx="11272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0x200005D4</a:t>
            </a:r>
            <a:endParaRPr/>
          </a:p>
        </p:txBody>
      </p:sp>
      <p:cxnSp>
        <p:nvCxnSpPr>
          <p:cNvPr id="1458" name="Google Shape;1458;p29"/>
          <p:cNvCxnSpPr>
            <a:stCxn id="1425" idx="3"/>
          </p:cNvCxnSpPr>
          <p:nvPr/>
        </p:nvCxnSpPr>
        <p:spPr>
          <a:xfrm>
            <a:off x="6408049" y="2125081"/>
            <a:ext cx="390000" cy="86400"/>
          </a:xfrm>
          <a:prstGeom prst="bentConnector3">
            <a:avLst>
              <a:gd name="adj1" fmla="val 50016"/>
            </a:avLst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59" name="Google Shape;1459;p29"/>
          <p:cNvCxnSpPr/>
          <p:nvPr/>
        </p:nvCxnSpPr>
        <p:spPr>
          <a:xfrm rot="5400000">
            <a:off x="2370606" y="3037034"/>
            <a:ext cx="4236769" cy="1285325"/>
          </a:xfrm>
          <a:prstGeom prst="bentConnector3">
            <a:avLst>
              <a:gd name="adj1" fmla="val -591"/>
            </a:avLst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0" name="Google Shape;1460;p29"/>
          <p:cNvCxnSpPr/>
          <p:nvPr/>
        </p:nvCxnSpPr>
        <p:spPr>
          <a:xfrm>
            <a:off x="2787441" y="5798081"/>
            <a:ext cx="1066799" cy="900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stealth" w="med" len="med"/>
            <a:tailEnd type="none" w="sm" len="sm"/>
          </a:ln>
        </p:spPr>
      </p:cxnSp>
      <p:sp>
        <p:nvSpPr>
          <p:cNvPr id="1461" name="Google Shape;1461;p29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rPr>
              <a:t>0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62" name="Google Shape;1462;p29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463" name="Google Shape;1463;p29"/>
          <p:cNvSpPr txBox="1"/>
          <p:nvPr/>
        </p:nvSpPr>
        <p:spPr>
          <a:xfrm>
            <a:off x="6029326" y="3256002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r4</a:t>
            </a:r>
            <a:endParaRPr/>
          </a:p>
        </p:txBody>
      </p:sp>
      <p:sp>
        <p:nvSpPr>
          <p:cNvPr id="1464" name="Google Shape;1464;p29"/>
          <p:cNvSpPr txBox="1"/>
          <p:nvPr/>
        </p:nvSpPr>
        <p:spPr>
          <a:xfrm>
            <a:off x="6029326" y="4050268"/>
            <a:ext cx="3914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r0</a:t>
            </a:r>
            <a:endParaRPr/>
          </a:p>
        </p:txBody>
      </p:sp>
      <p:sp>
        <p:nvSpPr>
          <p:cNvPr id="1465" name="Google Shape;1465;p29"/>
          <p:cNvSpPr txBox="1"/>
          <p:nvPr/>
        </p:nvSpPr>
        <p:spPr>
          <a:xfrm rot="5400000">
            <a:off x="5351160" y="2515990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sp>
        <p:nvSpPr>
          <p:cNvPr id="1466" name="Google Shape;1466;p29"/>
          <p:cNvSpPr txBox="1"/>
          <p:nvPr/>
        </p:nvSpPr>
        <p:spPr>
          <a:xfrm rot="5400000">
            <a:off x="5353391" y="3647426"/>
            <a:ext cx="323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</a:t>
            </a:r>
            <a:endParaRPr/>
          </a:p>
        </p:txBody>
      </p:sp>
      <p:grpSp>
        <p:nvGrpSpPr>
          <p:cNvPr id="1467" name="Google Shape;1467;p29"/>
          <p:cNvGrpSpPr/>
          <p:nvPr/>
        </p:nvGrpSpPr>
        <p:grpSpPr>
          <a:xfrm>
            <a:off x="-37165" y="3568764"/>
            <a:ext cx="990591" cy="2162949"/>
            <a:chOff x="-36090" y="3761601"/>
            <a:chExt cx="990591" cy="2162949"/>
          </a:xfrm>
        </p:grpSpPr>
        <p:sp>
          <p:nvSpPr>
            <p:cNvPr id="1468" name="Google Shape;1468;p29"/>
            <p:cNvSpPr txBox="1"/>
            <p:nvPr/>
          </p:nvSpPr>
          <p:spPr>
            <a:xfrm>
              <a:off x="-16419" y="376160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0x08000136</a:t>
              </a:r>
              <a:endParaRPr/>
            </a:p>
          </p:txBody>
        </p:sp>
        <p:sp>
          <p:nvSpPr>
            <p:cNvPr id="1469" name="Google Shape;1469;p29"/>
            <p:cNvSpPr txBox="1"/>
            <p:nvPr/>
          </p:nvSpPr>
          <p:spPr>
            <a:xfrm>
              <a:off x="-18928" y="523647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0x08000144</a:t>
              </a:r>
              <a:endParaRPr/>
            </a:p>
          </p:txBody>
        </p:sp>
        <p:sp>
          <p:nvSpPr>
            <p:cNvPr id="1470" name="Google Shape;1470;p29"/>
            <p:cNvSpPr txBox="1"/>
            <p:nvPr/>
          </p:nvSpPr>
          <p:spPr>
            <a:xfrm>
              <a:off x="-19050" y="5444289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0x08000148</a:t>
              </a:r>
              <a:endParaRPr/>
            </a:p>
          </p:txBody>
        </p:sp>
        <p:sp>
          <p:nvSpPr>
            <p:cNvPr id="1471" name="Google Shape;1471;p29"/>
            <p:cNvSpPr txBox="1"/>
            <p:nvPr/>
          </p:nvSpPr>
          <p:spPr>
            <a:xfrm>
              <a:off x="-11132" y="482513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0x08000140</a:t>
              </a:r>
              <a:endParaRPr/>
            </a:p>
          </p:txBody>
        </p:sp>
        <p:sp>
          <p:nvSpPr>
            <p:cNvPr id="1472" name="Google Shape;1472;p29"/>
            <p:cNvSpPr txBox="1"/>
            <p:nvPr/>
          </p:nvSpPr>
          <p:spPr>
            <a:xfrm>
              <a:off x="-19050" y="5031432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0x08000142</a:t>
              </a:r>
              <a:endParaRPr/>
            </a:p>
          </p:txBody>
        </p:sp>
        <p:sp>
          <p:nvSpPr>
            <p:cNvPr id="1473" name="Google Shape;1473;p29"/>
            <p:cNvSpPr txBox="1"/>
            <p:nvPr/>
          </p:nvSpPr>
          <p:spPr>
            <a:xfrm>
              <a:off x="-20657" y="3971151"/>
              <a:ext cx="9541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0x08000138</a:t>
              </a:r>
              <a:endParaRPr/>
            </a:p>
          </p:txBody>
        </p:sp>
        <p:sp>
          <p:nvSpPr>
            <p:cNvPr id="1474" name="Google Shape;1474;p29"/>
            <p:cNvSpPr txBox="1"/>
            <p:nvPr/>
          </p:nvSpPr>
          <p:spPr>
            <a:xfrm>
              <a:off x="-28575" y="4171176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0x0800013A</a:t>
              </a:r>
              <a:endParaRPr/>
            </a:p>
          </p:txBody>
        </p:sp>
        <p:sp>
          <p:nvSpPr>
            <p:cNvPr id="1475" name="Google Shape;1475;p29"/>
            <p:cNvSpPr txBox="1"/>
            <p:nvPr/>
          </p:nvSpPr>
          <p:spPr>
            <a:xfrm>
              <a:off x="-28575" y="4388748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0x0800013C</a:t>
              </a:r>
              <a:endParaRPr/>
            </a:p>
          </p:txBody>
        </p:sp>
        <p:sp>
          <p:nvSpPr>
            <p:cNvPr id="1476" name="Google Shape;1476;p29"/>
            <p:cNvSpPr txBox="1"/>
            <p:nvPr/>
          </p:nvSpPr>
          <p:spPr>
            <a:xfrm>
              <a:off x="-25254" y="4611834"/>
              <a:ext cx="9797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0x0800013E</a:t>
              </a:r>
              <a:endParaRPr/>
            </a:p>
          </p:txBody>
        </p:sp>
        <p:sp>
          <p:nvSpPr>
            <p:cNvPr id="1477" name="Google Shape;1477;p29"/>
            <p:cNvSpPr txBox="1"/>
            <p:nvPr/>
          </p:nvSpPr>
          <p:spPr>
            <a:xfrm>
              <a:off x="-36090" y="5647551"/>
              <a:ext cx="986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0x0800014C</a:t>
              </a:r>
              <a:endParaRPr dirty="0"/>
            </a:p>
          </p:txBody>
        </p:sp>
      </p:grpSp>
      <p:sp>
        <p:nvSpPr>
          <p:cNvPr id="70" name="Google Shape;1477;p29"/>
          <p:cNvSpPr txBox="1"/>
          <p:nvPr/>
        </p:nvSpPr>
        <p:spPr>
          <a:xfrm>
            <a:off x="-12207" y="5680689"/>
            <a:ext cx="9861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smtClean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0x0800014E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27d3d1ffb62_0_10"/>
          <p:cNvSpPr txBox="1">
            <a:spLocks noGrp="1"/>
          </p:cNvSpPr>
          <p:nvPr>
            <p:ph type="title"/>
          </p:nvPr>
        </p:nvSpPr>
        <p:spPr>
          <a:xfrm>
            <a:off x="3258058" y="165303"/>
            <a:ext cx="2489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483" name="Google Shape;1483;g27d3d1ffb62_0_10"/>
          <p:cNvSpPr txBox="1"/>
          <p:nvPr/>
        </p:nvSpPr>
        <p:spPr>
          <a:xfrm>
            <a:off x="154939" y="971278"/>
            <a:ext cx="25128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spAutoFit/>
          </a:bodyPr>
          <a:lstStyle/>
          <a:p>
            <a:pPr marL="216534" marR="0" lvl="0" indent="-20446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Instructions so far: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15950" marR="0" lvl="1" indent="-20320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FFCC00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Previously:</a:t>
            </a:r>
            <a:endParaRPr sz="20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4" name="Google Shape;1484;g27d3d1ffb62_0_10"/>
          <p:cNvSpPr txBox="1"/>
          <p:nvPr/>
        </p:nvSpPr>
        <p:spPr>
          <a:xfrm>
            <a:off x="464075" y="1869200"/>
            <a:ext cx="7850700" cy="45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650" rIns="0" bIns="0" anchor="t" anchorCtr="0">
            <a:spAutoFit/>
          </a:bodyPr>
          <a:lstStyle/>
          <a:p>
            <a:pPr marL="31750" lvl="0" indent="0" algn="l" rtl="0">
              <a:lnSpc>
                <a:spcPct val="10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ADD,SUB,MUL,MULA, [U|S]MULL, [U|S]MLAL, RSB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08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AND, ORR, EOR, BIC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508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MOV, MVN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508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LSL, LSR, ASR, ROR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508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CMP, B{EQ,NE,LT,LE,GT,GE}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5080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LDR, STR, LDRB, STRB, LDRH, STRH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5080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BL, BX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615950" marR="0" lvl="0" indent="-20320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FFCC00"/>
              </a:buClr>
              <a:buSzPts val="1500"/>
              <a:buFont typeface="Noto Sans Symbols"/>
              <a:buChar char="❖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New: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08000" marR="0" lvl="0" indent="0" algn="l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PUSH, POP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250825" marR="0" lvl="0" indent="-200660" algn="l" rtl="0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00007E"/>
              </a:buClr>
              <a:buSzPts val="14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Registers we know so far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1835" marR="0" lvl="1" indent="-166369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CC00"/>
              </a:buClr>
              <a:buSzPts val="11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of them!</a:t>
            </a:r>
            <a:endParaRPr sz="1800" b="0" i="0" u="none" strike="noStrike" cap="none">
              <a:solidFill>
                <a:srgbClr val="33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Addressing mode so far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Times New Roman"/>
              <a:buChar char="❖"/>
            </a:pPr>
            <a:r>
              <a:rPr lang="en-US" sz="18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them!</a:t>
            </a:r>
            <a:endParaRPr sz="1800">
              <a:solidFill>
                <a:srgbClr val="3333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gi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1804</Words>
  <Application>Microsoft Office PowerPoint</Application>
  <PresentationFormat>On-screen Show (4:3)</PresentationFormat>
  <Paragraphs>1770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Cambria Math</vt:lpstr>
      <vt:lpstr>Arial</vt:lpstr>
      <vt:lpstr>Courier New</vt:lpstr>
      <vt:lpstr>Times New Roman</vt:lpstr>
      <vt:lpstr>Noto Sans Symbols</vt:lpstr>
      <vt:lpstr>Calibri</vt:lpstr>
      <vt:lpstr>Bookman Old Style</vt:lpstr>
      <vt:lpstr>Courier</vt:lpstr>
      <vt:lpstr>Consolas</vt:lpstr>
      <vt:lpstr>Gill Sans</vt:lpstr>
      <vt:lpstr>Origin</vt:lpstr>
      <vt:lpstr>Lecture#7: Stack &amp; Recursion (Chapter#8) Summer, 2025 </vt:lpstr>
      <vt:lpstr>Stack</vt:lpstr>
      <vt:lpstr>Stack Growth Convention: Ascending vs Descending</vt:lpstr>
      <vt:lpstr>Cortex-M Stack</vt:lpstr>
      <vt:lpstr>Stack</vt:lpstr>
      <vt:lpstr>Stack</vt:lpstr>
      <vt:lpstr>Full Descending Stack</vt:lpstr>
      <vt:lpstr>Stack</vt:lpstr>
      <vt:lpstr>Stack</vt:lpstr>
      <vt:lpstr>Recursive Procedure Example</vt:lpstr>
      <vt:lpstr>Recursive Functions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Lecture#7: Stack &amp; Recursion (Chapter#8) Summer, 2025 </dc:title>
  <dc:creator>zhu</dc:creator>
  <cp:lastModifiedBy>DELL</cp:lastModifiedBy>
  <cp:revision>18</cp:revision>
  <dcterms:created xsi:type="dcterms:W3CDTF">2013-03-17T17:42:26Z</dcterms:created>
  <dcterms:modified xsi:type="dcterms:W3CDTF">2025-07-24T18:08:17Z</dcterms:modified>
</cp:coreProperties>
</file>