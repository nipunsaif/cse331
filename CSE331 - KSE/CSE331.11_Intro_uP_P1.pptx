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7010400" cy="9296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mpact" panose="020B0806030902050204" pitchFamily="34" charset="0"/>
      <p:regular r:id="rId23"/>
    </p:embeddedFont>
    <p:embeddedFont>
      <p:font typeface="Gill Sans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000000"/>
          </p15:clr>
        </p15:guide>
        <p15:guide id="2" pos="2208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pOYqbGKGdN8Sm9Tf+0KmFeDc+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3971925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>
            <a:spLocks noGrp="1"/>
          </p:cNvSpPr>
          <p:nvPr>
            <p:ph type="sldNum" idx="12"/>
          </p:nvPr>
        </p:nvSpPr>
        <p:spPr>
          <a:xfrm>
            <a:off x="3971925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5" name="Google Shape;35;p1:notes"/>
          <p:cNvSpPr txBox="1"/>
          <p:nvPr/>
        </p:nvSpPr>
        <p:spPr>
          <a:xfrm>
            <a:off x="3971925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fld>
            <a:endParaRPr/>
          </a:p>
        </p:txBody>
      </p:sp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Great class, combines concepts, skills, and experience.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/>
            </a:r>
            <a:br>
              <a:rPr lang="en-US"/>
            </a:br>
            <a:r>
              <a:rPr lang="en-US"/>
              <a:t>Build real systems, bridge physical and virtual. Embedded systems critical to everyone, knowledge gained goes way beyond that.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/>
            </a:r>
            <a:br>
              <a:rPr lang="en-US"/>
            </a:br>
            <a:r>
              <a:rPr lang="en-US"/>
              <a:t>Learn to how a system works and development flow, learn how a computer and embedded system works practically, learn how to program, learn how to use programming tools and mixed environments, learn about interfacing and design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/>
            </a:r>
            <a:br>
              <a:rPr lang="en-US"/>
            </a:b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sldNum" idx="12"/>
          </p:nvPr>
        </p:nvSpPr>
        <p:spPr>
          <a:xfrm>
            <a:off x="3971925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3" name="Google Shape;43;p2:notes"/>
          <p:cNvSpPr txBox="1"/>
          <p:nvPr/>
        </p:nvSpPr>
        <p:spPr>
          <a:xfrm>
            <a:off x="3971925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fld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To do this week: get book, order a board, {read chapters 1 and 2 of the book or ebook 2 3 4}, do ws01, do HW1, install Keil uVision 4.73 on laptop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6613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World’s first general purpose electronic computer</a:t>
            </a:r>
            <a:endParaRPr dirty="0"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6613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6613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6613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5" name="Google Shape;125;p12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Smaller transistors allow – More transistors per chip – More processing per clock cycle – Faster clock rates – Smaller/cheaper chips</a:t>
            </a:r>
            <a:endParaRPr/>
          </a:p>
        </p:txBody>
      </p:sp>
      <p:sp>
        <p:nvSpPr>
          <p:cNvPr id="126" name="Google Shape;126;p12:notes"/>
          <p:cNvSpPr txBox="1"/>
          <p:nvPr/>
        </p:nvSpPr>
        <p:spPr>
          <a:xfrm>
            <a:off x="3971925" y="8831262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47675" rIns="91700" bIns="47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Peripherals: Input devices (like keyboards and mice), output devices (like monitors and printers), and input/output devices (like scanners)</a:t>
            </a:r>
            <a:endParaRPr dirty="0"/>
          </a:p>
        </p:txBody>
      </p:sp>
      <p:sp>
        <p:nvSpPr>
          <p:cNvPr id="133" name="Google Shape;1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38737" cy="4181475"/>
          </a:xfrm>
          <a:prstGeom prst="rect">
            <a:avLst/>
          </a:prstGeom>
        </p:spPr>
        <p:txBody>
          <a:bodyPr spcFirstLastPara="1" wrap="square" lIns="91700" tIns="47675" rIns="91700" bIns="4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7694613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938212" y="6375400"/>
            <a:ext cx="1747837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6457950" y="6375400"/>
            <a:ext cx="211455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/>
          <p:nvPr/>
        </p:nvSpPr>
        <p:spPr>
          <a:xfrm>
            <a:off x="8931275" y="0"/>
            <a:ext cx="2127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8931275" y="0"/>
            <a:ext cx="2127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9"/>
          <p:cNvSpPr/>
          <p:nvPr/>
        </p:nvSpPr>
        <p:spPr>
          <a:xfrm>
            <a:off x="0" y="0"/>
            <a:ext cx="679450" cy="6858000"/>
          </a:xfrm>
          <a:custGeom>
            <a:avLst/>
            <a:gdLst/>
            <a:ahLst/>
            <a:cxnLst/>
            <a:rect l="l" t="t" r="r" b="b"/>
            <a:pathLst>
              <a:path w="211" h="2160" extrusionOk="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ill Sans"/>
              <a:buChar char="–"/>
              <a:defRPr sz="18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/>
          <p:nvPr/>
        </p:nvSpPr>
        <p:spPr>
          <a:xfrm>
            <a:off x="8931275" y="0"/>
            <a:ext cx="2127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1"/>
          <p:cNvSpPr/>
          <p:nvPr/>
        </p:nvSpPr>
        <p:spPr>
          <a:xfrm>
            <a:off x="8931275" y="0"/>
            <a:ext cx="2127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1"/>
          <p:cNvSpPr/>
          <p:nvPr/>
        </p:nvSpPr>
        <p:spPr>
          <a:xfrm>
            <a:off x="0" y="0"/>
            <a:ext cx="679450" cy="6858000"/>
          </a:xfrm>
          <a:custGeom>
            <a:avLst/>
            <a:gdLst/>
            <a:ahLst/>
            <a:cxnLst/>
            <a:rect l="l" t="t" r="r" b="b"/>
            <a:pathLst>
              <a:path w="211" h="2160" extrusionOk="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ill Sans"/>
              <a:buChar char="–"/>
              <a:defRPr sz="18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938212" y="6375400"/>
            <a:ext cx="1747837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6457950" y="6375400"/>
            <a:ext cx="211455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Gill Sans"/>
              <a:buNone/>
              <a:defRPr sz="1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>
            <a:spLocks noGrp="1"/>
          </p:cNvSpPr>
          <p:nvPr>
            <p:ph type="title"/>
          </p:nvPr>
        </p:nvSpPr>
        <p:spPr>
          <a:xfrm>
            <a:off x="747712" y="1824037"/>
            <a:ext cx="8015287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n-US" sz="4600"/>
              <a:t>CSE</a:t>
            </a: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33</a:t>
            </a:r>
            <a:r>
              <a:rPr lang="en-US" sz="4600"/>
              <a:t>1</a:t>
            </a: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: MICROPROCESSOR </a:t>
            </a:r>
            <a:r>
              <a:rPr lang="en-US" sz="4600"/>
              <a:t>INTERFACING &amp; Embedded Systems</a:t>
            </a: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/>
            </a:r>
            <a:b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</a:br>
            <a:endParaRPr/>
          </a:p>
        </p:txBody>
      </p:sp>
      <p:sp>
        <p:nvSpPr>
          <p:cNvPr id="40" name="Google Shape;40;p1"/>
          <p:cNvSpPr txBox="1"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Lecture 1: Introduction to Microprocessor#1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lang="en-US" sz="19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Credit: Dr. Mohammad </a:t>
            </a:r>
            <a:r>
              <a:rPr lang="en-US" sz="19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lang="en-US" sz="1900" b="0" i="0" u="none" strike="noStrike" cap="none" dirty="0" err="1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Qayum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>
            <a:spLocks noGrp="1"/>
          </p:cNvSpPr>
          <p:nvPr>
            <p:ph type="title"/>
          </p:nvPr>
        </p:nvSpPr>
        <p:spPr>
          <a:xfrm>
            <a:off x="815975" y="609600"/>
            <a:ext cx="7696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Impact"/>
              <a:buNone/>
            </a:pP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OUTLINE</a:t>
            </a:r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body" idx="1"/>
          </p:nvPr>
        </p:nvSpPr>
        <p:spPr>
          <a:xfrm>
            <a:off x="609600" y="1489075"/>
            <a:ext cx="7924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1312" marR="0" lvl="0" indent="-34131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Course Description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Book, Labs, Equipment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Grading Criteria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Expectations/Responsibilities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Prerequisites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ill Sans"/>
              <a:buNone/>
            </a:pPr>
            <a:endParaRPr sz="2400" b="0" i="0" u="none" strike="noStrike" cap="none" dirty="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1312" marR="0" lvl="0" indent="-341312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Microprocessor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History</a:t>
            </a:r>
            <a:endParaRPr dirty="0"/>
          </a:p>
          <a:p>
            <a:pPr marL="741362" marR="0" lvl="1" indent="-284162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Basics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rPr lang="en-US" sz="51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INSTRUCTOR</a:t>
            </a:r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922009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Instructor : 	      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   Kazi Safkat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Class Time :              </a:t>
            </a:r>
            <a:r>
              <a:rPr lang="en-US" dirty="0" smtClean="0"/>
              <a:t>RA 01:00 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– 0</a:t>
            </a:r>
            <a:r>
              <a:rPr lang="en-US" dirty="0"/>
              <a:t>2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lang="en-US" dirty="0" smtClean="0"/>
              <a:t>30 </a:t>
            </a:r>
            <a:r>
              <a:rPr lang="en-US" dirty="0"/>
              <a:t>P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M, Lab </a:t>
            </a:r>
            <a:r>
              <a:rPr lang="en-US" dirty="0"/>
              <a:t>T</a:t>
            </a:r>
            <a:r>
              <a:rPr lang="en-US" dirty="0" smtClean="0"/>
              <a:t> 11:20 AM 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– 02:</a:t>
            </a:r>
            <a:r>
              <a:rPr lang="en-US" dirty="0" smtClean="0"/>
              <a:t>3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0 PM 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Classroom :              </a:t>
            </a:r>
            <a:r>
              <a:rPr lang="en-US" dirty="0" smtClean="0"/>
              <a:t>SAC204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Lab </a:t>
            </a:r>
            <a:r>
              <a:rPr lang="en-US" dirty="0" smtClean="0"/>
              <a:t>LIB609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Office:                      </a:t>
            </a:r>
            <a:r>
              <a:rPr lang="en-US" dirty="0" smtClean="0"/>
              <a:t>SAC 1196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Office Hours :           </a:t>
            </a:r>
            <a:r>
              <a:rPr lang="en-US" dirty="0" smtClean="0"/>
              <a:t>Appointment Basis (Check office door </a:t>
            </a:r>
            <a:r>
              <a:rPr lang="en-US" smtClean="0"/>
              <a:t>for times)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Email :                       </a:t>
            </a:r>
            <a:r>
              <a:rPr lang="en-US" dirty="0" smtClean="0"/>
              <a:t>kazi.seen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@</a:t>
            </a:r>
            <a:r>
              <a:rPr lang="en-US" dirty="0" smtClean="0"/>
              <a:t>northsouth.edu</a:t>
            </a:r>
            <a:r>
              <a:rPr lang="en-US" sz="2000" b="0" i="0" u="none" strike="noStrike" cap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dirty="0"/>
          </a:p>
          <a:p>
            <a:pPr marL="228600" marR="0" lvl="0" indent="-101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marR="0" lvl="0" indent="-101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rPr lang="en-US" sz="51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TEXTBOOK AND REFERENCE</a:t>
            </a: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Textbook:</a:t>
            </a: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 Yifeng Zhu, Embedded Systems with ARM Cortex-M Microcontrollers in Assembly Language and C: Third Edition, E-Man Press, LLC, ISBN-13: 9780982692660, 2017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Reference books:</a:t>
            </a: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 Joseph Yiu, The definitive guide to ARM® Cortex®- M3 and Cortex®-M4 Processors, Third edition,  ISBN-13: 9780124080829, 2014 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Jonathan W. Valvano, Real-Time Interfacing to ARM® CortexTM-M Microcontrollers, Volume 2 Third edition, ISBN-13: 978-1463590154, 2013</a:t>
            </a:r>
            <a:endParaRPr/>
          </a:p>
          <a:p>
            <a:pPr marL="228600" marR="0" lvl="0" indent="-101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443037" y="457200"/>
            <a:ext cx="731996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rPr lang="en-US" sz="51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WHAT IS A MICROPROCESSOR?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Microprocessor is a Central Processing Unit (CPU) on a single chip.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It contains billions of transistors connected by wires.</a:t>
            </a:r>
            <a:endParaRPr/>
          </a:p>
          <a:p>
            <a:pPr marL="228600" marR="0" lvl="0" indent="-101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69" name="Google Shape;6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8312" y="3219450"/>
            <a:ext cx="566737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Impact"/>
              <a:buNone/>
            </a:pP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ELECTRICAL NUMERICAL INTEGRATOR AND CALCULATOR 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6" name="Google Shape;7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5750" y="1963737"/>
            <a:ext cx="6400800" cy="477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rPr lang="en-US" sz="51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ENIAC</a:t>
            </a:r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762000" y="1752600"/>
            <a:ext cx="81534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Designed for the U.S. Army's Ballistic Research Laboratory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Built out of </a:t>
            </a:r>
            <a:endParaRPr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17,468 vacuum tubes </a:t>
            </a:r>
            <a:endParaRPr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7,200 crystal diodes </a:t>
            </a:r>
            <a:endParaRPr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1,500 relays </a:t>
            </a:r>
            <a:endParaRPr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70,000 resistors </a:t>
            </a:r>
            <a:endParaRPr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10,000 capacitors •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Consumed 150 kW of power •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Took up 72 sq m.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 Weighted 27 tons •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❑"/>
            </a:pPr>
            <a:r>
              <a:rPr lang="en-US" sz="2400" b="0" i="0" u="non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 Suffered a failure on average every 6 hours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91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mpact"/>
              <a:buNone/>
            </a:pPr>
            <a:r>
              <a:rPr lang="en-US" sz="3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FIRST TRANSISTOR INVENTED IN 1947</a:t>
            </a:r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body" idx="1"/>
          </p:nvPr>
        </p:nvSpPr>
        <p:spPr>
          <a:xfrm>
            <a:off x="938212" y="1676400"/>
            <a:ext cx="7634287" cy="4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❑"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Created by a team lead by </a:t>
            </a:r>
            <a:endParaRPr lang="en-US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 b="0" i="0" u="none" dirty="0" smtClean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William </a:t>
            </a: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Shockley at Bell Labs 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❑"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Shockley later shared the </a:t>
            </a:r>
            <a:endParaRPr dirty="0"/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Noble prize in physics 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❑"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Shockley semiconductors was </a:t>
            </a:r>
            <a:endParaRPr dirty="0"/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founded in Palo Alto in 1955 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❑"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In 1957 Bob Noyce, Gordon Moore, 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and 6 others (“Traitorous Eight”) leave </a:t>
            </a:r>
            <a:endParaRPr dirty="0"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to found Fairchild semiconductor</a:t>
            </a:r>
            <a:endParaRPr dirty="0"/>
          </a:p>
        </p:txBody>
      </p:sp>
      <p:sp>
        <p:nvSpPr>
          <p:cNvPr id="90" name="Google Shape;90;p8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600" y="1674812"/>
            <a:ext cx="3141662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n-US" sz="40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FIRST INTEGRATED CIRCUIT (IC) INVENTED IN 1959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938212" y="1600200"/>
            <a:ext cx="7634287" cy="4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Proposed independently by Bob Noyce at Fairchild and Jack Kilby at Texas Instruments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In 1968 Noyce and Moore left Fairchild to found Intel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First IC contained a single transistor and supporting components</a:t>
            </a:r>
            <a:endParaRPr/>
          </a:p>
        </p:txBody>
      </p:sp>
      <p:sp>
        <p:nvSpPr>
          <p:cNvPr id="98" name="Google Shape;98;p9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3508375"/>
            <a:ext cx="3746500" cy="251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/>
        </p:nvSpPr>
        <p:spPr>
          <a:xfrm>
            <a:off x="5181600" y="4611687"/>
            <a:ext cx="2895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first working integrated circuit (1.6 × 11.1 mm)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Image: TI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824787" cy="12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Impact"/>
              <a:buNone/>
            </a:pP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FIRST COMMERCIAL PROCESSOR BY INTEL: 4004</a:t>
            </a:r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938212" y="1905000"/>
            <a:ext cx="7634287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Intel Introduced the 4004 in 1971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4004 contained 2,300 transistors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Similar processing power as ENIAC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3151187"/>
            <a:ext cx="2117725" cy="2928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/>
          <p:nvPr/>
        </p:nvSpPr>
        <p:spPr>
          <a:xfrm>
            <a:off x="1554162" y="6083300"/>
            <a:ext cx="1295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Image: Intel</a:t>
            </a:r>
            <a:endParaRPr/>
          </a:p>
        </p:txBody>
      </p:sp>
      <p:pic>
        <p:nvPicPr>
          <p:cNvPr id="110" name="Google Shape;11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6587" y="3143250"/>
            <a:ext cx="2800350" cy="29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 txBox="1"/>
          <p:nvPr/>
        </p:nvSpPr>
        <p:spPr>
          <a:xfrm>
            <a:off x="5334000" y="6083300"/>
            <a:ext cx="1295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Image: Intel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328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Impact"/>
              <a:buNone/>
            </a:pPr>
            <a:r>
              <a:rPr lang="en-US" sz="46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IBM INTRODUCED A PERSONAL COMPUTER IN 1981</a:t>
            </a:r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938212" y="20574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First IBM computed used the Intel 8088 processor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8088 contained 29,000 transistors •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Used Operating System (MS-DOS) designed by Microsoft </a:t>
            </a:r>
            <a:endParaRPr/>
          </a:p>
          <a:p>
            <a:pPr marL="228600" marR="0" lvl="0" indent="-101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225" y="3346450"/>
            <a:ext cx="2344737" cy="281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429000"/>
            <a:ext cx="2247900" cy="26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/>
        </p:nvSpPr>
        <p:spPr>
          <a:xfrm>
            <a:off x="1733550" y="6243637"/>
            <a:ext cx="12954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Image: Intel</a:t>
            </a:r>
            <a:endParaRPr/>
          </a:p>
        </p:txBody>
      </p:sp>
      <p:sp>
        <p:nvSpPr>
          <p:cNvPr id="122" name="Google Shape;122;p11"/>
          <p:cNvSpPr txBox="1"/>
          <p:nvPr/>
        </p:nvSpPr>
        <p:spPr>
          <a:xfrm>
            <a:off x="5048250" y="6007100"/>
            <a:ext cx="12954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Image: Intel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Impact"/>
              <a:buNone/>
            </a:pPr>
            <a:r>
              <a:rPr lang="en-US" sz="44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MICROPROCESSOR EVOLUTION</a:t>
            </a:r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Human hair- 100 µm across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4004 transistors- 10 µm across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Pentium 4 transistors- 0.13 µm across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Core2Duo- 65 nm (0.065nm) across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Latest i7- 1</a:t>
            </a:r>
            <a:r>
              <a:rPr lang="en-US"/>
              <a:t>0</a:t>
            </a: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nm across, AMD Ryzen4 5nm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Future cores (20</a:t>
            </a:r>
            <a:r>
              <a:rPr lang="en-US"/>
              <a:t>24</a:t>
            </a: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)- </a:t>
            </a:r>
            <a:r>
              <a:rPr lang="en-US"/>
              <a:t>3</a:t>
            </a: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nm across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rPr lang="en-US" sz="51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COMPUTER COMPONENTS</a:t>
            </a:r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body" idx="1"/>
          </p:nvPr>
        </p:nvSpPr>
        <p:spPr>
          <a:xfrm>
            <a:off x="938212" y="1600200"/>
            <a:ext cx="7634287" cy="4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Microprocessor/Microcontroller — performs all computations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Cache (On Chip) — fast memory which holds current data and program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Main memory (Off Chip) — larger DRAM memory contains more data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Chipset — controls communication between components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Motherboard/Development Board — circuit board which holds all the above components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Peripherals — controls added computer accessories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Displays- 7Segments, LCD, LED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mpact"/>
              <a:buNone/>
            </a:pPr>
            <a:r>
              <a:rPr lang="en-US" sz="4800" b="0" i="0" u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CPU AND MEMORY EVOLUTION</a:t>
            </a:r>
            <a:endParaRPr/>
          </a:p>
        </p:txBody>
      </p:sp>
      <p:pic>
        <p:nvPicPr>
          <p:cNvPr id="143" name="Google Shape;143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00212" y="1600200"/>
            <a:ext cx="6851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6019800" y="1509712"/>
            <a:ext cx="19050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More no. of cores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938212" y="382587"/>
            <a:ext cx="7634287" cy="149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100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18"/>
          <p:cNvSpPr txBox="1">
            <a:spLocks noGrp="1"/>
          </p:cNvSpPr>
          <p:nvPr>
            <p:ph type="body" idx="1"/>
          </p:nvPr>
        </p:nvSpPr>
        <p:spPr>
          <a:xfrm>
            <a:off x="938212" y="2286000"/>
            <a:ext cx="7634287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endParaRPr sz="2000" b="0" i="0" u="none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 b="1"/>
              <a:t>Continue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3028950" y="6375400"/>
            <a:ext cx="30861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2_Badge">
  <a:themeElements>
    <a:clrScheme name="Badge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Badge">
  <a:themeElements>
    <a:clrScheme name="Badge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543</Words>
  <Application>Microsoft Office PowerPoint</Application>
  <PresentationFormat>On-screen Show (4:3)</PresentationFormat>
  <Paragraphs>106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Impact</vt:lpstr>
      <vt:lpstr>Gill Sans</vt:lpstr>
      <vt:lpstr>Arial</vt:lpstr>
      <vt:lpstr>Noto Sans Symbols</vt:lpstr>
      <vt:lpstr>12_Badge</vt:lpstr>
      <vt:lpstr>2_Badge</vt:lpstr>
      <vt:lpstr>CSE 331: MICROPROCESSOR INTERFACING &amp; Embedded Systems </vt:lpstr>
      <vt:lpstr>OUTLINE</vt:lpstr>
      <vt:lpstr>INSTRUCTOR</vt:lpstr>
      <vt:lpstr>TEXTBOOK AND REFERENCE</vt:lpstr>
      <vt:lpstr>WHAT IS A MICROPROCESSOR?</vt:lpstr>
      <vt:lpstr>ELECTRICAL NUMERICAL INTEGRATOR AND CALCULATOR </vt:lpstr>
      <vt:lpstr>ENIAC</vt:lpstr>
      <vt:lpstr>FIRST TRANSISTOR INVENTED IN 1947</vt:lpstr>
      <vt:lpstr>FIRST INTEGRATED CIRCUIT (IC) INVENTED IN 1959</vt:lpstr>
      <vt:lpstr>FIRST COMMERCIAL PROCESSOR BY INTEL: 4004</vt:lpstr>
      <vt:lpstr>IBM INTRODUCED A PERSONAL COMPUTER IN 1981</vt:lpstr>
      <vt:lpstr>MICROPROCESSOR EVOLUTION</vt:lpstr>
      <vt:lpstr>COMPUTER COMPONENTS</vt:lpstr>
      <vt:lpstr>CPU AND MEMORY EVOLUTION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331: MICROPROCESSOR INTERFACING &amp; Embedded Systems </dc:title>
  <dc:creator>Bill Bard;Andreas Gerstlauer;Jonathan Valvano;Ramesh Yerraballi</dc:creator>
  <cp:lastModifiedBy>DELL</cp:lastModifiedBy>
  <cp:revision>5</cp:revision>
  <dcterms:created xsi:type="dcterms:W3CDTF">2013-01-14T19:08:44Z</dcterms:created>
  <dcterms:modified xsi:type="dcterms:W3CDTF">2025-05-28T19:17:35Z</dcterms:modified>
</cp:coreProperties>
</file>